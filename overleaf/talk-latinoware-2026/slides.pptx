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19"/>
    <p:sldId id="258" r:id="rId4"/>
    <p:sldId id="265" r:id="rId10"/>
    <p:sldId id="267" r:id="rId12"/>
    <p:sldId id="268" r:id="rId13"/>
    <p:sldId id="270" r:id="rId15"/>
    <p:sldId id="264" r:id="rId5"/>
    <p:sldId id="269" r:id="rId14"/>
    <p:sldId id="275" r:id="rId20"/>
    <p:sldId id="266" r:id="rId11"/>
    <p:sldId id="271" r:id="rId16"/>
    <p:sldId id="272" r:id="rId17"/>
    <p:sldId id="273" r:id="rId18"/>
  </p:sldIdLst>
  <p:sldSz cx="18288000" cy="10287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5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5" Type="http://schemas.openxmlformats.org/officeDocument/2006/relationships/slide" Target="slides/slide9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Oi, eu sou o Matheus, do Ifes de Cachoeiro. Meu TCC é sobre um problema que todo jogo competitivo enfrenta a cada atualização.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TCC, levamos isso pro jogo de luta, onde é um contra um e cada estilo é bem marcado. Montamos cinco estilos clássicos. O rushdown, que vive colado no adversário. O zoner, que mantém distância. O grappler, que aposta em golpes pesados. O combo master, que encadeia sequências. E o turtle, que se defende e espera o erro. A pergunta é: um algoritmo genético consegue equilibrar esses cinco sem apagar o que cada um 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personagem vira dez números: vida, dano, alcance, velocidade, e o quanto ele prefere avançar, recuar ou defender. Pra avaliar um elenco, um simulador põe os cinco pra lutar todos contra todos, cento e cinquenta vezes cada confronto. O algoritmo faz o que a evolução faz: gera elencos, cruza os melhores, muta e repete.</a:t>
            </a:r>
          </a:p>
          <a:p>
            <a:r>
              <a:t>E aqui está a decisão mais importante do trabalho: não mandamos o algoritmo preservar os personagens. Ele só busca duas coisas: ficar equilibrado e não se afastar demais do original. Se afastar custa, mas pode. Quem deveria vencer quem, ele nunca fica sabendo; isso só medimos depois. Se a identidade fosse regra, sobreviveria por obrigação. Assim, se sobreviver, é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como os dois algoritmos diferem ou qual foi o orçamento da busca.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 partida é o elenco original, que chamamos de canônico. Ele passa nos vinte e um testes que escrevemos pra conferir quem é quem. Mas nenhum dos dez confrontos é equilibrado: um personagem ganha todas as lutas, outro não ganha nenhuma.</a:t>
            </a:r>
          </a:p>
          <a:p>
            <a:r>
              <a:t>Aí o algoritmo soma os dois objetivos e equilibra. E consegue: dez de dez confrontos equilibrados. Só que sobram sete dos vinte e um testes. Caiu direitinho na armadilha do 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Então rodamos de novo com o NSGA-II, que, em vez de uma resposta, devolve o cardápio inteiro de compromissos. Cada ponto aqui é um elenco. Pra esquerda, mais equilíbrio; pra baixo, mais identidade. O canto de baixo à esquerda está vazio: pra ganhar de um lado, perde-se do outro. Mas olha o joelho da curva: o desbalanço já caiu três quartos do caminho e vinte dos vinte e um testes continuam valendo. Quem desenha o jogo passa a escolher onde parar, sabendo o preço de cada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se o resultado depende da semente ou se é sobreajuste.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resposta, ainda preliminar, é sim, mas não de graça. E agora esse preço tem número. O modelo é bem mais simples que um jogo de verdade, e o próximo passo é testar contra um adversário que também se adapta.</a:t>
            </a:r>
          </a:p>
          <a:p>
            <a:r>
              <a:t>Se você faz jogo, joga competitivo ou curte algoritmo genético e quer ver isso por dentro, o código está no GitHub, nesse QR code. Estou por aqui, é só me chamar pra conversar.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perguntas, sem fala. O QR code fica na tela durante as perguntas. Os slides seguintes são de reserva e só aparecem se alguém perguntar.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A Tabela I do artigo, completa: os quatro pontos do compromisso e as seis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o desbalanço é calculado. Os três termos são cegos à direção.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a identidade é medida: o desvio é objetivo da busca; o validador, a diferenciação e o perfil são medidos por 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 dois jeitos de estragar um jogo competitivo. O primeiro todo mundo conhece: um personagem fica forte demais e todo mundo passa a jogar com ele. O segundo é mais traiçoeiro. Sai um patch, mexem nos números até ninguém dominar, e no caminho os personagens perdem o que tinham de único. Eu jogo mais LoL, e lá vejo isso direto: um ajuste aqui, outro ali, e de repente dois campeões jogam quase igual. Fica equilibrado, mas tanto faz quem você escolhe.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pelos limites do estudo ou pelos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1DDF5-E4D2-4720-2694-A5E9E80B4F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85800" y="2130423"/>
            <a:ext cx="7772400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3A9884-1FB9-495F-F513-BD8937AC9FD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1DABA-AA1A-9FC3-766D-350EA08691C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36314B0-18E7-44AB-8179-6C4AB178918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5E168-A4A0-5FE1-9F9D-02CFC97971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24023-96B2-BC39-85F8-4F38E9FB2C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153777D-405D-421E-BE69-6F51F1ED9227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550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17564-02AC-92F3-C650-D1AF2FFEEBA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5EAF4-750E-9B19-988A-A627EF6C34C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EE116-501C-DD29-F377-D2B74DBCD95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C4A702-D330-46E9-A3D8-0FCA99D8214A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F3A11-32AE-74E0-C8FB-3153682784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0B2BB-6287-3805-7AB9-03652AFE14F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34A630-47F4-4C5E-B1F8-E804FAC9B612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52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49D63-F6F0-4F59-A7CA-AC0A7E3851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11" y="4406895"/>
            <a:ext cx="7772400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B1DAD-9D57-3C21-CFE2-0DA4B235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2311" y="2906713"/>
            <a:ext cx="7772400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ADA05-FE7D-315B-2399-36CCD2B6385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DF11A1-8D2C-4E52-BA83-2BBBB403BDB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28C6F-6465-07A7-F7BB-C5B6882B0CD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16B05-0AE0-050D-1FFC-D4518C7F01F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B8033C-6285-4A73-81A1-66F6D8809884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35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6F9B-D973-C5E0-768C-D3E76E7C5CF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EBFB-3586-39AC-5756-F733E99806D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066C6-E37D-ADB6-1322-A5745D7633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648196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3B543-5B34-B55B-9964-8DBA1A4336E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F7FAE7-A9EF-4AA2-B412-5005374EAB9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56FC-7EAA-E430-46B9-0EE73DF09A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DA116-FC13-2EE2-3CDC-1206DF9F04F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461C9A-1FD7-4B3B-9802-0865682B827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8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D528-CFF9-D8E6-5B6A-D7841B6B8AA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127C2-6425-788D-95BB-F5635B55FA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6FFE24-5C83-E9D6-C531-9FB4E77728C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57200" y="2174872"/>
            <a:ext cx="404018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98F16E-FA3D-B02C-43DA-D0F18DED9F5B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4645023" y="1535113"/>
            <a:ext cx="4041776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E2677-297A-952A-2F62-9B937235245E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4645023" y="2174872"/>
            <a:ext cx="4041776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B3FB8F-7B8A-98A5-ABF2-99795C123A1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7F0876D-183A-4479-8FFC-F4837029F182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070D3A-D903-55A2-59BF-C836E0440C9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F7F61C-3303-680A-3165-9235EC2529C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4D0AB26-5348-40F4-A192-FBB77D2FE23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341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EA404-4915-5D11-1E0C-2B1FEB161C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20AC3-D39C-3012-4BF0-80436BBE56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CC9FF86-3286-4AAB-BA4E-5FB0D23F18E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7FEE2-4E14-CFE9-F22A-2E7EF2FBA2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24670-4012-669B-0E8E-4518BA4CD96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2022355-318A-49D2-85C0-6E5F664E8A6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16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82D0EF-59AE-4D22-0CA6-63C3455F41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847F31D-82CE-4D95-A7C9-F380E80FF88B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31015F-6C50-F27D-D5E8-15662F9AA2A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BFE06-C6CB-F090-982A-B98825CFD6D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AD274CF-2263-4348-A43F-41762A7C0C85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350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EDF63-0264-217C-5B3C-549537519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3048"/>
            <a:ext cx="3008311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EB5DE-B51B-29D2-2314-98E3E67A463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75047" y="273048"/>
            <a:ext cx="511175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A36D6C-0299-9F3B-1F8E-F60A2DCDDD9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1435095"/>
            <a:ext cx="3008311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C99A3-8669-79FE-E790-D0266E9A2F7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2F5CDB6-D020-437E-844C-59AE87F5993C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0E8B1-484C-8BCE-F3EA-352DD64643E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F0941-9076-C77D-990B-997FD8F2DBA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4CA9BF1-8A5A-4B8C-88BA-2199A9D6F2D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77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5D0B5-6409-E277-E1B7-5CAE0458B3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8B765-A391-CD84-FCDC-E29E19278E13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1792288" y="612776"/>
            <a:ext cx="54864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B723C7-F9EE-4652-764A-E56E8CEF406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792288" y="5367335"/>
            <a:ext cx="54864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8906B-1528-2C87-1153-BC469B2984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5B27B4-1686-4040-A8B8-AA0C6D70C1C6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2DB20-FDC9-F7A4-83FF-3D9685ED442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AC01D-87F2-9A16-3729-9206170ED2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ACDD1F-6B46-4729-886E-EE891C62A1BF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88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8D9F-1D7F-32E9-0ECE-0BCB096B712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ABC22-B0AC-15A3-E923-2BB6415FDAAE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3001D-3999-EB60-1F90-C3E6FB15B6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ABFEF3-09E9-45E6-8BF1-EFA01AA468B0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643B3-EBB7-5CF7-0E92-358A5E0219B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8C130-5002-C255-7F57-318F223A449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B76D32E-683C-4896-83FF-AA455D9166BD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1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CDDC5E-7092-939B-69F0-AE6DF48CB751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CBF94-87E5-A8B0-B73B-176B6DAEB5A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457200" y="274640"/>
            <a:ext cx="6019796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77F1D-19DB-88FC-3C5D-0C6BF5235C4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284B8E-E556-46EC-82D6-9A7D0552A66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632BE-019E-B23F-E9CC-CC1AA86945B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7D30D-3389-CEB9-A0CE-FDEBF4432B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011534-462E-46D2-A3A7-DB38C66A8226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109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C60C7-D566-54CC-C7BA-7161B2658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64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E93A4-113A-25F2-81EF-22241A5ED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FB8D-6E18-BCA7-3468-05F0BF2E31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457200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B650D63-A38C-40C3-9F2A-CAE47D5BA03D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2C287-8155-3221-BE26-9BF38C7C532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124203" y="6356351"/>
            <a:ext cx="2895603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D299A-D992-75A6-4FB9-2529737394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6553203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3438F494-6660-4B12-B216-38D7175034C9}" type="slidenum"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2_fallback.png"/><Relationship Id="rId1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8.xml"/><Relationship Id="rId10" Type="http://schemas.openxmlformats.org/officeDocument/2006/relationships/image" Target="../media/qr_github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7.png"/><Relationship Id="rId8" Type="http://schemas.openxmlformats.org/officeDocument/2006/relationships/image" Target="../media/image10.png"/><Relationship Id="rId9" Type="http://schemas.openxmlformats.org/officeDocument/2006/relationships/image" Target="../media/image17.svg"/><Relationship Id="rId10" Type="http://schemas.openxmlformats.org/officeDocument/2006/relationships/image" Target="../media/image14.png"/><Relationship Id="rId11" Type="http://schemas.openxmlformats.org/officeDocument/2006/relationships/image" Target="../media/image17_fallback.png"/><Relationship Id="rId12" Type="http://schemas.openxmlformats.org/officeDocument/2006/relationships/notesSlide" Target="../notesSlides/notesSlide9.xml"/><Relationship Id="rId13" Type="http://schemas.openxmlformats.org/officeDocument/2006/relationships/image" Target="../media/qr_github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5.png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83081D-1962-396C-4610-4152272DB2F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99F52C1-2433-87B9-B25A-EE38D5EBABC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3E486A2-4AAF-6C99-F881-EBF11605EDA6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32211780-1C22-C98D-B8AD-D45959769D25}"/>
              </a:ext>
            </a:extLst>
          </p:cNvPr>
          <p:cNvGrpSpPr/>
          <p:nvPr/>
        </p:nvGrpSpPr>
        <p:grpSpPr>
          <a:xfrm>
            <a:off x="0" y="4286249"/>
            <a:ext cx="2616400" cy="6000750"/>
            <a:chOff x="0" y="4286249"/>
            <a:chExt cx="2616400" cy="600075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6E4D62-CD74-7B8B-FE35-92D58F91EF9F}"/>
                </a:ext>
              </a:extLst>
            </p:cNvPr>
            <p:cNvSpPr/>
            <p:nvPr/>
          </p:nvSpPr>
          <p:spPr>
            <a:xfrm>
              <a:off x="0" y="4286249"/>
              <a:ext cx="2616400" cy="600074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488531"/>
                <a:gd name="f4" fmla="val 8001000"/>
                <a:gd name="f5" fmla="*/ f0 1 3488531"/>
                <a:gd name="f6" fmla="*/ f1 1 8001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488531"/>
                <a:gd name="f13" fmla="*/ f10 1 8001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488531" h="8001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6B549EB-141C-A585-176B-A3938EBA3C73}"/>
                </a:ext>
              </a:extLst>
            </p:cNvPr>
            <p:cNvSpPr/>
            <p:nvPr/>
          </p:nvSpPr>
          <p:spPr>
            <a:xfrm>
              <a:off x="0" y="8139412"/>
              <a:ext cx="1308195" cy="21475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44266"/>
                <a:gd name="f4" fmla="val 2863453"/>
                <a:gd name="f5" fmla="*/ f0 1 1744266"/>
                <a:gd name="f6" fmla="*/ f1 1 28634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744266"/>
                <a:gd name="f13" fmla="*/ f10 1 28634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744266" h="28634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FAF2473-8F0B-5C17-2EFD-2400D76CB18B}"/>
              </a:ext>
            </a:extLst>
          </p:cNvPr>
          <p:cNvGrpSpPr/>
          <p:nvPr/>
        </p:nvGrpSpPr>
        <p:grpSpPr>
          <a:xfrm>
            <a:off x="8540944" y="0"/>
            <a:ext cx="11080734" cy="10287009"/>
            <a:chOff x="8540944" y="0"/>
            <a:chExt cx="11080734" cy="1028700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A55D688-58B5-CFF5-6420-6A128D73D7CA}"/>
                </a:ext>
              </a:extLst>
            </p:cNvPr>
            <p:cNvSpPr/>
            <p:nvPr/>
          </p:nvSpPr>
          <p:spPr>
            <a:xfrm>
              <a:off x="8540944" y="0"/>
              <a:ext cx="9395286" cy="1028700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527043"/>
                <a:gd name="f4" fmla="val 13716000"/>
                <a:gd name="f5" fmla="*/ f0 1 12527043"/>
                <a:gd name="f6" fmla="*/ f1 1 13716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527043"/>
                <a:gd name="f13" fmla="*/ f10 1 13716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527043" h="13716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F245B9-EF32-57B2-3E3C-F16F9C37017C}"/>
                </a:ext>
              </a:extLst>
            </p:cNvPr>
            <p:cNvSpPr/>
            <p:nvPr/>
          </p:nvSpPr>
          <p:spPr>
            <a:xfrm>
              <a:off x="14368451" y="7072317"/>
              <a:ext cx="3567778" cy="321469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57032"/>
                <a:gd name="f4" fmla="val 4286250"/>
                <a:gd name="f5" fmla="*/ f0 1 4757032"/>
                <a:gd name="f6" fmla="*/ f1 1 42862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57032"/>
                <a:gd name="f13" fmla="*/ f10 1 42862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57032" h="42862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 amt="44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10AF594-1C24-EEF0-703A-FE5419052FBA}"/>
                </a:ext>
              </a:extLst>
            </p:cNvPr>
            <p:cNvSpPr/>
            <p:nvPr/>
          </p:nvSpPr>
          <p:spPr>
            <a:xfrm>
              <a:off x="10589803" y="0"/>
              <a:ext cx="7346426" cy="771971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9795240"/>
                <a:gd name="f4" fmla="val 10292953"/>
                <a:gd name="f5" fmla="*/ f0 1 9795240"/>
                <a:gd name="f6" fmla="*/ f1 1 102929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9795240"/>
                <a:gd name="f13" fmla="*/ f10 1 102929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9795240" h="102929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9">
                <a:alphaModFix amt="47000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217CE1D-CA37-1A6E-33CA-880CE5C428E0}"/>
                </a:ext>
              </a:extLst>
            </p:cNvPr>
            <p:cNvSpPr/>
            <p:nvPr/>
          </p:nvSpPr>
          <p:spPr>
            <a:xfrm rot="5399996" flipV="1">
              <a:off x="13854531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5"/>
                  </a:moveTo>
                  <a:lnTo>
                    <a:pt x="f3" y="f5"/>
                  </a:lnTo>
                  <a:lnTo>
                    <a:pt x="f3" y="f2"/>
                  </a:lnTo>
                  <a:lnTo>
                    <a:pt x="f2" y="f2"/>
                  </a:lnTo>
                  <a:lnTo>
                    <a:pt x="f2" y="f5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27846A0-B769-C8A7-8A4A-F25A39821385}"/>
                </a:ext>
              </a:extLst>
            </p:cNvPr>
            <p:cNvSpPr/>
            <p:nvPr/>
          </p:nvSpPr>
          <p:spPr>
            <a:xfrm>
              <a:off x="8540944" y="6643692"/>
              <a:ext cx="9747055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996069"/>
                <a:gd name="f4" fmla="val 4857750"/>
                <a:gd name="f5" fmla="*/ f0 1 12996069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996069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996069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 amt="9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2CBFDF-AC17-AF72-4E72-115438DA5F8F}"/>
              </a:ext>
            </a:extLst>
          </p:cNvPr>
          <p:cNvGrpSpPr/>
          <p:nvPr/>
        </p:nvGrpSpPr>
        <p:grpSpPr>
          <a:xfrm>
            <a:off x="4353220" y="10"/>
            <a:ext cx="4187732" cy="10286999"/>
            <a:chOff x="4353220" y="10"/>
            <a:chExt cx="4187732" cy="1028699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D2EC8B04-258B-A23E-538C-448F599D5BDC}"/>
                </a:ext>
              </a:extLst>
            </p:cNvPr>
            <p:cNvSpPr/>
            <p:nvPr/>
          </p:nvSpPr>
          <p:spPr>
            <a:xfrm>
              <a:off x="4353220" y="6643692"/>
              <a:ext cx="4187723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5583634"/>
                <a:gd name="f4" fmla="val 4857750"/>
                <a:gd name="f5" fmla="*/ f0 1 5583634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5583634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5583634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1A6993A9-281F-FDD7-214B-8656A9C63C43}"/>
                </a:ext>
              </a:extLst>
            </p:cNvPr>
            <p:cNvSpPr/>
            <p:nvPr/>
          </p:nvSpPr>
          <p:spPr>
            <a:xfrm rot="5400013">
              <a:off x="2773805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7" name="Freeform 17">
            <a:extLst>
              <a:ext uri="{FF2B5EF4-FFF2-40B4-BE49-F238E27FC236}">
                <a16:creationId xmlns:a16="http://schemas.microsoft.com/office/drawing/2014/main" id="{4B7158C8-28EB-59F1-D117-8CC5B32D93A6}"/>
              </a:ext>
            </a:extLst>
          </p:cNvPr>
          <p:cNvSpPr/>
          <p:nvPr/>
        </p:nvSpPr>
        <p:spPr>
          <a:xfrm>
            <a:off x="0" y="9858374"/>
            <a:ext cx="18288000" cy="428625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428625"/>
              <a:gd name="f5" fmla="*/ f0 1 18288000"/>
              <a:gd name="f6" fmla="*/ f1 1 42862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42862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42862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9CB5D6B-7F6D-6085-8CC3-DEBB10A07B3F}"/>
              </a:ext>
            </a:extLst>
          </p:cNvPr>
          <p:cNvSpPr/>
          <p:nvPr/>
        </p:nvSpPr>
        <p:spPr>
          <a:xfrm>
            <a:off x="13504599" y="509723"/>
            <a:ext cx="4090193" cy="1550072"/>
          </a:xfrm>
          <a:custGeom>
            <a:avLst/>
            <a:gdLst>
              <a:gd name="f0" fmla="val w"/>
              <a:gd name="f1" fmla="val h"/>
              <a:gd name="f2" fmla="val 0"/>
              <a:gd name="f3" fmla="val 4090195"/>
              <a:gd name="f4" fmla="val 1550074"/>
              <a:gd name="f5" fmla="*/ f0 1 4090195"/>
              <a:gd name="f6" fmla="*/ f1 1 1550074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090195"/>
              <a:gd name="f13" fmla="*/ f10 1 1550074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090195" h="1550074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6">
              <a:alphaModFix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B9542262-F998-90BB-ADEB-560DDDBCD665}"/>
              </a:ext>
            </a:extLst>
          </p:cNvPr>
          <p:cNvGrpSpPr/>
          <p:nvPr/>
        </p:nvGrpSpPr>
        <p:grpSpPr>
          <a:xfrm>
            <a:off x="1334438" y="2059795"/>
            <a:ext cx="5671456" cy="4098121"/>
            <a:chOff x="1334438" y="2059795"/>
            <a:chExt cx="5671456" cy="4098121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B70B7A96-E730-5F29-5469-1560C3E1A67B}"/>
                </a:ext>
              </a:extLst>
            </p:cNvPr>
            <p:cNvSpPr/>
            <p:nvPr/>
          </p:nvSpPr>
          <p:spPr>
            <a:xfrm>
              <a:off x="1334438" y="2059795"/>
              <a:ext cx="5671456" cy="334379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7561944"/>
                <a:gd name="f4" fmla="val 4458396"/>
                <a:gd name="f5" fmla="*/ f0 1 7561944"/>
                <a:gd name="f6" fmla="*/ f1 1 445839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7561944"/>
                <a:gd name="f13" fmla="*/ f10 1 445839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7561944" h="445839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4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3F178DE-53AD-6655-E94B-5831B7CA4842}"/>
                </a:ext>
              </a:extLst>
            </p:cNvPr>
            <p:cNvSpPr txBox="1"/>
            <p:nvPr/>
          </p:nvSpPr>
          <p:spPr>
            <a:xfrm>
              <a:off x="1482324" y="5462707"/>
              <a:ext cx="5375675" cy="695209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715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26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23º Congresso Latino-americano de Software Livre e Tecnologias Abertas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3587E615-95D5-A81F-83BA-C929DEF12D12}"/>
              </a:ext>
            </a:extLst>
          </p:cNvPr>
          <p:cNvGrpSpPr/>
          <p:nvPr/>
        </p:nvGrpSpPr>
        <p:grpSpPr>
          <a:xfrm>
            <a:off x="2207943" y="7286625"/>
            <a:ext cx="5077105" cy="1712268"/>
            <a:chOff x="2207943" y="7286625"/>
            <a:chExt cx="5077105" cy="1712268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629CA98-9479-0291-7E67-58F88A9BCF02}"/>
                </a:ext>
              </a:extLst>
            </p:cNvPr>
            <p:cNvSpPr/>
            <p:nvPr/>
          </p:nvSpPr>
          <p:spPr>
            <a:xfrm>
              <a:off x="2207943" y="7577513"/>
              <a:ext cx="5077105" cy="142138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69470"/>
                <a:gd name="f4" fmla="val 1248643"/>
                <a:gd name="f5" fmla="val 1248644"/>
                <a:gd name="f6" fmla="*/ f0 1 6769470"/>
                <a:gd name="f7" fmla="*/ f1 1 1248643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769470"/>
                <a:gd name="f14" fmla="*/ f11 1 1248643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769470" h="1248643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E8D5CA7D-CC25-7543-C98A-490C6A233399}"/>
                </a:ext>
              </a:extLst>
            </p:cNvPr>
            <p:cNvSpPr txBox="1"/>
            <p:nvPr/>
          </p:nvSpPr>
          <p:spPr>
            <a:xfrm>
              <a:off x="3529071" y="7286625"/>
              <a:ext cx="1199893" cy="251706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01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673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28" name="Título"/>
          <p:cNvSpPr txBox="1"/>
          <p:nvPr/>
        </p:nvSpPr>
        <p:spPr>
          <a:xfrm>
            <a:off x="9048750" y="2247900"/>
            <a:ext cx="8572500" cy="17145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Balanceamento competitivo com preservação de identidade</a:t>
            </a:r>
          </a:p>
        </p:txBody>
      </p:sp>
      <p:sp>
        <p:nvSpPr>
          <p:cNvPr id="29" name="Subtítulo"/>
          <p:cNvSpPr txBox="1"/>
          <p:nvPr/>
        </p:nvSpPr>
        <p:spPr>
          <a:xfrm>
            <a:off x="9048750" y="4362450"/>
            <a:ext cx="8572500" cy="857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5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Algoritmos Genéticos e NSGA-II</a:t>
            </a:r>
          </a:p>
          <a:p>
            <a:pPr marL="0" indent="0" algn="ctr">
              <a:buNone/>
            </a:pPr>
            <a:r>
              <a:rPr lang="pt-BR" sz="25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arquétipos de jogos de luta</a:t>
            </a:r>
          </a:p>
        </p:txBody>
      </p:sp>
      <p:sp>
        <p:nvSpPr>
          <p:cNvPr id="30" name="Autores"/>
          <p:cNvSpPr txBox="1"/>
          <p:nvPr/>
        </p:nvSpPr>
        <p:spPr>
          <a:xfrm>
            <a:off x="9553575" y="5753100"/>
            <a:ext cx="76200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500" b="1" i="1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Autores:</a:t>
            </a:r>
          </a:p>
        </p:txBody>
      </p:sp>
      <p:sp>
        <p:nvSpPr>
          <p:cNvPr id="31" name="Nomes"/>
          <p:cNvSpPr txBox="1"/>
          <p:nvPr/>
        </p:nvSpPr>
        <p:spPr>
          <a:xfrm>
            <a:off x="9553575" y="6229350"/>
            <a:ext cx="7620000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Matheus Gimenes de Souza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Everson Scherrer Borges</a:t>
            </a:r>
          </a:p>
        </p:txBody>
      </p:sp>
      <p:sp>
        <p:nvSpPr>
          <p:cNvPr id="32" name="Afiliação"/>
          <p:cNvSpPr txBox="1"/>
          <p:nvPr/>
        </p:nvSpPr>
        <p:spPr>
          <a:xfrm>
            <a:off x="9553575" y="7162800"/>
            <a:ext cx="7620000" cy="666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Instituto Federal do Espírito Santo (IFES)</a:t>
            </a:r>
          </a:p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Cachoeiro de Itapemirim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estilos que se enfrentam como pedra, papel e tesoura</a:t>
            </a:r>
          </a:p>
        </p:txBody>
      </p:sp>
      <p:sp>
        <p:nvSpPr>
          <p:cNvPr id="11" name="Arquétipo Rushdown"/>
          <p:cNvSpPr/>
          <p:nvPr/>
        </p:nvSpPr>
        <p:spPr>
          <a:xfrm>
            <a:off x="10287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Rushdown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pressão</a:t>
            </a:r>
          </a:p>
        </p:txBody>
      </p:sp>
      <p:sp>
        <p:nvSpPr>
          <p:cNvPr id="14" name="Arquétipo Zoner"/>
          <p:cNvSpPr/>
          <p:nvPr/>
        </p:nvSpPr>
        <p:spPr>
          <a:xfrm>
            <a:off x="43243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43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Zoner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435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</a:t>
            </a:r>
          </a:p>
        </p:txBody>
      </p:sp>
      <p:sp>
        <p:nvSpPr>
          <p:cNvPr id="17" name="Arquétipo Grappler"/>
          <p:cNvSpPr/>
          <p:nvPr/>
        </p:nvSpPr>
        <p:spPr>
          <a:xfrm>
            <a:off x="76200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Grappler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dano</a:t>
            </a:r>
          </a:p>
        </p:txBody>
      </p:sp>
      <p:sp>
        <p:nvSpPr>
          <p:cNvPr id="20" name="Arquétipo Combo Master"/>
          <p:cNvSpPr/>
          <p:nvPr/>
        </p:nvSpPr>
        <p:spPr>
          <a:xfrm>
            <a:off x="109156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156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Combo Master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565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sequência</a:t>
            </a:r>
          </a:p>
        </p:txBody>
      </p:sp>
      <p:sp>
        <p:nvSpPr>
          <p:cNvPr id="23" name="Arquétipo Turtle"/>
          <p:cNvSpPr/>
          <p:nvPr/>
        </p:nvSpPr>
        <p:spPr>
          <a:xfrm>
            <a:off x="142113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113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1130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defesa</a:t>
            </a:r>
          </a:p>
        </p:txBody>
      </p:sp>
      <p:sp>
        <p:nvSpPr>
          <p:cNvPr id="26" name="Legenda"/>
          <p:cNvSpPr txBox="1"/>
          <p:nvPr/>
        </p:nvSpPr>
        <p:spPr>
          <a:xfrm>
            <a:off x="1028700" y="4972050"/>
            <a:ext cx="16230600" cy="361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definido pelos autores, tratado como hipótese</a:t>
            </a:r>
          </a:p>
        </p:txBody>
      </p:sp>
      <p:sp>
        <p:nvSpPr>
          <p:cNvPr id="27" name="Pergunta"/>
          <p:cNvSpPr/>
          <p:nvPr/>
        </p:nvSpPr>
        <p:spPr>
          <a:xfrm>
            <a:off x="1028700" y="5867400"/>
            <a:ext cx="16230600" cy="3067050"/>
          </a:xfrm>
          <a:prstGeom prst="roundRect">
            <a:avLst>
              <a:gd name="adj" fmla="val 8074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62100" y="6248400"/>
            <a:ext cx="151638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PERGUNTA DE PESQUISA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2100" y="6743700"/>
            <a:ext cx="151638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Algoritmo Genético é capaz de atingir equilíbrio competitivo entre cinco arquétipos distintos </a:t>
            </a:r>
            <a:r>
              <a:rPr lang="pt-BR" sz="36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destruir suas identidades funcionais?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algoritmo nunca sabe quem deveria vencer quem</a:t>
            </a:r>
          </a:p>
        </p:txBody>
      </p:sp>
      <p:sp>
        <p:nvSpPr>
          <p:cNvPr id="102" name="Rótulo simulador"/>
          <p:cNvSpPr txBox="1"/>
          <p:nvPr/>
        </p:nvSpPr>
        <p:spPr>
          <a:xfrm>
            <a:off x="1028700" y="3017520"/>
            <a:ext cx="5120640" cy="329184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SIMULADOR</a:t>
            </a:r>
          </a:p>
        </p:txBody>
      </p:sp>
      <p:sp>
        <p:nvSpPr>
          <p:cNvPr id="103" name="Simulador"/>
          <p:cNvSpPr/>
          <p:nvPr/>
        </p:nvSpPr>
        <p:spPr>
          <a:xfrm>
            <a:off x="1028700" y="3474720"/>
            <a:ext cx="5120640" cy="41605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4" name="Chão"/>
          <p:cNvCxnSpPr/>
          <p:nvPr/>
        </p:nvCxnSpPr>
        <p:spPr>
          <a:xfrm>
            <a:off x="1348740" y="4709160"/>
            <a:ext cx="448056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sp>
        <p:nvSpPr>
          <p:cNvPr id="105" name="Lutador 1"/>
          <p:cNvSpPr/>
          <p:nvPr/>
        </p:nvSpPr>
        <p:spPr>
          <a:xfrm>
            <a:off x="2263140" y="3840480"/>
            <a:ext cx="731520" cy="73152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6" name="Avança 1"/>
          <p:cNvCxnSpPr/>
          <p:nvPr/>
        </p:nvCxnSpPr>
        <p:spPr>
          <a:xfrm>
            <a:off x="3086100" y="4206240"/>
            <a:ext cx="457200" cy="0"/>
          </a:xfrm>
          <a:prstGeom prst="line">
            <a:avLst/>
          </a:prstGeom>
          <a:ln w="47625">
            <a:solidFill>
              <a:srgbClr val="685BC7"/>
            </a:solidFill>
            <a:tailEnd type="triangle" w="med" len="med"/>
          </a:ln>
        </p:spPr>
      </p:cxnSp>
      <p:sp>
        <p:nvSpPr>
          <p:cNvPr id="107" name="Lutador 2"/>
          <p:cNvSpPr/>
          <p:nvPr/>
        </p:nvSpPr>
        <p:spPr>
          <a:xfrm>
            <a:off x="4183380" y="3840480"/>
            <a:ext cx="731520" cy="73152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Avança 2"/>
          <p:cNvCxnSpPr/>
          <p:nvPr/>
        </p:nvCxnSpPr>
        <p:spPr>
          <a:xfrm flipH="1">
            <a:off x="3634740" y="4206240"/>
            <a:ext cx="457200" cy="0"/>
          </a:xfrm>
          <a:prstGeom prst="line">
            <a:avLst/>
          </a:prstGeom>
          <a:ln w="47625">
            <a:solidFill>
              <a:srgbClr val="C8540F"/>
            </a:solidFill>
            <a:tailEnd type="triangle" w="med" len="med"/>
          </a:ln>
        </p:spPr>
      </p:cxnSp>
      <p:sp>
        <p:nvSpPr>
          <p:cNvPr id="109" name="Intenção AVANÇAR"/>
          <p:cNvSpPr/>
          <p:nvPr/>
        </p:nvSpPr>
        <p:spPr>
          <a:xfrm>
            <a:off x="1298448" y="498348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exto AVANÇAR"/>
          <p:cNvSpPr txBox="1"/>
          <p:nvPr/>
        </p:nvSpPr>
        <p:spPr>
          <a:xfrm>
            <a:off x="1298448" y="4983480"/>
            <a:ext cx="14173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15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AVANÇAR</a:t>
            </a:r>
          </a:p>
        </p:txBody>
      </p:sp>
      <p:sp>
        <p:nvSpPr>
          <p:cNvPr id="111" name="Intenção RECUAR"/>
          <p:cNvSpPr/>
          <p:nvPr/>
        </p:nvSpPr>
        <p:spPr>
          <a:xfrm>
            <a:off x="2880360" y="498348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o RECUAR"/>
          <p:cNvSpPr txBox="1"/>
          <p:nvPr/>
        </p:nvSpPr>
        <p:spPr>
          <a:xfrm>
            <a:off x="2880360" y="4983480"/>
            <a:ext cx="14173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15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RECUAR</a:t>
            </a:r>
          </a:p>
        </p:txBody>
      </p:sp>
      <p:sp>
        <p:nvSpPr>
          <p:cNvPr id="113" name="Intenção DEFENDER"/>
          <p:cNvSpPr/>
          <p:nvPr/>
        </p:nvSpPr>
        <p:spPr>
          <a:xfrm>
            <a:off x="4462272" y="498348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Texto DEFENDER"/>
          <p:cNvSpPr txBox="1"/>
          <p:nvPr/>
        </p:nvSpPr>
        <p:spPr>
          <a:xfrm>
            <a:off x="4462272" y="4983480"/>
            <a:ext cx="14173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15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DEFENDER</a:t>
            </a:r>
          </a:p>
        </p:txBody>
      </p:sp>
      <p:sp>
        <p:nvSpPr>
          <p:cNvPr id="115" name="Genes"/>
          <p:cNvSpPr txBox="1"/>
          <p:nvPr/>
        </p:nvSpPr>
        <p:spPr>
          <a:xfrm>
            <a:off x="1348740" y="5852160"/>
            <a:ext cx="201168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</a:t>
            </a:r>
          </a:p>
        </p:txBody>
      </p:sp>
      <p:sp>
        <p:nvSpPr>
          <p:cNvPr id="116" name="Genes legenda"/>
          <p:cNvSpPr txBox="1"/>
          <p:nvPr/>
        </p:nvSpPr>
        <p:spPr>
          <a:xfrm>
            <a:off x="1348740" y="6492240"/>
            <a:ext cx="219456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números por</a:t>
            </a:r>
          </a:p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personagem</a:t>
            </a:r>
          </a:p>
        </p:txBody>
      </p:sp>
      <p:sp>
        <p:nvSpPr>
          <p:cNvPr id="117" name="Lutas"/>
          <p:cNvSpPr txBox="1"/>
          <p:nvPr/>
        </p:nvSpPr>
        <p:spPr>
          <a:xfrm>
            <a:off x="3360420" y="5852160"/>
            <a:ext cx="265176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 × 150</a:t>
            </a:r>
          </a:p>
        </p:txBody>
      </p:sp>
      <p:sp>
        <p:nvSpPr>
          <p:cNvPr id="118" name="Lutas legenda"/>
          <p:cNvSpPr txBox="1"/>
          <p:nvPr/>
        </p:nvSpPr>
        <p:spPr>
          <a:xfrm>
            <a:off x="3360420" y="6492240"/>
            <a:ext cx="237744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confrontos × lutas</a:t>
            </a:r>
          </a:p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por elenco</a:t>
            </a:r>
          </a:p>
        </p:txBody>
      </p:sp>
      <p:cxnSp>
        <p:nvCxnSpPr>
          <p:cNvPr id="119" name="Seta 1"/>
          <p:cNvCxnSpPr/>
          <p:nvPr/>
        </p:nvCxnSpPr>
        <p:spPr>
          <a:xfrm>
            <a:off x="6327648" y="5554980"/>
            <a:ext cx="457200" cy="0"/>
          </a:xfrm>
          <a:prstGeom prst="line">
            <a:avLst/>
          </a:prstGeom>
          <a:ln w="47625">
            <a:solidFill>
              <a:srgbClr val="1B2740"/>
            </a:solidFill>
            <a:tailEnd type="triangle" w="med" len="med"/>
          </a:ln>
        </p:spPr>
      </p:cxnSp>
      <p:sp>
        <p:nvSpPr>
          <p:cNvPr id="120" name="Rótulo busca"/>
          <p:cNvSpPr txBox="1"/>
          <p:nvPr/>
        </p:nvSpPr>
        <p:spPr>
          <a:xfrm>
            <a:off x="6967728" y="3017520"/>
            <a:ext cx="5120640" cy="329184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BUSCA EVOLUTIVA</a:t>
            </a:r>
          </a:p>
        </p:txBody>
      </p:sp>
      <p:sp>
        <p:nvSpPr>
          <p:cNvPr id="121" name="Busca"/>
          <p:cNvSpPr/>
          <p:nvPr/>
        </p:nvSpPr>
        <p:spPr>
          <a:xfrm>
            <a:off x="6967728" y="3474720"/>
            <a:ext cx="5120640" cy="41605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bjetivo equilíbrio"/>
          <p:cNvSpPr/>
          <p:nvPr/>
        </p:nvSpPr>
        <p:spPr>
          <a:xfrm>
            <a:off x="7242048" y="3749040"/>
            <a:ext cx="4572000" cy="1325880"/>
          </a:xfrm>
          <a:prstGeom prst="roundRect">
            <a:avLst>
              <a:gd name="adj" fmla="val 10000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Equilíbrio título"/>
          <p:cNvSpPr txBox="1"/>
          <p:nvPr/>
        </p:nvSpPr>
        <p:spPr>
          <a:xfrm>
            <a:off x="7516368" y="3931920"/>
            <a:ext cx="40233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ficar equilibrado</a:t>
            </a:r>
          </a:p>
        </p:txBody>
      </p:sp>
      <p:sp>
        <p:nvSpPr>
          <p:cNvPr id="124" name="Equilíbrio legenda"/>
          <p:cNvSpPr txBox="1"/>
          <p:nvPr/>
        </p:nvSpPr>
        <p:spPr>
          <a:xfrm>
            <a:off x="7516368" y="4480560"/>
            <a:ext cx="4023360" cy="3657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 baixo</a:t>
            </a:r>
          </a:p>
        </p:txBody>
      </p:sp>
      <p:sp>
        <p:nvSpPr>
          <p:cNvPr id="125" name="Objetivo identidade"/>
          <p:cNvSpPr/>
          <p:nvPr/>
        </p:nvSpPr>
        <p:spPr>
          <a:xfrm>
            <a:off x="7242048" y="5257800"/>
            <a:ext cx="4572000" cy="1325880"/>
          </a:xfrm>
          <a:prstGeom prst="roundRect">
            <a:avLst>
              <a:gd name="adj" fmla="val 10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Identidade título"/>
          <p:cNvSpPr txBox="1"/>
          <p:nvPr/>
        </p:nvSpPr>
        <p:spPr>
          <a:xfrm>
            <a:off x="7516368" y="5440680"/>
            <a:ext cx="40233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ficar perto do original</a:t>
            </a:r>
          </a:p>
        </p:txBody>
      </p:sp>
      <p:sp>
        <p:nvSpPr>
          <p:cNvPr id="127" name="Identidade legenda"/>
          <p:cNvSpPr txBox="1"/>
          <p:nvPr/>
        </p:nvSpPr>
        <p:spPr>
          <a:xfrm>
            <a:off x="7516368" y="5989320"/>
            <a:ext cx="4023360" cy="3657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afastar-se custa, mas pode</a:t>
            </a:r>
          </a:p>
        </p:txBody>
      </p:sp>
      <p:sp>
        <p:nvSpPr>
          <p:cNvPr id="128" name="Ciclo"/>
          <p:cNvSpPr txBox="1"/>
          <p:nvPr/>
        </p:nvSpPr>
        <p:spPr>
          <a:xfrm>
            <a:off x="7242048" y="6858000"/>
            <a:ext cx="4572000" cy="3657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1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gera · cruza · muta · repete</a:t>
            </a:r>
          </a:p>
        </p:txBody>
      </p:sp>
      <p:cxnSp>
        <p:nvCxnSpPr>
          <p:cNvPr id="129" name="Seta 2"/>
          <p:cNvCxnSpPr/>
          <p:nvPr/>
        </p:nvCxnSpPr>
        <p:spPr>
          <a:xfrm>
            <a:off x="12271248" y="5554980"/>
            <a:ext cx="457200" cy="0"/>
          </a:xfrm>
          <a:prstGeom prst="line">
            <a:avLst/>
          </a:prstGeom>
          <a:ln w="47625">
            <a:solidFill>
              <a:srgbClr val="1B2740"/>
            </a:solidFill>
            <a:prstDash val="dash"/>
            <a:tailEnd type="triangle" w="med" len="med"/>
          </a:ln>
        </p:spPr>
      </p:cxnSp>
      <p:sp>
        <p:nvSpPr>
          <p:cNvPr id="130" name="Rótulo depois"/>
          <p:cNvSpPr txBox="1"/>
          <p:nvPr/>
        </p:nvSpPr>
        <p:spPr>
          <a:xfrm>
            <a:off x="12911328" y="3017520"/>
            <a:ext cx="4347972" cy="329184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MEDIDO DEPOIS</a:t>
            </a:r>
          </a:p>
        </p:txBody>
      </p:sp>
      <p:sp>
        <p:nvSpPr>
          <p:cNvPr id="131" name="Fora da busca"/>
          <p:cNvSpPr/>
          <p:nvPr/>
        </p:nvSpPr>
        <p:spPr>
          <a:xfrm>
            <a:off x="12911328" y="3474720"/>
            <a:ext cx="434797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3020">
            <a:solidFill>
              <a:srgbClr val="685BC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Nunca vê"/>
          <p:cNvSpPr txBox="1"/>
          <p:nvPr/>
        </p:nvSpPr>
        <p:spPr>
          <a:xfrm>
            <a:off x="13231368" y="4160520"/>
            <a:ext cx="3707892" cy="3657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algoritmo nunca vê:</a:t>
            </a:r>
          </a:p>
        </p:txBody>
      </p:sp>
      <p:sp>
        <p:nvSpPr>
          <p:cNvPr id="133" name="Quem vence"/>
          <p:cNvSpPr txBox="1"/>
          <p:nvPr/>
        </p:nvSpPr>
        <p:spPr>
          <a:xfrm>
            <a:off x="13231368" y="4754880"/>
            <a:ext cx="3707892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quem vence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quem</a:t>
            </a:r>
          </a:p>
        </p:txBody>
      </p:sp>
      <p:sp>
        <p:nvSpPr>
          <p:cNvPr id="134" name="Testes"/>
          <p:cNvSpPr txBox="1"/>
          <p:nvPr/>
        </p:nvSpPr>
        <p:spPr>
          <a:xfrm>
            <a:off x="13231368" y="5989320"/>
            <a:ext cx="3707892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os 21 testes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35" name="Fecho"/>
          <p:cNvSpPr txBox="1"/>
          <p:nvPr/>
        </p:nvSpPr>
        <p:spPr>
          <a:xfrm>
            <a:off x="1028700" y="8046720"/>
            <a:ext cx="1623060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Se a identidade fosse regra, sobreviveria por obrigação. </a:t>
            </a:r>
            <a:r>
              <a:rPr lang="pt-BR" sz="2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Medida por fora, vira resultado.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simulador avalia; dois algoritmos buscam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00400"/>
            <a:ext cx="7353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SIMULADOR DE COMBATE</a:t>
            </a:r>
          </a:p>
        </p:txBody>
      </p:sp>
      <p:sp>
        <p:nvSpPr>
          <p:cNvPr id="12" name="Campo"/>
          <p:cNvSpPr/>
          <p:nvPr/>
        </p:nvSpPr>
        <p:spPr>
          <a:xfrm>
            <a:off x="1028700" y="3619500"/>
            <a:ext cx="7353300" cy="2495550"/>
          </a:xfrm>
          <a:prstGeom prst="roundRect">
            <a:avLst>
              <a:gd name="adj" fmla="val 763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47800" y="4895850"/>
            <a:ext cx="6515100" cy="0"/>
          </a:xfrm>
          <a:prstGeom prst="line">
            <a:avLst/>
          </a:prstGeom>
          <a:ln w="47625">
            <a:solidFill>
              <a:srgbClr val="C9CCD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895600" y="4076700"/>
            <a:ext cx="762000" cy="7620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771900" y="4457700"/>
            <a:ext cx="571500" cy="0"/>
          </a:xfrm>
          <a:prstGeom prst="line">
            <a:avLst/>
          </a:prstGeom>
          <a:ln w="47625">
            <a:solidFill>
              <a:srgbClr val="685BC7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5753100" y="4076700"/>
            <a:ext cx="762000" cy="76200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5067300" y="4457700"/>
            <a:ext cx="571500" cy="0"/>
          </a:xfrm>
          <a:prstGeom prst="line">
            <a:avLst/>
          </a:prstGeom>
          <a:ln w="47625">
            <a:solidFill>
              <a:srgbClr val="C8540F"/>
            </a:solidFill>
            <a:tailEnd type="triangle" w="med" len="med"/>
          </a:ln>
        </p:spPr>
      </p:cxnSp>
      <p:sp>
        <p:nvSpPr>
          <p:cNvPr id="18" name="Intenção FRENTE"/>
          <p:cNvSpPr/>
          <p:nvPr/>
        </p:nvSpPr>
        <p:spPr>
          <a:xfrm>
            <a:off x="16764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64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AVANÇAR</a:t>
            </a:r>
          </a:p>
        </p:txBody>
      </p:sp>
      <p:sp>
        <p:nvSpPr>
          <p:cNvPr id="20" name="Intenção RECUAR"/>
          <p:cNvSpPr/>
          <p:nvPr/>
        </p:nvSpPr>
        <p:spPr>
          <a:xfrm>
            <a:off x="375285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285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RECUAR</a:t>
            </a:r>
          </a:p>
        </p:txBody>
      </p:sp>
      <p:sp>
        <p:nvSpPr>
          <p:cNvPr id="22" name="Intenção GUARDA"/>
          <p:cNvSpPr/>
          <p:nvPr/>
        </p:nvSpPr>
        <p:spPr>
          <a:xfrm>
            <a:off x="58293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93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genes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por personagem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965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× 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965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× lutas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8115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DOIS ALGORITMOS</a:t>
            </a:r>
          </a:p>
        </p:txBody>
      </p:sp>
      <p:sp>
        <p:nvSpPr>
          <p:cNvPr id="29" name="Algoritmo AG escalar"/>
          <p:cNvSpPr/>
          <p:nvPr/>
        </p:nvSpPr>
        <p:spPr>
          <a:xfrm>
            <a:off x="914400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1075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1075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994410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9660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35" name="Oval 34"/>
          <p:cNvSpPr/>
          <p:nvPr/>
        </p:nvSpPr>
        <p:spPr>
          <a:xfrm>
            <a:off x="10620375" y="5514975"/>
            <a:ext cx="285750" cy="28575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070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ponto</a:t>
            </a:r>
          </a:p>
        </p:txBody>
      </p:sp>
      <p:sp>
        <p:nvSpPr>
          <p:cNvPr id="37" name="Algoritmo NSGA-II"/>
          <p:cNvSpPr/>
          <p:nvPr/>
        </p:nvSpPr>
        <p:spPr>
          <a:xfrm>
            <a:off x="1331595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58265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NSGA-II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98270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398270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1411605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6855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43" name="Oval 42"/>
          <p:cNvSpPr/>
          <p:nvPr/>
        </p:nvSpPr>
        <p:spPr>
          <a:xfrm>
            <a:off x="14135100" y="4686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4325600" y="50863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630400" y="54102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030450" y="56578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06700" y="5829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6021050" y="593407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535400" y="599122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8265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inteira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7600950"/>
            <a:ext cx="8115300" cy="381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300 elencos</a:t>
            </a: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·  </a:t>
            </a: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150 gerações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Equilibrar por completo apaga boa parte da identidade</a:t>
            </a:r>
          </a:p>
        </p:txBody>
      </p:sp>
      <p:sp>
        <p:nvSpPr>
          <p:cNvPr id="11" name="Elenco canônico"/>
          <p:cNvSpPr/>
          <p:nvPr/>
        </p:nvSpPr>
        <p:spPr>
          <a:xfrm>
            <a:off x="1028700" y="3352800"/>
            <a:ext cx="6953250" cy="4457700"/>
          </a:xfrm>
          <a:prstGeom prst="roundRect">
            <a:avLst>
              <a:gd name="adj" fmla="val 5128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7800" y="3638550"/>
            <a:ext cx="611505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canônico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4133850"/>
            <a:ext cx="6115050" cy="361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original, antes da evolução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7800" y="4610100"/>
            <a:ext cx="2905125" cy="1943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2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7800" y="6515100"/>
            <a:ext cx="2905125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10 confrontos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equilibrados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725" y="4610100"/>
            <a:ext cx="2905125" cy="1943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2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725" y="6515100"/>
            <a:ext cx="2905125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21 testes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identidade</a:t>
            </a:r>
          </a:p>
        </p:txBody>
      </p:sp>
      <p:sp>
        <p:nvSpPr>
          <p:cNvPr id="18" name="AG escalar"/>
          <p:cNvSpPr/>
          <p:nvPr/>
        </p:nvSpPr>
        <p:spPr>
          <a:xfrm>
            <a:off x="10306050" y="3352800"/>
            <a:ext cx="6953250" cy="4457700"/>
          </a:xfrm>
          <a:prstGeom prst="roundRect">
            <a:avLst>
              <a:gd name="adj" fmla="val 5128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25150" y="3638550"/>
            <a:ext cx="611505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150" y="4133850"/>
            <a:ext cx="6115050" cy="361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soma os dois objetivos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150" y="4610100"/>
            <a:ext cx="2905125" cy="1943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2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150" y="6515100"/>
            <a:ext cx="2905125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10 confrontos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equilibrados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35075" y="4610100"/>
            <a:ext cx="2905125" cy="1943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2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35075" y="6515100"/>
            <a:ext cx="2905125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21 testes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identidade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48650" y="5581650"/>
            <a:ext cx="1790700" cy="0"/>
          </a:xfrm>
          <a:prstGeom prst="line">
            <a:avLst/>
          </a:prstGeom>
          <a:ln w="47625">
            <a:solidFill>
              <a:srgbClr val="1B2740"/>
            </a:solidFill>
            <a:tailEnd type="triangle" w="med" len="med"/>
          </a:ln>
        </p:spPr>
      </p:cxnSp>
      <p:sp>
        <p:nvSpPr>
          <p:cNvPr id="26" name="TextBox 25"/>
          <p:cNvSpPr txBox="1"/>
          <p:nvPr/>
        </p:nvSpPr>
        <p:spPr>
          <a:xfrm>
            <a:off x="1028700" y="8077200"/>
            <a:ext cx="16230600" cy="3429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 equilibrado: taxa de vitória entre 40% e 60%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mostra o preço de cada grau de equilíbrio</a:t>
            </a:r>
          </a:p>
        </p:txBody>
      </p:sp>
      <p:pic>
        <p:nvPicPr>
          <p:cNvPr id="11" name="Fronteira de Pareto" descr="pareto_fro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1550" y="2971800"/>
            <a:ext cx="8382000" cy="58583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8700" y="8915400"/>
            <a:ext cx="8382000" cy="3429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Cada ponto é um elenco da fronteira do NSGA-II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01700" y="3028950"/>
            <a:ext cx="1828800" cy="990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equilibrados</a:t>
            </a:r>
          </a:p>
          <a:p>
            <a:pPr marL="0" indent="0" algn="ctr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(de 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30500" y="3028950"/>
            <a:ext cx="1828800" cy="990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testes de identidade</a:t>
            </a:r>
          </a:p>
          <a:p>
            <a:pPr marL="0" indent="0" algn="ctr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(de 21)</a:t>
            </a:r>
          </a:p>
        </p:txBody>
      </p:sp>
      <p:sp>
        <p:nvSpPr>
          <p:cNvPr id="15" name="Linha Canônico"/>
          <p:cNvSpPr/>
          <p:nvPr/>
        </p:nvSpPr>
        <p:spPr>
          <a:xfrm>
            <a:off x="9906000" y="4152900"/>
            <a:ext cx="7353300" cy="1066800"/>
          </a:xfrm>
          <a:prstGeom prst="roundRect">
            <a:avLst>
              <a:gd name="adj" fmla="val 14285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4125" y="4543425"/>
            <a:ext cx="285750" cy="28575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10850" y="4152900"/>
            <a:ext cx="29337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Canônico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01700" y="41529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30500" y="41529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20" name="Linha Joelho"/>
          <p:cNvSpPr/>
          <p:nvPr/>
        </p:nvSpPr>
        <p:spPr>
          <a:xfrm>
            <a:off x="9906000" y="5334000"/>
            <a:ext cx="7353300" cy="1066800"/>
          </a:xfrm>
          <a:prstGeom prst="roundRect">
            <a:avLst>
              <a:gd name="adj" fmla="val 14285"/>
            </a:avLst>
          </a:prstGeom>
          <a:solidFill>
            <a:srgbClr val="EFEDFA"/>
          </a:solidFill>
          <a:ln w="38100">
            <a:solidFill>
              <a:srgbClr val="685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>
            <a:off x="10144125" y="5724525"/>
            <a:ext cx="285750" cy="285750"/>
          </a:xfrm>
          <a:prstGeom prst="triangl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10850" y="5334000"/>
            <a:ext cx="29337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01700" y="53340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30500" y="53340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</a:t>
            </a:r>
          </a:p>
        </p:txBody>
      </p:sp>
      <p:sp>
        <p:nvSpPr>
          <p:cNvPr id="25" name="Linha Mais equilibrado"/>
          <p:cNvSpPr/>
          <p:nvPr/>
        </p:nvSpPr>
        <p:spPr>
          <a:xfrm>
            <a:off x="9906000" y="6515100"/>
            <a:ext cx="7353300" cy="1066800"/>
          </a:xfrm>
          <a:prstGeom prst="roundRect">
            <a:avLst>
              <a:gd name="adj" fmla="val 14285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44125" y="6905625"/>
            <a:ext cx="285750" cy="285750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10850" y="6515100"/>
            <a:ext cx="29337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Mais equilibrado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01700" y="65151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430500" y="65151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13</a:t>
            </a:r>
          </a:p>
        </p:txBody>
      </p:sp>
      <p:sp>
        <p:nvSpPr>
          <p:cNvPr id="30" name="Linha AG escalar"/>
          <p:cNvSpPr/>
          <p:nvPr/>
        </p:nvSpPr>
        <p:spPr>
          <a:xfrm>
            <a:off x="9906000" y="7696200"/>
            <a:ext cx="7353300" cy="1066800"/>
          </a:xfrm>
          <a:prstGeom prst="roundRect">
            <a:avLst>
              <a:gd name="adj" fmla="val 14285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44125" y="8086725"/>
            <a:ext cx="285750" cy="285750"/>
          </a:xfrm>
          <a:prstGeom prst="ellipse">
            <a:avLst/>
          </a:prstGeom>
          <a:noFill/>
          <a:ln w="28575">
            <a:solidFill>
              <a:srgbClr val="1B27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10850" y="7867650"/>
            <a:ext cx="29337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0850" y="8267700"/>
            <a:ext cx="2933700" cy="3429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fora da curva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01700" y="76962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430500" y="76962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robustez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equilíbrio se sustenta fora da busca; o ciclo não é destruído nem recuperado</a:t>
            </a:r>
          </a:p>
        </p:txBody>
      </p:sp>
      <p:sp>
        <p:nvSpPr>
          <p:cNvPr id="11" name="10 Execuções Independentes"/>
          <p:cNvSpPr/>
          <p:nvPr/>
        </p:nvSpPr>
        <p:spPr>
          <a:xfrm>
            <a:off x="10287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EXECUÇÕES INDEPENDENTES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90–100%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97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execuções equilibradas, por personagem</a:t>
            </a:r>
          </a:p>
        </p:txBody>
      </p:sp>
      <p:sp>
        <p:nvSpPr>
          <p:cNvPr id="15" name="10 Sementes Novas"/>
          <p:cNvSpPr/>
          <p:nvPr/>
        </p:nvSpPr>
        <p:spPr>
          <a:xfrm>
            <a:off x="65913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23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SEMENTES NOVAS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3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23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seguem equilibrados</a:t>
            </a:r>
          </a:p>
        </p:txBody>
      </p:sp>
      <p:sp>
        <p:nvSpPr>
          <p:cNvPr id="19" name="Ciclo De Vantagens"/>
          <p:cNvSpPr/>
          <p:nvPr/>
        </p:nvSpPr>
        <p:spPr>
          <a:xfrm>
            <a:off x="121539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349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349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 a 6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349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relações de quem vence quem se mantêm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Conclusão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Sim, dá para equilibrar sem apagar as identidades, mas não de graça</a:t>
            </a:r>
          </a:p>
        </p:txBody>
      </p:sp>
      <p:sp>
        <p:nvSpPr>
          <p:cNvPr id="102" name="Resumo"/>
          <p:cNvSpPr/>
          <p:nvPr/>
        </p:nvSpPr>
        <p:spPr>
          <a:xfrm>
            <a:off x="1028700" y="3246120"/>
            <a:ext cx="9966960" cy="521208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sumo rótulo"/>
          <p:cNvSpPr txBox="1"/>
          <p:nvPr/>
        </p:nvSpPr>
        <p:spPr>
          <a:xfrm>
            <a:off x="1463040" y="3611880"/>
            <a:ext cx="9144000" cy="3657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PREÇO, EM NÚMEROS</a:t>
            </a:r>
          </a:p>
        </p:txBody>
      </p:sp>
      <p:sp>
        <p:nvSpPr>
          <p:cNvPr id="104" name="Tudo número"/>
          <p:cNvSpPr txBox="1"/>
          <p:nvPr/>
        </p:nvSpPr>
        <p:spPr>
          <a:xfrm>
            <a:off x="1463040" y="4160520"/>
            <a:ext cx="438912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9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  <a:r>
              <a:rPr lang="pt-BR" sz="4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5" name="Tudo legenda"/>
          <p:cNvSpPr txBox="1"/>
          <p:nvPr/>
        </p:nvSpPr>
        <p:spPr>
          <a:xfrm>
            <a:off x="1463040" y="5577840"/>
            <a:ext cx="438912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</a:t>
            </a:r>
          </a:p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ao equilibrar tudo</a:t>
            </a:r>
          </a:p>
        </p:txBody>
      </p:sp>
      <p:sp>
        <p:nvSpPr>
          <p:cNvPr id="106" name="Joelho número"/>
          <p:cNvSpPr txBox="1"/>
          <p:nvPr/>
        </p:nvSpPr>
        <p:spPr>
          <a:xfrm>
            <a:off x="6172200" y="4160520"/>
            <a:ext cx="448056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9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  <a:r>
              <a:rPr lang="pt-BR" sz="4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7" name="Joelho legenda"/>
          <p:cNvSpPr txBox="1"/>
          <p:nvPr/>
        </p:nvSpPr>
        <p:spPr>
          <a:xfrm>
            <a:off x="6172200" y="5577840"/>
            <a:ext cx="448056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joelho, com o desbalanço</a:t>
            </a:r>
          </a:p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três quartos menor</a:t>
            </a:r>
          </a:p>
        </p:txBody>
      </p:sp>
      <p:cxnSp>
        <p:nvCxnSpPr>
          <p:cNvPr id="108" name="Divisor"/>
          <p:cNvCxnSpPr/>
          <p:nvPr/>
        </p:nvCxnSpPr>
        <p:spPr>
          <a:xfrm>
            <a:off x="1463040" y="6812280"/>
            <a:ext cx="9098280" cy="0"/>
          </a:xfrm>
          <a:prstGeom prst="line">
            <a:avLst/>
          </a:prstGeom>
          <a:ln w="19050">
            <a:solidFill>
              <a:srgbClr val="C9CCD8"/>
            </a:solidFill>
          </a:ln>
        </p:spPr>
      </p:cxnSp>
      <p:sp>
        <p:nvSpPr>
          <p:cNvPr id="109" name="Próximo passo"/>
          <p:cNvSpPr txBox="1"/>
          <p:nvPr/>
        </p:nvSpPr>
        <p:spPr>
          <a:xfrm>
            <a:off x="1463040" y="6995160"/>
            <a:ext cx="9144000" cy="7772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Próximo passo: </a:t>
            </a:r>
            <a:r>
              <a:rPr lang="pt-BR" sz="2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equilibrar contra um adversário que também se adapta</a:t>
            </a:r>
          </a:p>
        </p:txBody>
      </p:sp>
      <p:sp>
        <p:nvSpPr>
          <p:cNvPr id="110" name="Ressalva"/>
          <p:cNvSpPr txBox="1"/>
          <p:nvPr/>
        </p:nvSpPr>
        <p:spPr>
          <a:xfrm>
            <a:off x="1463040" y="7882128"/>
            <a:ext cx="9144000" cy="3657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Resultado preliminar · modelo simplificado · cinco arquétipos</a:t>
            </a:r>
          </a:p>
        </p:txBody>
      </p:sp>
      <p:sp>
        <p:nvSpPr>
          <p:cNvPr id="111" name="Convite"/>
          <p:cNvSpPr/>
          <p:nvPr/>
        </p:nvSpPr>
        <p:spPr>
          <a:xfrm>
            <a:off x="11430000" y="3246120"/>
            <a:ext cx="5829300" cy="5212080"/>
          </a:xfrm>
          <a:prstGeom prst="roundRect">
            <a:avLst>
              <a:gd name="adj" fmla="val 5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Convite título"/>
          <p:cNvSpPr txBox="1"/>
          <p:nvPr/>
        </p:nvSpPr>
        <p:spPr>
          <a:xfrm>
            <a:off x="11841480" y="3611880"/>
            <a:ext cx="50292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Quer ver por dentro?</a:t>
            </a:r>
          </a:p>
        </p:txBody>
      </p:sp>
      <p:sp>
        <p:nvSpPr>
          <p:cNvPr id="113" name="Fundo QR"/>
          <p:cNvSpPr/>
          <p:nvPr/>
        </p:nvSpPr>
        <p:spPr>
          <a:xfrm>
            <a:off x="12687300" y="4297680"/>
            <a:ext cx="3314700" cy="3314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QR GitHub" descr="QR code para github.com/M-Gimenes/Simulati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801600" y="4411980"/>
            <a:ext cx="3086100" cy="3086100"/>
          </a:xfrm>
          <a:prstGeom prst="rect">
            <a:avLst/>
          </a:prstGeom>
        </p:spPr>
      </p:pic>
      <p:sp>
        <p:nvSpPr>
          <p:cNvPr id="115" name="Link"/>
          <p:cNvSpPr txBox="1"/>
          <p:nvPr/>
        </p:nvSpPr>
        <p:spPr>
          <a:xfrm>
            <a:off x="11841480" y="7818120"/>
            <a:ext cx="5029200" cy="3657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17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github.com/M-Gimenes/Simulation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598E0F-0F42-416A-3C32-0A90EA331159}"/>
              </a:ext>
            </a:extLst>
          </p:cNvPr>
          <p:cNvSpPr/>
          <p:nvPr/>
        </p:nvSpPr>
        <p:spPr>
          <a:xfrm>
            <a:off x="0" y="6643682"/>
            <a:ext cx="18288000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3643313"/>
              <a:gd name="f5" fmla="*/ f0 1 18288000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7F20014-BC70-0529-4FF8-2E12EF9FCDC5}"/>
              </a:ext>
            </a:extLst>
          </p:cNvPr>
          <p:cNvSpPr/>
          <p:nvPr/>
        </p:nvSpPr>
        <p:spPr>
          <a:xfrm>
            <a:off x="0" y="4286249"/>
            <a:ext cx="2616400" cy="6000749"/>
          </a:xfrm>
          <a:custGeom>
            <a:avLst/>
            <a:gdLst>
              <a:gd name="f0" fmla="val w"/>
              <a:gd name="f1" fmla="val h"/>
              <a:gd name="f2" fmla="val 0"/>
              <a:gd name="f3" fmla="val 2616398"/>
              <a:gd name="f4" fmla="val 6000750"/>
              <a:gd name="f5" fmla="*/ f0 1 2616398"/>
              <a:gd name="f6" fmla="*/ f1 1 600075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2616398"/>
              <a:gd name="f13" fmla="*/ f10 1 600075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2616398" h="600075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DD04122-BF63-DF12-1A53-F45C3AFFC512}"/>
              </a:ext>
            </a:extLst>
          </p:cNvPr>
          <p:cNvSpPr/>
          <p:nvPr/>
        </p:nvSpPr>
        <p:spPr>
          <a:xfrm>
            <a:off x="0" y="8139412"/>
            <a:ext cx="1308195" cy="2147587"/>
          </a:xfrm>
          <a:custGeom>
            <a:avLst/>
            <a:gdLst>
              <a:gd name="f0" fmla="val w"/>
              <a:gd name="f1" fmla="val h"/>
              <a:gd name="f2" fmla="val 0"/>
              <a:gd name="f3" fmla="val 1308199"/>
              <a:gd name="f4" fmla="val 2147590"/>
              <a:gd name="f5" fmla="*/ f0 1 1308199"/>
              <a:gd name="f6" fmla="*/ f1 1 214759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08199"/>
              <a:gd name="f13" fmla="*/ f10 1 214759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08199" h="214759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D394F5A-996C-2225-21CD-3997E402C759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5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FDF31BC5-25CA-B1AB-7310-9798220F7508}"/>
              </a:ext>
            </a:extLst>
          </p:cNvPr>
          <p:cNvSpPr/>
          <p:nvPr/>
        </p:nvSpPr>
        <p:spPr>
          <a:xfrm>
            <a:off x="10941573" y="0"/>
            <a:ext cx="7346426" cy="7719712"/>
          </a:xfrm>
          <a:custGeom>
            <a:avLst/>
            <a:gdLst>
              <a:gd name="f0" fmla="val w"/>
              <a:gd name="f1" fmla="val h"/>
              <a:gd name="f2" fmla="val 0"/>
              <a:gd name="f3" fmla="val 7346430"/>
              <a:gd name="f4" fmla="val 7719715"/>
              <a:gd name="f5" fmla="*/ f0 1 7346430"/>
              <a:gd name="f6" fmla="*/ f1 1 771971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7346430"/>
              <a:gd name="f13" fmla="*/ f10 1 771971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7346430" h="771971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6">
              <a:alphaModFix amt="47000"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E21C130-C475-51B4-6616-60E4D88BA641}"/>
              </a:ext>
            </a:extLst>
          </p:cNvPr>
          <p:cNvSpPr/>
          <p:nvPr/>
        </p:nvSpPr>
        <p:spPr>
          <a:xfrm>
            <a:off x="14720221" y="7438863"/>
            <a:ext cx="3567778" cy="3214692"/>
          </a:xfrm>
          <a:custGeom>
            <a:avLst/>
            <a:gdLst>
              <a:gd name="f0" fmla="val w"/>
              <a:gd name="f1" fmla="val h"/>
              <a:gd name="f2" fmla="val 0"/>
              <a:gd name="f3" fmla="val 3567774"/>
              <a:gd name="f4" fmla="val 3214688"/>
              <a:gd name="f5" fmla="val 3214687"/>
              <a:gd name="f6" fmla="*/ f0 1 3567774"/>
              <a:gd name="f7" fmla="*/ f1 1 321468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3567774"/>
              <a:gd name="f14" fmla="*/ f11 1 321468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3567774" h="3214688">
                <a:moveTo>
                  <a:pt x="f2" y="f2"/>
                </a:moveTo>
                <a:lnTo>
                  <a:pt x="f3" y="f2"/>
                </a:lnTo>
                <a:lnTo>
                  <a:pt x="f3" y="f5"/>
                </a:lnTo>
                <a:lnTo>
                  <a:pt x="f2" y="f5"/>
                </a:lnTo>
                <a:lnTo>
                  <a:pt x="f2" y="f2"/>
                </a:lnTo>
                <a:close/>
              </a:path>
            </a:pathLst>
          </a:custGeom>
          <a:blipFill>
            <a:blip r:embed="rId7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A39E1ED-82CB-9C80-5493-31BBCFCC8261}"/>
              </a:ext>
            </a:extLst>
          </p:cNvPr>
          <p:cNvSpPr/>
          <p:nvPr/>
        </p:nvSpPr>
        <p:spPr>
          <a:xfrm>
            <a:off x="4353220" y="6643682"/>
            <a:ext cx="13934779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3934777"/>
              <a:gd name="f4" fmla="val 3643313"/>
              <a:gd name="f5" fmla="*/ f0 1 13934777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934777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934777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8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A17EFA50-918F-210A-24DC-E9ACAA8A6E94}"/>
              </a:ext>
            </a:extLst>
          </p:cNvPr>
          <p:cNvGrpSpPr/>
          <p:nvPr/>
        </p:nvGrpSpPr>
        <p:grpSpPr>
          <a:xfrm>
            <a:off x="4409758" y="7768650"/>
            <a:ext cx="10310462" cy="1471206"/>
            <a:chOff x="4409758" y="7768650"/>
            <a:chExt cx="10310462" cy="1471206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F76A749-C1FD-8F56-A858-EC304BBAF45C}"/>
                </a:ext>
              </a:extLst>
            </p:cNvPr>
            <p:cNvSpPr/>
            <p:nvPr/>
          </p:nvSpPr>
          <p:spPr>
            <a:xfrm>
              <a:off x="4409758" y="7775792"/>
              <a:ext cx="3527124" cy="137910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02836"/>
                <a:gd name="f4" fmla="val 1838806"/>
                <a:gd name="f5" fmla="*/ f0 1 4702836"/>
                <a:gd name="f6" fmla="*/ f1 1 183880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02836"/>
                <a:gd name="f13" fmla="*/ f10 1 183880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02836" h="183880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675D7FE-E9AD-8D5A-873D-CE9A125D9891}"/>
                </a:ext>
              </a:extLst>
            </p:cNvPr>
            <p:cNvSpPr/>
            <p:nvPr/>
          </p:nvSpPr>
          <p:spPr>
            <a:xfrm>
              <a:off x="9876798" y="7804669"/>
              <a:ext cx="4843422" cy="14351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196575"/>
                <a:gd name="f4" fmla="val 1142971"/>
                <a:gd name="f5" fmla="val 1142972"/>
                <a:gd name="f6" fmla="*/ f0 1 6196575"/>
                <a:gd name="f7" fmla="*/ f1 1 1142971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196575"/>
                <a:gd name="f14" fmla="*/ f11 1 1142971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196575" h="1142971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F5E5479-0B0D-251D-3EAF-789BB7641099}"/>
                </a:ext>
              </a:extLst>
            </p:cNvPr>
            <p:cNvSpPr txBox="1"/>
            <p:nvPr/>
          </p:nvSpPr>
          <p:spPr>
            <a:xfrm>
              <a:off x="10967697" y="7768650"/>
              <a:ext cx="1098349" cy="23755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184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53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9EE4875-B510-7830-2CC2-D302B73D2862}"/>
              </a:ext>
            </a:extLst>
          </p:cNvPr>
          <p:cNvSpPr txBox="1"/>
          <p:nvPr/>
        </p:nvSpPr>
        <p:spPr>
          <a:xfrm>
            <a:off x="6456166" y="2004867"/>
            <a:ext cx="5375675" cy="8953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999" b="1" i="0" u="none" strike="noStrike" kern="1200" cap="none" spc="0" baseline="0">
                <a:solidFill>
                  <a:srgbClr val="685BC7"/>
                </a:solidFill>
                <a:uFillTx/>
                <a:latin typeface="Montserrat Medium"/>
                <a:ea typeface="Montserrat Medium"/>
                <a:cs typeface="Montserrat Medium"/>
              </a:rPr>
              <a:t>Dúvidas?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5586D80-CBCE-DABC-14B5-DBB0DA8D3DE5}"/>
              </a:ext>
            </a:extLst>
          </p:cNvPr>
          <p:cNvSpPr txBox="1"/>
          <p:nvPr/>
        </p:nvSpPr>
        <p:spPr>
          <a:xfrm>
            <a:off x="6456166" y="3172007"/>
            <a:ext cx="5375675" cy="3810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1" u="none" strike="noStrike" kern="1200" cap="none" spc="0" baseline="0">
                <a:solidFill>
                  <a:srgbClr val="685BC7"/>
                </a:solidFill>
                <a:uFillTx/>
                <a:latin typeface="Montserrat Italics"/>
                <a:ea typeface="Montserrat Italics"/>
                <a:cs typeface="Montserrat Italics"/>
              </a:rPr>
              <a:t>Contato: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DFF21E-6EAC-1F0A-B612-E00C67714EE6}"/>
              </a:ext>
            </a:extLst>
          </p:cNvPr>
          <p:cNvSpPr txBox="1"/>
          <p:nvPr/>
        </p:nvSpPr>
        <p:spPr>
          <a:xfrm>
            <a:off x="4572000" y="3788898"/>
            <a:ext cx="9144000" cy="3810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1" i="0" u="none" strike="noStrike" kern="1200" cap="none" spc="0" baseline="0">
                <a:solidFill>
                  <a:srgbClr val="685BC7"/>
                </a:solidFill>
                <a:uFillTx/>
                <a:latin typeface="Montserrat Bold"/>
                <a:ea typeface="Montserrat Bold"/>
                <a:cs typeface="Montserrat Bold"/>
              </a:rPr>
              <a:t>contato.matheusgimenes@gmail.com</a:t>
            </a:r>
          </a:p>
        </p:txBody>
      </p:sp>
      <p:sp>
        <p:nvSpPr>
          <p:cNvPr id="101" name="Link GitHub"/>
          <p:cNvSpPr txBox="1"/>
          <p:nvPr/>
        </p:nvSpPr>
        <p:spPr>
          <a:xfrm>
            <a:off x="4572000" y="4315968"/>
            <a:ext cx="9144000" cy="384048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1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github.com/M-Gimenes/Simulation</a:t>
            </a:r>
          </a:p>
        </p:txBody>
      </p:sp>
      <p:sp>
        <p:nvSpPr>
          <p:cNvPr id="102" name="Fundo QR"/>
          <p:cNvSpPr/>
          <p:nvPr/>
        </p:nvSpPr>
        <p:spPr>
          <a:xfrm>
            <a:off x="8321040" y="4846320"/>
            <a:ext cx="164592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QR GitHub" descr="QR code para github.com/M-Gimenes/Simulati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66760" y="48920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Tabela I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675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Canônico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54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34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113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Mais equilibrado</a:t>
            </a:r>
          </a:p>
        </p:txBody>
      </p:sp>
      <p:sp>
        <p:nvSpPr>
          <p:cNvPr id="14" name="Faixa 1"/>
          <p:cNvSpPr/>
          <p:nvPr/>
        </p:nvSpPr>
        <p:spPr>
          <a:xfrm>
            <a:off x="1028700" y="268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3500" y="268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dominance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54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634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113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363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54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634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113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0,27</a:t>
            </a:r>
          </a:p>
        </p:txBody>
      </p:sp>
      <p:sp>
        <p:nvSpPr>
          <p:cNvPr id="25" name="Faixa 3"/>
          <p:cNvSpPr/>
          <p:nvPr/>
        </p:nvSpPr>
        <p:spPr>
          <a:xfrm>
            <a:off x="1028700" y="4591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33500" y="4591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equilibrados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634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113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3500" y="5543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razão ao canônico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54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113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6" name="Faixa 5"/>
          <p:cNvSpPr/>
          <p:nvPr/>
        </p:nvSpPr>
        <p:spPr>
          <a:xfrm>
            <a:off x="1028700" y="649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3500" y="649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54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634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113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44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75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54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634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113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" y="8572500"/>
            <a:ext cx="16230600" cy="666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 e Mais equilibrado são o knee_point e o best_dominance da fronteira do NSGA-II; o canônico coincide com o best_drift. Execuções com a semente 42. Em desbalanço e desvio, menor é melhor.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desbalanço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desbalanço soma três sinais, todos cegos à direção</a:t>
            </a:r>
          </a:p>
        </p:txBody>
      </p:sp>
      <p:pic>
        <p:nvPicPr>
          <p:cNvPr id="11" name="Equação do desbalanço" descr="eq_domin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2495550"/>
            <a:ext cx="7810500" cy="667812"/>
          </a:xfrm>
          <a:prstGeom prst="rect">
            <a:avLst/>
          </a:prstGeom>
        </p:spPr>
      </p:pic>
      <p:sp>
        <p:nvSpPr>
          <p:cNvPr id="12" name="Global"/>
          <p:cNvSpPr/>
          <p:nvPr/>
        </p:nvSpPr>
        <p:spPr>
          <a:xfrm>
            <a:off x="10287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1,0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|WR global − 0,5| / 0,5, por personagem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Nenhum arquétipo domina o elenco. Não força cada par a 50%: um personagem pode vencer dois confrontos e perder dois.</a:t>
            </a:r>
          </a:p>
        </p:txBody>
      </p:sp>
      <p:sp>
        <p:nvSpPr>
          <p:cNvPr id="17" name="Teto de hard-counter"/>
          <p:cNvSpPr/>
          <p:nvPr/>
        </p:nvSpPr>
        <p:spPr>
          <a:xfrm>
            <a:off x="65913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42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Teto de hard-counter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42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42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excesso de |WR do par − 0,5| acima de 0,15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42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counters esmagadores, do tipo 100% contra 0%.</a:t>
            </a:r>
          </a:p>
        </p:txBody>
      </p:sp>
      <p:sp>
        <p:nvSpPr>
          <p:cNvPr id="22" name="Decisividade"/>
          <p:cNvSpPr/>
          <p:nvPr/>
        </p:nvSpPr>
        <p:spPr>
          <a:xfrm>
            <a:off x="121539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968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Decisividade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968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968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lutas fora da banda em que o vencedor termina com 20% a 40% de 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968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massacres alternados, que deixam a taxa de vitória perto de 50%.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" y="8267700"/>
            <a:ext cx="16230600" cy="762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 três usam |WR − 0,5| e |s − 0,5| (s: escore da luta): nenhum diz qual arquétipo deveria vencer.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identidade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desvio entra na busca; o resto é medido por fora</a:t>
            </a:r>
          </a:p>
        </p:txBody>
      </p:sp>
      <p:sp>
        <p:nvSpPr>
          <p:cNvPr id="11" name="Desvio"/>
          <p:cNvSpPr/>
          <p:nvPr/>
        </p:nvSpPr>
        <p:spPr>
          <a:xfrm>
            <a:off x="1028700" y="2857500"/>
            <a:ext cx="7429500" cy="6286500"/>
          </a:xfrm>
          <a:prstGeom prst="roundRect">
            <a:avLst>
              <a:gd name="adj" fmla="val 3636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3105150"/>
            <a:ext cx="66675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 (drift), objetivo da busca</a:t>
            </a:r>
          </a:p>
        </p:txBody>
      </p:sp>
      <p:pic>
        <p:nvPicPr>
          <p:cNvPr id="13" name="Equação do desvio" descr="eq_drif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700" y="3810000"/>
            <a:ext cx="6667500" cy="1394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09700" y="5524500"/>
            <a:ext cx="6667500" cy="3429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de cada personagem ao seu perfil canônico, sobre os 10 genes, em média entre os cinco.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Nos 7 atributos, a diferença é normalizada pelo limite superior do gene; nos 3 pesos, que já estão entre 0 e 1, é a diferença direta.</a:t>
            </a:r>
          </a:p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É uma penalidade suave: o algoritmo pode se afastar do canônico, e se afasta.</a:t>
            </a:r>
          </a:p>
        </p:txBody>
      </p:sp>
      <p:sp>
        <p:nvSpPr>
          <p:cNvPr id="15" name="Validador"/>
          <p:cNvSpPr/>
          <p:nvPr/>
        </p:nvSpPr>
        <p:spPr>
          <a:xfrm>
            <a:off x="8915400" y="28575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300" y="30670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300" y="35242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 asserções de ranqueamento: 17 sobre os genes (rushdown com a maior velocidade, turtle com o maior HP) e 4 sobre o jogo efetivo.</a:t>
            </a:r>
          </a:p>
        </p:txBody>
      </p:sp>
      <p:sp>
        <p:nvSpPr>
          <p:cNvPr id="18" name="Diferenciação"/>
          <p:cNvSpPr/>
          <p:nvPr/>
        </p:nvSpPr>
        <p:spPr>
          <a:xfrm>
            <a:off x="8915400" y="50292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52387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300" y="56959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média par a par do elenco evoluído dividida pela do canônico. Menor que 1 indica homogeneização.</a:t>
            </a:r>
          </a:p>
        </p:txBody>
      </p:sp>
      <p:sp>
        <p:nvSpPr>
          <p:cNvPr id="21" name="Perfil comportamental"/>
          <p:cNvSpPr/>
          <p:nvPr/>
        </p:nvSpPr>
        <p:spPr>
          <a:xfrm>
            <a:off x="8915400" y="72009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8300" y="74104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Perfil comportamental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78676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Distribuição de ações em combate. No canônico, o rushdown avança em 73% das ações, o turtle defende em 46% e o zoner recua em 44%.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Dois jeitos de estragar um jogo competitivo</a:t>
            </a:r>
          </a:p>
        </p:txBody>
      </p:sp>
      <p:sp>
        <p:nvSpPr>
          <p:cNvPr id="102" name="Cartão domina"/>
          <p:cNvSpPr/>
          <p:nvPr/>
        </p:nvSpPr>
        <p:spPr>
          <a:xfrm>
            <a:off x="1028700" y="2971800"/>
            <a:ext cx="7886700" cy="512064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domina"/>
          <p:cNvSpPr txBox="1"/>
          <p:nvPr/>
        </p:nvSpPr>
        <p:spPr>
          <a:xfrm>
            <a:off x="1485900" y="3291840"/>
            <a:ext cx="69723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personagem domina</a:t>
            </a:r>
          </a:p>
        </p:txBody>
      </p:sp>
      <p:sp>
        <p:nvSpPr>
          <p:cNvPr id="104" name="Eixo domina"/>
          <p:cNvSpPr txBox="1"/>
          <p:nvPr/>
        </p:nvSpPr>
        <p:spPr>
          <a:xfrm>
            <a:off x="1485900" y="3931920"/>
            <a:ext cx="3657600" cy="3200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05" name="Base domina"/>
          <p:cNvCxnSpPr/>
          <p:nvPr/>
        </p:nvCxnSpPr>
        <p:spPr>
          <a:xfrm>
            <a:off x="1485900" y="6903720"/>
            <a:ext cx="619506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06" name="50% domina"/>
          <p:cNvCxnSpPr/>
          <p:nvPr/>
        </p:nvCxnSpPr>
        <p:spPr>
          <a:xfrm>
            <a:off x="1485900" y="5669280"/>
            <a:ext cx="6195060" cy="0"/>
          </a:xfrm>
          <a:prstGeom prst="line">
            <a:avLst/>
          </a:prstGeom>
          <a:ln w="19050">
            <a:solidFill>
              <a:srgbClr val="5B6178"/>
            </a:solidFill>
            <a:prstDash val="dash"/>
          </a:ln>
        </p:spPr>
      </p:cxnSp>
      <p:sp>
        <p:nvSpPr>
          <p:cNvPr id="107" name="Rótulo 50% domina"/>
          <p:cNvSpPr txBox="1"/>
          <p:nvPr/>
        </p:nvSpPr>
        <p:spPr>
          <a:xfrm>
            <a:off x="7790688" y="5504688"/>
            <a:ext cx="685800" cy="329184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08" name="Barra domina 1"/>
          <p:cNvSpPr/>
          <p:nvPr/>
        </p:nvSpPr>
        <p:spPr>
          <a:xfrm>
            <a:off x="1758483" y="4533595"/>
            <a:ext cx="693847" cy="2370125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Barra domina 2"/>
          <p:cNvSpPr/>
          <p:nvPr/>
        </p:nvSpPr>
        <p:spPr>
          <a:xfrm>
            <a:off x="2997495" y="5866790"/>
            <a:ext cx="693847" cy="103693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Barra domina 3"/>
          <p:cNvSpPr/>
          <p:nvPr/>
        </p:nvSpPr>
        <p:spPr>
          <a:xfrm>
            <a:off x="4236507" y="6212434"/>
            <a:ext cx="693847" cy="691286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Barra domina 4"/>
          <p:cNvSpPr/>
          <p:nvPr/>
        </p:nvSpPr>
        <p:spPr>
          <a:xfrm>
            <a:off x="5475519" y="6014923"/>
            <a:ext cx="693847" cy="888797"/>
          </a:xfrm>
          <a:prstGeom prst="rect">
            <a:avLst/>
          </a:prstGeom>
          <a:solidFill>
            <a:srgbClr val="BDB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Barra domina 5"/>
          <p:cNvSpPr/>
          <p:nvPr/>
        </p:nvSpPr>
        <p:spPr>
          <a:xfrm>
            <a:off x="6714531" y="6508699"/>
            <a:ext cx="693847" cy="395021"/>
          </a:xfrm>
          <a:prstGeom prst="rect">
            <a:avLst/>
          </a:prstGeom>
          <a:solidFill>
            <a:srgbClr val="5B61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genda domina"/>
          <p:cNvSpPr txBox="1"/>
          <p:nvPr/>
        </p:nvSpPr>
        <p:spPr>
          <a:xfrm>
            <a:off x="1485900" y="717804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 mundo joga com ele</a:t>
            </a:r>
          </a:p>
        </p:txBody>
      </p:sp>
      <p:sp>
        <p:nvSpPr>
          <p:cNvPr id="114" name="Cartão parecidos"/>
          <p:cNvSpPr/>
          <p:nvPr/>
        </p:nvSpPr>
        <p:spPr>
          <a:xfrm>
            <a:off x="9372600" y="2971800"/>
            <a:ext cx="7886700" cy="512064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ítulo parecidos"/>
          <p:cNvSpPr txBox="1"/>
          <p:nvPr/>
        </p:nvSpPr>
        <p:spPr>
          <a:xfrm>
            <a:off x="9829800" y="3291840"/>
            <a:ext cx="69723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ficam parecidos</a:t>
            </a:r>
          </a:p>
        </p:txBody>
      </p:sp>
      <p:sp>
        <p:nvSpPr>
          <p:cNvPr id="116" name="Eixo parecidos"/>
          <p:cNvSpPr txBox="1"/>
          <p:nvPr/>
        </p:nvSpPr>
        <p:spPr>
          <a:xfrm>
            <a:off x="9829800" y="3931920"/>
            <a:ext cx="3657600" cy="3200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17" name="Base parecidos"/>
          <p:cNvCxnSpPr/>
          <p:nvPr/>
        </p:nvCxnSpPr>
        <p:spPr>
          <a:xfrm>
            <a:off x="9829800" y="6903720"/>
            <a:ext cx="619506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18" name="50% parecidos"/>
          <p:cNvCxnSpPr/>
          <p:nvPr/>
        </p:nvCxnSpPr>
        <p:spPr>
          <a:xfrm>
            <a:off x="9829800" y="5669280"/>
            <a:ext cx="6195060" cy="0"/>
          </a:xfrm>
          <a:prstGeom prst="line">
            <a:avLst/>
          </a:prstGeom>
          <a:ln w="19050">
            <a:solidFill>
              <a:srgbClr val="5B6178"/>
            </a:solidFill>
            <a:prstDash val="dash"/>
          </a:ln>
        </p:spPr>
      </p:cxnSp>
      <p:sp>
        <p:nvSpPr>
          <p:cNvPr id="119" name="Rótulo 50% parecidos"/>
          <p:cNvSpPr txBox="1"/>
          <p:nvPr/>
        </p:nvSpPr>
        <p:spPr>
          <a:xfrm>
            <a:off x="16134588" y="5504688"/>
            <a:ext cx="685800" cy="329184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20" name="Barra parecidos 1"/>
          <p:cNvSpPr/>
          <p:nvPr/>
        </p:nvSpPr>
        <p:spPr>
          <a:xfrm>
            <a:off x="10102383" y="5669280"/>
            <a:ext cx="693847" cy="123444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Barra parecidos 2"/>
          <p:cNvSpPr/>
          <p:nvPr/>
        </p:nvSpPr>
        <p:spPr>
          <a:xfrm>
            <a:off x="11341395" y="5669280"/>
            <a:ext cx="693847" cy="123444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Barra parecidos 3"/>
          <p:cNvSpPr/>
          <p:nvPr/>
        </p:nvSpPr>
        <p:spPr>
          <a:xfrm>
            <a:off x="12580407" y="5669280"/>
            <a:ext cx="693847" cy="123444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Barra parecidos 4"/>
          <p:cNvSpPr/>
          <p:nvPr/>
        </p:nvSpPr>
        <p:spPr>
          <a:xfrm>
            <a:off x="13819419" y="5669280"/>
            <a:ext cx="693847" cy="123444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Barra parecidos 5"/>
          <p:cNvSpPr/>
          <p:nvPr/>
        </p:nvSpPr>
        <p:spPr>
          <a:xfrm>
            <a:off x="15058431" y="5669280"/>
            <a:ext cx="693847" cy="123444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Legenda parecidos"/>
          <p:cNvSpPr txBox="1"/>
          <p:nvPr/>
        </p:nvSpPr>
        <p:spPr>
          <a:xfrm>
            <a:off x="9829800" y="717804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tanto faz quem você escolhe</a:t>
            </a:r>
          </a:p>
        </p:txBody>
      </p:sp>
      <p:sp>
        <p:nvSpPr>
          <p:cNvPr id="126" name="Desafio"/>
          <p:cNvSpPr txBox="1"/>
          <p:nvPr/>
        </p:nvSpPr>
        <p:spPr>
          <a:xfrm>
            <a:off x="1028700" y="8458200"/>
            <a:ext cx="162306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desafio: equilibrar </a:t>
            </a: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preservando a diferença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limites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que o estudo ainda não cobre, e para onde vai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857500"/>
            <a:ext cx="162306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Resultado preliminar: mais equilíbrio, menos identidade</a:t>
            </a:r>
          </a:p>
        </p:txBody>
      </p:sp>
      <p:sp>
        <p:nvSpPr>
          <p:cNvPr id="12" name="Limites do estudo"/>
          <p:cNvSpPr/>
          <p:nvPr/>
        </p:nvSpPr>
        <p:spPr>
          <a:xfrm>
            <a:off x="10287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Limites do estudo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49911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07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Modelo simplificado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58674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arquétipos</a:t>
            </a:r>
          </a:p>
        </p:txBody>
      </p:sp>
      <p:sp>
        <p:nvSpPr>
          <p:cNvPr id="20" name="Oval 19"/>
          <p:cNvSpPr/>
          <p:nvPr/>
        </p:nvSpPr>
        <p:spPr>
          <a:xfrm>
            <a:off x="1447800" y="67437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78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matchmaking</a:t>
            </a:r>
          </a:p>
        </p:txBody>
      </p:sp>
      <p:sp>
        <p:nvSpPr>
          <p:cNvPr id="23" name="Próximos passos"/>
          <p:cNvSpPr/>
          <p:nvPr/>
        </p:nvSpPr>
        <p:spPr>
          <a:xfrm>
            <a:off x="93726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17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Próximos passos</a:t>
            </a:r>
          </a:p>
        </p:txBody>
      </p:sp>
      <p:sp>
        <p:nvSpPr>
          <p:cNvPr id="25" name="Oval 24"/>
          <p:cNvSpPr/>
          <p:nvPr/>
        </p:nvSpPr>
        <p:spPr>
          <a:xfrm>
            <a:off x="9791700" y="49911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917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46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Calibração final</a:t>
            </a:r>
          </a:p>
        </p:txBody>
      </p:sp>
      <p:sp>
        <p:nvSpPr>
          <p:cNvPr id="28" name="Oval 27"/>
          <p:cNvSpPr/>
          <p:nvPr/>
        </p:nvSpPr>
        <p:spPr>
          <a:xfrm>
            <a:off x="9791700" y="58674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17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46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Coevolução</a:t>
            </a:r>
          </a:p>
        </p:txBody>
      </p:sp>
      <p:sp>
        <p:nvSpPr>
          <p:cNvPr id="31" name="Oval 30"/>
          <p:cNvSpPr/>
          <p:nvPr/>
        </p:nvSpPr>
        <p:spPr>
          <a:xfrm>
            <a:off x="9791700" y="67437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7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46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Quality-diversity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2" baseType="lpstr">
      <vt:lpstr>Arial</vt:lpstr>
      <vt:lpstr>Calibri</vt:lpstr>
      <vt:lpstr>Montserrat</vt:lpstr>
      <vt:lpstr>Montserrat Bold</vt:lpstr>
      <vt:lpstr>Montserrat Bold Italics</vt:lpstr>
      <vt:lpstr>Montserrat Italics</vt:lpstr>
      <vt:lpstr>Montserrat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Balanceamento competitivo com preservação de identidade: Algoritmos Genéticos e NSGA-II em arquétipos de jogos de luta</dc:title>
  <dc:creator>Matheus Gimenes de Souza; Everson Scherrer Borges</dc:creator>
  <cp:lastModifiedBy>Patricia Rodrigues</cp:lastModifiedBy>
  <cp:revision>1</cp:revision>
  <dcterms:created xsi:type="dcterms:W3CDTF">2006-08-16T00:00:00Z</dcterms:created>
  <dcterms:modified xsi:type="dcterms:W3CDTF">2026-09-18T17:04:18Z</dcterms:modified>
</cp:coreProperties>
</file>