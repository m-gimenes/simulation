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2.svg" ContentType="image/svg+xml"/>
  <Override PartName="/ppt/media/image1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19"/>
    <p:sldId id="258" r:id="rId4"/>
    <p:sldId id="278" r:id="rId23"/>
    <p:sldId id="277" r:id="rId22"/>
    <p:sldId id="265" r:id="rId10"/>
    <p:sldId id="267" r:id="rId12"/>
    <p:sldId id="276" r:id="rId21"/>
    <p:sldId id="268" r:id="rId13"/>
    <p:sldId id="270" r:id="rId15"/>
    <p:sldId id="264" r:id="rId5"/>
    <p:sldId id="269" r:id="rId14"/>
    <p:sldId id="275" r:id="rId20"/>
    <p:sldId id="266" r:id="rId11"/>
    <p:sldId id="271" r:id="rId16"/>
    <p:sldId id="272" r:id="rId17"/>
    <p:sldId id="273" r:id="rId18"/>
  </p:sldIdLst>
  <p:sldSz cx="18288000" cy="10287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5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5" Type="http://schemas.openxmlformats.org/officeDocument/2006/relationships/slide" Target="slides/slide9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slide" Target="slides/slide13.xml"/>
  <Relationship Id="rId20" Type="http://schemas.openxmlformats.org/officeDocument/2006/relationships/slide" Target="slides/slide14.xml"/>
  <Relationship Id="rId21" Type="http://schemas.openxmlformats.org/officeDocument/2006/relationships/slide" Target="slides/slide15.xml"/>
  <Relationship Id="rId22" Type="http://schemas.openxmlformats.org/officeDocument/2006/relationships/slide" Target="slides/slide16.xml"/>
  <Relationship Id="rId23" Type="http://schemas.openxmlformats.org/officeDocument/2006/relationships/slide" Target="slides/slide17.xml"/>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Olá a todos. Meu nome é Matheus, sou estudante de Sistemas de Informação no Ifes, campus Cachoeiro de Itapemirim. Vou apresentar um trabalho sobre um problema que todo jogo competitivo enfrenta a cada atualização.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estudar esse problema, escolhemos os jogos de luta, em que o confronto é um contra um e cada estilo é bem definido. Montamos um elenco com cinco estilos clássicos do gênero, que se enfrentam como em pedra, papel e tesoura. A pergunta da pesquisa é: um algoritmo genético consegue equilibrar esses cinco estilos sem destruir a identidade de cada um?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maior parte dos trabalhos de balanceamento por busca otimiza apenas o equilíbrio. Aqui, a identidade é um segundo objetivo, explícito: o desvio, a distância de cada personagem ao seu perfil original. O equilíbrio é medido pelo desbalanço, cujo termo principal é o quanto cada personagem se afasta de cinquenta por cento de vitórias no total. Ele não exige cinquenta por cento em cada confronto, de propósito: um personagem pode vencer dois adversários e perder para dois, que é o espaço do pedra, papel e tesoura. Dois termos secundários barram confrontos esmagadores e lutas decididas por margens extremas.</a:t>
            </a:r>
          </a:p>
          <a:p>
            <a:r>
              <a:t>Nenhum desses termos diz quem deveria vencer quem; isso só é medido depois, fora da busca. Se a identidade fosse uma regra, sobreviveria por obrigação. Medida por fora, sua preservação vira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Reserva. Se perguntarem pelo orçamento da busca: 300 elencos por geração, 150 gerações.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ponto de partida é o elenco original, que chamamos de canônico. Ele passa nos vinte e um testes que escrevemos para verificar a identidade dos personagens, como o rushdown ser o mais rápido. Mas nenhum dos dez confrontos é equilibrado: um personagem vence todas as lutas, e outro não vence nenhuma.</a:t>
            </a:r>
          </a:p>
          <a:p>
            <a:r>
              <a:t>A primeira abordagem foi um algoritmo genético que soma os dois objetivos. Ele equilibra todos os dez confrontos. Porém, restam apenas sete dos vinte e um testes. Ou seja, caiu exatamente no problema que descrevemos no início.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ponto deste gráfico é um elenco. Para a esquerda, mais equilíbrio; para baixo, mais identidade. O canto inferior esquerdo está vazio: para ganhar de um lado, é preciso perder do outro. No joelho da curva, o ponto em que ela muda de inclinação, o desbalanço já caiu três quartos do caminho, enquanto vinte dos vinte e um testes continuam valendo.</a:t>
            </a:r>
          </a:p>
          <a:p>
            <a:r>
              <a:t>Como o algoritmo é estocástico, uma execução é só uma amostra. Repetimos a busca dez vezes, e cada personagem termina equilibrado em nove ou dez delas. E, testado em sorteios de luta nunca vistos, o elenco mais equilibrado mantém nove dos dez confrontos equilibrados: não é sobreajuste.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Reserva. Se perguntarem se o resultado depende da semente ou se é sobreajuste.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modelo ainda é simplificado, e o próximo passo é testar o equilíbrio contra um adversário que também se adapta. O código é aberto, segue em desenvolvimento e está disponível no GitHub, pelo QR code, para quem quiser testá-lo.</a:t>
            </a:r>
          </a:p>
          <a:p>
            <a:r>
              <a:t>Para concluir: a resposta, ainda preliminar, é sim. É possível equilibrar sem apagar as identidades, mas não sem custo, e esse custo agora pode ser medido.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perguntas, sem fala. O QR code fica na tela durante as perguntas. Os slides seguintes são de reserva e só aparecem se alguém perguntar.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Reserva. A Tabela I do artigo, completa: os quatro pontos do compromisso e as seis métricas.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Reserva. Para quem perguntar como o desbalanço é calculado. Os três termos são cegos à direção.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Reserva. Para quem perguntar como a identidade é medida: o desvio é objetivo da busca; o validador, a diferenciação e o perfil são medidos por fora.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duas formas de comprometer um jogo competitivo. A primeira é a mais conhecida: um personagem fica forte demais, e todos passam a escolhê-lo. A segunda é mais sutil. Para corrigir a primeira, os números são ajustados até que ninguém domine, e, nesse processo, os personagens podem perder aquilo que os tornava únicos. O jogo fica equilibrado, mas a escolha do personagem deixa de importar. O desafio, portanto, é equilibrar preservando a diferença.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avaliar um elenco, construímos um simulador de combate. A luta acontece em um campo de uma dimensão. Fora do alcance, o personagem avança; ao alcance, ele sorteia uma intenção, avançar, recuar ou defender, com probabilidade proporcional aos seus pesos de comportamento. Esse sorteio é a única fonte de aleatoriedade da luta. Por isso, cada confronto é repetido cento e cinquenta vezes, para estimar a taxa de vitória.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algoritmo genético, cada indivíduo é um elenco inteiro, e não um personagem, porque o equilíbrio é uma propriedade do conjunto. São cinco personagens com dez genes cada, entre atributos de combate e pesos de comportamento. A população tem trezentos elencos. A cada geração, eles são avaliados no simulador, os melhores são selecionados e cruzados, trocando personagens inteiros entre si, e sofrem mutações.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 que isso aconteceu? Porque somar os objetivos já é uma escolha. Com pesos iguais, o algoritmo decide sozinho quanto de identidade vale um pouco mais de equilíbrio, e entrega um único elenco. Por isso usamos também o NSGA-II, um algoritmo multiobjetivo que não faz essa soma. Ele só descarta um elenco se existir outro melhor nos dois objetivos ao mesmo tempo. Internamente, ordena a população em frentes de não dominância e, dentro de cada frente, prefere os elencos mais isolados, para que a fronteira fique bem distribuída. O resultado é a fronteira de Pareto.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Reserva. Se perguntarem pelos limites do estudo ou pelos próximos passos.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1DDF5-E4D2-4720-2694-A5E9E80B4F5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2130423"/>
            <a:ext cx="7772400" cy="14700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3A9884-1FB9-495F-F513-BD8937AC9FD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3"/>
          </a:xfrm>
        </p:spPr>
        <p:txBody>
          <a:bodyPr anchorCtr="1"/>
          <a:lstStyle>
            <a:lvl1pPr marL="0" indent="0" algn="ctr">
              <a:buNone/>
              <a:defRPr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1DABA-AA1A-9FC3-766D-350EA08691C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36314B0-18E7-44AB-8179-6C4AB1789184}" type="datetime1">
              <a:rPr lang="en-US"/>
              <a:pPr lvl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5E168-A4A0-5FE1-9F9D-02CFC979714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24023-96B2-BC39-85F8-4F38E9FB2C5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153777D-405D-421E-BE69-6F51F1ED9227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550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17564-02AC-92F3-C650-D1AF2FFEEBA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5EAF4-750E-9B19-988A-A627EF6C34CD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EE116-501C-DD29-F377-D2B74DBCD95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4C4A702-D330-46E9-A3D8-0FCA99D8214A}" type="datetime1">
              <a:rPr lang="en-US"/>
              <a:pPr lvl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F3A11-32AE-74E0-C8FB-3153682784B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0B2BB-6287-3805-7AB9-03652AFE14F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34A630-47F4-4C5E-B1F8-E804FAC9B612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521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49D63-F6F0-4F59-A7CA-AC0A7E3851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11" y="4406895"/>
            <a:ext cx="7772400" cy="1362071"/>
          </a:xfrm>
        </p:spPr>
        <p:txBody>
          <a:bodyPr anchor="t" anchorCtr="0"/>
          <a:lstStyle>
            <a:lvl1pPr algn="l">
              <a:defRPr sz="4000" b="1" cap="all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B1DAD-9D57-3C21-CFE2-0DA4B235EF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2311" y="2906713"/>
            <a:ext cx="7772400" cy="1500182"/>
          </a:xfrm>
        </p:spPr>
        <p:txBody>
          <a:bodyPr anchor="b"/>
          <a:lstStyle>
            <a:lvl1pPr marL="0" indent="0">
              <a:spcBef>
                <a:spcPts val="500"/>
              </a:spcBef>
              <a:buNone/>
              <a:defRPr sz="20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ADA05-FE7D-315B-2399-36CCD2B6385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8DF11A1-8D2C-4E52-BA83-2BBBB403BDB3}" type="datetime1">
              <a:rPr lang="en-US"/>
              <a:pPr lvl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28C6F-6465-07A7-F7BB-C5B6882B0CD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16B05-0AE0-050D-1FFC-D4518C7F01F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5B8033C-6285-4A73-81A1-66F6D8809884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835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76F9B-D973-C5E0-768C-D3E76E7C5CF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5EBFB-3586-39AC-5756-F733E99806D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0" y="1600200"/>
            <a:ext cx="4038603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066C6-E37D-ADB6-1322-A5745D76330E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4648196" y="1600200"/>
            <a:ext cx="4038603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3B543-5B34-B55B-9964-8DBA1A4336E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5F7FAE7-A9EF-4AA2-B412-5005374EAB93}" type="datetime1">
              <a:rPr lang="en-US"/>
              <a:pPr lvl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9456FC-7EAA-E430-46B9-0EE73DF09AC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2DA116-FC13-2EE2-3CDC-1206DF9F04F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F461C9A-1FD7-4B3B-9802-0865682B8278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83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CD528-CFF9-D8E6-5B6A-D7841B6B8AA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127C2-6425-788D-95BB-F5635B55FA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4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6FFE24-5C83-E9D6-C531-9FB4E77728C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457200" y="2174872"/>
            <a:ext cx="4040184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8F16E-FA3D-B02C-43DA-D0F18DED9F5B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645023" y="1535113"/>
            <a:ext cx="4041776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9E2677-297A-952A-2F62-9B937235245E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4645023" y="2174872"/>
            <a:ext cx="4041776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B3FB8F-7B8A-98A5-ABF2-99795C123A1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7F0876D-183A-4479-8FFC-F4837029F182}" type="datetime1">
              <a:rPr lang="en-US"/>
              <a:pPr lvl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070D3A-D903-55A2-59BF-C836E0440C9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F7F61C-3303-680A-3165-9235EC2529C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4D0AB26-5348-40F4-A192-FBB77D2FE231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341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EA404-4915-5D11-1E0C-2B1FEB161CD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20AC3-D39C-3012-4BF0-80436BBE568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CC9FF86-3286-4AAB-BA4E-5FB0D23F18E3}" type="datetime1">
              <a:rPr lang="en-US"/>
              <a:pPr lvl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7FEE2-4E14-CFE9-F22A-2E7EF2FBA23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24670-4012-669B-0E8E-4518BA4CD96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2022355-318A-49D2-85C0-6E5F664E8A61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169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82D0EF-59AE-4D22-0CA6-63C3455F41B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847F31D-82CE-4D95-A7C9-F380E80FF88B}" type="datetime1">
              <a:rPr lang="en-US"/>
              <a:pPr lvl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31015F-6C50-F27D-D5E8-15662F9AA2A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BFE06-C6CB-F090-982A-B98825CFD6D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AD274CF-2263-4348-A43F-41762A7C0C85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13505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EDF63-0264-217C-5B3C-5495375193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3048"/>
            <a:ext cx="3008311" cy="1162046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EB5DE-B51B-29D2-2314-98E3E67A463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575047" y="273048"/>
            <a:ext cx="5111752" cy="585311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A36D6C-0299-9F3B-1F8E-F60A2DCDDD9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7200" y="1435095"/>
            <a:ext cx="3008311" cy="46910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C99A3-8669-79FE-E790-D0266E9A2F7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F5CDB6-D020-437E-844C-59AE87F5993C}" type="datetime1">
              <a:rPr lang="en-US"/>
              <a:pPr lvl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10E8B1-484C-8BCE-F3EA-352DD64643E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F0941-9076-C77D-990B-997FD8F2DBA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4CA9BF1-8A5A-4B8C-88BA-2199A9D6F2D8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177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5D0B5-6409-E277-E1B7-5CAE0458B3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5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B8B765-A391-CD84-FCDC-E29E19278E13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1792288" y="612776"/>
            <a:ext cx="54864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B723C7-F9EE-4652-764A-E56E8CEF406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792288" y="5367335"/>
            <a:ext cx="5486400" cy="8048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48906B-1528-2C87-1153-BC469B2984F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5B27B4-1686-4040-A8B8-AA0C6D70C1C6}" type="datetime1">
              <a:rPr lang="en-US"/>
              <a:pPr lvl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92DB20-FDC9-F7A4-83FF-3D9685ED442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AC01D-87F2-9A16-3729-9206170ED25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ACDD1F-6B46-4729-886E-EE891C62A1BF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388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48D9F-1D7F-32E9-0ECE-0BCB096B712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EABC22-B0AC-15A3-E923-2BB6415FDAAE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3001D-3999-EB60-1F90-C3E6FB15B6D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DABFEF3-09E9-45E6-8BF1-EFA01AA468B0}" type="datetime1">
              <a:rPr lang="en-US"/>
              <a:pPr lvl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643B3-EBB7-5CF7-0E92-358A5E0219B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8C130-5002-C255-7F57-318F223A449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B76D32E-683C-4896-83FF-AA455D9166BD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71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CDDC5E-7092-939B-69F0-AE6DF48CB751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BCBF94-87E5-A8B0-B73B-176B6DAEB5AD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457200" y="274640"/>
            <a:ext cx="6019796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77F1D-19DB-88FC-3C5D-0C6BF5235C4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E284B8E-E556-46EC-82D6-9A7D0552A664}" type="datetime1">
              <a:rPr lang="en-US"/>
              <a:pPr lvl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632BE-019E-B23F-E9CC-CC1AA86945B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7D30D-3389-CEB9-A0CE-FDEBF4432B7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7011534-462E-46D2-A3A7-DB38C66A8226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109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0C60C7-D566-54CC-C7BA-7161B2658A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4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9E93A4-113A-25F2-81EF-22241A5EDB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1FB8D-6E18-BCA7-3468-05F0BF2E31CD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457200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DB650D63-A38C-40C3-9F2A-CAE47D5BA03D}" type="datetime1">
              <a:rPr lang="en-US"/>
              <a:pPr lvl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2C287-8155-3221-BE26-9BF38C7C5325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124203" y="6356351"/>
            <a:ext cx="2895603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D299A-D992-75A6-4FB9-2529737394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6553203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3438F494-6660-4B12-B216-38D7175034C9}" type="slidenum"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ctr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</p:titleStyle>
    <p:bodyStyle>
      <a:lvl1pPr marL="342900" marR="0" lvl="0" indent="-342900" algn="l" defTabSz="914400" rtl="0" fontAlgn="auto" hangingPunct="1">
        <a:lnSpc>
          <a:spcPct val="100000"/>
        </a:lnSpc>
        <a:spcBef>
          <a:spcPts val="800"/>
        </a:spcBef>
        <a:spcAft>
          <a:spcPts val="0"/>
        </a:spcAft>
        <a:buSzPct val="100000"/>
        <a:buFont typeface="Arial" pitchFamily="34"/>
        <a:buChar char="•"/>
        <a:tabLst/>
        <a:defRPr lang="en-US" sz="32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742950" marR="0" lvl="1" indent="-285750" algn="l" defTabSz="914400" rtl="0" fontAlgn="auto" hangingPunct="1">
        <a:lnSpc>
          <a:spcPct val="100000"/>
        </a:lnSpc>
        <a:spcBef>
          <a:spcPts val="700"/>
        </a:spcBef>
        <a:spcAft>
          <a:spcPts val="0"/>
        </a:spcAft>
        <a:buSzPct val="100000"/>
        <a:buFont typeface="Arial" pitchFamily="34"/>
        <a:buChar char="–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100000"/>
        </a:lnSpc>
        <a:spcBef>
          <a:spcPts val="6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–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»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2_fallback.png"/><Relationship Id="rId1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17_fallback.png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17_fallback.png"/><Relationship Id="rId9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17_fallback.png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17_fallback.png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17_fallback.png"/><Relationship Id="rId9" Type="http://schemas.openxmlformats.org/officeDocument/2006/relationships/image" Target="../media/image23.png"/><Relationship Id="rId1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17_fallback.png"/><Relationship Id="rId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17_fallback.png"/><Relationship Id="rId9" Type="http://schemas.openxmlformats.org/officeDocument/2006/relationships/notesSlide" Target="../notesSlides/notesSlide8.xml"/><Relationship Id="rId10" Type="http://schemas.openxmlformats.org/officeDocument/2006/relationships/image" Target="../media/qr_github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7.png"/><Relationship Id="rId8" Type="http://schemas.openxmlformats.org/officeDocument/2006/relationships/image" Target="../media/image10.png"/><Relationship Id="rId9" Type="http://schemas.openxmlformats.org/officeDocument/2006/relationships/image" Target="../media/image17.svg"/><Relationship Id="rId10" Type="http://schemas.openxmlformats.org/officeDocument/2006/relationships/image" Target="../media/image14.png"/><Relationship Id="rId11" Type="http://schemas.openxmlformats.org/officeDocument/2006/relationships/image" Target="../media/image17_fallback.png"/><Relationship Id="rId12" Type="http://schemas.openxmlformats.org/officeDocument/2006/relationships/notesSlide" Target="../notesSlides/notesSlide9.xml"/><Relationship Id="rId13" Type="http://schemas.openxmlformats.org/officeDocument/2006/relationships/image" Target="../media/qr_github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17_fallback.png"/><Relationship Id="rId9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17_fallback.png"/><Relationship Id="rId9" Type="http://schemas.openxmlformats.org/officeDocument/2006/relationships/image" Target="../media/image24.png"/><Relationship Id="rId10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17_fallback.png"/><Relationship Id="rId9" Type="http://schemas.openxmlformats.org/officeDocument/2006/relationships/image" Target="../media/image25.png"/><Relationship Id="rId10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17_fallback.png"/><Relationship Id="rId9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17_fallback.png"/><Relationship Id="rId9" Type="http://schemas.openxmlformats.org/officeDocument/2006/relationships/notesSlide" Target="../notesSlides/notesSlide1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17_fallback.png"/><Relationship Id="rId9" Type="http://schemas.openxmlformats.org/officeDocument/2006/relationships/notesSlide" Target="../notesSlides/notes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17_fallback.png"/><Relationship Id="rId9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17_fallback.png"/><Relationship Id="rId9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E83081D-1962-396C-4610-4152272DB2F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99F52C1-2433-87B9-B25A-EE38D5EBABC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3E486A2-4AAF-6C99-F881-EBF11605EDA6}"/>
              </a:ext>
            </a:extLst>
          </p:cNvPr>
          <p:cNvSpPr/>
          <p:nvPr/>
        </p:nvSpPr>
        <p:spPr>
          <a:xfrm>
            <a:off x="0" y="0"/>
            <a:ext cx="4138912" cy="3214682"/>
          </a:xfrm>
          <a:custGeom>
            <a:avLst/>
            <a:gdLst>
              <a:gd name="f0" fmla="val w"/>
              <a:gd name="f1" fmla="val h"/>
              <a:gd name="f2" fmla="val 0"/>
              <a:gd name="f3" fmla="val 4138910"/>
              <a:gd name="f4" fmla="val 3214687"/>
              <a:gd name="f5" fmla="*/ f0 1 4138910"/>
              <a:gd name="f6" fmla="*/ f1 1 321468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138910"/>
              <a:gd name="f13" fmla="*/ f10 1 321468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138910" h="321468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32211780-1C22-C98D-B8AD-D45959769D25}"/>
              </a:ext>
            </a:extLst>
          </p:cNvPr>
          <p:cNvGrpSpPr/>
          <p:nvPr/>
        </p:nvGrpSpPr>
        <p:grpSpPr>
          <a:xfrm>
            <a:off x="0" y="4286249"/>
            <a:ext cx="2616400" cy="6000750"/>
            <a:chOff x="0" y="4286249"/>
            <a:chExt cx="2616400" cy="600075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6E4D62-CD74-7B8B-FE35-92D58F91EF9F}"/>
                </a:ext>
              </a:extLst>
            </p:cNvPr>
            <p:cNvSpPr/>
            <p:nvPr/>
          </p:nvSpPr>
          <p:spPr>
            <a:xfrm>
              <a:off x="0" y="4286249"/>
              <a:ext cx="2616400" cy="600074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488531"/>
                <a:gd name="f4" fmla="val 8001000"/>
                <a:gd name="f5" fmla="*/ f0 1 3488531"/>
                <a:gd name="f6" fmla="*/ f1 1 800100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488531"/>
                <a:gd name="f13" fmla="*/ f10 1 800100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488531" h="800100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6B549EB-141C-A585-176B-A3938EBA3C73}"/>
                </a:ext>
              </a:extLst>
            </p:cNvPr>
            <p:cNvSpPr/>
            <p:nvPr/>
          </p:nvSpPr>
          <p:spPr>
            <a:xfrm>
              <a:off x="0" y="8139412"/>
              <a:ext cx="1308195" cy="214758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744266"/>
                <a:gd name="f4" fmla="val 2863453"/>
                <a:gd name="f5" fmla="*/ f0 1 1744266"/>
                <a:gd name="f6" fmla="*/ f1 1 286345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744266"/>
                <a:gd name="f13" fmla="*/ f10 1 286345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744266" h="286345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4FAF2473-8F0B-5C17-2EFD-2400D76CB18B}"/>
              </a:ext>
            </a:extLst>
          </p:cNvPr>
          <p:cNvGrpSpPr/>
          <p:nvPr/>
        </p:nvGrpSpPr>
        <p:grpSpPr>
          <a:xfrm>
            <a:off x="8540944" y="0"/>
            <a:ext cx="11080734" cy="10287009"/>
            <a:chOff x="8540944" y="0"/>
            <a:chExt cx="11080734" cy="1028700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7A55D688-58B5-CFF5-6420-6A128D73D7CA}"/>
                </a:ext>
              </a:extLst>
            </p:cNvPr>
            <p:cNvSpPr/>
            <p:nvPr/>
          </p:nvSpPr>
          <p:spPr>
            <a:xfrm>
              <a:off x="8540944" y="0"/>
              <a:ext cx="9395286" cy="1028700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2527043"/>
                <a:gd name="f4" fmla="val 13716000"/>
                <a:gd name="f5" fmla="*/ f0 1 12527043"/>
                <a:gd name="f6" fmla="*/ f1 1 1371600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2527043"/>
                <a:gd name="f13" fmla="*/ f10 1 1371600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2527043" h="1371600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2F245B9-EF32-57B2-3E3C-F16F9C37017C}"/>
                </a:ext>
              </a:extLst>
            </p:cNvPr>
            <p:cNvSpPr/>
            <p:nvPr/>
          </p:nvSpPr>
          <p:spPr>
            <a:xfrm>
              <a:off x="14368451" y="7072317"/>
              <a:ext cx="3567778" cy="321469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4757032"/>
                <a:gd name="f4" fmla="val 4286250"/>
                <a:gd name="f5" fmla="*/ f0 1 4757032"/>
                <a:gd name="f6" fmla="*/ f1 1 428625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4757032"/>
                <a:gd name="f13" fmla="*/ f10 1 428625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4757032" h="428625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8">
                <a:alphaModFix amt="44999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10AF594-1C24-EEF0-703A-FE5419052FBA}"/>
                </a:ext>
              </a:extLst>
            </p:cNvPr>
            <p:cNvSpPr/>
            <p:nvPr/>
          </p:nvSpPr>
          <p:spPr>
            <a:xfrm>
              <a:off x="10589803" y="0"/>
              <a:ext cx="7346426" cy="771971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9795240"/>
                <a:gd name="f4" fmla="val 10292953"/>
                <a:gd name="f5" fmla="*/ f0 1 9795240"/>
                <a:gd name="f6" fmla="*/ f1 1 1029295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9795240"/>
                <a:gd name="f13" fmla="*/ f10 1 1029295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9795240" h="1029295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9">
                <a:alphaModFix amt="47000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3217CE1D-CA37-1A6E-33CA-880CE5C428E0}"/>
                </a:ext>
              </a:extLst>
            </p:cNvPr>
            <p:cNvSpPr/>
            <p:nvPr/>
          </p:nvSpPr>
          <p:spPr>
            <a:xfrm rot="5399996" flipV="1">
              <a:off x="13854531" y="4091236"/>
              <a:ext cx="9858374" cy="167592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144500"/>
                <a:gd name="f4" fmla="val 2234565"/>
                <a:gd name="f5" fmla="val 2234564"/>
                <a:gd name="f6" fmla="*/ f0 1 13144500"/>
                <a:gd name="f7" fmla="*/ f1 1 2234565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13144500"/>
                <a:gd name="f14" fmla="*/ f11 1 2234565"/>
                <a:gd name="f15" fmla="*/ f8 1 f13"/>
                <a:gd name="f16" fmla="*/ f9 1 f13"/>
                <a:gd name="f17" fmla="*/ f8 1 f14"/>
                <a:gd name="f18" fmla="*/ f10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13144500" h="2234565">
                  <a:moveTo>
                    <a:pt x="f2" y="f5"/>
                  </a:moveTo>
                  <a:lnTo>
                    <a:pt x="f3" y="f5"/>
                  </a:lnTo>
                  <a:lnTo>
                    <a:pt x="f3" y="f2"/>
                  </a:lnTo>
                  <a:lnTo>
                    <a:pt x="f2" y="f2"/>
                  </a:lnTo>
                  <a:lnTo>
                    <a:pt x="f2" y="f5"/>
                  </a:lnTo>
                  <a:close/>
                </a:path>
              </a:pathLst>
            </a:custGeom>
            <a:blipFill>
              <a:blip r:embed="rId10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427846A0-B769-C8A7-8A4A-F25A39821385}"/>
                </a:ext>
              </a:extLst>
            </p:cNvPr>
            <p:cNvSpPr/>
            <p:nvPr/>
          </p:nvSpPr>
          <p:spPr>
            <a:xfrm>
              <a:off x="8540944" y="6643692"/>
              <a:ext cx="9747055" cy="364331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2996069"/>
                <a:gd name="f4" fmla="val 4857750"/>
                <a:gd name="f5" fmla="*/ f0 1 12996069"/>
                <a:gd name="f6" fmla="*/ f1 1 485775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2996069"/>
                <a:gd name="f13" fmla="*/ f10 1 485775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2996069" h="485775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1">
                <a:alphaModFix amt="9999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272CBFDF-AC17-AF72-4E72-115438DA5F8F}"/>
              </a:ext>
            </a:extLst>
          </p:cNvPr>
          <p:cNvGrpSpPr/>
          <p:nvPr/>
        </p:nvGrpSpPr>
        <p:grpSpPr>
          <a:xfrm>
            <a:off x="4353220" y="10"/>
            <a:ext cx="4187732" cy="10286999"/>
            <a:chOff x="4353220" y="10"/>
            <a:chExt cx="4187732" cy="1028699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D2EC8B04-258B-A23E-538C-448F599D5BDC}"/>
                </a:ext>
              </a:extLst>
            </p:cNvPr>
            <p:cNvSpPr/>
            <p:nvPr/>
          </p:nvSpPr>
          <p:spPr>
            <a:xfrm>
              <a:off x="4353220" y="6643692"/>
              <a:ext cx="4187723" cy="364331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5583634"/>
                <a:gd name="f4" fmla="val 4857750"/>
                <a:gd name="f5" fmla="*/ f0 1 5583634"/>
                <a:gd name="f6" fmla="*/ f1 1 485775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5583634"/>
                <a:gd name="f13" fmla="*/ f10 1 485775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5583634" h="485775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1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1A6993A9-281F-FDD7-214B-8656A9C63C43}"/>
                </a:ext>
              </a:extLst>
            </p:cNvPr>
            <p:cNvSpPr/>
            <p:nvPr/>
          </p:nvSpPr>
          <p:spPr>
            <a:xfrm rot="5400013">
              <a:off x="2773805" y="4091236"/>
              <a:ext cx="9858374" cy="167592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144500"/>
                <a:gd name="f4" fmla="val 2234565"/>
                <a:gd name="f5" fmla="val 2234564"/>
                <a:gd name="f6" fmla="*/ f0 1 13144500"/>
                <a:gd name="f7" fmla="*/ f1 1 2234565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13144500"/>
                <a:gd name="f14" fmla="*/ f11 1 2234565"/>
                <a:gd name="f15" fmla="*/ f8 1 f13"/>
                <a:gd name="f16" fmla="*/ f9 1 f13"/>
                <a:gd name="f17" fmla="*/ f8 1 f14"/>
                <a:gd name="f18" fmla="*/ f10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13144500" h="2234565">
                  <a:moveTo>
                    <a:pt x="f2" y="f2"/>
                  </a:moveTo>
                  <a:lnTo>
                    <a:pt x="f3" y="f2"/>
                  </a:lnTo>
                  <a:lnTo>
                    <a:pt x="f3" y="f5"/>
                  </a:lnTo>
                  <a:lnTo>
                    <a:pt x="f2" y="f5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0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7" name="Freeform 17">
            <a:extLst>
              <a:ext uri="{FF2B5EF4-FFF2-40B4-BE49-F238E27FC236}">
                <a16:creationId xmlns:a16="http://schemas.microsoft.com/office/drawing/2014/main" id="{4B7158C8-28EB-59F1-D117-8CC5B32D93A6}"/>
              </a:ext>
            </a:extLst>
          </p:cNvPr>
          <p:cNvSpPr/>
          <p:nvPr/>
        </p:nvSpPr>
        <p:spPr>
          <a:xfrm>
            <a:off x="0" y="9858374"/>
            <a:ext cx="18288000" cy="428625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428625"/>
              <a:gd name="f5" fmla="*/ f0 1 18288000"/>
              <a:gd name="f6" fmla="*/ f1 1 428625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428625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428625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1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59CB5D6B-7F6D-6085-8CC3-DEBB10A07B3F}"/>
              </a:ext>
            </a:extLst>
          </p:cNvPr>
          <p:cNvSpPr/>
          <p:nvPr/>
        </p:nvSpPr>
        <p:spPr>
          <a:xfrm>
            <a:off x="13504599" y="509723"/>
            <a:ext cx="4090193" cy="1550072"/>
          </a:xfrm>
          <a:custGeom>
            <a:avLst/>
            <a:gdLst>
              <a:gd name="f0" fmla="val w"/>
              <a:gd name="f1" fmla="val h"/>
              <a:gd name="f2" fmla="val 0"/>
              <a:gd name="f3" fmla="val 4090195"/>
              <a:gd name="f4" fmla="val 1550074"/>
              <a:gd name="f5" fmla="*/ f0 1 4090195"/>
              <a:gd name="f6" fmla="*/ f1 1 1550074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090195"/>
              <a:gd name="f13" fmla="*/ f10 1 1550074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090195" h="1550074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16">
              <a:alphaModFix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B9542262-F998-90BB-ADEB-560DDDBCD665}"/>
              </a:ext>
            </a:extLst>
          </p:cNvPr>
          <p:cNvGrpSpPr/>
          <p:nvPr/>
        </p:nvGrpSpPr>
        <p:grpSpPr>
          <a:xfrm>
            <a:off x="1334438" y="2059795"/>
            <a:ext cx="5671456" cy="4098121"/>
            <a:chOff x="1334438" y="2059795"/>
            <a:chExt cx="5671456" cy="4098121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B70B7A96-E730-5F29-5469-1560C3E1A67B}"/>
                </a:ext>
              </a:extLst>
            </p:cNvPr>
            <p:cNvSpPr/>
            <p:nvPr/>
          </p:nvSpPr>
          <p:spPr>
            <a:xfrm>
              <a:off x="1334438" y="2059795"/>
              <a:ext cx="5671456" cy="334379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7561944"/>
                <a:gd name="f4" fmla="val 4458396"/>
                <a:gd name="f5" fmla="*/ f0 1 7561944"/>
                <a:gd name="f6" fmla="*/ f1 1 4458396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7561944"/>
                <a:gd name="f13" fmla="*/ f10 1 4458396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7561944" h="4458396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4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E3F178DE-53AD-6655-E94B-5831B7CA4842}"/>
                </a:ext>
              </a:extLst>
            </p:cNvPr>
            <p:cNvSpPr txBox="1"/>
            <p:nvPr/>
          </p:nvSpPr>
          <p:spPr>
            <a:xfrm>
              <a:off x="1482324" y="5462707"/>
              <a:ext cx="5375675" cy="69520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ts val="2715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262" b="1" i="0" u="none" strike="noStrike" kern="1200" cap="none" spc="0" baseline="0">
                  <a:solidFill>
                    <a:srgbClr val="FFFFFF"/>
                  </a:solidFill>
                  <a:uFillTx/>
                  <a:latin typeface="Montserrat Medium"/>
                  <a:ea typeface="Montserrat Medium"/>
                  <a:cs typeface="Montserrat Medium"/>
                </a:rPr>
                <a:t>23º Congresso Latino-americano de Software Livre e Tecnologias Abertas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3587E615-95D5-A81F-83BA-C929DEF12D12}"/>
              </a:ext>
            </a:extLst>
          </p:cNvPr>
          <p:cNvGrpSpPr/>
          <p:nvPr/>
        </p:nvGrpSpPr>
        <p:grpSpPr>
          <a:xfrm>
            <a:off x="2207943" y="7286625"/>
            <a:ext cx="5077105" cy="1712268"/>
            <a:chOff x="2207943" y="7286625"/>
            <a:chExt cx="5077105" cy="1712268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E629CA98-9479-0291-7E67-58F88A9BCF02}"/>
                </a:ext>
              </a:extLst>
            </p:cNvPr>
            <p:cNvSpPr/>
            <p:nvPr/>
          </p:nvSpPr>
          <p:spPr>
            <a:xfrm>
              <a:off x="2207943" y="7577513"/>
              <a:ext cx="5077105" cy="142138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6769470"/>
                <a:gd name="f4" fmla="val 1248643"/>
                <a:gd name="f5" fmla="val 1248644"/>
                <a:gd name="f6" fmla="*/ f0 1 6769470"/>
                <a:gd name="f7" fmla="*/ f1 1 1248643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6769470"/>
                <a:gd name="f14" fmla="*/ f11 1 1248643"/>
                <a:gd name="f15" fmla="*/ f8 1 f13"/>
                <a:gd name="f16" fmla="*/ f9 1 f13"/>
                <a:gd name="f17" fmla="*/ f8 1 f14"/>
                <a:gd name="f18" fmla="*/ f10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6769470" h="1248643">
                  <a:moveTo>
                    <a:pt x="f2" y="f2"/>
                  </a:moveTo>
                  <a:lnTo>
                    <a:pt x="f3" y="f2"/>
                  </a:lnTo>
                  <a:lnTo>
                    <a:pt x="f3" y="f5"/>
                  </a:lnTo>
                  <a:lnTo>
                    <a:pt x="f2" y="f5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E8D5CA7D-CC25-7543-C98A-490C6A233399}"/>
                </a:ext>
              </a:extLst>
            </p:cNvPr>
            <p:cNvSpPr txBox="1"/>
            <p:nvPr/>
          </p:nvSpPr>
          <p:spPr>
            <a:xfrm>
              <a:off x="3529071" y="7286625"/>
              <a:ext cx="1199893" cy="251706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ts val="201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673" b="1" i="0" u="none" strike="noStrike" kern="1200" cap="none" spc="0" baseline="0">
                  <a:solidFill>
                    <a:srgbClr val="FFFFFF"/>
                  </a:solidFill>
                  <a:uFillTx/>
                  <a:latin typeface="Montserrat Medium"/>
                  <a:ea typeface="Montserrat Medium"/>
                  <a:cs typeface="Montserrat Medium"/>
                </a:rPr>
                <a:t>Realização:</a:t>
              </a:r>
            </a:p>
          </p:txBody>
        </p:sp>
      </p:grpSp>
      <p:sp>
        <p:nvSpPr>
          <p:cNvPr id="28" name="Título"/>
          <p:cNvSpPr txBox="1"/>
          <p:nvPr/>
        </p:nvSpPr>
        <p:spPr>
          <a:xfrm>
            <a:off x="9048750" y="2247900"/>
            <a:ext cx="8572500" cy="1714500"/>
          </a:xfrm>
          <a:prstGeom prst="rect">
            <a:avLst/>
          </a:prstGeom>
          <a:noFill/>
        </p:spPr>
        <p:txBody>
          <a:bodyPr vert="horz" wrap="square" lIns="0" tIns="0" rIns="0" bIns="0" anchor="b" anchorCtr="0">
            <a:noAutofit/>
          </a:bodyPr>
          <a:lstStyle/>
          <a:p>
            <a:pPr marL="0" indent="0" algn="ctr">
              <a:buNone/>
            </a:pPr>
            <a:r>
              <a:rPr lang="pt-BR" sz="34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Balanceamento competitivo com preservação de identidade</a:t>
            </a:r>
          </a:p>
        </p:txBody>
      </p:sp>
      <p:sp>
        <p:nvSpPr>
          <p:cNvPr id="29" name="Subtítulo"/>
          <p:cNvSpPr txBox="1"/>
          <p:nvPr/>
        </p:nvSpPr>
        <p:spPr>
          <a:xfrm>
            <a:off x="9048750" y="4297680"/>
            <a:ext cx="8572500" cy="105156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pt-BR" sz="30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Algoritmos Genéticos e NSGA-II</a:t>
            </a:r>
          </a:p>
          <a:p>
            <a:pPr marL="0" indent="0" algn="ctr">
              <a:buNone/>
            </a:pPr>
            <a:r>
              <a:rPr lang="pt-BR" sz="30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em arquétipos de jogos de luta</a:t>
            </a:r>
          </a:p>
        </p:txBody>
      </p:sp>
      <p:sp>
        <p:nvSpPr>
          <p:cNvPr id="30" name="Autores"/>
          <p:cNvSpPr txBox="1"/>
          <p:nvPr/>
        </p:nvSpPr>
        <p:spPr>
          <a:xfrm>
            <a:off x="9553575" y="5577840"/>
            <a:ext cx="762000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1" i="1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Autores:</a:t>
            </a:r>
          </a:p>
        </p:txBody>
      </p:sp>
      <p:sp>
        <p:nvSpPr>
          <p:cNvPr id="31" name="Nomes"/>
          <p:cNvSpPr txBox="1"/>
          <p:nvPr/>
        </p:nvSpPr>
        <p:spPr>
          <a:xfrm>
            <a:off x="9553575" y="6080760"/>
            <a:ext cx="7620000" cy="9144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Matheus Gimenes de Souza</a:t>
            </a:r>
          </a:p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Everson Scherrer Borges</a:t>
            </a:r>
          </a:p>
        </p:txBody>
      </p:sp>
      <p:sp>
        <p:nvSpPr>
          <p:cNvPr id="32" name="Afiliação"/>
          <p:cNvSpPr txBox="1"/>
          <p:nvPr/>
        </p:nvSpPr>
        <p:spPr>
          <a:xfrm>
            <a:off x="9553575" y="7178040"/>
            <a:ext cx="7620000" cy="50292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Ifes, Cachoeiro de Itapemirim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8"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2C638BA-649E-4656-7F78-4647855D84C0}"/>
              </a:ext>
            </a:extLst>
          </p:cNvPr>
          <p:cNvSpPr txBox="1"/>
          <p:nvPr/>
        </p:nvSpPr>
        <p:spPr>
          <a:xfrm>
            <a:off x="1028700" y="371475"/>
            <a:ext cx="14097000" cy="6572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399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 Medium"/>
                <a:ea typeface="Montserrat Medium"/>
                <a:cs typeface="Montserrat Medium"/>
              </a:rPr>
              <a:t>Problema</a:t>
            </a:r>
            <a:endParaRPr lang="en-US" sz="4399" b="1" i="0" u="none" strike="noStrike" kern="1200" cap="none" spc="0" baseline="0" dirty="0">
              <a:solidFill>
                <a:srgbClr val="FFFFFF"/>
              </a:solidFill>
              <a:uFillTx/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0" name="Afirmação"/>
          <p:cNvSpPr txBox="1"/>
          <p:nvPr/>
        </p:nvSpPr>
        <p:spPr>
          <a:xfrm>
            <a:off x="1028700" y="1581150"/>
            <a:ext cx="16230600" cy="1219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Cinco estilos que se enfrentam como pedra, papel e tesoura</a:t>
            </a:r>
          </a:p>
        </p:txBody>
      </p:sp>
      <p:sp>
        <p:nvSpPr>
          <p:cNvPr id="11" name="Arquétipo Rushdown"/>
          <p:cNvSpPr/>
          <p:nvPr/>
        </p:nvSpPr>
        <p:spPr>
          <a:xfrm>
            <a:off x="1028700" y="3200400"/>
            <a:ext cx="3048000" cy="1600200"/>
          </a:xfrm>
          <a:prstGeom prst="roundRect">
            <a:avLst>
              <a:gd name="adj" fmla="val 11904"/>
            </a:avLst>
          </a:prstGeom>
          <a:solidFill>
            <a:srgbClr val="EFED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3524250"/>
            <a:ext cx="3048000" cy="4762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pt-BR" sz="2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Rushdown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4114800"/>
            <a:ext cx="304800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pt-BR" sz="2800" b="0" i="0" u="none" strike="noStrike" kern="1200" cap="none" spc="0" baseline="0">
                <a:solidFill>
                  <a:srgbClr val="685B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pressão</a:t>
            </a:r>
          </a:p>
        </p:txBody>
      </p:sp>
      <p:sp>
        <p:nvSpPr>
          <p:cNvPr id="14" name="Arquétipo Zoner"/>
          <p:cNvSpPr/>
          <p:nvPr/>
        </p:nvSpPr>
        <p:spPr>
          <a:xfrm>
            <a:off x="4324350" y="3200400"/>
            <a:ext cx="3048000" cy="1600200"/>
          </a:xfrm>
          <a:prstGeom prst="roundRect">
            <a:avLst>
              <a:gd name="adj" fmla="val 11904"/>
            </a:avLst>
          </a:prstGeom>
          <a:solidFill>
            <a:srgbClr val="EFED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4350" y="3524250"/>
            <a:ext cx="3048000" cy="4762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pt-BR" sz="2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Zoner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4350" y="4114800"/>
            <a:ext cx="304800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pt-BR" sz="2800" b="0" i="0" u="none" strike="noStrike" kern="1200" cap="none" spc="0" baseline="0">
                <a:solidFill>
                  <a:srgbClr val="685B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distância</a:t>
            </a:r>
          </a:p>
        </p:txBody>
      </p:sp>
      <p:sp>
        <p:nvSpPr>
          <p:cNvPr id="17" name="Arquétipo Grappler"/>
          <p:cNvSpPr/>
          <p:nvPr/>
        </p:nvSpPr>
        <p:spPr>
          <a:xfrm>
            <a:off x="7620000" y="3200400"/>
            <a:ext cx="3048000" cy="1600200"/>
          </a:xfrm>
          <a:prstGeom prst="roundRect">
            <a:avLst>
              <a:gd name="adj" fmla="val 11904"/>
            </a:avLst>
          </a:prstGeom>
          <a:solidFill>
            <a:srgbClr val="EFED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0" y="3524250"/>
            <a:ext cx="3048000" cy="4762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pt-BR" sz="2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Grappler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0" y="4114800"/>
            <a:ext cx="304800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pt-BR" sz="2800" b="0" i="0" u="none" strike="noStrike" kern="1200" cap="none" spc="0" baseline="0">
                <a:solidFill>
                  <a:srgbClr val="685B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dano</a:t>
            </a:r>
          </a:p>
        </p:txBody>
      </p:sp>
      <p:sp>
        <p:nvSpPr>
          <p:cNvPr id="20" name="Arquétipo Combo Master"/>
          <p:cNvSpPr/>
          <p:nvPr/>
        </p:nvSpPr>
        <p:spPr>
          <a:xfrm>
            <a:off x="10915650" y="3200400"/>
            <a:ext cx="3048000" cy="1600200"/>
          </a:xfrm>
          <a:prstGeom prst="roundRect">
            <a:avLst>
              <a:gd name="adj" fmla="val 11904"/>
            </a:avLst>
          </a:prstGeom>
          <a:solidFill>
            <a:srgbClr val="EFED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15650" y="3524250"/>
            <a:ext cx="3048000" cy="4762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pt-BR" sz="2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Combo Master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5650" y="4114800"/>
            <a:ext cx="304800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pt-BR" sz="2800" b="0" i="0" u="none" strike="noStrike" kern="1200" cap="none" spc="0" baseline="0">
                <a:solidFill>
                  <a:srgbClr val="685B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sequência</a:t>
            </a:r>
          </a:p>
        </p:txBody>
      </p:sp>
      <p:sp>
        <p:nvSpPr>
          <p:cNvPr id="23" name="Arquétipo Turtle"/>
          <p:cNvSpPr/>
          <p:nvPr/>
        </p:nvSpPr>
        <p:spPr>
          <a:xfrm>
            <a:off x="14211300" y="3200400"/>
            <a:ext cx="3048000" cy="1600200"/>
          </a:xfrm>
          <a:prstGeom prst="roundRect">
            <a:avLst>
              <a:gd name="adj" fmla="val 11904"/>
            </a:avLst>
          </a:prstGeom>
          <a:solidFill>
            <a:srgbClr val="EFED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11300" y="3524250"/>
            <a:ext cx="3048000" cy="4762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pt-BR" sz="2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Turtle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11300" y="4114800"/>
            <a:ext cx="304800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pt-BR" sz="2800" b="0" i="0" u="none" strike="noStrike" kern="1200" cap="none" spc="0" baseline="0">
                <a:solidFill>
                  <a:srgbClr val="685B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defesa</a:t>
            </a:r>
          </a:p>
        </p:txBody>
      </p:sp>
      <p:sp>
        <p:nvSpPr>
          <p:cNvPr id="26" name="Legenda"/>
          <p:cNvSpPr txBox="1"/>
          <p:nvPr/>
        </p:nvSpPr>
        <p:spPr>
          <a:xfrm>
            <a:off x="1028700" y="4972050"/>
            <a:ext cx="1623060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Elenco definido pelos autores, tratado como hipótese</a:t>
            </a:r>
          </a:p>
        </p:txBody>
      </p:sp>
      <p:sp>
        <p:nvSpPr>
          <p:cNvPr id="27" name="Pergunta"/>
          <p:cNvSpPr/>
          <p:nvPr/>
        </p:nvSpPr>
        <p:spPr>
          <a:xfrm>
            <a:off x="1028700" y="5867400"/>
            <a:ext cx="16230600" cy="3067050"/>
          </a:xfrm>
          <a:prstGeom prst="roundRect">
            <a:avLst>
              <a:gd name="adj" fmla="val 8074"/>
            </a:avLst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62100" y="6248400"/>
            <a:ext cx="15163800" cy="41148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1" i="0" u="none" strike="noStrike" kern="1200" cap="none" spc="0" baseline="0">
                <a:solidFill>
                  <a:srgbClr val="BDB6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PERGUNTA DE PESQUISA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62100" y="6812280"/>
            <a:ext cx="15163800" cy="18097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600" b="0" i="0" u="none" strike="noStrike" kern="1200" cap="none" spc="0" baseline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Um Algoritmo Genético é capaz de atingir equilíbrio competitivo entre cinco arquétipos distintos </a:t>
            </a:r>
            <a:r>
              <a:rPr lang="pt-BR" sz="3600" b="1" i="0" u="none" strike="noStrike" kern="1200" cap="none" spc="0" baseline="0">
                <a:solidFill>
                  <a:srgbClr val="BDB6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sem destruir suas identidades funcionais?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8"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2C638BA-649E-4656-7F78-4647855D84C0}"/>
              </a:ext>
            </a:extLst>
          </p:cNvPr>
          <p:cNvSpPr txBox="1"/>
          <p:nvPr/>
        </p:nvSpPr>
        <p:spPr>
          <a:xfrm>
            <a:off x="1028700" y="371475"/>
            <a:ext cx="14097000" cy="6572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399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 Medium"/>
                <a:ea typeface="Montserrat Medium"/>
                <a:cs typeface="Montserrat Medium"/>
              </a:rPr>
              <a:t>Método</a:t>
            </a:r>
            <a:endParaRPr lang="en-US" sz="4399" b="1" i="0" u="none" strike="noStrike" kern="1200" cap="none" spc="0" baseline="0" dirty="0">
              <a:solidFill>
                <a:srgbClr val="FFFFFF"/>
              </a:solidFill>
              <a:uFillTx/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01" name="Afirmação"/>
          <p:cNvSpPr txBox="1"/>
          <p:nvPr/>
        </p:nvSpPr>
        <p:spPr>
          <a:xfrm>
            <a:off x="1028700" y="1580998"/>
            <a:ext cx="16230600" cy="1218895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Dois objetivos, e nenhum diz quem deve vencer</a:t>
            </a:r>
          </a:p>
        </p:txBody>
      </p:sp>
      <p:sp>
        <p:nvSpPr>
          <p:cNvPr id="102" name="Desbalanço"/>
          <p:cNvSpPr/>
          <p:nvPr/>
        </p:nvSpPr>
        <p:spPr>
          <a:xfrm>
            <a:off x="1028700" y="2926080"/>
            <a:ext cx="9144000" cy="4846320"/>
          </a:xfrm>
          <a:prstGeom prst="roundRect">
            <a:avLst>
              <a:gd name="adj" fmla="val 5000"/>
            </a:avLst>
          </a:prstGeom>
          <a:solidFill>
            <a:srgbClr val="FCEE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Desbalanço título"/>
          <p:cNvSpPr txBox="1"/>
          <p:nvPr/>
        </p:nvSpPr>
        <p:spPr>
          <a:xfrm>
            <a:off x="1440180" y="3108960"/>
            <a:ext cx="8321040" cy="64008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600" b="1" i="0" u="none" strike="noStrike" kern="1200" cap="none" spc="0" baseline="0">
                <a:solidFill>
                  <a:srgbClr val="C8540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desbalanço</a:t>
            </a:r>
          </a:p>
        </p:txBody>
      </p:sp>
      <p:sp>
        <p:nvSpPr>
          <p:cNvPr id="104" name="Peso global"/>
          <p:cNvSpPr txBox="1"/>
          <p:nvPr/>
        </p:nvSpPr>
        <p:spPr>
          <a:xfrm>
            <a:off x="1440180" y="3886200"/>
            <a:ext cx="1234440" cy="77724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30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1,0 ×</a:t>
            </a:r>
          </a:p>
        </p:txBody>
      </p:sp>
      <p:sp>
        <p:nvSpPr>
          <p:cNvPr id="105" name="Termo global"/>
          <p:cNvSpPr txBox="1"/>
          <p:nvPr/>
        </p:nvSpPr>
        <p:spPr>
          <a:xfrm>
            <a:off x="2674620" y="3886200"/>
            <a:ext cx="3017520" cy="77724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global</a:t>
            </a:r>
          </a:p>
        </p:txBody>
      </p:sp>
      <p:sp>
        <p:nvSpPr>
          <p:cNvPr id="106" name="Descrição global"/>
          <p:cNvSpPr txBox="1"/>
          <p:nvPr/>
        </p:nvSpPr>
        <p:spPr>
          <a:xfrm>
            <a:off x="5692140" y="3886200"/>
            <a:ext cx="4114800" cy="77724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longe de 50% no total</a:t>
            </a:r>
          </a:p>
        </p:txBody>
      </p:sp>
      <p:sp>
        <p:nvSpPr>
          <p:cNvPr id="107" name="Peso counter"/>
          <p:cNvSpPr txBox="1"/>
          <p:nvPr/>
        </p:nvSpPr>
        <p:spPr>
          <a:xfrm>
            <a:off x="1440180" y="4754880"/>
            <a:ext cx="1234440" cy="77724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30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0,5 ×</a:t>
            </a:r>
          </a:p>
        </p:txBody>
      </p:sp>
      <p:sp>
        <p:nvSpPr>
          <p:cNvPr id="108" name="Termo counter"/>
          <p:cNvSpPr txBox="1"/>
          <p:nvPr/>
        </p:nvSpPr>
        <p:spPr>
          <a:xfrm>
            <a:off x="2674620" y="4754880"/>
            <a:ext cx="3017520" cy="77724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counter</a:t>
            </a:r>
          </a:p>
        </p:txBody>
      </p:sp>
      <p:sp>
        <p:nvSpPr>
          <p:cNvPr id="109" name="Descrição counter"/>
          <p:cNvSpPr txBox="1"/>
          <p:nvPr/>
        </p:nvSpPr>
        <p:spPr>
          <a:xfrm>
            <a:off x="5692140" y="4754880"/>
            <a:ext cx="4114800" cy="77724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confronto esmagador</a:t>
            </a:r>
          </a:p>
        </p:txBody>
      </p:sp>
      <p:sp>
        <p:nvSpPr>
          <p:cNvPr id="110" name="Peso decisividade"/>
          <p:cNvSpPr txBox="1"/>
          <p:nvPr/>
        </p:nvSpPr>
        <p:spPr>
          <a:xfrm>
            <a:off x="1440180" y="5623560"/>
            <a:ext cx="1234440" cy="77724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30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0,5 ×</a:t>
            </a:r>
          </a:p>
        </p:txBody>
      </p:sp>
      <p:sp>
        <p:nvSpPr>
          <p:cNvPr id="111" name="Termo decisividade"/>
          <p:cNvSpPr txBox="1"/>
          <p:nvPr/>
        </p:nvSpPr>
        <p:spPr>
          <a:xfrm>
            <a:off x="2674620" y="5623560"/>
            <a:ext cx="3017520" cy="77724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decisividade</a:t>
            </a:r>
          </a:p>
        </p:txBody>
      </p:sp>
      <p:sp>
        <p:nvSpPr>
          <p:cNvPr id="112" name="Descrição decisividade"/>
          <p:cNvSpPr txBox="1"/>
          <p:nvPr/>
        </p:nvSpPr>
        <p:spPr>
          <a:xfrm>
            <a:off x="5692140" y="5623560"/>
            <a:ext cx="4114800" cy="77724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vencedor termina</a:t>
            </a:r>
          </a:p>
          <a:p>
            <a:pPr marL="0" indent="0" algn="l">
              <a:lnSpc>
                <a:spcPct val="90000"/>
              </a:lnSpc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com 20–40% de vida</a:t>
            </a:r>
          </a:p>
        </p:txBody>
      </p:sp>
      <p:cxnSp>
        <p:nvCxnSpPr>
          <p:cNvPr id="113" name="Divisor"/>
          <p:cNvCxnSpPr/>
          <p:nvPr/>
        </p:nvCxnSpPr>
        <p:spPr>
          <a:xfrm>
            <a:off x="1440180" y="6629400"/>
            <a:ext cx="8321040" cy="0"/>
          </a:xfrm>
          <a:prstGeom prst="line">
            <a:avLst/>
          </a:prstGeom>
          <a:ln w="19050">
            <a:solidFill>
              <a:srgbClr val="C8540F"/>
            </a:solidFill>
          </a:ln>
        </p:spPr>
      </p:cxnSp>
      <p:sp>
        <p:nvSpPr>
          <p:cNvPr id="114" name="Cego à direção"/>
          <p:cNvSpPr txBox="1"/>
          <p:nvPr/>
        </p:nvSpPr>
        <p:spPr>
          <a:xfrm>
            <a:off x="1440180" y="6812280"/>
            <a:ext cx="8321040" cy="82296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1" i="0" u="none" strike="noStrike" kern="1200" cap="none" spc="0" baseline="0">
                <a:solidFill>
                  <a:srgbClr val="C8540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só a distância a 50%, nunca a direção</a:t>
            </a:r>
          </a:p>
        </p:txBody>
      </p:sp>
      <p:sp>
        <p:nvSpPr>
          <p:cNvPr id="115" name="Desvio"/>
          <p:cNvSpPr/>
          <p:nvPr/>
        </p:nvSpPr>
        <p:spPr>
          <a:xfrm>
            <a:off x="10469880" y="2926080"/>
            <a:ext cx="6789420" cy="2194560"/>
          </a:xfrm>
          <a:prstGeom prst="roundRect">
            <a:avLst>
              <a:gd name="adj" fmla="val 8000"/>
            </a:avLst>
          </a:prstGeom>
          <a:solidFill>
            <a:srgbClr val="EFED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Desvio título"/>
          <p:cNvSpPr txBox="1"/>
          <p:nvPr/>
        </p:nvSpPr>
        <p:spPr>
          <a:xfrm>
            <a:off x="10881360" y="3108960"/>
            <a:ext cx="5966460" cy="64008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600" b="1" i="0" u="none" strike="noStrike" kern="1200" cap="none" spc="0" baseline="0">
                <a:solidFill>
                  <a:srgbClr val="685B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desvio</a:t>
            </a:r>
          </a:p>
        </p:txBody>
      </p:sp>
      <p:sp>
        <p:nvSpPr>
          <p:cNvPr id="117" name="Desvio legenda"/>
          <p:cNvSpPr txBox="1"/>
          <p:nvPr/>
        </p:nvSpPr>
        <p:spPr>
          <a:xfrm>
            <a:off x="10881360" y="3794760"/>
            <a:ext cx="5966460" cy="109728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distância de cada personagem</a:t>
            </a:r>
          </a:p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ao seu perfil original</a:t>
            </a:r>
          </a:p>
        </p:txBody>
      </p:sp>
      <p:sp>
        <p:nvSpPr>
          <p:cNvPr id="118" name="Fora da busca"/>
          <p:cNvSpPr/>
          <p:nvPr/>
        </p:nvSpPr>
        <p:spPr>
          <a:xfrm>
            <a:off x="10469880" y="5349240"/>
            <a:ext cx="6789420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685BC7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Fora"/>
          <p:cNvSpPr txBox="1"/>
          <p:nvPr/>
        </p:nvSpPr>
        <p:spPr>
          <a:xfrm>
            <a:off x="10881360" y="5532120"/>
            <a:ext cx="596646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medido só depois:</a:t>
            </a:r>
          </a:p>
        </p:txBody>
      </p:sp>
      <p:sp>
        <p:nvSpPr>
          <p:cNvPr id="120" name="Quem vence"/>
          <p:cNvSpPr txBox="1"/>
          <p:nvPr/>
        </p:nvSpPr>
        <p:spPr>
          <a:xfrm>
            <a:off x="10881360" y="6035040"/>
            <a:ext cx="5966460" cy="59436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2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quem vence quem</a:t>
            </a:r>
          </a:p>
        </p:txBody>
      </p:sp>
      <p:sp>
        <p:nvSpPr>
          <p:cNvPr id="121" name="Testes"/>
          <p:cNvSpPr txBox="1"/>
          <p:nvPr/>
        </p:nvSpPr>
        <p:spPr>
          <a:xfrm>
            <a:off x="10881360" y="6720840"/>
            <a:ext cx="5966460" cy="59436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2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os 21 testes</a:t>
            </a:r>
          </a:p>
        </p:txBody>
      </p:sp>
      <p:sp>
        <p:nvSpPr>
          <p:cNvPr id="122" name="Fecho"/>
          <p:cNvSpPr txBox="1"/>
          <p:nvPr/>
        </p:nvSpPr>
        <p:spPr>
          <a:xfrm>
            <a:off x="1028700" y="8046720"/>
            <a:ext cx="16230600" cy="118872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0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Se a identidade fosse regra, sobreviveria por obrigação. </a:t>
            </a:r>
            <a:r>
              <a:rPr lang="pt-BR" sz="3000" b="1" i="0" u="none" strike="noStrike" kern="1200" cap="none" spc="0" baseline="0">
                <a:solidFill>
                  <a:srgbClr val="685B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Medida por fora, vira resultado.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8"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2C638BA-649E-4656-7F78-4647855D84C0}"/>
              </a:ext>
            </a:extLst>
          </p:cNvPr>
          <p:cNvSpPr txBox="1"/>
          <p:nvPr/>
        </p:nvSpPr>
        <p:spPr>
          <a:xfrm>
            <a:off x="1028700" y="371475"/>
            <a:ext cx="14097000" cy="6572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399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 Medium"/>
                <a:ea typeface="Montserrat Medium"/>
                <a:cs typeface="Montserrat Medium"/>
              </a:rPr>
              <a:t>Reserva: método</a:t>
            </a:r>
            <a:endParaRPr lang="en-US" sz="4399" b="1" i="0" u="none" strike="noStrike" kern="1200" cap="none" spc="0" baseline="0" dirty="0">
              <a:solidFill>
                <a:srgbClr val="FFFFFF"/>
              </a:solidFill>
              <a:uFillTx/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0" name="Afirmação"/>
          <p:cNvSpPr txBox="1"/>
          <p:nvPr/>
        </p:nvSpPr>
        <p:spPr>
          <a:xfrm>
            <a:off x="1028700" y="1581150"/>
            <a:ext cx="16230600" cy="1219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Um simulador avalia; dois algoritmos buscam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3200400"/>
            <a:ext cx="7353300" cy="3238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000" b="1" i="0" u="none" strike="noStrike" kern="1200" cap="none" spc="0" baseline="0">
                <a:solidFill>
                  <a:srgbClr val="685B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SIMULADOR DE COMBATE</a:t>
            </a:r>
          </a:p>
        </p:txBody>
      </p:sp>
      <p:sp>
        <p:nvSpPr>
          <p:cNvPr id="12" name="Campo"/>
          <p:cNvSpPr/>
          <p:nvPr/>
        </p:nvSpPr>
        <p:spPr>
          <a:xfrm>
            <a:off x="1028700" y="3619500"/>
            <a:ext cx="7353300" cy="2495550"/>
          </a:xfrm>
          <a:prstGeom prst="roundRect">
            <a:avLst>
              <a:gd name="adj" fmla="val 7633"/>
            </a:avLst>
          </a:prstGeom>
          <a:solidFill>
            <a:srgbClr val="F4F4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447800" y="4895850"/>
            <a:ext cx="6515100" cy="0"/>
          </a:xfrm>
          <a:prstGeom prst="line">
            <a:avLst/>
          </a:prstGeom>
          <a:ln w="47625">
            <a:solidFill>
              <a:srgbClr val="C9CCD8"/>
            </a:solidFill>
          </a:ln>
        </p:spPr>
      </p:cxnSp>
      <p:sp>
        <p:nvSpPr>
          <p:cNvPr id="14" name="Oval 13"/>
          <p:cNvSpPr/>
          <p:nvPr/>
        </p:nvSpPr>
        <p:spPr>
          <a:xfrm>
            <a:off x="2895600" y="4076700"/>
            <a:ext cx="762000" cy="762000"/>
          </a:xfrm>
          <a:prstGeom prst="ellipse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3771900" y="4457700"/>
            <a:ext cx="571500" cy="0"/>
          </a:xfrm>
          <a:prstGeom prst="line">
            <a:avLst/>
          </a:prstGeom>
          <a:ln w="47625">
            <a:solidFill>
              <a:srgbClr val="685BC7"/>
            </a:solidFill>
            <a:tailEnd type="triangle" w="med" len="med"/>
          </a:ln>
        </p:spPr>
      </p:cxnSp>
      <p:sp>
        <p:nvSpPr>
          <p:cNvPr id="16" name="Oval 15"/>
          <p:cNvSpPr/>
          <p:nvPr/>
        </p:nvSpPr>
        <p:spPr>
          <a:xfrm>
            <a:off x="5753100" y="4076700"/>
            <a:ext cx="762000" cy="762000"/>
          </a:xfrm>
          <a:prstGeom prst="ellipse">
            <a:avLst/>
          </a:prstGeom>
          <a:solidFill>
            <a:srgbClr val="C854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H="1">
            <a:off x="5067300" y="4457700"/>
            <a:ext cx="571500" cy="0"/>
          </a:xfrm>
          <a:prstGeom prst="line">
            <a:avLst/>
          </a:prstGeom>
          <a:ln w="47625">
            <a:solidFill>
              <a:srgbClr val="C8540F"/>
            </a:solidFill>
            <a:tailEnd type="triangle" w="med" len="med"/>
          </a:ln>
        </p:spPr>
      </p:cxnSp>
      <p:sp>
        <p:nvSpPr>
          <p:cNvPr id="18" name="Intenção FRENTE"/>
          <p:cNvSpPr/>
          <p:nvPr/>
        </p:nvSpPr>
        <p:spPr>
          <a:xfrm>
            <a:off x="1676400" y="5257800"/>
            <a:ext cx="1905000" cy="49530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76400" y="5257800"/>
            <a:ext cx="1905000" cy="4953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2100" b="1" i="0" u="none" strike="noStrike" kern="1200" cap="none" spc="0" baseline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AVANÇAR</a:t>
            </a:r>
          </a:p>
        </p:txBody>
      </p:sp>
      <p:sp>
        <p:nvSpPr>
          <p:cNvPr id="20" name="Intenção RECUAR"/>
          <p:cNvSpPr/>
          <p:nvPr/>
        </p:nvSpPr>
        <p:spPr>
          <a:xfrm>
            <a:off x="3752850" y="5257800"/>
            <a:ext cx="1905000" cy="49530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52850" y="5257800"/>
            <a:ext cx="1905000" cy="4953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2100" b="1" i="0" u="none" strike="noStrike" kern="1200" cap="none" spc="0" baseline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RECUAR</a:t>
            </a:r>
          </a:p>
        </p:txBody>
      </p:sp>
      <p:sp>
        <p:nvSpPr>
          <p:cNvPr id="22" name="Intenção GUARDA"/>
          <p:cNvSpPr/>
          <p:nvPr/>
        </p:nvSpPr>
        <p:spPr>
          <a:xfrm>
            <a:off x="5829300" y="5257800"/>
            <a:ext cx="1905000" cy="49530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29300" y="5257800"/>
            <a:ext cx="1905000" cy="4953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2100" b="1" i="0" u="none" strike="noStrike" kern="1200" cap="none" spc="0" baseline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DEFENDER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" y="6438900"/>
            <a:ext cx="3562350" cy="7048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44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 genes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" y="7181850"/>
            <a:ext cx="3562350" cy="4000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4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por personagem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19650" y="6438900"/>
            <a:ext cx="3562350" cy="7048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44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 × 150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9650" y="7181850"/>
            <a:ext cx="3562350" cy="4000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4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confrontos × lutas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200400"/>
            <a:ext cx="8115300" cy="3238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000" b="1" i="0" u="none" strike="noStrike" kern="1200" cap="none" spc="0" baseline="0">
                <a:solidFill>
                  <a:srgbClr val="685B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DOIS ALGORITMOS</a:t>
            </a:r>
          </a:p>
        </p:txBody>
      </p:sp>
      <p:sp>
        <p:nvSpPr>
          <p:cNvPr id="29" name="Algoritmo AG escalar"/>
          <p:cNvSpPr/>
          <p:nvPr/>
        </p:nvSpPr>
        <p:spPr>
          <a:xfrm>
            <a:off x="9144000" y="3619500"/>
            <a:ext cx="3943350" cy="3695700"/>
          </a:xfrm>
          <a:prstGeom prst="roundRect">
            <a:avLst>
              <a:gd name="adj" fmla="val 5154"/>
            </a:avLst>
          </a:prstGeom>
          <a:solidFill>
            <a:srgbClr val="F4F4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0700" y="3829050"/>
            <a:ext cx="3409950" cy="4381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 escalar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10750" y="4533900"/>
            <a:ext cx="0" cy="1752600"/>
          </a:xfrm>
          <a:prstGeom prst="line">
            <a:avLst/>
          </a:prstGeom>
          <a:ln w="28575">
            <a:solidFill>
              <a:srgbClr val="5B6178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9810750" y="6286500"/>
            <a:ext cx="2990850" cy="0"/>
          </a:xfrm>
          <a:prstGeom prst="line">
            <a:avLst/>
          </a:prstGeom>
          <a:ln w="28575">
            <a:solidFill>
              <a:srgbClr val="5B6178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9944100" y="4419600"/>
            <a:ext cx="1905000" cy="3048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000" b="1" i="0" u="none" strike="noStrike" kern="1200" cap="none" spc="0" baseline="0">
                <a:solidFill>
                  <a:srgbClr val="685B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96600" y="6362700"/>
            <a:ext cx="1905000" cy="3048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r">
              <a:buNone/>
            </a:pPr>
            <a:r>
              <a:rPr lang="pt-BR" sz="2000" b="1" i="0" u="none" strike="noStrike" kern="1200" cap="none" spc="0" baseline="0">
                <a:solidFill>
                  <a:srgbClr val="C8540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desbalanço</a:t>
            </a:r>
          </a:p>
        </p:txBody>
      </p:sp>
      <p:sp>
        <p:nvSpPr>
          <p:cNvPr id="35" name="Oval 34"/>
          <p:cNvSpPr/>
          <p:nvPr/>
        </p:nvSpPr>
        <p:spPr>
          <a:xfrm>
            <a:off x="10620375" y="5514975"/>
            <a:ext cx="285750" cy="285750"/>
          </a:xfrm>
          <a:prstGeom prst="ellipse">
            <a:avLst/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0700" y="6743700"/>
            <a:ext cx="3409950" cy="4000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4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um ponto</a:t>
            </a:r>
          </a:p>
        </p:txBody>
      </p:sp>
      <p:sp>
        <p:nvSpPr>
          <p:cNvPr id="37" name="Algoritmo NSGA-II"/>
          <p:cNvSpPr/>
          <p:nvPr/>
        </p:nvSpPr>
        <p:spPr>
          <a:xfrm>
            <a:off x="13315950" y="3619500"/>
            <a:ext cx="3943350" cy="3695700"/>
          </a:xfrm>
          <a:prstGeom prst="roundRect">
            <a:avLst>
              <a:gd name="adj" fmla="val 5154"/>
            </a:avLst>
          </a:prstGeom>
          <a:solidFill>
            <a:srgbClr val="F4F4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582650" y="3829050"/>
            <a:ext cx="3409950" cy="4381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NSGA-II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3982700" y="4533900"/>
            <a:ext cx="0" cy="1752600"/>
          </a:xfrm>
          <a:prstGeom prst="line">
            <a:avLst/>
          </a:prstGeom>
          <a:ln w="28575">
            <a:solidFill>
              <a:srgbClr val="5B6178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13982700" y="6286500"/>
            <a:ext cx="2990850" cy="0"/>
          </a:xfrm>
          <a:prstGeom prst="line">
            <a:avLst/>
          </a:prstGeom>
          <a:ln w="28575">
            <a:solidFill>
              <a:srgbClr val="5B6178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14116050" y="4419600"/>
            <a:ext cx="1905000" cy="3048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000" b="1" i="0" u="none" strike="noStrike" kern="1200" cap="none" spc="0" baseline="0">
                <a:solidFill>
                  <a:srgbClr val="685B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068550" y="6362700"/>
            <a:ext cx="1905000" cy="3048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r">
              <a:buNone/>
            </a:pPr>
            <a:r>
              <a:rPr lang="pt-BR" sz="2000" b="1" i="0" u="none" strike="noStrike" kern="1200" cap="none" spc="0" baseline="0">
                <a:solidFill>
                  <a:srgbClr val="C8540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desbalanço</a:t>
            </a:r>
          </a:p>
        </p:txBody>
      </p:sp>
      <p:sp>
        <p:nvSpPr>
          <p:cNvPr id="43" name="Oval 42"/>
          <p:cNvSpPr/>
          <p:nvPr/>
        </p:nvSpPr>
        <p:spPr>
          <a:xfrm>
            <a:off x="14135100" y="4686300"/>
            <a:ext cx="190500" cy="190500"/>
          </a:xfrm>
          <a:prstGeom prst="ellipse">
            <a:avLst/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4325600" y="5086350"/>
            <a:ext cx="190500" cy="190500"/>
          </a:xfrm>
          <a:prstGeom prst="ellipse">
            <a:avLst/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4630400" y="5410200"/>
            <a:ext cx="190500" cy="190500"/>
          </a:xfrm>
          <a:prstGeom prst="ellipse">
            <a:avLst/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5030450" y="5657850"/>
            <a:ext cx="190500" cy="190500"/>
          </a:xfrm>
          <a:prstGeom prst="ellipse">
            <a:avLst/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5506700" y="5829300"/>
            <a:ext cx="190500" cy="190500"/>
          </a:xfrm>
          <a:prstGeom prst="ellipse">
            <a:avLst/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6021050" y="5934075"/>
            <a:ext cx="190500" cy="190500"/>
          </a:xfrm>
          <a:prstGeom prst="ellipse">
            <a:avLst/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6535400" y="5991225"/>
            <a:ext cx="190500" cy="190500"/>
          </a:xfrm>
          <a:prstGeom prst="ellipse">
            <a:avLst/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582650" y="6743700"/>
            <a:ext cx="3409950" cy="4000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4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fronteira inteira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7600950"/>
            <a:ext cx="8115300" cy="3810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pt-BR" sz="24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300 elencos</a:t>
            </a:r>
            <a:r>
              <a:rPr lang="pt-BR" sz="24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·  </a:t>
            </a:r>
            <a:r>
              <a:rPr lang="pt-BR" sz="24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150 gerações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8"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2C638BA-649E-4656-7F78-4647855D84C0}"/>
              </a:ext>
            </a:extLst>
          </p:cNvPr>
          <p:cNvSpPr txBox="1"/>
          <p:nvPr/>
        </p:nvSpPr>
        <p:spPr>
          <a:xfrm>
            <a:off x="1028700" y="371475"/>
            <a:ext cx="14097000" cy="6572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399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 Medium"/>
                <a:ea typeface="Montserrat Medium"/>
                <a:cs typeface="Montserrat Medium"/>
              </a:rPr>
              <a:t>Resultados</a:t>
            </a:r>
            <a:endParaRPr lang="en-US" sz="4399" b="1" i="0" u="none" strike="noStrike" kern="1200" cap="none" spc="0" baseline="0" dirty="0">
              <a:solidFill>
                <a:srgbClr val="FFFFFF"/>
              </a:solidFill>
              <a:uFillTx/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01" name="Afirmação"/>
          <p:cNvSpPr txBox="1"/>
          <p:nvPr/>
        </p:nvSpPr>
        <p:spPr>
          <a:xfrm>
            <a:off x="1028700" y="1580998"/>
            <a:ext cx="16230600" cy="1218895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Equilibrar por completo apaga boa parte da identidade</a:t>
            </a:r>
          </a:p>
        </p:txBody>
      </p:sp>
      <p:sp>
        <p:nvSpPr>
          <p:cNvPr id="102" name="Cartão canônico"/>
          <p:cNvSpPr/>
          <p:nvPr/>
        </p:nvSpPr>
        <p:spPr>
          <a:xfrm>
            <a:off x="1028700" y="3017520"/>
            <a:ext cx="6949440" cy="4846320"/>
          </a:xfrm>
          <a:prstGeom prst="roundRect">
            <a:avLst>
              <a:gd name="adj" fmla="val 6000"/>
            </a:avLst>
          </a:prstGeom>
          <a:solidFill>
            <a:srgbClr val="F4F4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Título canônico"/>
          <p:cNvSpPr txBox="1"/>
          <p:nvPr/>
        </p:nvSpPr>
        <p:spPr>
          <a:xfrm>
            <a:off x="1440180" y="3291840"/>
            <a:ext cx="6126480" cy="54864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2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Elenco canônico</a:t>
            </a:r>
          </a:p>
        </p:txBody>
      </p:sp>
      <p:sp>
        <p:nvSpPr>
          <p:cNvPr id="104" name="Sub canônico"/>
          <p:cNvSpPr txBox="1"/>
          <p:nvPr/>
        </p:nvSpPr>
        <p:spPr>
          <a:xfrm>
            <a:off x="1440180" y="3840480"/>
            <a:ext cx="612648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o original, antes da evolução</a:t>
            </a:r>
          </a:p>
        </p:txBody>
      </p:sp>
      <p:sp>
        <p:nvSpPr>
          <p:cNvPr id="105" name="Número canônico de 10 confrontos"/>
          <p:cNvSpPr txBox="1"/>
          <p:nvPr/>
        </p:nvSpPr>
        <p:spPr>
          <a:xfrm>
            <a:off x="1440180" y="4434840"/>
            <a:ext cx="2103120" cy="141732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10000" b="1" i="0" u="none" strike="noStrike" kern="1200" cap="none" spc="0" baseline="0">
                <a:solidFill>
                  <a:srgbClr val="C8540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0</a:t>
            </a:r>
          </a:p>
        </p:txBody>
      </p:sp>
      <p:sp>
        <p:nvSpPr>
          <p:cNvPr id="106" name="Legenda canônico de 10 confrontos"/>
          <p:cNvSpPr txBox="1"/>
          <p:nvPr/>
        </p:nvSpPr>
        <p:spPr>
          <a:xfrm>
            <a:off x="3634740" y="4709160"/>
            <a:ext cx="4023360" cy="9144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de 10 confrontos</a:t>
            </a:r>
          </a:p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equilibrados</a:t>
            </a:r>
          </a:p>
        </p:txBody>
      </p:sp>
      <p:sp>
        <p:nvSpPr>
          <p:cNvPr id="107" name="Número canônico de 21 testes"/>
          <p:cNvSpPr txBox="1"/>
          <p:nvPr/>
        </p:nvSpPr>
        <p:spPr>
          <a:xfrm>
            <a:off x="1440180" y="6035040"/>
            <a:ext cx="2103120" cy="141732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10000" b="1" i="0" u="none" strike="noStrike" kern="1200" cap="none" spc="0" baseline="0">
                <a:solidFill>
                  <a:srgbClr val="685B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21</a:t>
            </a:r>
          </a:p>
        </p:txBody>
      </p:sp>
      <p:sp>
        <p:nvSpPr>
          <p:cNvPr id="108" name="Legenda canônico de 21 testes"/>
          <p:cNvSpPr txBox="1"/>
          <p:nvPr/>
        </p:nvSpPr>
        <p:spPr>
          <a:xfrm>
            <a:off x="3634740" y="6309360"/>
            <a:ext cx="4023360" cy="9144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de 21 testes</a:t>
            </a:r>
          </a:p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de identidade</a:t>
            </a:r>
          </a:p>
        </p:txBody>
      </p:sp>
      <p:sp>
        <p:nvSpPr>
          <p:cNvPr id="109" name="Cartão escalar"/>
          <p:cNvSpPr/>
          <p:nvPr/>
        </p:nvSpPr>
        <p:spPr>
          <a:xfrm>
            <a:off x="10309860" y="3017520"/>
            <a:ext cx="6949440" cy="4846320"/>
          </a:xfrm>
          <a:prstGeom prst="roundRect">
            <a:avLst>
              <a:gd name="adj" fmla="val 6000"/>
            </a:avLst>
          </a:prstGeom>
          <a:solidFill>
            <a:srgbClr val="F4F4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Título escalar"/>
          <p:cNvSpPr txBox="1"/>
          <p:nvPr/>
        </p:nvSpPr>
        <p:spPr>
          <a:xfrm>
            <a:off x="10721340" y="3291840"/>
            <a:ext cx="6126480" cy="54864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2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AG escalar</a:t>
            </a:r>
          </a:p>
        </p:txBody>
      </p:sp>
      <p:sp>
        <p:nvSpPr>
          <p:cNvPr id="111" name="Sub escalar"/>
          <p:cNvSpPr txBox="1"/>
          <p:nvPr/>
        </p:nvSpPr>
        <p:spPr>
          <a:xfrm>
            <a:off x="10721340" y="3840480"/>
            <a:ext cx="612648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soma os dois objetivos</a:t>
            </a:r>
          </a:p>
        </p:txBody>
      </p:sp>
      <p:sp>
        <p:nvSpPr>
          <p:cNvPr id="112" name="Número escalar de 10 confrontos"/>
          <p:cNvSpPr txBox="1"/>
          <p:nvPr/>
        </p:nvSpPr>
        <p:spPr>
          <a:xfrm>
            <a:off x="10721340" y="4434840"/>
            <a:ext cx="2103120" cy="141732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10000" b="1" i="0" u="none" strike="noStrike" kern="1200" cap="none" spc="0" baseline="0">
                <a:solidFill>
                  <a:srgbClr val="C8540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10</a:t>
            </a:r>
          </a:p>
        </p:txBody>
      </p:sp>
      <p:sp>
        <p:nvSpPr>
          <p:cNvPr id="113" name="Legenda escalar de 10 confrontos"/>
          <p:cNvSpPr txBox="1"/>
          <p:nvPr/>
        </p:nvSpPr>
        <p:spPr>
          <a:xfrm>
            <a:off x="12915900" y="4709160"/>
            <a:ext cx="4023360" cy="9144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de 10 confrontos</a:t>
            </a:r>
          </a:p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equilibrados</a:t>
            </a:r>
          </a:p>
        </p:txBody>
      </p:sp>
      <p:sp>
        <p:nvSpPr>
          <p:cNvPr id="114" name="Número escalar de 21 testes"/>
          <p:cNvSpPr txBox="1"/>
          <p:nvPr/>
        </p:nvSpPr>
        <p:spPr>
          <a:xfrm>
            <a:off x="10721340" y="6035040"/>
            <a:ext cx="2103120" cy="141732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10000" b="1" i="0" u="none" strike="noStrike" kern="1200" cap="none" spc="0" baseline="0">
                <a:solidFill>
                  <a:srgbClr val="685B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7</a:t>
            </a:r>
          </a:p>
        </p:txBody>
      </p:sp>
      <p:sp>
        <p:nvSpPr>
          <p:cNvPr id="115" name="Legenda escalar de 21 testes"/>
          <p:cNvSpPr txBox="1"/>
          <p:nvPr/>
        </p:nvSpPr>
        <p:spPr>
          <a:xfrm>
            <a:off x="12915900" y="6309360"/>
            <a:ext cx="4023360" cy="9144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de 21 testes</a:t>
            </a:r>
          </a:p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de identidade</a:t>
            </a:r>
          </a:p>
        </p:txBody>
      </p:sp>
      <p:cxnSp>
        <p:nvCxnSpPr>
          <p:cNvPr id="116" name="Seta"/>
          <p:cNvCxnSpPr/>
          <p:nvPr/>
        </p:nvCxnSpPr>
        <p:spPr>
          <a:xfrm>
            <a:off x="8366760" y="5440680"/>
            <a:ext cx="1554480" cy="0"/>
          </a:xfrm>
          <a:prstGeom prst="line">
            <a:avLst/>
          </a:prstGeom>
          <a:ln w="57150">
            <a:solidFill>
              <a:srgbClr val="1B2740"/>
            </a:solidFill>
            <a:tailEnd type="triangle" w="med" len="med"/>
          </a:ln>
        </p:spPr>
      </p:cxnSp>
      <p:sp>
        <p:nvSpPr>
          <p:cNvPr id="117" name="Nota"/>
          <p:cNvSpPr txBox="1"/>
          <p:nvPr/>
        </p:nvSpPr>
        <p:spPr>
          <a:xfrm>
            <a:off x="1028700" y="8092440"/>
            <a:ext cx="1623060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Confronto equilibrado: taxa de vitória entre 40% e 60%</a:t>
            </a:r>
          </a:p>
        </p:txBody>
      </p:sp>
      <p:sp>
        <p:nvSpPr>
          <p:cNvPr id="118" name="Nota teste"/>
          <p:cNvSpPr txBox="1"/>
          <p:nvPr/>
        </p:nvSpPr>
        <p:spPr>
          <a:xfrm>
            <a:off x="1028700" y="8641080"/>
            <a:ext cx="1623060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Teste de identidade: por exemplo, o rushdown ser o mais rápido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8"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2C638BA-649E-4656-7F78-4647855D84C0}"/>
              </a:ext>
            </a:extLst>
          </p:cNvPr>
          <p:cNvSpPr txBox="1"/>
          <p:nvPr/>
        </p:nvSpPr>
        <p:spPr>
          <a:xfrm>
            <a:off x="1028700" y="371475"/>
            <a:ext cx="14097000" cy="6572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399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 Medium"/>
                <a:ea typeface="Montserrat Medium"/>
                <a:cs typeface="Montserrat Medium"/>
              </a:rPr>
              <a:t>Resultados</a:t>
            </a:r>
            <a:endParaRPr lang="en-US" sz="4399" b="1" i="0" u="none" strike="noStrike" kern="1200" cap="none" spc="0" baseline="0" dirty="0">
              <a:solidFill>
                <a:srgbClr val="FFFFFF"/>
              </a:solidFill>
              <a:uFillTx/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0" name="Afirmação"/>
          <p:cNvSpPr txBox="1"/>
          <p:nvPr/>
        </p:nvSpPr>
        <p:spPr>
          <a:xfrm>
            <a:off x="1028700" y="1581150"/>
            <a:ext cx="16230600" cy="1219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fronteira mostra o preço de cada grau de equilíbrio</a:t>
            </a:r>
          </a:p>
        </p:txBody>
      </p:sp>
      <p:pic>
        <p:nvPicPr>
          <p:cNvPr id="11" name="Fronteira de Pareto" descr="pareto_fron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2788920"/>
            <a:ext cx="9418320" cy="6583680"/>
          </a:xfrm>
          <a:prstGeom prst="rect">
            <a:avLst/>
          </a:prstGeom>
        </p:spPr>
      </p:pic>
      <p:sp>
        <p:nvSpPr>
          <p:cNvPr id="101" name="Cor equilíbrio"/>
          <p:cNvSpPr/>
          <p:nvPr/>
        </p:nvSpPr>
        <p:spPr>
          <a:xfrm>
            <a:off x="10561320" y="2990088"/>
            <a:ext cx="274320" cy="274320"/>
          </a:xfrm>
          <a:prstGeom prst="rect">
            <a:avLst/>
          </a:prstGeom>
          <a:solidFill>
            <a:srgbClr val="C854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Legenda equilíbrio"/>
          <p:cNvSpPr txBox="1"/>
          <p:nvPr/>
        </p:nvSpPr>
        <p:spPr>
          <a:xfrm>
            <a:off x="11018520" y="2880360"/>
            <a:ext cx="626364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confrontos equilibrados</a:t>
            </a:r>
          </a:p>
        </p:txBody>
      </p:sp>
      <p:sp>
        <p:nvSpPr>
          <p:cNvPr id="103" name="Cor identidade"/>
          <p:cNvSpPr/>
          <p:nvPr/>
        </p:nvSpPr>
        <p:spPr>
          <a:xfrm>
            <a:off x="10561320" y="3493008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Legenda identidade"/>
          <p:cNvSpPr txBox="1"/>
          <p:nvPr/>
        </p:nvSpPr>
        <p:spPr>
          <a:xfrm>
            <a:off x="11018520" y="3383280"/>
            <a:ext cx="626364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testes de identidade</a:t>
            </a:r>
          </a:p>
        </p:txBody>
      </p:sp>
      <p:sp>
        <p:nvSpPr>
          <p:cNvPr id="105" name="Linha Canônico"/>
          <p:cNvSpPr/>
          <p:nvPr/>
        </p:nvSpPr>
        <p:spPr>
          <a:xfrm>
            <a:off x="10561320" y="4434840"/>
            <a:ext cx="6697980" cy="1188720"/>
          </a:xfrm>
          <a:prstGeom prst="roundRect">
            <a:avLst>
              <a:gd name="adj" fmla="val 12000"/>
            </a:avLst>
          </a:prstGeom>
          <a:solidFill>
            <a:srgbClr val="F4F4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Marcador Canônico"/>
          <p:cNvSpPr/>
          <p:nvPr/>
        </p:nvSpPr>
        <p:spPr>
          <a:xfrm>
            <a:off x="10835640" y="4846320"/>
            <a:ext cx="365760" cy="365760"/>
          </a:xfrm>
          <a:prstGeom prst="ellipse">
            <a:avLst/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Rótulo Canônico"/>
          <p:cNvSpPr txBox="1"/>
          <p:nvPr/>
        </p:nvSpPr>
        <p:spPr>
          <a:xfrm>
            <a:off x="11384280" y="4434840"/>
            <a:ext cx="2926080" cy="118872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Canônico</a:t>
            </a:r>
          </a:p>
        </p:txBody>
      </p:sp>
      <p:sp>
        <p:nvSpPr>
          <p:cNvPr id="108" name="Equilíbrio Canônico"/>
          <p:cNvSpPr txBox="1"/>
          <p:nvPr/>
        </p:nvSpPr>
        <p:spPr>
          <a:xfrm>
            <a:off x="14310360" y="4434840"/>
            <a:ext cx="1280160" cy="118872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4800" b="1" i="0" u="none" strike="noStrike" kern="1200" cap="none" spc="0" baseline="0">
                <a:solidFill>
                  <a:srgbClr val="C8540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0</a:t>
            </a:r>
          </a:p>
        </p:txBody>
      </p:sp>
      <p:sp>
        <p:nvSpPr>
          <p:cNvPr id="109" name="Identidade Canônico"/>
          <p:cNvSpPr txBox="1"/>
          <p:nvPr/>
        </p:nvSpPr>
        <p:spPr>
          <a:xfrm>
            <a:off x="15681960" y="4434840"/>
            <a:ext cx="1463040" cy="118872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4800" b="1" i="0" u="none" strike="noStrike" kern="1200" cap="none" spc="0" baseline="0">
                <a:solidFill>
                  <a:srgbClr val="685B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21</a:t>
            </a:r>
          </a:p>
        </p:txBody>
      </p:sp>
      <p:sp>
        <p:nvSpPr>
          <p:cNvPr id="110" name="Linha Joelho"/>
          <p:cNvSpPr/>
          <p:nvPr/>
        </p:nvSpPr>
        <p:spPr>
          <a:xfrm>
            <a:off x="10561320" y="5760720"/>
            <a:ext cx="6697980" cy="1188720"/>
          </a:xfrm>
          <a:prstGeom prst="roundRect">
            <a:avLst>
              <a:gd name="adj" fmla="val 12000"/>
            </a:avLst>
          </a:prstGeom>
          <a:solidFill>
            <a:srgbClr val="EFEDFA"/>
          </a:solidFill>
          <a:ln w="38100">
            <a:solidFill>
              <a:srgbClr val="685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Marcador Joelho"/>
          <p:cNvSpPr/>
          <p:nvPr/>
        </p:nvSpPr>
        <p:spPr>
          <a:xfrm>
            <a:off x="10835640" y="6172200"/>
            <a:ext cx="365760" cy="365760"/>
          </a:xfrm>
          <a:prstGeom prst="triangle">
            <a:avLst/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Rótulo Joelho"/>
          <p:cNvSpPr txBox="1"/>
          <p:nvPr/>
        </p:nvSpPr>
        <p:spPr>
          <a:xfrm>
            <a:off x="11384280" y="5760720"/>
            <a:ext cx="2926080" cy="118872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Joelho</a:t>
            </a:r>
          </a:p>
        </p:txBody>
      </p:sp>
      <p:sp>
        <p:nvSpPr>
          <p:cNvPr id="113" name="Equilíbrio Joelho"/>
          <p:cNvSpPr txBox="1"/>
          <p:nvPr/>
        </p:nvSpPr>
        <p:spPr>
          <a:xfrm>
            <a:off x="14310360" y="5760720"/>
            <a:ext cx="1280160" cy="118872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4800" b="1" i="0" u="none" strike="noStrike" kern="1200" cap="none" spc="0" baseline="0">
                <a:solidFill>
                  <a:srgbClr val="C8540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2</a:t>
            </a:r>
          </a:p>
        </p:txBody>
      </p:sp>
      <p:sp>
        <p:nvSpPr>
          <p:cNvPr id="114" name="Identidade Joelho"/>
          <p:cNvSpPr txBox="1"/>
          <p:nvPr/>
        </p:nvSpPr>
        <p:spPr>
          <a:xfrm>
            <a:off x="15681960" y="5760720"/>
            <a:ext cx="1463040" cy="118872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4800" b="1" i="0" u="none" strike="noStrike" kern="1200" cap="none" spc="0" baseline="0">
                <a:solidFill>
                  <a:srgbClr val="685B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20</a:t>
            </a:r>
          </a:p>
        </p:txBody>
      </p:sp>
      <p:sp>
        <p:nvSpPr>
          <p:cNvPr id="115" name="Linha Mais equilibrado"/>
          <p:cNvSpPr/>
          <p:nvPr/>
        </p:nvSpPr>
        <p:spPr>
          <a:xfrm>
            <a:off x="10561320" y="7086600"/>
            <a:ext cx="6697980" cy="1188720"/>
          </a:xfrm>
          <a:prstGeom prst="roundRect">
            <a:avLst>
              <a:gd name="adj" fmla="val 12000"/>
            </a:avLst>
          </a:prstGeom>
          <a:solidFill>
            <a:srgbClr val="F4F4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Marcador Mais equilibrado"/>
          <p:cNvSpPr/>
          <p:nvPr/>
        </p:nvSpPr>
        <p:spPr>
          <a:xfrm>
            <a:off x="10835640" y="7498080"/>
            <a:ext cx="365760" cy="365760"/>
          </a:xfrm>
          <a:prstGeom prst="rect">
            <a:avLst/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Rótulo Mais equilibrado"/>
          <p:cNvSpPr txBox="1"/>
          <p:nvPr/>
        </p:nvSpPr>
        <p:spPr>
          <a:xfrm>
            <a:off x="11384280" y="7086600"/>
            <a:ext cx="2926080" cy="118872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Mais equilibrado</a:t>
            </a:r>
          </a:p>
        </p:txBody>
      </p:sp>
      <p:sp>
        <p:nvSpPr>
          <p:cNvPr id="118" name="Equilíbrio Mais equilibrado"/>
          <p:cNvSpPr txBox="1"/>
          <p:nvPr/>
        </p:nvSpPr>
        <p:spPr>
          <a:xfrm>
            <a:off x="14310360" y="7086600"/>
            <a:ext cx="1280160" cy="118872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4800" b="1" i="0" u="none" strike="noStrike" kern="1200" cap="none" spc="0" baseline="0">
                <a:solidFill>
                  <a:srgbClr val="C8540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9</a:t>
            </a:r>
          </a:p>
        </p:txBody>
      </p:sp>
      <p:sp>
        <p:nvSpPr>
          <p:cNvPr id="119" name="Identidade Mais equilibrado"/>
          <p:cNvSpPr txBox="1"/>
          <p:nvPr/>
        </p:nvSpPr>
        <p:spPr>
          <a:xfrm>
            <a:off x="15681960" y="7086600"/>
            <a:ext cx="1463040" cy="118872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4800" b="1" i="0" u="none" strike="noStrike" kern="1200" cap="none" spc="0" baseline="0">
                <a:solidFill>
                  <a:srgbClr val="685B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13</a:t>
            </a:r>
          </a:p>
        </p:txBody>
      </p:sp>
      <p:sp>
        <p:nvSpPr>
          <p:cNvPr id="120" name="Denominador equilíbrio"/>
          <p:cNvSpPr txBox="1"/>
          <p:nvPr/>
        </p:nvSpPr>
        <p:spPr>
          <a:xfrm>
            <a:off x="14310360" y="3931920"/>
            <a:ext cx="128016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pt-BR" sz="2800" b="1" i="0" u="none" strike="noStrike" kern="1200" cap="none" spc="0" baseline="0">
                <a:solidFill>
                  <a:srgbClr val="C8540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de 10</a:t>
            </a:r>
          </a:p>
        </p:txBody>
      </p:sp>
      <p:sp>
        <p:nvSpPr>
          <p:cNvPr id="121" name="Denominador identidade"/>
          <p:cNvSpPr txBox="1"/>
          <p:nvPr/>
        </p:nvSpPr>
        <p:spPr>
          <a:xfrm>
            <a:off x="15681960" y="3931920"/>
            <a:ext cx="146304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pt-BR" sz="2800" b="1" i="0" u="none" strike="noStrike" kern="1200" cap="none" spc="0" baseline="0">
                <a:solidFill>
                  <a:srgbClr val="685B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de 21</a:t>
            </a:r>
          </a:p>
        </p:txBody>
      </p:sp>
      <p:sp>
        <p:nvSpPr>
          <p:cNvPr id="122" name="Nota"/>
          <p:cNvSpPr txBox="1"/>
          <p:nvPr/>
        </p:nvSpPr>
        <p:spPr>
          <a:xfrm>
            <a:off x="10561320" y="8458200"/>
            <a:ext cx="6720840" cy="9144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1" i="0" u="none" strike="noStrike" kern="1200" cap="none" spc="0" baseline="0">
                <a:solidFill>
                  <a:srgbClr val="685B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Validado em 10 execuções e em sorteios novos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8"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2C638BA-649E-4656-7F78-4647855D84C0}"/>
              </a:ext>
            </a:extLst>
          </p:cNvPr>
          <p:cNvSpPr txBox="1"/>
          <p:nvPr/>
        </p:nvSpPr>
        <p:spPr>
          <a:xfrm>
            <a:off x="1028700" y="371475"/>
            <a:ext cx="14097000" cy="6572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399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 Medium"/>
                <a:ea typeface="Montserrat Medium"/>
                <a:cs typeface="Montserrat Medium"/>
              </a:rPr>
              <a:t>Reserva: robustez</a:t>
            </a:r>
            <a:endParaRPr lang="en-US" sz="4399" b="1" i="0" u="none" strike="noStrike" kern="1200" cap="none" spc="0" baseline="0" dirty="0">
              <a:solidFill>
                <a:srgbClr val="FFFFFF"/>
              </a:solidFill>
              <a:uFillTx/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0" name="Afirmação"/>
          <p:cNvSpPr txBox="1"/>
          <p:nvPr/>
        </p:nvSpPr>
        <p:spPr>
          <a:xfrm>
            <a:off x="1028700" y="1581150"/>
            <a:ext cx="16230600" cy="1219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 equilíbrio se sustenta fora da busca; o ciclo não é destruído nem recuperado</a:t>
            </a:r>
          </a:p>
        </p:txBody>
      </p:sp>
      <p:sp>
        <p:nvSpPr>
          <p:cNvPr id="11" name="10 Execuções Independentes"/>
          <p:cNvSpPr/>
          <p:nvPr/>
        </p:nvSpPr>
        <p:spPr>
          <a:xfrm>
            <a:off x="1028700" y="3657600"/>
            <a:ext cx="5105400" cy="4000500"/>
          </a:xfrm>
          <a:prstGeom prst="roundRect">
            <a:avLst>
              <a:gd name="adj" fmla="val 5714"/>
            </a:avLst>
          </a:prstGeom>
          <a:solidFill>
            <a:srgbClr val="F4F4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9700" y="4000500"/>
            <a:ext cx="4343400" cy="3238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1900" b="1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 EXECUÇÕES INDEPENDENTES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9700" y="4533900"/>
            <a:ext cx="4343400" cy="12382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7400" b="1" i="0" u="none" strike="noStrike" kern="1200" cap="none" spc="0" baseline="0">
                <a:solidFill>
                  <a:srgbClr val="C8540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90–100%</a:t>
            </a:r>
            <a:r>
              <a:rPr lang="pt-BR" sz="34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9700" y="6019800"/>
            <a:ext cx="4343400" cy="12573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6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 execuções equilibradas, por personagem</a:t>
            </a:r>
          </a:p>
        </p:txBody>
      </p:sp>
      <p:sp>
        <p:nvSpPr>
          <p:cNvPr id="15" name="10 Sementes Novas"/>
          <p:cNvSpPr/>
          <p:nvPr/>
        </p:nvSpPr>
        <p:spPr>
          <a:xfrm>
            <a:off x="6591300" y="3657600"/>
            <a:ext cx="5105400" cy="4000500"/>
          </a:xfrm>
          <a:prstGeom prst="roundRect">
            <a:avLst>
              <a:gd name="adj" fmla="val 5714"/>
            </a:avLst>
          </a:prstGeom>
          <a:solidFill>
            <a:srgbClr val="F4F4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72300" y="4000500"/>
            <a:ext cx="4343400" cy="3238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1900" b="1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 SEMENTES NOVAS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2300" y="4533900"/>
            <a:ext cx="4343400" cy="12382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7400" b="1" i="0" u="none" strike="noStrike" kern="1200" cap="none" spc="0" baseline="0">
                <a:solidFill>
                  <a:srgbClr val="C8540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9</a:t>
            </a:r>
            <a:r>
              <a:rPr lang="pt-BR" sz="34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de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2300" y="6019800"/>
            <a:ext cx="4343400" cy="12573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6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confrontos seguem equilibrados</a:t>
            </a:r>
          </a:p>
        </p:txBody>
      </p:sp>
      <p:sp>
        <p:nvSpPr>
          <p:cNvPr id="19" name="Ciclo De Vantagens"/>
          <p:cNvSpPr/>
          <p:nvPr/>
        </p:nvSpPr>
        <p:spPr>
          <a:xfrm>
            <a:off x="12153900" y="3657600"/>
            <a:ext cx="5105400" cy="4000500"/>
          </a:xfrm>
          <a:prstGeom prst="roundRect">
            <a:avLst>
              <a:gd name="adj" fmla="val 5714"/>
            </a:avLst>
          </a:prstGeom>
          <a:solidFill>
            <a:srgbClr val="F4F4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534900" y="4000500"/>
            <a:ext cx="4343400" cy="3238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1900" b="1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CICLO DE VANTAGENS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34900" y="4533900"/>
            <a:ext cx="4343400" cy="12382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7400" b="1" i="0" u="none" strike="noStrike" kern="1200" cap="none" spc="0" baseline="0">
                <a:solidFill>
                  <a:srgbClr val="685B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 a 6</a:t>
            </a:r>
            <a:r>
              <a:rPr lang="pt-BR" sz="34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de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34900" y="6019800"/>
            <a:ext cx="4343400" cy="12573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6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relações de quem vence quem se mantêm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8"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2C638BA-649E-4656-7F78-4647855D84C0}"/>
              </a:ext>
            </a:extLst>
          </p:cNvPr>
          <p:cNvSpPr txBox="1"/>
          <p:nvPr/>
        </p:nvSpPr>
        <p:spPr>
          <a:xfrm>
            <a:off x="1028700" y="371475"/>
            <a:ext cx="14097000" cy="6572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399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 Medium"/>
                <a:ea typeface="Montserrat Medium"/>
                <a:cs typeface="Montserrat Medium"/>
              </a:rPr>
              <a:t>Conclusão</a:t>
            </a:r>
            <a:endParaRPr lang="en-US" sz="4399" b="1" i="0" u="none" strike="noStrike" kern="1200" cap="none" spc="0" baseline="0" dirty="0">
              <a:solidFill>
                <a:srgbClr val="FFFFFF"/>
              </a:solidFill>
              <a:uFillTx/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01" name="Afirmação"/>
          <p:cNvSpPr txBox="1"/>
          <p:nvPr/>
        </p:nvSpPr>
        <p:spPr>
          <a:xfrm>
            <a:off x="1028700" y="1580998"/>
            <a:ext cx="16230600" cy="1218895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Sim, é possível equilibrar, mas a um custo mensurável</a:t>
            </a:r>
          </a:p>
        </p:txBody>
      </p:sp>
      <p:sp>
        <p:nvSpPr>
          <p:cNvPr id="102" name="Resumo"/>
          <p:cNvSpPr/>
          <p:nvPr/>
        </p:nvSpPr>
        <p:spPr>
          <a:xfrm>
            <a:off x="1028700" y="3108960"/>
            <a:ext cx="9509760" cy="5486400"/>
          </a:xfrm>
          <a:prstGeom prst="roundRect">
            <a:avLst>
              <a:gd name="adj" fmla="val 5000"/>
            </a:avLst>
          </a:prstGeom>
          <a:solidFill>
            <a:srgbClr val="F4F4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Resumo rótulo"/>
          <p:cNvSpPr txBox="1"/>
          <p:nvPr/>
        </p:nvSpPr>
        <p:spPr>
          <a:xfrm>
            <a:off x="1463040" y="3429000"/>
            <a:ext cx="868680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1" i="0" u="none" strike="noStrike" kern="1200" cap="none" spc="0" baseline="0">
                <a:solidFill>
                  <a:srgbClr val="685B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TESTES DE IDENTIDADE PRESERVADOS</a:t>
            </a:r>
          </a:p>
        </p:txBody>
      </p:sp>
      <p:sp>
        <p:nvSpPr>
          <p:cNvPr id="104" name="Tudo número"/>
          <p:cNvSpPr txBox="1"/>
          <p:nvPr/>
        </p:nvSpPr>
        <p:spPr>
          <a:xfrm>
            <a:off x="1463040" y="3977640"/>
            <a:ext cx="4297680" cy="13716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10000" b="1" i="0" u="none" strike="noStrike" kern="1200" cap="none" spc="0" baseline="0">
                <a:solidFill>
                  <a:srgbClr val="C8540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7</a:t>
            </a:r>
            <a:r>
              <a:rPr lang="pt-BR" sz="4400" b="1" i="0" u="none" strike="noStrike" kern="1200" cap="none" spc="0" baseline="0">
                <a:solidFill>
                  <a:srgbClr val="C8540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 de 21</a:t>
            </a:r>
          </a:p>
        </p:txBody>
      </p:sp>
      <p:sp>
        <p:nvSpPr>
          <p:cNvPr id="105" name="Tudo legenda"/>
          <p:cNvSpPr txBox="1"/>
          <p:nvPr/>
        </p:nvSpPr>
        <p:spPr>
          <a:xfrm>
            <a:off x="1463040" y="5394960"/>
            <a:ext cx="429768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no equilíbrio total</a:t>
            </a:r>
          </a:p>
        </p:txBody>
      </p:sp>
      <p:sp>
        <p:nvSpPr>
          <p:cNvPr id="106" name="Joelho número"/>
          <p:cNvSpPr txBox="1"/>
          <p:nvPr/>
        </p:nvSpPr>
        <p:spPr>
          <a:xfrm>
            <a:off x="5989320" y="3977640"/>
            <a:ext cx="4389120" cy="13716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10000" b="1" i="0" u="none" strike="noStrike" kern="1200" cap="none" spc="0" baseline="0">
                <a:solidFill>
                  <a:srgbClr val="685B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20</a:t>
            </a:r>
            <a:r>
              <a:rPr lang="pt-BR" sz="4400" b="1" i="0" u="none" strike="noStrike" kern="1200" cap="none" spc="0" baseline="0">
                <a:solidFill>
                  <a:srgbClr val="685B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 de 21</a:t>
            </a:r>
          </a:p>
        </p:txBody>
      </p:sp>
      <p:sp>
        <p:nvSpPr>
          <p:cNvPr id="107" name="Joelho legenda"/>
          <p:cNvSpPr txBox="1"/>
          <p:nvPr/>
        </p:nvSpPr>
        <p:spPr>
          <a:xfrm>
            <a:off x="5989320" y="5394960"/>
            <a:ext cx="438912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no joelho da curva</a:t>
            </a:r>
          </a:p>
        </p:txBody>
      </p:sp>
      <p:cxnSp>
        <p:nvCxnSpPr>
          <p:cNvPr id="108" name="Divisor"/>
          <p:cNvCxnSpPr/>
          <p:nvPr/>
        </p:nvCxnSpPr>
        <p:spPr>
          <a:xfrm>
            <a:off x="1463040" y="6172200"/>
            <a:ext cx="8641080" cy="0"/>
          </a:xfrm>
          <a:prstGeom prst="line">
            <a:avLst/>
          </a:prstGeom>
          <a:ln w="19050">
            <a:solidFill>
              <a:srgbClr val="C9CCD8"/>
            </a:solidFill>
          </a:ln>
        </p:spPr>
      </p:cxnSp>
      <p:sp>
        <p:nvSpPr>
          <p:cNvPr id="109" name="Próximo passo"/>
          <p:cNvSpPr txBox="1"/>
          <p:nvPr/>
        </p:nvSpPr>
        <p:spPr>
          <a:xfrm>
            <a:off x="1463040" y="6355080"/>
            <a:ext cx="8686800" cy="9144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Próximo passo: </a:t>
            </a: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um adversário que também se adapta</a:t>
            </a:r>
          </a:p>
        </p:txBody>
      </p:sp>
      <p:sp>
        <p:nvSpPr>
          <p:cNvPr id="110" name="Ressalva"/>
          <p:cNvSpPr txBox="1"/>
          <p:nvPr/>
        </p:nvSpPr>
        <p:spPr>
          <a:xfrm>
            <a:off x="1463040" y="7452360"/>
            <a:ext cx="868680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Resultado preliminar, em um modelo simplificado</a:t>
            </a:r>
          </a:p>
        </p:txBody>
      </p:sp>
      <p:sp>
        <p:nvSpPr>
          <p:cNvPr id="111" name="Convite"/>
          <p:cNvSpPr/>
          <p:nvPr/>
        </p:nvSpPr>
        <p:spPr>
          <a:xfrm>
            <a:off x="10927080" y="3108960"/>
            <a:ext cx="6332220" cy="5486400"/>
          </a:xfrm>
          <a:prstGeom prst="roundRect">
            <a:avLst>
              <a:gd name="adj" fmla="val 5000"/>
            </a:avLst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Convite título"/>
          <p:cNvSpPr txBox="1"/>
          <p:nvPr/>
        </p:nvSpPr>
        <p:spPr>
          <a:xfrm>
            <a:off x="11247120" y="3429000"/>
            <a:ext cx="5692140" cy="54864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pt-BR" sz="3200" b="1" i="0" u="none" strike="noStrike" kern="1200" cap="none" spc="0" baseline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Código aberto</a:t>
            </a:r>
          </a:p>
        </p:txBody>
      </p:sp>
      <p:sp>
        <p:nvSpPr>
          <p:cNvPr id="113" name="Fundo QR"/>
          <p:cNvSpPr/>
          <p:nvPr/>
        </p:nvSpPr>
        <p:spPr>
          <a:xfrm>
            <a:off x="12810744" y="4114800"/>
            <a:ext cx="256032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4" name="QR GitHub" descr="QR code para github.com/M-Gimenes/Simulati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02184" y="4206240"/>
            <a:ext cx="2377440" cy="2377440"/>
          </a:xfrm>
          <a:prstGeom prst="rect">
            <a:avLst/>
          </a:prstGeom>
        </p:spPr>
      </p:pic>
      <p:sp>
        <p:nvSpPr>
          <p:cNvPr id="115" name="Link"/>
          <p:cNvSpPr txBox="1"/>
          <p:nvPr/>
        </p:nvSpPr>
        <p:spPr>
          <a:xfrm>
            <a:off x="11247120" y="6858000"/>
            <a:ext cx="5692140" cy="96012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pt-BR" sz="2800" b="1" i="0" u="none" strike="noStrike" kern="1200" cap="none" spc="0" baseline="0">
                <a:solidFill>
                  <a:srgbClr val="BDB6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github.com/</a:t>
            </a:r>
          </a:p>
          <a:p>
            <a:pPr marL="0" indent="0" algn="ctr">
              <a:buNone/>
            </a:pPr>
            <a:r>
              <a:rPr lang="pt-BR" sz="2800" b="1" i="0" u="none" strike="noStrike" kern="1200" cap="none" spc="0" baseline="0">
                <a:solidFill>
                  <a:srgbClr val="BDB6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M-Gimenes/Simulation</a:t>
            </a:r>
          </a:p>
        </p:txBody>
      </p:sp>
      <p:sp>
        <p:nvSpPr>
          <p:cNvPr id="116" name="Situação"/>
          <p:cNvSpPr txBox="1"/>
          <p:nvPr/>
        </p:nvSpPr>
        <p:spPr>
          <a:xfrm>
            <a:off x="11247120" y="7909560"/>
            <a:ext cx="569214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pt-BR" sz="2800" b="0" i="0" u="none" strike="noStrike" kern="1200" cap="none" spc="0" baseline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em desenvolvimento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E598E0F-0F42-416A-3C32-0A90EA331159}"/>
              </a:ext>
            </a:extLst>
          </p:cNvPr>
          <p:cNvSpPr/>
          <p:nvPr/>
        </p:nvSpPr>
        <p:spPr>
          <a:xfrm>
            <a:off x="0" y="6643682"/>
            <a:ext cx="18288000" cy="3643317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3643313"/>
              <a:gd name="f5" fmla="*/ f0 1 18288000"/>
              <a:gd name="f6" fmla="*/ f1 1 3643313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3643313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3643313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7F20014-BC70-0529-4FF8-2E12EF9FCDC5}"/>
              </a:ext>
            </a:extLst>
          </p:cNvPr>
          <p:cNvSpPr/>
          <p:nvPr/>
        </p:nvSpPr>
        <p:spPr>
          <a:xfrm>
            <a:off x="0" y="4286249"/>
            <a:ext cx="2616400" cy="6000749"/>
          </a:xfrm>
          <a:custGeom>
            <a:avLst/>
            <a:gdLst>
              <a:gd name="f0" fmla="val w"/>
              <a:gd name="f1" fmla="val h"/>
              <a:gd name="f2" fmla="val 0"/>
              <a:gd name="f3" fmla="val 2616398"/>
              <a:gd name="f4" fmla="val 6000750"/>
              <a:gd name="f5" fmla="*/ f0 1 2616398"/>
              <a:gd name="f6" fmla="*/ f1 1 600075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2616398"/>
              <a:gd name="f13" fmla="*/ f10 1 600075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2616398" h="600075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DD04122-BF63-DF12-1A53-F45C3AFFC512}"/>
              </a:ext>
            </a:extLst>
          </p:cNvPr>
          <p:cNvSpPr/>
          <p:nvPr/>
        </p:nvSpPr>
        <p:spPr>
          <a:xfrm>
            <a:off x="0" y="8139412"/>
            <a:ext cx="1308195" cy="2147587"/>
          </a:xfrm>
          <a:custGeom>
            <a:avLst/>
            <a:gdLst>
              <a:gd name="f0" fmla="val w"/>
              <a:gd name="f1" fmla="val h"/>
              <a:gd name="f2" fmla="val 0"/>
              <a:gd name="f3" fmla="val 1308199"/>
              <a:gd name="f4" fmla="val 2147590"/>
              <a:gd name="f5" fmla="*/ f0 1 1308199"/>
              <a:gd name="f6" fmla="*/ f1 1 214759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308199"/>
              <a:gd name="f13" fmla="*/ f10 1 214759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308199" h="214759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D394F5A-996C-2225-21CD-3997E402C759}"/>
              </a:ext>
            </a:extLst>
          </p:cNvPr>
          <p:cNvSpPr/>
          <p:nvPr/>
        </p:nvSpPr>
        <p:spPr>
          <a:xfrm>
            <a:off x="0" y="0"/>
            <a:ext cx="4138912" cy="3214682"/>
          </a:xfrm>
          <a:custGeom>
            <a:avLst/>
            <a:gdLst>
              <a:gd name="f0" fmla="val w"/>
              <a:gd name="f1" fmla="val h"/>
              <a:gd name="f2" fmla="val 0"/>
              <a:gd name="f3" fmla="val 4138910"/>
              <a:gd name="f4" fmla="val 3214687"/>
              <a:gd name="f5" fmla="*/ f0 1 4138910"/>
              <a:gd name="f6" fmla="*/ f1 1 321468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138910"/>
              <a:gd name="f13" fmla="*/ f10 1 321468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138910" h="321468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5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DF31BC5-25CA-B1AB-7310-9798220F7508}"/>
              </a:ext>
            </a:extLst>
          </p:cNvPr>
          <p:cNvSpPr/>
          <p:nvPr/>
        </p:nvSpPr>
        <p:spPr>
          <a:xfrm>
            <a:off x="10941573" y="0"/>
            <a:ext cx="7346426" cy="7719712"/>
          </a:xfrm>
          <a:custGeom>
            <a:avLst/>
            <a:gdLst>
              <a:gd name="f0" fmla="val w"/>
              <a:gd name="f1" fmla="val h"/>
              <a:gd name="f2" fmla="val 0"/>
              <a:gd name="f3" fmla="val 7346430"/>
              <a:gd name="f4" fmla="val 7719715"/>
              <a:gd name="f5" fmla="*/ f0 1 7346430"/>
              <a:gd name="f6" fmla="*/ f1 1 7719715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7346430"/>
              <a:gd name="f13" fmla="*/ f10 1 7719715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7346430" h="7719715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6">
              <a:alphaModFix amt="47000"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E21C130-C475-51B4-6616-60E4D88BA641}"/>
              </a:ext>
            </a:extLst>
          </p:cNvPr>
          <p:cNvSpPr/>
          <p:nvPr/>
        </p:nvSpPr>
        <p:spPr>
          <a:xfrm>
            <a:off x="14720221" y="7438863"/>
            <a:ext cx="3567778" cy="3214692"/>
          </a:xfrm>
          <a:custGeom>
            <a:avLst/>
            <a:gdLst>
              <a:gd name="f0" fmla="val w"/>
              <a:gd name="f1" fmla="val h"/>
              <a:gd name="f2" fmla="val 0"/>
              <a:gd name="f3" fmla="val 3567774"/>
              <a:gd name="f4" fmla="val 3214688"/>
              <a:gd name="f5" fmla="val 3214687"/>
              <a:gd name="f6" fmla="*/ f0 1 3567774"/>
              <a:gd name="f7" fmla="*/ f1 1 3214688"/>
              <a:gd name="f8" fmla="val f2"/>
              <a:gd name="f9" fmla="val f3"/>
              <a:gd name="f10" fmla="val f4"/>
              <a:gd name="f11" fmla="+- f10 0 f8"/>
              <a:gd name="f12" fmla="+- f9 0 f8"/>
              <a:gd name="f13" fmla="*/ f12 1 3567774"/>
              <a:gd name="f14" fmla="*/ f11 1 3214688"/>
              <a:gd name="f15" fmla="*/ f8 1 f13"/>
              <a:gd name="f16" fmla="*/ f9 1 f13"/>
              <a:gd name="f17" fmla="*/ f8 1 f14"/>
              <a:gd name="f18" fmla="*/ f10 1 f14"/>
              <a:gd name="f19" fmla="*/ f15 f6 1"/>
              <a:gd name="f20" fmla="*/ f16 f6 1"/>
              <a:gd name="f21" fmla="*/ f18 f7 1"/>
              <a:gd name="f22" fmla="*/ f17 f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3567774" h="3214688">
                <a:moveTo>
                  <a:pt x="f2" y="f2"/>
                </a:moveTo>
                <a:lnTo>
                  <a:pt x="f3" y="f2"/>
                </a:lnTo>
                <a:lnTo>
                  <a:pt x="f3" y="f5"/>
                </a:lnTo>
                <a:lnTo>
                  <a:pt x="f2" y="f5"/>
                </a:lnTo>
                <a:lnTo>
                  <a:pt x="f2" y="f2"/>
                </a:lnTo>
                <a:close/>
              </a:path>
            </a:pathLst>
          </a:custGeom>
          <a:blipFill>
            <a:blip r:embed="rId7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A39E1ED-82CB-9C80-5493-31BBCFCC8261}"/>
              </a:ext>
            </a:extLst>
          </p:cNvPr>
          <p:cNvSpPr/>
          <p:nvPr/>
        </p:nvSpPr>
        <p:spPr>
          <a:xfrm>
            <a:off x="4353220" y="6643682"/>
            <a:ext cx="13934779" cy="3643317"/>
          </a:xfrm>
          <a:custGeom>
            <a:avLst/>
            <a:gdLst>
              <a:gd name="f0" fmla="val w"/>
              <a:gd name="f1" fmla="val h"/>
              <a:gd name="f2" fmla="val 0"/>
              <a:gd name="f3" fmla="val 13934777"/>
              <a:gd name="f4" fmla="val 3643313"/>
              <a:gd name="f5" fmla="*/ f0 1 13934777"/>
              <a:gd name="f6" fmla="*/ f1 1 3643313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3934777"/>
              <a:gd name="f13" fmla="*/ f10 1 3643313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3934777" h="3643313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8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A17EFA50-918F-210A-24DC-E9ACAA8A6E94}"/>
              </a:ext>
            </a:extLst>
          </p:cNvPr>
          <p:cNvGrpSpPr/>
          <p:nvPr/>
        </p:nvGrpSpPr>
        <p:grpSpPr>
          <a:xfrm>
            <a:off x="4409758" y="7768650"/>
            <a:ext cx="10310462" cy="1471206"/>
            <a:chOff x="4409758" y="7768650"/>
            <a:chExt cx="10310462" cy="1471206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F76A749-C1FD-8F56-A858-EC304BBAF45C}"/>
                </a:ext>
              </a:extLst>
            </p:cNvPr>
            <p:cNvSpPr/>
            <p:nvPr/>
          </p:nvSpPr>
          <p:spPr>
            <a:xfrm>
              <a:off x="4409758" y="7775792"/>
              <a:ext cx="3527124" cy="137910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4702836"/>
                <a:gd name="f4" fmla="val 1838806"/>
                <a:gd name="f5" fmla="*/ f0 1 4702836"/>
                <a:gd name="f6" fmla="*/ f1 1 1838806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4702836"/>
                <a:gd name="f13" fmla="*/ f10 1 1838806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4702836" h="1838806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1">
                <a:alphaModFix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675D7FE-E9AD-8D5A-873D-CE9A125D9891}"/>
                </a:ext>
              </a:extLst>
            </p:cNvPr>
            <p:cNvSpPr/>
            <p:nvPr/>
          </p:nvSpPr>
          <p:spPr>
            <a:xfrm>
              <a:off x="9876798" y="7804669"/>
              <a:ext cx="4843422" cy="143518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6196575"/>
                <a:gd name="f4" fmla="val 1142971"/>
                <a:gd name="f5" fmla="val 1142972"/>
                <a:gd name="f6" fmla="*/ f0 1 6196575"/>
                <a:gd name="f7" fmla="*/ f1 1 1142971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6196575"/>
                <a:gd name="f14" fmla="*/ f11 1 1142971"/>
                <a:gd name="f15" fmla="*/ f8 1 f13"/>
                <a:gd name="f16" fmla="*/ f9 1 f13"/>
                <a:gd name="f17" fmla="*/ f8 1 f14"/>
                <a:gd name="f18" fmla="*/ f10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6196575" h="1142971">
                  <a:moveTo>
                    <a:pt x="f2" y="f2"/>
                  </a:moveTo>
                  <a:lnTo>
                    <a:pt x="f3" y="f2"/>
                  </a:lnTo>
                  <a:lnTo>
                    <a:pt x="f3" y="f5"/>
                  </a:lnTo>
                  <a:lnTo>
                    <a:pt x="f2" y="f5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0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F5E5479-0B0D-251D-3EAF-789BB7641099}"/>
                </a:ext>
              </a:extLst>
            </p:cNvPr>
            <p:cNvSpPr txBox="1"/>
            <p:nvPr/>
          </p:nvSpPr>
          <p:spPr>
            <a:xfrm>
              <a:off x="10967697" y="7768650"/>
              <a:ext cx="1098349" cy="237551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ts val="184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532" b="1" i="0" u="none" strike="noStrike" kern="1200" cap="none" spc="0" baseline="0">
                  <a:solidFill>
                    <a:srgbClr val="FFFFFF"/>
                  </a:solidFill>
                  <a:uFillTx/>
                  <a:latin typeface="Montserrat Medium"/>
                  <a:ea typeface="Montserrat Medium"/>
                  <a:cs typeface="Montserrat Medium"/>
                </a:rPr>
                <a:t>Realização:</a:t>
              </a:r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29EE4875-B510-7830-2CC2-D302B73D2862}"/>
              </a:ext>
            </a:extLst>
          </p:cNvPr>
          <p:cNvSpPr txBox="1"/>
          <p:nvPr/>
        </p:nvSpPr>
        <p:spPr>
          <a:xfrm>
            <a:off x="6456166" y="1417320"/>
            <a:ext cx="5375675" cy="89535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5999" b="1" i="0" u="none" strike="noStrike" kern="1200" cap="none" spc="0" baseline="0">
                <a:solidFill>
                  <a:srgbClr val="685BC7"/>
                </a:solidFill>
                <a:uFillTx/>
                <a:latin typeface="Montserrat Medium"/>
                <a:ea typeface="Montserrat Medium"/>
                <a:cs typeface="Montserrat Medium"/>
              </a:rPr>
              <a:t>Dúvidas?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5DFF21E-6EAC-1F0A-B612-E00C67714EE6}"/>
              </a:ext>
            </a:extLst>
          </p:cNvPr>
          <p:cNvSpPr txBox="1"/>
          <p:nvPr/>
        </p:nvSpPr>
        <p:spPr>
          <a:xfrm>
            <a:off x="4572000" y="2697480"/>
            <a:ext cx="914400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685BC7"/>
                </a:solidFill>
                <a:uFillTx/>
                <a:latin typeface="Montserrat Bold"/>
                <a:ea typeface="Montserrat Bold"/>
                <a:cs typeface="Montserrat Bold"/>
              </a:rPr>
              <a:t>contato.matheusgimenes@gmail.com</a:t>
            </a:r>
          </a:p>
        </p:txBody>
      </p:sp>
      <p:sp>
        <p:nvSpPr>
          <p:cNvPr id="101" name="Link GitHub"/>
          <p:cNvSpPr txBox="1"/>
          <p:nvPr/>
        </p:nvSpPr>
        <p:spPr>
          <a:xfrm>
            <a:off x="4572000" y="3246120"/>
            <a:ext cx="914400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pt-BR" sz="2800" b="1" i="0" u="none" strike="noStrike" kern="1200" cap="none" spc="0" baseline="0">
                <a:solidFill>
                  <a:srgbClr val="685B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github.com/M-Gimenes/Simulation</a:t>
            </a:r>
          </a:p>
        </p:txBody>
      </p:sp>
      <p:sp>
        <p:nvSpPr>
          <p:cNvPr id="102" name="Fundo QR"/>
          <p:cNvSpPr/>
          <p:nvPr/>
        </p:nvSpPr>
        <p:spPr>
          <a:xfrm>
            <a:off x="7818120" y="3840480"/>
            <a:ext cx="2651760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3" name="QR GitHub" descr="QR code para github.com/M-Gimenes/Simulati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63840" y="388620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8"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2C638BA-649E-4656-7F78-4647855D84C0}"/>
              </a:ext>
            </a:extLst>
          </p:cNvPr>
          <p:cNvSpPr txBox="1"/>
          <p:nvPr/>
        </p:nvSpPr>
        <p:spPr>
          <a:xfrm>
            <a:off x="1028700" y="371475"/>
            <a:ext cx="14097000" cy="6572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399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 Medium"/>
                <a:ea typeface="Montserrat Medium"/>
                <a:cs typeface="Montserrat Medium"/>
              </a:rPr>
              <a:t>Reserva: Tabela I</a:t>
            </a:r>
            <a:endParaRPr lang="en-US" sz="4399" b="1" i="0" u="none" strike="noStrike" kern="1200" cap="none" spc="0" baseline="0" dirty="0">
              <a:solidFill>
                <a:srgbClr val="FFFFFF"/>
              </a:solidFill>
              <a:uFillTx/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67500" y="1676400"/>
            <a:ext cx="2647950" cy="876300"/>
          </a:xfrm>
          <a:prstGeom prst="rect">
            <a:avLst/>
          </a:prstGeom>
          <a:noFill/>
        </p:spPr>
        <p:txBody>
          <a:bodyPr vert="horz" wrap="square" lIns="0" tIns="0" rIns="0" bIns="0" anchor="b" anchorCtr="0">
            <a:noAutofit/>
          </a:bodyPr>
          <a:lstStyle/>
          <a:p>
            <a:pPr marL="0" indent="0" algn="ctr">
              <a:buNone/>
            </a:pPr>
            <a:r>
              <a:rPr lang="pt-BR" sz="23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Canônico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15450" y="1676400"/>
            <a:ext cx="2647950" cy="876300"/>
          </a:xfrm>
          <a:prstGeom prst="rect">
            <a:avLst/>
          </a:prstGeom>
          <a:noFill/>
        </p:spPr>
        <p:txBody>
          <a:bodyPr vert="horz" wrap="square" lIns="0" tIns="0" rIns="0" bIns="0" anchor="b" anchorCtr="0">
            <a:noAutofit/>
          </a:bodyPr>
          <a:lstStyle/>
          <a:p>
            <a:pPr marL="0" indent="0" algn="ctr">
              <a:buNone/>
            </a:pPr>
            <a:r>
              <a:rPr lang="pt-BR" sz="23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 escalar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63400" y="1676400"/>
            <a:ext cx="2647950" cy="876300"/>
          </a:xfrm>
          <a:prstGeom prst="rect">
            <a:avLst/>
          </a:prstGeom>
          <a:noFill/>
        </p:spPr>
        <p:txBody>
          <a:bodyPr vert="horz" wrap="square" lIns="0" tIns="0" rIns="0" bIns="0" anchor="b" anchorCtr="0">
            <a:noAutofit/>
          </a:bodyPr>
          <a:lstStyle/>
          <a:p>
            <a:pPr marL="0" indent="0" algn="ctr">
              <a:buNone/>
            </a:pPr>
            <a:r>
              <a:rPr lang="pt-BR" sz="23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Joelho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11350" y="1676400"/>
            <a:ext cx="2647950" cy="876300"/>
          </a:xfrm>
          <a:prstGeom prst="rect">
            <a:avLst/>
          </a:prstGeom>
          <a:noFill/>
        </p:spPr>
        <p:txBody>
          <a:bodyPr vert="horz" wrap="square" lIns="0" tIns="0" rIns="0" bIns="0" anchor="b" anchorCtr="0">
            <a:noAutofit/>
          </a:bodyPr>
          <a:lstStyle/>
          <a:p>
            <a:pPr marL="0" indent="0" algn="ctr">
              <a:buNone/>
            </a:pPr>
            <a:r>
              <a:rPr lang="pt-BR" sz="23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Mais equilibrado</a:t>
            </a:r>
          </a:p>
        </p:txBody>
      </p:sp>
      <p:sp>
        <p:nvSpPr>
          <p:cNvPr id="14" name="Faixa 1"/>
          <p:cNvSpPr/>
          <p:nvPr/>
        </p:nvSpPr>
        <p:spPr>
          <a:xfrm>
            <a:off x="1028700" y="2686050"/>
            <a:ext cx="16230600" cy="952500"/>
          </a:xfrm>
          <a:prstGeom prst="roundRect">
            <a:avLst>
              <a:gd name="adj" fmla="val 14000"/>
            </a:avLst>
          </a:prstGeom>
          <a:solidFill>
            <a:srgbClr val="F4F4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33500" y="2686050"/>
            <a:ext cx="5334000" cy="9525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26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desbalanço</a:t>
            </a:r>
            <a:r>
              <a:rPr lang="pt-BR" sz="20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dominance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0" y="2686050"/>
            <a:ext cx="2647950" cy="9525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1,42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15450" y="2686050"/>
            <a:ext cx="2647950" cy="9525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0,01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63400" y="2686050"/>
            <a:ext cx="2647950" cy="9525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0,34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11350" y="2686050"/>
            <a:ext cx="2647950" cy="9525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0,11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3500" y="3638550"/>
            <a:ext cx="5334000" cy="9525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26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desvio</a:t>
            </a:r>
            <a:r>
              <a:rPr lang="pt-BR" sz="20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drift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0" y="3638550"/>
            <a:ext cx="2647950" cy="9525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0,00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5450" y="3638550"/>
            <a:ext cx="2647950" cy="9525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0,26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63400" y="3638550"/>
            <a:ext cx="2647950" cy="9525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0,09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11350" y="3638550"/>
            <a:ext cx="2647950" cy="9525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0,27</a:t>
            </a:r>
          </a:p>
        </p:txBody>
      </p:sp>
      <p:sp>
        <p:nvSpPr>
          <p:cNvPr id="25" name="Faixa 3"/>
          <p:cNvSpPr/>
          <p:nvPr/>
        </p:nvSpPr>
        <p:spPr>
          <a:xfrm>
            <a:off x="1028700" y="4591050"/>
            <a:ext cx="16230600" cy="952500"/>
          </a:xfrm>
          <a:prstGeom prst="roundRect">
            <a:avLst>
              <a:gd name="adj" fmla="val 14000"/>
            </a:avLst>
          </a:prstGeom>
          <a:solidFill>
            <a:srgbClr val="F4F4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33500" y="4591050"/>
            <a:ext cx="5334000" cy="9525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26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confrontos equilibrados</a:t>
            </a:r>
            <a:r>
              <a:rPr lang="pt-BR" sz="20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de 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500" y="4591050"/>
            <a:ext cx="2647950" cy="9525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5450" y="4591050"/>
            <a:ext cx="2647950" cy="9525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963400" y="4591050"/>
            <a:ext cx="2647950" cy="9525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11350" y="4591050"/>
            <a:ext cx="2647950" cy="9525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33500" y="5543550"/>
            <a:ext cx="5334000" cy="9525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26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diferenciação</a:t>
            </a:r>
            <a:r>
              <a:rPr lang="pt-BR" sz="20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razão ao canônico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7500" y="5543550"/>
            <a:ext cx="2647950" cy="9525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1,00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15450" y="5543550"/>
            <a:ext cx="2647950" cy="9525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0,92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963400" y="5543550"/>
            <a:ext cx="2647950" cy="9525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0,96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11350" y="5543550"/>
            <a:ext cx="2647950" cy="9525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0,96</a:t>
            </a:r>
          </a:p>
        </p:txBody>
      </p:sp>
      <p:sp>
        <p:nvSpPr>
          <p:cNvPr id="36" name="Faixa 5"/>
          <p:cNvSpPr/>
          <p:nvPr/>
        </p:nvSpPr>
        <p:spPr>
          <a:xfrm>
            <a:off x="1028700" y="6496050"/>
            <a:ext cx="16230600" cy="952500"/>
          </a:xfrm>
          <a:prstGeom prst="roundRect">
            <a:avLst>
              <a:gd name="adj" fmla="val 14000"/>
            </a:avLst>
          </a:prstGeom>
          <a:solidFill>
            <a:srgbClr val="F4F4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33500" y="6496050"/>
            <a:ext cx="5334000" cy="9525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26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validador</a:t>
            </a:r>
            <a:r>
              <a:rPr lang="pt-BR" sz="20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de 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67500" y="6496050"/>
            <a:ext cx="2647950" cy="9525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15450" y="6496050"/>
            <a:ext cx="2647950" cy="9525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963400" y="6496050"/>
            <a:ext cx="2647950" cy="9525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11350" y="6496050"/>
            <a:ext cx="2647950" cy="9525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33500" y="7448550"/>
            <a:ext cx="5334000" cy="9525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26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ciclo de vantagens</a:t>
            </a:r>
            <a:r>
              <a:rPr lang="pt-BR" sz="20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de 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67500" y="7448550"/>
            <a:ext cx="2647950" cy="9525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15450" y="7448550"/>
            <a:ext cx="2647950" cy="9525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963400" y="7448550"/>
            <a:ext cx="2647950" cy="9525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11350" y="7448550"/>
            <a:ext cx="2647950" cy="9525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" y="8572500"/>
            <a:ext cx="16230600" cy="6667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0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Joelho e Mais equilibrado são o knee_point e o best_dominance da fronteira do NSGA-II; o canônico coincide com o best_drift. Execuções com a semente 42. Em desbalanço e desvio, menor é melhor.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8"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2C638BA-649E-4656-7F78-4647855D84C0}"/>
              </a:ext>
            </a:extLst>
          </p:cNvPr>
          <p:cNvSpPr txBox="1"/>
          <p:nvPr/>
        </p:nvSpPr>
        <p:spPr>
          <a:xfrm>
            <a:off x="1028700" y="371475"/>
            <a:ext cx="14097000" cy="6572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399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 Medium"/>
                <a:ea typeface="Montserrat Medium"/>
                <a:cs typeface="Montserrat Medium"/>
              </a:rPr>
              <a:t>Reserva: desbalanço</a:t>
            </a:r>
            <a:endParaRPr lang="en-US" sz="4399" b="1" i="0" u="none" strike="noStrike" kern="1200" cap="none" spc="0" baseline="0" dirty="0">
              <a:solidFill>
                <a:srgbClr val="FFFFFF"/>
              </a:solidFill>
              <a:uFillTx/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0" name="Afirmação"/>
          <p:cNvSpPr txBox="1"/>
          <p:nvPr/>
        </p:nvSpPr>
        <p:spPr>
          <a:xfrm>
            <a:off x="1028700" y="1581150"/>
            <a:ext cx="16230600" cy="1219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 desbalanço soma três sinais, todos cegos à direção</a:t>
            </a:r>
          </a:p>
        </p:txBody>
      </p:sp>
      <p:pic>
        <p:nvPicPr>
          <p:cNvPr id="11" name="Equação do desbalanço" descr="eq_dominanc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2495550"/>
            <a:ext cx="7810500" cy="667812"/>
          </a:xfrm>
          <a:prstGeom prst="rect">
            <a:avLst/>
          </a:prstGeom>
        </p:spPr>
      </p:pic>
      <p:sp>
        <p:nvSpPr>
          <p:cNvPr id="12" name="Global"/>
          <p:cNvSpPr/>
          <p:nvPr/>
        </p:nvSpPr>
        <p:spPr>
          <a:xfrm>
            <a:off x="1028700" y="3581400"/>
            <a:ext cx="5105400" cy="4476750"/>
          </a:xfrm>
          <a:prstGeom prst="roundRect">
            <a:avLst>
              <a:gd name="adj" fmla="val 5106"/>
            </a:avLst>
          </a:prstGeom>
          <a:solidFill>
            <a:srgbClr val="FCEE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848100"/>
            <a:ext cx="4419600" cy="4381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1" i="0" u="none" strike="noStrike" kern="1200" cap="none" spc="0" baseline="0">
                <a:solidFill>
                  <a:srgbClr val="C8540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Global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324350"/>
            <a:ext cx="4419600" cy="3238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000" b="1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peso 1,0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819650"/>
            <a:ext cx="4419600" cy="11239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2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|WR global − 0,5| / 0,5, por personagem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076950"/>
            <a:ext cx="4419600" cy="18097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2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Nenhum arquétipo domina o elenco. Não força cada par a 50%: um personagem pode vencer dois confrontos e perder dois.</a:t>
            </a:r>
          </a:p>
        </p:txBody>
      </p:sp>
      <p:sp>
        <p:nvSpPr>
          <p:cNvPr id="17" name="Teto de hard-counter"/>
          <p:cNvSpPr/>
          <p:nvPr/>
        </p:nvSpPr>
        <p:spPr>
          <a:xfrm>
            <a:off x="6591300" y="3581400"/>
            <a:ext cx="5105400" cy="4476750"/>
          </a:xfrm>
          <a:prstGeom prst="roundRect">
            <a:avLst>
              <a:gd name="adj" fmla="val 5106"/>
            </a:avLst>
          </a:prstGeom>
          <a:solidFill>
            <a:srgbClr val="FCEE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34200" y="3848100"/>
            <a:ext cx="4419600" cy="4381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1" i="0" u="none" strike="noStrike" kern="1200" cap="none" spc="0" baseline="0">
                <a:solidFill>
                  <a:srgbClr val="C8540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Teto de hard-counter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4200" y="4324350"/>
            <a:ext cx="4419600" cy="3238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000" b="1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peso 0,5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4200" y="4819650"/>
            <a:ext cx="4419600" cy="11239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2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excesso de |WR do par − 0,5| acima de 0,15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4200" y="6076950"/>
            <a:ext cx="4419600" cy="18097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2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Barra os counters esmagadores, do tipo 100% contra 0%.</a:t>
            </a:r>
          </a:p>
        </p:txBody>
      </p:sp>
      <p:sp>
        <p:nvSpPr>
          <p:cNvPr id="22" name="Decisividade"/>
          <p:cNvSpPr/>
          <p:nvPr/>
        </p:nvSpPr>
        <p:spPr>
          <a:xfrm>
            <a:off x="12153900" y="3581400"/>
            <a:ext cx="5105400" cy="4476750"/>
          </a:xfrm>
          <a:prstGeom prst="roundRect">
            <a:avLst>
              <a:gd name="adj" fmla="val 5106"/>
            </a:avLst>
          </a:prstGeom>
          <a:solidFill>
            <a:srgbClr val="FCEE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496800" y="3848100"/>
            <a:ext cx="4419600" cy="4381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1" i="0" u="none" strike="noStrike" kern="1200" cap="none" spc="0" baseline="0">
                <a:solidFill>
                  <a:srgbClr val="C8540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Decisividade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496800" y="4324350"/>
            <a:ext cx="4419600" cy="3238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000" b="1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peso 0,5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496800" y="4819650"/>
            <a:ext cx="4419600" cy="11239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2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lutas fora da banda em que o vencedor termina com 20% a 40% de HP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96800" y="6076950"/>
            <a:ext cx="4419600" cy="18097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2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Barra os massacres alternados, que deixam a taxa de vitória perto de 50%.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" y="8267700"/>
            <a:ext cx="16230600" cy="7620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4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Os três usam |WR − 0,5| e |s − 0,5| (s: escore da luta): nenhum diz qual arquétipo deveria vencer.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8"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2C638BA-649E-4656-7F78-4647855D84C0}"/>
              </a:ext>
            </a:extLst>
          </p:cNvPr>
          <p:cNvSpPr txBox="1"/>
          <p:nvPr/>
        </p:nvSpPr>
        <p:spPr>
          <a:xfrm>
            <a:off x="1028700" y="371475"/>
            <a:ext cx="14097000" cy="6572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399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 Medium"/>
                <a:ea typeface="Montserrat Medium"/>
                <a:cs typeface="Montserrat Medium"/>
              </a:rPr>
              <a:t>Reserva: identidade</a:t>
            </a:r>
            <a:endParaRPr lang="en-US" sz="4399" b="1" i="0" u="none" strike="noStrike" kern="1200" cap="none" spc="0" baseline="0" dirty="0">
              <a:solidFill>
                <a:srgbClr val="FFFFFF"/>
              </a:solidFill>
              <a:uFillTx/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0" name="Afirmação"/>
          <p:cNvSpPr txBox="1"/>
          <p:nvPr/>
        </p:nvSpPr>
        <p:spPr>
          <a:xfrm>
            <a:off x="1028700" y="1581150"/>
            <a:ext cx="16230600" cy="1219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 desvio entra na busca; o resto é medido por fora</a:t>
            </a:r>
          </a:p>
        </p:txBody>
      </p:sp>
      <p:sp>
        <p:nvSpPr>
          <p:cNvPr id="11" name="Desvio"/>
          <p:cNvSpPr/>
          <p:nvPr/>
        </p:nvSpPr>
        <p:spPr>
          <a:xfrm>
            <a:off x="1028700" y="2857500"/>
            <a:ext cx="7429500" cy="6286500"/>
          </a:xfrm>
          <a:prstGeom prst="roundRect">
            <a:avLst>
              <a:gd name="adj" fmla="val 3636"/>
            </a:avLst>
          </a:prstGeom>
          <a:solidFill>
            <a:srgbClr val="EFED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9700" y="3105150"/>
            <a:ext cx="6667500" cy="4381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1" i="0" u="none" strike="noStrike" kern="1200" cap="none" spc="0" baseline="0">
                <a:solidFill>
                  <a:srgbClr val="685B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Desvio (drift), objetivo da busca</a:t>
            </a:r>
          </a:p>
        </p:txBody>
      </p:sp>
      <p:pic>
        <p:nvPicPr>
          <p:cNvPr id="13" name="Equação do desvio" descr="eq_drif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9700" y="3810000"/>
            <a:ext cx="6667500" cy="13942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09700" y="5524500"/>
            <a:ext cx="6667500" cy="34290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spcAft>
                <a:spcPts val="1200"/>
              </a:spcAft>
              <a:buNone/>
            </a:pPr>
            <a:r>
              <a:rPr lang="pt-BR" sz="22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Distância de cada personagem ao seu perfil canônico, sobre os 10 genes, em média entre os cinco.</a:t>
            </a:r>
          </a:p>
          <a:p>
            <a:pPr marL="0" indent="0" algn="l">
              <a:spcAft>
                <a:spcPts val="1200"/>
              </a:spcAft>
              <a:buNone/>
            </a:pPr>
            <a:r>
              <a:rPr lang="pt-BR" sz="22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Nos 7 atributos, a diferença é normalizada pelo limite superior do gene; nos 3 pesos, que já estão entre 0 e 1, é a diferença direta.</a:t>
            </a:r>
          </a:p>
          <a:p>
            <a:pPr marL="0" indent="0" algn="l">
              <a:buNone/>
            </a:pPr>
            <a:r>
              <a:rPr lang="pt-BR" sz="22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É uma penalidade suave: o algoritmo pode se afastar do canônico, e se afasta.</a:t>
            </a:r>
          </a:p>
        </p:txBody>
      </p:sp>
      <p:sp>
        <p:nvSpPr>
          <p:cNvPr id="15" name="Validador"/>
          <p:cNvSpPr/>
          <p:nvPr/>
        </p:nvSpPr>
        <p:spPr>
          <a:xfrm>
            <a:off x="8915400" y="2857500"/>
            <a:ext cx="8343900" cy="1943100"/>
          </a:xfrm>
          <a:prstGeom prst="roundRect">
            <a:avLst>
              <a:gd name="adj" fmla="val 9803"/>
            </a:avLst>
          </a:prstGeom>
          <a:solidFill>
            <a:srgbClr val="F4F4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300" y="3067050"/>
            <a:ext cx="7658100" cy="4000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6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Validador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300" y="3524250"/>
            <a:ext cx="7658100" cy="11811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1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21 asserções de ranqueamento: 17 sobre os genes (rushdown com a maior velocidade, turtle com o maior HP) e 4 sobre o jogo efetivo.</a:t>
            </a:r>
          </a:p>
        </p:txBody>
      </p:sp>
      <p:sp>
        <p:nvSpPr>
          <p:cNvPr id="18" name="Diferenciação"/>
          <p:cNvSpPr/>
          <p:nvPr/>
        </p:nvSpPr>
        <p:spPr>
          <a:xfrm>
            <a:off x="8915400" y="5029200"/>
            <a:ext cx="8343900" cy="1943100"/>
          </a:xfrm>
          <a:prstGeom prst="roundRect">
            <a:avLst>
              <a:gd name="adj" fmla="val 9803"/>
            </a:avLst>
          </a:prstGeom>
          <a:solidFill>
            <a:srgbClr val="F4F4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58300" y="5238750"/>
            <a:ext cx="7658100" cy="4000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6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Diferenciação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8300" y="5695950"/>
            <a:ext cx="7658100" cy="11811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1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Distância média par a par do elenco evoluído dividida pela do canônico. Menor que 1 indica homogeneização.</a:t>
            </a:r>
          </a:p>
        </p:txBody>
      </p:sp>
      <p:sp>
        <p:nvSpPr>
          <p:cNvPr id="21" name="Perfil comportamental"/>
          <p:cNvSpPr/>
          <p:nvPr/>
        </p:nvSpPr>
        <p:spPr>
          <a:xfrm>
            <a:off x="8915400" y="7200900"/>
            <a:ext cx="8343900" cy="1943100"/>
          </a:xfrm>
          <a:prstGeom prst="roundRect">
            <a:avLst>
              <a:gd name="adj" fmla="val 9803"/>
            </a:avLst>
          </a:prstGeom>
          <a:solidFill>
            <a:srgbClr val="F4F4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8300" y="7410450"/>
            <a:ext cx="7658100" cy="40005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6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Perfil comportamental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8300" y="7867650"/>
            <a:ext cx="7658100" cy="11811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1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Distribuição de ações em combate. No canônico, o rushdown avança em 73% das ações, o turtle defende em 46% e o zoner recua em 44%.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8"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2C638BA-649E-4656-7F78-4647855D84C0}"/>
              </a:ext>
            </a:extLst>
          </p:cNvPr>
          <p:cNvSpPr txBox="1"/>
          <p:nvPr/>
        </p:nvSpPr>
        <p:spPr>
          <a:xfrm>
            <a:off x="1028700" y="371475"/>
            <a:ext cx="14097000" cy="6572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399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 Medium"/>
                <a:ea typeface="Montserrat Medium"/>
                <a:cs typeface="Montserrat Medium"/>
              </a:rPr>
              <a:t>Problema</a:t>
            </a:r>
            <a:endParaRPr lang="en-US" sz="4399" b="1" i="0" u="none" strike="noStrike" kern="1200" cap="none" spc="0" baseline="0" dirty="0">
              <a:solidFill>
                <a:srgbClr val="FFFFFF"/>
              </a:solidFill>
              <a:uFillTx/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01" name="Afirmação"/>
          <p:cNvSpPr txBox="1"/>
          <p:nvPr/>
        </p:nvSpPr>
        <p:spPr>
          <a:xfrm>
            <a:off x="1028700" y="1580998"/>
            <a:ext cx="16230600" cy="1218895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Duas formas de comprometer um jogo competitivo</a:t>
            </a:r>
          </a:p>
        </p:txBody>
      </p:sp>
      <p:sp>
        <p:nvSpPr>
          <p:cNvPr id="102" name="Cartão domina"/>
          <p:cNvSpPr/>
          <p:nvPr/>
        </p:nvSpPr>
        <p:spPr>
          <a:xfrm>
            <a:off x="1028700" y="2926080"/>
            <a:ext cx="7886700" cy="5166360"/>
          </a:xfrm>
          <a:prstGeom prst="roundRect">
            <a:avLst>
              <a:gd name="adj" fmla="val 6000"/>
            </a:avLst>
          </a:prstGeom>
          <a:solidFill>
            <a:srgbClr val="F4F4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Título domina"/>
          <p:cNvSpPr txBox="1"/>
          <p:nvPr/>
        </p:nvSpPr>
        <p:spPr>
          <a:xfrm>
            <a:off x="1485900" y="3200400"/>
            <a:ext cx="6972300" cy="54864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4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Um personagem domina</a:t>
            </a:r>
          </a:p>
        </p:txBody>
      </p:sp>
      <p:sp>
        <p:nvSpPr>
          <p:cNvPr id="104" name="Eixo domina"/>
          <p:cNvSpPr txBox="1"/>
          <p:nvPr/>
        </p:nvSpPr>
        <p:spPr>
          <a:xfrm>
            <a:off x="1485900" y="3886200"/>
            <a:ext cx="457200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taxa de vitória</a:t>
            </a:r>
          </a:p>
        </p:txBody>
      </p:sp>
      <p:cxnSp>
        <p:nvCxnSpPr>
          <p:cNvPr id="105" name="Base domina"/>
          <p:cNvCxnSpPr/>
          <p:nvPr/>
        </p:nvCxnSpPr>
        <p:spPr>
          <a:xfrm>
            <a:off x="1485900" y="6903720"/>
            <a:ext cx="5875020" cy="0"/>
          </a:xfrm>
          <a:prstGeom prst="line">
            <a:avLst/>
          </a:prstGeom>
          <a:ln w="28575">
            <a:solidFill>
              <a:srgbClr val="C9CCD8"/>
            </a:solidFill>
          </a:ln>
        </p:spPr>
      </p:cxnSp>
      <p:cxnSp>
        <p:nvCxnSpPr>
          <p:cNvPr id="106" name="50% domina"/>
          <p:cNvCxnSpPr/>
          <p:nvPr/>
        </p:nvCxnSpPr>
        <p:spPr>
          <a:xfrm>
            <a:off x="1485900" y="5737860"/>
            <a:ext cx="5875020" cy="0"/>
          </a:xfrm>
          <a:prstGeom prst="line">
            <a:avLst/>
          </a:prstGeom>
          <a:ln w="22225">
            <a:solidFill>
              <a:srgbClr val="5B6178"/>
            </a:solidFill>
            <a:prstDash val="dash"/>
          </a:ln>
        </p:spPr>
      </p:cxnSp>
      <p:sp>
        <p:nvSpPr>
          <p:cNvPr id="107" name="Rótulo 50% domina"/>
          <p:cNvSpPr txBox="1"/>
          <p:nvPr/>
        </p:nvSpPr>
        <p:spPr>
          <a:xfrm>
            <a:off x="7498080" y="5509260"/>
            <a:ext cx="100584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1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50%</a:t>
            </a:r>
          </a:p>
        </p:txBody>
      </p:sp>
      <p:sp>
        <p:nvSpPr>
          <p:cNvPr id="108" name="Barra domina 1"/>
          <p:cNvSpPr/>
          <p:nvPr/>
        </p:nvSpPr>
        <p:spPr>
          <a:xfrm>
            <a:off x="1732651" y="4665269"/>
            <a:ext cx="681502" cy="2238451"/>
          </a:xfrm>
          <a:prstGeom prst="rect">
            <a:avLst/>
          </a:prstGeom>
          <a:solidFill>
            <a:srgbClr val="C854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Barra domina 2"/>
          <p:cNvSpPr/>
          <p:nvPr/>
        </p:nvSpPr>
        <p:spPr>
          <a:xfrm>
            <a:off x="2907655" y="5924398"/>
            <a:ext cx="681502" cy="979322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Barra domina 3"/>
          <p:cNvSpPr/>
          <p:nvPr/>
        </p:nvSpPr>
        <p:spPr>
          <a:xfrm>
            <a:off x="4082659" y="6250838"/>
            <a:ext cx="681502" cy="652882"/>
          </a:xfrm>
          <a:prstGeom prst="rect">
            <a:avLst/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Barra domina 4"/>
          <p:cNvSpPr/>
          <p:nvPr/>
        </p:nvSpPr>
        <p:spPr>
          <a:xfrm>
            <a:off x="5257663" y="6064301"/>
            <a:ext cx="681502" cy="839419"/>
          </a:xfrm>
          <a:prstGeom prst="rect">
            <a:avLst/>
          </a:prstGeom>
          <a:solidFill>
            <a:srgbClr val="BDB6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Barra domina 5"/>
          <p:cNvSpPr/>
          <p:nvPr/>
        </p:nvSpPr>
        <p:spPr>
          <a:xfrm>
            <a:off x="6432667" y="6530645"/>
            <a:ext cx="681502" cy="373075"/>
          </a:xfrm>
          <a:prstGeom prst="rect">
            <a:avLst/>
          </a:prstGeom>
          <a:solidFill>
            <a:srgbClr val="5B61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Legenda domina"/>
          <p:cNvSpPr txBox="1"/>
          <p:nvPr/>
        </p:nvSpPr>
        <p:spPr>
          <a:xfrm>
            <a:off x="1485900" y="7178040"/>
            <a:ext cx="6972300" cy="59436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0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todos escolhem o mesmo</a:t>
            </a:r>
          </a:p>
        </p:txBody>
      </p:sp>
      <p:sp>
        <p:nvSpPr>
          <p:cNvPr id="114" name="Cartão parecidos"/>
          <p:cNvSpPr/>
          <p:nvPr/>
        </p:nvSpPr>
        <p:spPr>
          <a:xfrm>
            <a:off x="9372600" y="2926080"/>
            <a:ext cx="7886700" cy="5166360"/>
          </a:xfrm>
          <a:prstGeom prst="roundRect">
            <a:avLst>
              <a:gd name="adj" fmla="val 6000"/>
            </a:avLst>
          </a:prstGeom>
          <a:solidFill>
            <a:srgbClr val="F4F4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Título parecidos"/>
          <p:cNvSpPr txBox="1"/>
          <p:nvPr/>
        </p:nvSpPr>
        <p:spPr>
          <a:xfrm>
            <a:off x="9829800" y="3200400"/>
            <a:ext cx="6972300" cy="54864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4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Todos ficam parecidos</a:t>
            </a:r>
          </a:p>
        </p:txBody>
      </p:sp>
      <p:sp>
        <p:nvSpPr>
          <p:cNvPr id="116" name="Eixo parecidos"/>
          <p:cNvSpPr txBox="1"/>
          <p:nvPr/>
        </p:nvSpPr>
        <p:spPr>
          <a:xfrm>
            <a:off x="9829800" y="3886200"/>
            <a:ext cx="457200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taxa de vitória</a:t>
            </a:r>
          </a:p>
        </p:txBody>
      </p:sp>
      <p:cxnSp>
        <p:nvCxnSpPr>
          <p:cNvPr id="117" name="Base parecidos"/>
          <p:cNvCxnSpPr/>
          <p:nvPr/>
        </p:nvCxnSpPr>
        <p:spPr>
          <a:xfrm>
            <a:off x="9829800" y="6903720"/>
            <a:ext cx="5875020" cy="0"/>
          </a:xfrm>
          <a:prstGeom prst="line">
            <a:avLst/>
          </a:prstGeom>
          <a:ln w="28575">
            <a:solidFill>
              <a:srgbClr val="C9CCD8"/>
            </a:solidFill>
          </a:ln>
        </p:spPr>
      </p:cxnSp>
      <p:cxnSp>
        <p:nvCxnSpPr>
          <p:cNvPr id="118" name="50% parecidos"/>
          <p:cNvCxnSpPr/>
          <p:nvPr/>
        </p:nvCxnSpPr>
        <p:spPr>
          <a:xfrm>
            <a:off x="9829800" y="5737860"/>
            <a:ext cx="5875020" cy="0"/>
          </a:xfrm>
          <a:prstGeom prst="line">
            <a:avLst/>
          </a:prstGeom>
          <a:ln w="22225">
            <a:solidFill>
              <a:srgbClr val="5B6178"/>
            </a:solidFill>
            <a:prstDash val="dash"/>
          </a:ln>
        </p:spPr>
      </p:cxnSp>
      <p:sp>
        <p:nvSpPr>
          <p:cNvPr id="119" name="Rótulo 50% parecidos"/>
          <p:cNvSpPr txBox="1"/>
          <p:nvPr/>
        </p:nvSpPr>
        <p:spPr>
          <a:xfrm>
            <a:off x="15841980" y="5509260"/>
            <a:ext cx="100584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1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50%</a:t>
            </a:r>
          </a:p>
        </p:txBody>
      </p:sp>
      <p:sp>
        <p:nvSpPr>
          <p:cNvPr id="120" name="Barra parecidos 1"/>
          <p:cNvSpPr/>
          <p:nvPr/>
        </p:nvSpPr>
        <p:spPr>
          <a:xfrm>
            <a:off x="10076551" y="5737860"/>
            <a:ext cx="681502" cy="1165860"/>
          </a:xfrm>
          <a:prstGeom prst="rect">
            <a:avLst/>
          </a:prstGeom>
          <a:solidFill>
            <a:srgbClr val="C9CC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Barra parecidos 2"/>
          <p:cNvSpPr/>
          <p:nvPr/>
        </p:nvSpPr>
        <p:spPr>
          <a:xfrm>
            <a:off x="11251555" y="5737860"/>
            <a:ext cx="681502" cy="1165860"/>
          </a:xfrm>
          <a:prstGeom prst="rect">
            <a:avLst/>
          </a:prstGeom>
          <a:solidFill>
            <a:srgbClr val="C9CC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Barra parecidos 3"/>
          <p:cNvSpPr/>
          <p:nvPr/>
        </p:nvSpPr>
        <p:spPr>
          <a:xfrm>
            <a:off x="12426559" y="5737860"/>
            <a:ext cx="681502" cy="1165860"/>
          </a:xfrm>
          <a:prstGeom prst="rect">
            <a:avLst/>
          </a:prstGeom>
          <a:solidFill>
            <a:srgbClr val="C9CC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Barra parecidos 4"/>
          <p:cNvSpPr/>
          <p:nvPr/>
        </p:nvSpPr>
        <p:spPr>
          <a:xfrm>
            <a:off x="13601563" y="5737860"/>
            <a:ext cx="681502" cy="1165860"/>
          </a:xfrm>
          <a:prstGeom prst="rect">
            <a:avLst/>
          </a:prstGeom>
          <a:solidFill>
            <a:srgbClr val="C9CC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Barra parecidos 5"/>
          <p:cNvSpPr/>
          <p:nvPr/>
        </p:nvSpPr>
        <p:spPr>
          <a:xfrm>
            <a:off x="14776567" y="5737860"/>
            <a:ext cx="681502" cy="1165860"/>
          </a:xfrm>
          <a:prstGeom prst="rect">
            <a:avLst/>
          </a:prstGeom>
          <a:solidFill>
            <a:srgbClr val="C9CC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Legenda parecidos"/>
          <p:cNvSpPr txBox="1"/>
          <p:nvPr/>
        </p:nvSpPr>
        <p:spPr>
          <a:xfrm>
            <a:off x="9829800" y="7178040"/>
            <a:ext cx="6972300" cy="59436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0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a escolha deixa de importar</a:t>
            </a:r>
          </a:p>
        </p:txBody>
      </p:sp>
      <p:sp>
        <p:nvSpPr>
          <p:cNvPr id="126" name="Desafio"/>
          <p:cNvSpPr txBox="1"/>
          <p:nvPr/>
        </p:nvSpPr>
        <p:spPr>
          <a:xfrm>
            <a:off x="1028700" y="8412480"/>
            <a:ext cx="16230600" cy="64008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2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O desafio: equilibrar </a:t>
            </a:r>
            <a:r>
              <a:rPr lang="pt-BR" sz="3200" b="1" i="0" u="none" strike="noStrike" kern="1200" cap="none" spc="0" baseline="0">
                <a:solidFill>
                  <a:srgbClr val="685B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preservando a diferença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8"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2C638BA-649E-4656-7F78-4647855D84C0}"/>
              </a:ext>
            </a:extLst>
          </p:cNvPr>
          <p:cNvSpPr txBox="1"/>
          <p:nvPr/>
        </p:nvSpPr>
        <p:spPr>
          <a:xfrm>
            <a:off x="1028700" y="371475"/>
            <a:ext cx="14097000" cy="6572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399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 Medium"/>
                <a:ea typeface="Montserrat Medium"/>
                <a:cs typeface="Montserrat Medium"/>
              </a:rPr>
              <a:t>Reserva: limites</a:t>
            </a:r>
            <a:endParaRPr lang="en-US" sz="4399" b="1" i="0" u="none" strike="noStrike" kern="1200" cap="none" spc="0" baseline="0" dirty="0">
              <a:solidFill>
                <a:srgbClr val="FFFFFF"/>
              </a:solidFill>
              <a:uFillTx/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0" name="Afirmação"/>
          <p:cNvSpPr txBox="1"/>
          <p:nvPr/>
        </p:nvSpPr>
        <p:spPr>
          <a:xfrm>
            <a:off x="1028700" y="1581150"/>
            <a:ext cx="16230600" cy="1219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 que o estudo ainda não cobre, e para onde vai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2857500"/>
            <a:ext cx="16230600" cy="4191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6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Resultado preliminar: mais equilíbrio, menos identidade</a:t>
            </a:r>
          </a:p>
        </p:txBody>
      </p:sp>
      <p:sp>
        <p:nvSpPr>
          <p:cNvPr id="12" name="Limites do estudo"/>
          <p:cNvSpPr/>
          <p:nvPr/>
        </p:nvSpPr>
        <p:spPr>
          <a:xfrm>
            <a:off x="1028700" y="3924300"/>
            <a:ext cx="7886700" cy="3848100"/>
          </a:xfrm>
          <a:prstGeom prst="roundRect">
            <a:avLst>
              <a:gd name="adj" fmla="val 5940"/>
            </a:avLst>
          </a:prstGeom>
          <a:solidFill>
            <a:srgbClr val="F4F4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4229100"/>
            <a:ext cx="7048500" cy="4191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400" b="1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Limites do estudo</a:t>
            </a:r>
          </a:p>
        </p:txBody>
      </p:sp>
      <p:sp>
        <p:nvSpPr>
          <p:cNvPr id="14" name="Oval 13"/>
          <p:cNvSpPr/>
          <p:nvPr/>
        </p:nvSpPr>
        <p:spPr>
          <a:xfrm>
            <a:off x="1447800" y="4991100"/>
            <a:ext cx="495300" cy="495300"/>
          </a:xfrm>
          <a:prstGeom prst="ellipse">
            <a:avLst/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991100"/>
            <a:ext cx="495300" cy="4953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2200" b="1" i="0" u="none" strike="noStrike" kern="1200" cap="none" spc="0" baseline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0750" y="4991100"/>
            <a:ext cx="6305550" cy="4953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Modelo simplificado</a:t>
            </a:r>
          </a:p>
        </p:txBody>
      </p:sp>
      <p:sp>
        <p:nvSpPr>
          <p:cNvPr id="17" name="Oval 16"/>
          <p:cNvSpPr/>
          <p:nvPr/>
        </p:nvSpPr>
        <p:spPr>
          <a:xfrm>
            <a:off x="1447800" y="5867400"/>
            <a:ext cx="495300" cy="495300"/>
          </a:xfrm>
          <a:prstGeom prst="ellipse">
            <a:avLst/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5867400"/>
            <a:ext cx="495300" cy="4953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2200" b="1" i="0" u="none" strike="noStrike" kern="1200" cap="none" spc="0" baseline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867400"/>
            <a:ext cx="6305550" cy="4953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Cinco arquétipos</a:t>
            </a:r>
          </a:p>
        </p:txBody>
      </p:sp>
      <p:sp>
        <p:nvSpPr>
          <p:cNvPr id="20" name="Oval 19"/>
          <p:cNvSpPr/>
          <p:nvPr/>
        </p:nvSpPr>
        <p:spPr>
          <a:xfrm>
            <a:off x="1447800" y="6743700"/>
            <a:ext cx="495300" cy="495300"/>
          </a:xfrm>
          <a:prstGeom prst="ellipse">
            <a:avLst/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7800" y="6743700"/>
            <a:ext cx="495300" cy="4953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2200" b="1" i="0" u="none" strike="noStrike" kern="1200" cap="none" spc="0" baseline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0750" y="6743700"/>
            <a:ext cx="6305550" cy="4953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Sem matchmaking</a:t>
            </a:r>
          </a:p>
        </p:txBody>
      </p:sp>
      <p:sp>
        <p:nvSpPr>
          <p:cNvPr id="23" name="Próximos passos"/>
          <p:cNvSpPr/>
          <p:nvPr/>
        </p:nvSpPr>
        <p:spPr>
          <a:xfrm>
            <a:off x="9372600" y="3924300"/>
            <a:ext cx="7886700" cy="3848100"/>
          </a:xfrm>
          <a:prstGeom prst="roundRect">
            <a:avLst>
              <a:gd name="adj" fmla="val 5940"/>
            </a:avLst>
          </a:prstGeom>
          <a:solidFill>
            <a:srgbClr val="F4F4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91700" y="4229100"/>
            <a:ext cx="7048500" cy="4191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400" b="1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Próximos passos</a:t>
            </a:r>
          </a:p>
        </p:txBody>
      </p:sp>
      <p:sp>
        <p:nvSpPr>
          <p:cNvPr id="25" name="Oval 24"/>
          <p:cNvSpPr/>
          <p:nvPr/>
        </p:nvSpPr>
        <p:spPr>
          <a:xfrm>
            <a:off x="9791700" y="4991100"/>
            <a:ext cx="495300" cy="495300"/>
          </a:xfrm>
          <a:prstGeom prst="ellipse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91700" y="4991100"/>
            <a:ext cx="495300" cy="4953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2200" b="1" i="0" u="none" strike="noStrike" kern="1200" cap="none" spc="0" baseline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34650" y="4991100"/>
            <a:ext cx="6305550" cy="4953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Calibração final</a:t>
            </a:r>
          </a:p>
        </p:txBody>
      </p:sp>
      <p:sp>
        <p:nvSpPr>
          <p:cNvPr id="28" name="Oval 27"/>
          <p:cNvSpPr/>
          <p:nvPr/>
        </p:nvSpPr>
        <p:spPr>
          <a:xfrm>
            <a:off x="9791700" y="5867400"/>
            <a:ext cx="495300" cy="495300"/>
          </a:xfrm>
          <a:prstGeom prst="ellipse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91700" y="5867400"/>
            <a:ext cx="495300" cy="4953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2200" b="1" i="0" u="none" strike="noStrike" kern="1200" cap="none" spc="0" baseline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34650" y="5867400"/>
            <a:ext cx="6305550" cy="4953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Coevolução</a:t>
            </a:r>
          </a:p>
        </p:txBody>
      </p:sp>
      <p:sp>
        <p:nvSpPr>
          <p:cNvPr id="31" name="Oval 30"/>
          <p:cNvSpPr/>
          <p:nvPr/>
        </p:nvSpPr>
        <p:spPr>
          <a:xfrm>
            <a:off x="9791700" y="6743700"/>
            <a:ext cx="495300" cy="495300"/>
          </a:xfrm>
          <a:prstGeom prst="ellipse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91700" y="6743700"/>
            <a:ext cx="495300" cy="4953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2200" b="1" i="0" u="none" strike="noStrike" kern="1200" cap="none" spc="0" baseline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34650" y="6743700"/>
            <a:ext cx="6305550" cy="4953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3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Quality-diversity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8"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2C638BA-649E-4656-7F78-4647855D84C0}"/>
              </a:ext>
            </a:extLst>
          </p:cNvPr>
          <p:cNvSpPr txBox="1"/>
          <p:nvPr/>
        </p:nvSpPr>
        <p:spPr>
          <a:xfrm>
            <a:off x="1028700" y="371475"/>
            <a:ext cx="14097000" cy="6572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399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 Medium"/>
                <a:ea typeface="Montserrat Medium"/>
                <a:cs typeface="Montserrat Medium"/>
              </a:rPr>
              <a:t>Resultados</a:t>
            </a:r>
            <a:endParaRPr lang="en-US" sz="4399" b="1" i="0" u="none" strike="noStrike" kern="1200" cap="none" spc="0" baseline="0" dirty="0">
              <a:solidFill>
                <a:srgbClr val="FFFFFF"/>
              </a:solidFill>
              <a:uFillTx/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01" name="Afirmação"/>
          <p:cNvSpPr txBox="1"/>
          <p:nvPr/>
        </p:nvSpPr>
        <p:spPr>
          <a:xfrm>
            <a:off x="1028700" y="1580998"/>
            <a:ext cx="16230600" cy="1218895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Somar os objetivos já é uma escolha</a:t>
            </a:r>
          </a:p>
        </p:txBody>
      </p:sp>
      <p:sp>
        <p:nvSpPr>
          <p:cNvPr id="102" name="Cartão escalar"/>
          <p:cNvSpPr/>
          <p:nvPr/>
        </p:nvSpPr>
        <p:spPr>
          <a:xfrm>
            <a:off x="1028700" y="2926080"/>
            <a:ext cx="7886700" cy="5806440"/>
          </a:xfrm>
          <a:prstGeom prst="roundRect">
            <a:avLst>
              <a:gd name="adj" fmla="val 5000"/>
            </a:avLst>
          </a:prstGeom>
          <a:solidFill>
            <a:srgbClr val="F4F4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Título escalar"/>
          <p:cNvSpPr txBox="1"/>
          <p:nvPr/>
        </p:nvSpPr>
        <p:spPr>
          <a:xfrm>
            <a:off x="1485900" y="3200400"/>
            <a:ext cx="6972300" cy="59436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6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AG escalar</a:t>
            </a:r>
          </a:p>
        </p:txBody>
      </p:sp>
      <p:sp>
        <p:nvSpPr>
          <p:cNvPr id="104" name="Regra escalar"/>
          <p:cNvSpPr txBox="1"/>
          <p:nvPr/>
        </p:nvSpPr>
        <p:spPr>
          <a:xfrm>
            <a:off x="1485900" y="3840480"/>
            <a:ext cx="6972300" cy="9144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aptidão = −(desvio + desbalanço)</a:t>
            </a:r>
          </a:p>
        </p:txBody>
      </p:sp>
      <p:cxnSp>
        <p:nvCxnSpPr>
          <p:cNvPr id="105" name="Eixo y escalar"/>
          <p:cNvCxnSpPr/>
          <p:nvPr/>
        </p:nvCxnSpPr>
        <p:spPr>
          <a:xfrm flipV="1">
            <a:off x="1851660" y="5029200"/>
            <a:ext cx="0" cy="2423160"/>
          </a:xfrm>
          <a:prstGeom prst="line">
            <a:avLst/>
          </a:prstGeom>
          <a:ln w="38100">
            <a:solidFill>
              <a:srgbClr val="5B6178"/>
            </a:solidFill>
            <a:tailEnd type="triangle" w="med" len="med"/>
          </a:ln>
        </p:spPr>
      </p:cxnSp>
      <p:cxnSp>
        <p:nvCxnSpPr>
          <p:cNvPr id="106" name="Eixo x escalar"/>
          <p:cNvCxnSpPr/>
          <p:nvPr/>
        </p:nvCxnSpPr>
        <p:spPr>
          <a:xfrm>
            <a:off x="1851660" y="7452360"/>
            <a:ext cx="6515100" cy="0"/>
          </a:xfrm>
          <a:prstGeom prst="line">
            <a:avLst/>
          </a:prstGeom>
          <a:ln w="38100">
            <a:solidFill>
              <a:srgbClr val="5B6178"/>
            </a:solidFill>
            <a:tailEnd type="triangle" w="med" len="med"/>
          </a:ln>
        </p:spPr>
      </p:cxnSp>
      <p:sp>
        <p:nvSpPr>
          <p:cNvPr id="107" name="Rótulo y escalar"/>
          <p:cNvSpPr txBox="1"/>
          <p:nvPr/>
        </p:nvSpPr>
        <p:spPr>
          <a:xfrm>
            <a:off x="2080260" y="4937760"/>
            <a:ext cx="237744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1" i="0" u="none" strike="noStrike" kern="1200" cap="none" spc="0" baseline="0">
                <a:solidFill>
                  <a:srgbClr val="685B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desvio</a:t>
            </a:r>
          </a:p>
        </p:txBody>
      </p:sp>
      <p:sp>
        <p:nvSpPr>
          <p:cNvPr id="108" name="Rótulo x escalar"/>
          <p:cNvSpPr txBox="1"/>
          <p:nvPr/>
        </p:nvSpPr>
        <p:spPr>
          <a:xfrm>
            <a:off x="5623560" y="7525512"/>
            <a:ext cx="274320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r">
              <a:buNone/>
            </a:pPr>
            <a:r>
              <a:rPr lang="pt-BR" sz="2800" b="1" i="0" u="none" strike="noStrike" kern="1200" cap="none" spc="0" baseline="0">
                <a:solidFill>
                  <a:srgbClr val="C8540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desbalanço</a:t>
            </a:r>
          </a:p>
        </p:txBody>
      </p:sp>
      <p:sp>
        <p:nvSpPr>
          <p:cNvPr id="109" name="Ponto escalar 1"/>
          <p:cNvSpPr/>
          <p:nvPr/>
        </p:nvSpPr>
        <p:spPr>
          <a:xfrm>
            <a:off x="2926080" y="5600700"/>
            <a:ext cx="411480" cy="411480"/>
          </a:xfrm>
          <a:prstGeom prst="ellipse">
            <a:avLst/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Legenda escalar"/>
          <p:cNvSpPr txBox="1"/>
          <p:nvPr/>
        </p:nvSpPr>
        <p:spPr>
          <a:xfrm>
            <a:off x="1485900" y="8001000"/>
            <a:ext cx="6972300" cy="59436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2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um único elenco</a:t>
            </a:r>
          </a:p>
        </p:txBody>
      </p:sp>
      <p:sp>
        <p:nvSpPr>
          <p:cNvPr id="111" name="Cartão nsga"/>
          <p:cNvSpPr/>
          <p:nvPr/>
        </p:nvSpPr>
        <p:spPr>
          <a:xfrm>
            <a:off x="9372600" y="2926080"/>
            <a:ext cx="7886700" cy="5806440"/>
          </a:xfrm>
          <a:prstGeom prst="roundRect">
            <a:avLst>
              <a:gd name="adj" fmla="val 5000"/>
            </a:avLst>
          </a:prstGeom>
          <a:solidFill>
            <a:srgbClr val="F4F4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Título nsga"/>
          <p:cNvSpPr txBox="1"/>
          <p:nvPr/>
        </p:nvSpPr>
        <p:spPr>
          <a:xfrm>
            <a:off x="9829800" y="3200400"/>
            <a:ext cx="6972300" cy="59436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6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NSGA-II</a:t>
            </a:r>
          </a:p>
        </p:txBody>
      </p:sp>
      <p:sp>
        <p:nvSpPr>
          <p:cNvPr id="113" name="Regra nsga"/>
          <p:cNvSpPr txBox="1"/>
          <p:nvPr/>
        </p:nvSpPr>
        <p:spPr>
          <a:xfrm>
            <a:off x="9829800" y="3840480"/>
            <a:ext cx="6972300" cy="9144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descarta um elenco só se outro</a:t>
            </a:r>
          </a:p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for melhor nos dois objetivos</a:t>
            </a:r>
          </a:p>
        </p:txBody>
      </p:sp>
      <p:cxnSp>
        <p:nvCxnSpPr>
          <p:cNvPr id="114" name="Eixo y nsga"/>
          <p:cNvCxnSpPr/>
          <p:nvPr/>
        </p:nvCxnSpPr>
        <p:spPr>
          <a:xfrm flipV="1">
            <a:off x="10195560" y="5029200"/>
            <a:ext cx="0" cy="2423160"/>
          </a:xfrm>
          <a:prstGeom prst="line">
            <a:avLst/>
          </a:prstGeom>
          <a:ln w="38100">
            <a:solidFill>
              <a:srgbClr val="5B6178"/>
            </a:solidFill>
            <a:tailEnd type="triangle" w="med" len="med"/>
          </a:ln>
        </p:spPr>
      </p:cxnSp>
      <p:cxnSp>
        <p:nvCxnSpPr>
          <p:cNvPr id="115" name="Eixo x nsga"/>
          <p:cNvCxnSpPr/>
          <p:nvPr/>
        </p:nvCxnSpPr>
        <p:spPr>
          <a:xfrm>
            <a:off x="10195560" y="7452360"/>
            <a:ext cx="6515100" cy="0"/>
          </a:xfrm>
          <a:prstGeom prst="line">
            <a:avLst/>
          </a:prstGeom>
          <a:ln w="38100">
            <a:solidFill>
              <a:srgbClr val="5B6178"/>
            </a:solidFill>
            <a:tailEnd type="triangle" w="med" len="med"/>
          </a:ln>
        </p:spPr>
      </p:cxnSp>
      <p:sp>
        <p:nvSpPr>
          <p:cNvPr id="116" name="Rótulo y nsga"/>
          <p:cNvSpPr txBox="1"/>
          <p:nvPr/>
        </p:nvSpPr>
        <p:spPr>
          <a:xfrm>
            <a:off x="10424160" y="4937760"/>
            <a:ext cx="237744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1" i="0" u="none" strike="noStrike" kern="1200" cap="none" spc="0" baseline="0">
                <a:solidFill>
                  <a:srgbClr val="685B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desvio</a:t>
            </a:r>
          </a:p>
        </p:txBody>
      </p:sp>
      <p:sp>
        <p:nvSpPr>
          <p:cNvPr id="117" name="Rótulo x nsga"/>
          <p:cNvSpPr txBox="1"/>
          <p:nvPr/>
        </p:nvSpPr>
        <p:spPr>
          <a:xfrm>
            <a:off x="13967460" y="7525512"/>
            <a:ext cx="274320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r">
              <a:buNone/>
            </a:pPr>
            <a:r>
              <a:rPr lang="pt-BR" sz="2800" b="1" i="0" u="none" strike="noStrike" kern="1200" cap="none" spc="0" baseline="0">
                <a:solidFill>
                  <a:srgbClr val="C8540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desbalanço</a:t>
            </a:r>
          </a:p>
        </p:txBody>
      </p:sp>
      <p:sp>
        <p:nvSpPr>
          <p:cNvPr id="118" name="Ponto 2 nsga 1"/>
          <p:cNvSpPr/>
          <p:nvPr/>
        </p:nvSpPr>
        <p:spPr>
          <a:xfrm>
            <a:off x="11704320" y="5486400"/>
            <a:ext cx="274320" cy="274320"/>
          </a:xfrm>
          <a:prstGeom prst="ellipse">
            <a:avLst/>
          </a:prstGeom>
          <a:solidFill>
            <a:srgbClr val="C9CC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Ponto 2 nsga 2"/>
          <p:cNvSpPr/>
          <p:nvPr/>
        </p:nvSpPr>
        <p:spPr>
          <a:xfrm>
            <a:off x="12070080" y="5623560"/>
            <a:ext cx="274320" cy="274320"/>
          </a:xfrm>
          <a:prstGeom prst="ellipse">
            <a:avLst/>
          </a:prstGeom>
          <a:solidFill>
            <a:srgbClr val="C9CC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Ponto 2 nsga 3"/>
          <p:cNvSpPr/>
          <p:nvPr/>
        </p:nvSpPr>
        <p:spPr>
          <a:xfrm>
            <a:off x="12527280" y="5852160"/>
            <a:ext cx="274320" cy="274320"/>
          </a:xfrm>
          <a:prstGeom prst="ellipse">
            <a:avLst/>
          </a:prstGeom>
          <a:solidFill>
            <a:srgbClr val="C9CC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Ponto 2 nsga 4"/>
          <p:cNvSpPr/>
          <p:nvPr/>
        </p:nvSpPr>
        <p:spPr>
          <a:xfrm>
            <a:off x="13121640" y="6080760"/>
            <a:ext cx="274320" cy="274320"/>
          </a:xfrm>
          <a:prstGeom prst="ellipse">
            <a:avLst/>
          </a:prstGeom>
          <a:solidFill>
            <a:srgbClr val="C9CC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Ponto 2 nsga 5"/>
          <p:cNvSpPr/>
          <p:nvPr/>
        </p:nvSpPr>
        <p:spPr>
          <a:xfrm>
            <a:off x="13761720" y="6263640"/>
            <a:ext cx="274320" cy="274320"/>
          </a:xfrm>
          <a:prstGeom prst="ellipse">
            <a:avLst/>
          </a:prstGeom>
          <a:solidFill>
            <a:srgbClr val="C9CC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Ponto 2 nsga 6"/>
          <p:cNvSpPr/>
          <p:nvPr/>
        </p:nvSpPr>
        <p:spPr>
          <a:xfrm>
            <a:off x="14447520" y="6400800"/>
            <a:ext cx="274320" cy="274320"/>
          </a:xfrm>
          <a:prstGeom prst="ellipse">
            <a:avLst/>
          </a:prstGeom>
          <a:solidFill>
            <a:srgbClr val="C9CC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Ponto 2 nsga 7"/>
          <p:cNvSpPr/>
          <p:nvPr/>
        </p:nvSpPr>
        <p:spPr>
          <a:xfrm>
            <a:off x="15179040" y="6519672"/>
            <a:ext cx="274320" cy="274320"/>
          </a:xfrm>
          <a:prstGeom prst="ellipse">
            <a:avLst/>
          </a:prstGeom>
          <a:solidFill>
            <a:srgbClr val="C9CC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Ponto 2 nsga 8"/>
          <p:cNvSpPr/>
          <p:nvPr/>
        </p:nvSpPr>
        <p:spPr>
          <a:xfrm>
            <a:off x="15910560" y="6611112"/>
            <a:ext cx="274320" cy="274320"/>
          </a:xfrm>
          <a:prstGeom prst="ellipse">
            <a:avLst/>
          </a:prstGeom>
          <a:solidFill>
            <a:srgbClr val="C9CC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Ponto nsga 1"/>
          <p:cNvSpPr/>
          <p:nvPr/>
        </p:nvSpPr>
        <p:spPr>
          <a:xfrm>
            <a:off x="10881360" y="5486400"/>
            <a:ext cx="274320" cy="274320"/>
          </a:xfrm>
          <a:prstGeom prst="ellipse">
            <a:avLst/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Ponto nsga 2"/>
          <p:cNvSpPr/>
          <p:nvPr/>
        </p:nvSpPr>
        <p:spPr>
          <a:xfrm>
            <a:off x="11292840" y="5897880"/>
            <a:ext cx="274320" cy="274320"/>
          </a:xfrm>
          <a:prstGeom prst="ellipse">
            <a:avLst/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Ponto nsga 3"/>
          <p:cNvSpPr/>
          <p:nvPr/>
        </p:nvSpPr>
        <p:spPr>
          <a:xfrm>
            <a:off x="11750040" y="6217920"/>
            <a:ext cx="274320" cy="274320"/>
          </a:xfrm>
          <a:prstGeom prst="ellipse">
            <a:avLst/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Ponto nsga 4"/>
          <p:cNvSpPr/>
          <p:nvPr/>
        </p:nvSpPr>
        <p:spPr>
          <a:xfrm>
            <a:off x="12298680" y="6446520"/>
            <a:ext cx="274320" cy="274320"/>
          </a:xfrm>
          <a:prstGeom prst="ellipse">
            <a:avLst/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Ponto nsga 5"/>
          <p:cNvSpPr/>
          <p:nvPr/>
        </p:nvSpPr>
        <p:spPr>
          <a:xfrm>
            <a:off x="12893040" y="6629400"/>
            <a:ext cx="274320" cy="274320"/>
          </a:xfrm>
          <a:prstGeom prst="ellipse">
            <a:avLst/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Ponto nsga 6"/>
          <p:cNvSpPr/>
          <p:nvPr/>
        </p:nvSpPr>
        <p:spPr>
          <a:xfrm>
            <a:off x="13533120" y="6766560"/>
            <a:ext cx="274320" cy="274320"/>
          </a:xfrm>
          <a:prstGeom prst="ellipse">
            <a:avLst/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Ponto nsga 7"/>
          <p:cNvSpPr/>
          <p:nvPr/>
        </p:nvSpPr>
        <p:spPr>
          <a:xfrm>
            <a:off x="14218920" y="6885432"/>
            <a:ext cx="274320" cy="274320"/>
          </a:xfrm>
          <a:prstGeom prst="ellipse">
            <a:avLst/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Ponto nsga 8"/>
          <p:cNvSpPr/>
          <p:nvPr/>
        </p:nvSpPr>
        <p:spPr>
          <a:xfrm>
            <a:off x="14950440" y="6976872"/>
            <a:ext cx="274320" cy="274320"/>
          </a:xfrm>
          <a:prstGeom prst="ellipse">
            <a:avLst/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Ponto nsga 9"/>
          <p:cNvSpPr/>
          <p:nvPr/>
        </p:nvSpPr>
        <p:spPr>
          <a:xfrm>
            <a:off x="15681960" y="7040880"/>
            <a:ext cx="274320" cy="274320"/>
          </a:xfrm>
          <a:prstGeom prst="ellipse">
            <a:avLst/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Legenda nsga"/>
          <p:cNvSpPr txBox="1"/>
          <p:nvPr/>
        </p:nvSpPr>
        <p:spPr>
          <a:xfrm>
            <a:off x="9829800" y="8001000"/>
            <a:ext cx="6972300" cy="59436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2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a fronteira inteira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8"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2C638BA-649E-4656-7F78-4647855D84C0}"/>
              </a:ext>
            </a:extLst>
          </p:cNvPr>
          <p:cNvSpPr txBox="1"/>
          <p:nvPr/>
        </p:nvSpPr>
        <p:spPr>
          <a:xfrm>
            <a:off x="1028700" y="371475"/>
            <a:ext cx="14097000" cy="6572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399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 Medium"/>
                <a:ea typeface="Montserrat Medium"/>
                <a:cs typeface="Montserrat Medium"/>
              </a:rPr>
              <a:t>Método</a:t>
            </a:r>
            <a:endParaRPr lang="en-US" sz="4399" b="1" i="0" u="none" strike="noStrike" kern="1200" cap="none" spc="0" baseline="0" dirty="0">
              <a:solidFill>
                <a:srgbClr val="FFFFFF"/>
              </a:solidFill>
              <a:uFillTx/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01" name="Afirmação"/>
          <p:cNvSpPr txBox="1"/>
          <p:nvPr/>
        </p:nvSpPr>
        <p:spPr>
          <a:xfrm>
            <a:off x="1028700" y="1580998"/>
            <a:ext cx="16230600" cy="1218895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Cada indivíduo é um elenco inteiro</a:t>
            </a:r>
          </a:p>
        </p:txBody>
      </p:sp>
      <p:sp>
        <p:nvSpPr>
          <p:cNvPr id="102" name="Indivíduo"/>
          <p:cNvSpPr/>
          <p:nvPr/>
        </p:nvSpPr>
        <p:spPr>
          <a:xfrm>
            <a:off x="1028700" y="2926080"/>
            <a:ext cx="7315200" cy="5760720"/>
          </a:xfrm>
          <a:prstGeom prst="roundRect">
            <a:avLst>
              <a:gd name="adj" fmla="val 5000"/>
            </a:avLst>
          </a:prstGeom>
          <a:solidFill>
            <a:srgbClr val="F4F4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Rótulo indivíduo"/>
          <p:cNvSpPr txBox="1"/>
          <p:nvPr/>
        </p:nvSpPr>
        <p:spPr>
          <a:xfrm>
            <a:off x="1394460" y="3154680"/>
            <a:ext cx="658368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1" i="0" u="none" strike="noStrike" kern="1200" cap="none" spc="0" baseline="0">
                <a:solidFill>
                  <a:srgbClr val="685B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UM INDIVÍDUO</a:t>
            </a:r>
          </a:p>
        </p:txBody>
      </p:sp>
      <p:sp>
        <p:nvSpPr>
          <p:cNvPr id="104" name="Personagem Rushdown"/>
          <p:cNvSpPr txBox="1"/>
          <p:nvPr/>
        </p:nvSpPr>
        <p:spPr>
          <a:xfrm>
            <a:off x="1394460" y="3749040"/>
            <a:ext cx="3017520" cy="4572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2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Rushdown</a:t>
            </a:r>
          </a:p>
        </p:txBody>
      </p:sp>
      <p:sp>
        <p:nvSpPr>
          <p:cNvPr id="105" name="Gene Rushdown 1"/>
          <p:cNvSpPr/>
          <p:nvPr/>
        </p:nvSpPr>
        <p:spPr>
          <a:xfrm>
            <a:off x="4457700" y="3840480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Gene Rushdown 2"/>
          <p:cNvSpPr/>
          <p:nvPr/>
        </p:nvSpPr>
        <p:spPr>
          <a:xfrm>
            <a:off x="4805172" y="3840480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Gene Rushdown 3"/>
          <p:cNvSpPr/>
          <p:nvPr/>
        </p:nvSpPr>
        <p:spPr>
          <a:xfrm>
            <a:off x="5152644" y="3840480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Gene Rushdown 4"/>
          <p:cNvSpPr/>
          <p:nvPr/>
        </p:nvSpPr>
        <p:spPr>
          <a:xfrm>
            <a:off x="5500116" y="3840480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Gene Rushdown 5"/>
          <p:cNvSpPr/>
          <p:nvPr/>
        </p:nvSpPr>
        <p:spPr>
          <a:xfrm>
            <a:off x="5847588" y="3840480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Gene Rushdown 6"/>
          <p:cNvSpPr/>
          <p:nvPr/>
        </p:nvSpPr>
        <p:spPr>
          <a:xfrm>
            <a:off x="6195060" y="3840480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Gene Rushdown 7"/>
          <p:cNvSpPr/>
          <p:nvPr/>
        </p:nvSpPr>
        <p:spPr>
          <a:xfrm>
            <a:off x="6542532" y="3840480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Gene Rushdown 8"/>
          <p:cNvSpPr/>
          <p:nvPr/>
        </p:nvSpPr>
        <p:spPr>
          <a:xfrm>
            <a:off x="6890004" y="3840480"/>
            <a:ext cx="274320" cy="274320"/>
          </a:xfrm>
          <a:prstGeom prst="rect">
            <a:avLst/>
          </a:prstGeom>
          <a:solidFill>
            <a:srgbClr val="C854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Gene Rushdown 9"/>
          <p:cNvSpPr/>
          <p:nvPr/>
        </p:nvSpPr>
        <p:spPr>
          <a:xfrm>
            <a:off x="7237476" y="3840480"/>
            <a:ext cx="274320" cy="274320"/>
          </a:xfrm>
          <a:prstGeom prst="rect">
            <a:avLst/>
          </a:prstGeom>
          <a:solidFill>
            <a:srgbClr val="C854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Gene Rushdown 10"/>
          <p:cNvSpPr/>
          <p:nvPr/>
        </p:nvSpPr>
        <p:spPr>
          <a:xfrm>
            <a:off x="7584948" y="3840480"/>
            <a:ext cx="274320" cy="274320"/>
          </a:xfrm>
          <a:prstGeom prst="rect">
            <a:avLst/>
          </a:prstGeom>
          <a:solidFill>
            <a:srgbClr val="C854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Personagem Zoner"/>
          <p:cNvSpPr txBox="1"/>
          <p:nvPr/>
        </p:nvSpPr>
        <p:spPr>
          <a:xfrm>
            <a:off x="1394460" y="4352544"/>
            <a:ext cx="3017520" cy="4572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2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Zoner</a:t>
            </a:r>
          </a:p>
        </p:txBody>
      </p:sp>
      <p:sp>
        <p:nvSpPr>
          <p:cNvPr id="116" name="Gene Zoner 1"/>
          <p:cNvSpPr/>
          <p:nvPr/>
        </p:nvSpPr>
        <p:spPr>
          <a:xfrm>
            <a:off x="4457700" y="4443984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Gene Zoner 2"/>
          <p:cNvSpPr/>
          <p:nvPr/>
        </p:nvSpPr>
        <p:spPr>
          <a:xfrm>
            <a:off x="4805172" y="4443984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Gene Zoner 3"/>
          <p:cNvSpPr/>
          <p:nvPr/>
        </p:nvSpPr>
        <p:spPr>
          <a:xfrm>
            <a:off x="5152644" y="4443984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Gene Zoner 4"/>
          <p:cNvSpPr/>
          <p:nvPr/>
        </p:nvSpPr>
        <p:spPr>
          <a:xfrm>
            <a:off x="5500116" y="4443984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Gene Zoner 5"/>
          <p:cNvSpPr/>
          <p:nvPr/>
        </p:nvSpPr>
        <p:spPr>
          <a:xfrm>
            <a:off x="5847588" y="4443984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Gene Zoner 6"/>
          <p:cNvSpPr/>
          <p:nvPr/>
        </p:nvSpPr>
        <p:spPr>
          <a:xfrm>
            <a:off x="6195060" y="4443984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Gene Zoner 7"/>
          <p:cNvSpPr/>
          <p:nvPr/>
        </p:nvSpPr>
        <p:spPr>
          <a:xfrm>
            <a:off x="6542532" y="4443984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Gene Zoner 8"/>
          <p:cNvSpPr/>
          <p:nvPr/>
        </p:nvSpPr>
        <p:spPr>
          <a:xfrm>
            <a:off x="6890004" y="4443984"/>
            <a:ext cx="274320" cy="274320"/>
          </a:xfrm>
          <a:prstGeom prst="rect">
            <a:avLst/>
          </a:prstGeom>
          <a:solidFill>
            <a:srgbClr val="C854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Gene Zoner 9"/>
          <p:cNvSpPr/>
          <p:nvPr/>
        </p:nvSpPr>
        <p:spPr>
          <a:xfrm>
            <a:off x="7237476" y="4443984"/>
            <a:ext cx="274320" cy="274320"/>
          </a:xfrm>
          <a:prstGeom prst="rect">
            <a:avLst/>
          </a:prstGeom>
          <a:solidFill>
            <a:srgbClr val="C854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Gene Zoner 10"/>
          <p:cNvSpPr/>
          <p:nvPr/>
        </p:nvSpPr>
        <p:spPr>
          <a:xfrm>
            <a:off x="7584948" y="4443984"/>
            <a:ext cx="274320" cy="274320"/>
          </a:xfrm>
          <a:prstGeom prst="rect">
            <a:avLst/>
          </a:prstGeom>
          <a:solidFill>
            <a:srgbClr val="C854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Personagem Grappler"/>
          <p:cNvSpPr txBox="1"/>
          <p:nvPr/>
        </p:nvSpPr>
        <p:spPr>
          <a:xfrm>
            <a:off x="1394460" y="4956048"/>
            <a:ext cx="3017520" cy="4572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2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Grappler</a:t>
            </a:r>
          </a:p>
        </p:txBody>
      </p:sp>
      <p:sp>
        <p:nvSpPr>
          <p:cNvPr id="127" name="Gene Grappler 1"/>
          <p:cNvSpPr/>
          <p:nvPr/>
        </p:nvSpPr>
        <p:spPr>
          <a:xfrm>
            <a:off x="4457700" y="5047488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Gene Grappler 2"/>
          <p:cNvSpPr/>
          <p:nvPr/>
        </p:nvSpPr>
        <p:spPr>
          <a:xfrm>
            <a:off x="4805172" y="5047488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Gene Grappler 3"/>
          <p:cNvSpPr/>
          <p:nvPr/>
        </p:nvSpPr>
        <p:spPr>
          <a:xfrm>
            <a:off x="5152644" y="5047488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Gene Grappler 4"/>
          <p:cNvSpPr/>
          <p:nvPr/>
        </p:nvSpPr>
        <p:spPr>
          <a:xfrm>
            <a:off x="5500116" y="5047488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Gene Grappler 5"/>
          <p:cNvSpPr/>
          <p:nvPr/>
        </p:nvSpPr>
        <p:spPr>
          <a:xfrm>
            <a:off x="5847588" y="5047488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Gene Grappler 6"/>
          <p:cNvSpPr/>
          <p:nvPr/>
        </p:nvSpPr>
        <p:spPr>
          <a:xfrm>
            <a:off x="6195060" y="5047488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Gene Grappler 7"/>
          <p:cNvSpPr/>
          <p:nvPr/>
        </p:nvSpPr>
        <p:spPr>
          <a:xfrm>
            <a:off x="6542532" y="5047488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Gene Grappler 8"/>
          <p:cNvSpPr/>
          <p:nvPr/>
        </p:nvSpPr>
        <p:spPr>
          <a:xfrm>
            <a:off x="6890004" y="5047488"/>
            <a:ext cx="274320" cy="274320"/>
          </a:xfrm>
          <a:prstGeom prst="rect">
            <a:avLst/>
          </a:prstGeom>
          <a:solidFill>
            <a:srgbClr val="C854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Gene Grappler 9"/>
          <p:cNvSpPr/>
          <p:nvPr/>
        </p:nvSpPr>
        <p:spPr>
          <a:xfrm>
            <a:off x="7237476" y="5047488"/>
            <a:ext cx="274320" cy="274320"/>
          </a:xfrm>
          <a:prstGeom prst="rect">
            <a:avLst/>
          </a:prstGeom>
          <a:solidFill>
            <a:srgbClr val="C854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Gene Grappler 10"/>
          <p:cNvSpPr/>
          <p:nvPr/>
        </p:nvSpPr>
        <p:spPr>
          <a:xfrm>
            <a:off x="7584948" y="5047488"/>
            <a:ext cx="274320" cy="274320"/>
          </a:xfrm>
          <a:prstGeom prst="rect">
            <a:avLst/>
          </a:prstGeom>
          <a:solidFill>
            <a:srgbClr val="C854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Personagem Combo Master"/>
          <p:cNvSpPr txBox="1"/>
          <p:nvPr/>
        </p:nvSpPr>
        <p:spPr>
          <a:xfrm>
            <a:off x="1394460" y="5559552"/>
            <a:ext cx="3017520" cy="4572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2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Combo Master</a:t>
            </a:r>
          </a:p>
        </p:txBody>
      </p:sp>
      <p:sp>
        <p:nvSpPr>
          <p:cNvPr id="138" name="Gene Combo Master 1"/>
          <p:cNvSpPr/>
          <p:nvPr/>
        </p:nvSpPr>
        <p:spPr>
          <a:xfrm>
            <a:off x="4457700" y="5650992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Gene Combo Master 2"/>
          <p:cNvSpPr/>
          <p:nvPr/>
        </p:nvSpPr>
        <p:spPr>
          <a:xfrm>
            <a:off x="4805172" y="5650992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Gene Combo Master 3"/>
          <p:cNvSpPr/>
          <p:nvPr/>
        </p:nvSpPr>
        <p:spPr>
          <a:xfrm>
            <a:off x="5152644" y="5650992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Gene Combo Master 4"/>
          <p:cNvSpPr/>
          <p:nvPr/>
        </p:nvSpPr>
        <p:spPr>
          <a:xfrm>
            <a:off x="5500116" y="5650992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Gene Combo Master 5"/>
          <p:cNvSpPr/>
          <p:nvPr/>
        </p:nvSpPr>
        <p:spPr>
          <a:xfrm>
            <a:off x="5847588" y="5650992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Gene Combo Master 6"/>
          <p:cNvSpPr/>
          <p:nvPr/>
        </p:nvSpPr>
        <p:spPr>
          <a:xfrm>
            <a:off x="6195060" y="5650992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Gene Combo Master 7"/>
          <p:cNvSpPr/>
          <p:nvPr/>
        </p:nvSpPr>
        <p:spPr>
          <a:xfrm>
            <a:off x="6542532" y="5650992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Gene Combo Master 8"/>
          <p:cNvSpPr/>
          <p:nvPr/>
        </p:nvSpPr>
        <p:spPr>
          <a:xfrm>
            <a:off x="6890004" y="5650992"/>
            <a:ext cx="274320" cy="274320"/>
          </a:xfrm>
          <a:prstGeom prst="rect">
            <a:avLst/>
          </a:prstGeom>
          <a:solidFill>
            <a:srgbClr val="C854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Gene Combo Master 9"/>
          <p:cNvSpPr/>
          <p:nvPr/>
        </p:nvSpPr>
        <p:spPr>
          <a:xfrm>
            <a:off x="7237476" y="5650992"/>
            <a:ext cx="274320" cy="274320"/>
          </a:xfrm>
          <a:prstGeom prst="rect">
            <a:avLst/>
          </a:prstGeom>
          <a:solidFill>
            <a:srgbClr val="C854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Gene Combo Master 10"/>
          <p:cNvSpPr/>
          <p:nvPr/>
        </p:nvSpPr>
        <p:spPr>
          <a:xfrm>
            <a:off x="7584948" y="5650992"/>
            <a:ext cx="274320" cy="274320"/>
          </a:xfrm>
          <a:prstGeom prst="rect">
            <a:avLst/>
          </a:prstGeom>
          <a:solidFill>
            <a:srgbClr val="C854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Personagem Turtle"/>
          <p:cNvSpPr txBox="1"/>
          <p:nvPr/>
        </p:nvSpPr>
        <p:spPr>
          <a:xfrm>
            <a:off x="1394460" y="6163056"/>
            <a:ext cx="3017520" cy="45720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2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Turtle</a:t>
            </a:r>
          </a:p>
        </p:txBody>
      </p:sp>
      <p:sp>
        <p:nvSpPr>
          <p:cNvPr id="149" name="Gene Turtle 1"/>
          <p:cNvSpPr/>
          <p:nvPr/>
        </p:nvSpPr>
        <p:spPr>
          <a:xfrm>
            <a:off x="4457700" y="6254496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Gene Turtle 2"/>
          <p:cNvSpPr/>
          <p:nvPr/>
        </p:nvSpPr>
        <p:spPr>
          <a:xfrm>
            <a:off x="4805172" y="6254496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Gene Turtle 3"/>
          <p:cNvSpPr/>
          <p:nvPr/>
        </p:nvSpPr>
        <p:spPr>
          <a:xfrm>
            <a:off x="5152644" y="6254496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Gene Turtle 4"/>
          <p:cNvSpPr/>
          <p:nvPr/>
        </p:nvSpPr>
        <p:spPr>
          <a:xfrm>
            <a:off x="5500116" y="6254496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Gene Turtle 5"/>
          <p:cNvSpPr/>
          <p:nvPr/>
        </p:nvSpPr>
        <p:spPr>
          <a:xfrm>
            <a:off x="5847588" y="6254496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Gene Turtle 6"/>
          <p:cNvSpPr/>
          <p:nvPr/>
        </p:nvSpPr>
        <p:spPr>
          <a:xfrm>
            <a:off x="6195060" y="6254496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Gene Turtle 7"/>
          <p:cNvSpPr/>
          <p:nvPr/>
        </p:nvSpPr>
        <p:spPr>
          <a:xfrm>
            <a:off x="6542532" y="6254496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Gene Turtle 8"/>
          <p:cNvSpPr/>
          <p:nvPr/>
        </p:nvSpPr>
        <p:spPr>
          <a:xfrm>
            <a:off x="6890004" y="6254496"/>
            <a:ext cx="274320" cy="274320"/>
          </a:xfrm>
          <a:prstGeom prst="rect">
            <a:avLst/>
          </a:prstGeom>
          <a:solidFill>
            <a:srgbClr val="C854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Gene Turtle 9"/>
          <p:cNvSpPr/>
          <p:nvPr/>
        </p:nvSpPr>
        <p:spPr>
          <a:xfrm>
            <a:off x="7237476" y="6254496"/>
            <a:ext cx="274320" cy="274320"/>
          </a:xfrm>
          <a:prstGeom prst="rect">
            <a:avLst/>
          </a:prstGeom>
          <a:solidFill>
            <a:srgbClr val="C854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Gene Turtle 10"/>
          <p:cNvSpPr/>
          <p:nvPr/>
        </p:nvSpPr>
        <p:spPr>
          <a:xfrm>
            <a:off x="7584948" y="6254496"/>
            <a:ext cx="274320" cy="274320"/>
          </a:xfrm>
          <a:prstGeom prst="rect">
            <a:avLst/>
          </a:prstGeom>
          <a:solidFill>
            <a:srgbClr val="C854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Cor atributos"/>
          <p:cNvSpPr/>
          <p:nvPr/>
        </p:nvSpPr>
        <p:spPr>
          <a:xfrm>
            <a:off x="1394460" y="6967728"/>
            <a:ext cx="274320" cy="27432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Legenda atributos"/>
          <p:cNvSpPr txBox="1"/>
          <p:nvPr/>
        </p:nvSpPr>
        <p:spPr>
          <a:xfrm>
            <a:off x="1805940" y="6858000"/>
            <a:ext cx="621792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7 atributos (vida, dano...)</a:t>
            </a:r>
          </a:p>
        </p:txBody>
      </p:sp>
      <p:sp>
        <p:nvSpPr>
          <p:cNvPr id="161" name="Cor pesos"/>
          <p:cNvSpPr/>
          <p:nvPr/>
        </p:nvSpPr>
        <p:spPr>
          <a:xfrm>
            <a:off x="1394460" y="7470648"/>
            <a:ext cx="274320" cy="274320"/>
          </a:xfrm>
          <a:prstGeom prst="rect">
            <a:avLst/>
          </a:prstGeom>
          <a:solidFill>
            <a:srgbClr val="C854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Legenda pesos"/>
          <p:cNvSpPr txBox="1"/>
          <p:nvPr/>
        </p:nvSpPr>
        <p:spPr>
          <a:xfrm>
            <a:off x="1805940" y="7360920"/>
            <a:ext cx="621792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3 pesos de comportamento</a:t>
            </a:r>
          </a:p>
        </p:txBody>
      </p:sp>
      <p:sp>
        <p:nvSpPr>
          <p:cNvPr id="163" name="Total genes"/>
          <p:cNvSpPr txBox="1"/>
          <p:nvPr/>
        </p:nvSpPr>
        <p:spPr>
          <a:xfrm>
            <a:off x="1394460" y="7955280"/>
            <a:ext cx="6583680" cy="54864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4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= 50 genes</a:t>
            </a:r>
          </a:p>
        </p:txBody>
      </p:sp>
      <p:sp>
        <p:nvSpPr>
          <p:cNvPr id="164" name="Rótulo geração"/>
          <p:cNvSpPr txBox="1"/>
          <p:nvPr/>
        </p:nvSpPr>
        <p:spPr>
          <a:xfrm>
            <a:off x="8778240" y="3154680"/>
            <a:ext cx="848106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1" i="0" u="none" strike="noStrike" kern="1200" cap="none" spc="0" baseline="0">
                <a:solidFill>
                  <a:srgbClr val="685B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UMA GERAÇÃO</a:t>
            </a:r>
          </a:p>
        </p:txBody>
      </p:sp>
      <p:sp>
        <p:nvSpPr>
          <p:cNvPr id="165" name="Etapa simular as lutas"/>
          <p:cNvSpPr/>
          <p:nvPr/>
        </p:nvSpPr>
        <p:spPr>
          <a:xfrm>
            <a:off x="8778240" y="3749040"/>
            <a:ext cx="3931920" cy="1188720"/>
          </a:xfrm>
          <a:prstGeom prst="roundRect">
            <a:avLst>
              <a:gd name="adj" fmla="val 12000"/>
            </a:avLst>
          </a:prstGeom>
          <a:solidFill>
            <a:srgbClr val="EFED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Texto simular as lutas"/>
          <p:cNvSpPr txBox="1"/>
          <p:nvPr/>
        </p:nvSpPr>
        <p:spPr>
          <a:xfrm>
            <a:off x="9006840" y="3749040"/>
            <a:ext cx="3474720" cy="118872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2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simular as lutas</a:t>
            </a:r>
          </a:p>
        </p:txBody>
      </p:sp>
      <p:sp>
        <p:nvSpPr>
          <p:cNvPr id="167" name="Etapa selecionar os melhores"/>
          <p:cNvSpPr/>
          <p:nvPr/>
        </p:nvSpPr>
        <p:spPr>
          <a:xfrm>
            <a:off x="13327380" y="3749040"/>
            <a:ext cx="3931920" cy="1188720"/>
          </a:xfrm>
          <a:prstGeom prst="roundRect">
            <a:avLst>
              <a:gd name="adj" fmla="val 12000"/>
            </a:avLst>
          </a:prstGeom>
          <a:solidFill>
            <a:srgbClr val="EFED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Texto selecionar os melhores"/>
          <p:cNvSpPr txBox="1"/>
          <p:nvPr/>
        </p:nvSpPr>
        <p:spPr>
          <a:xfrm>
            <a:off x="13555980" y="3749040"/>
            <a:ext cx="3474720" cy="118872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2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selecionar os melhores</a:t>
            </a:r>
          </a:p>
        </p:txBody>
      </p:sp>
      <p:sp>
        <p:nvSpPr>
          <p:cNvPr id="169" name="Etapa cruzar trocando personagens"/>
          <p:cNvSpPr/>
          <p:nvPr/>
        </p:nvSpPr>
        <p:spPr>
          <a:xfrm>
            <a:off x="13327380" y="5440680"/>
            <a:ext cx="3931920" cy="1188720"/>
          </a:xfrm>
          <a:prstGeom prst="roundRect">
            <a:avLst>
              <a:gd name="adj" fmla="val 12000"/>
            </a:avLst>
          </a:prstGeom>
          <a:solidFill>
            <a:srgbClr val="EFED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Texto cruzar trocando personagens"/>
          <p:cNvSpPr txBox="1"/>
          <p:nvPr/>
        </p:nvSpPr>
        <p:spPr>
          <a:xfrm>
            <a:off x="13555980" y="5440680"/>
            <a:ext cx="3474720" cy="118872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2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cruzar trocando personagens</a:t>
            </a:r>
          </a:p>
        </p:txBody>
      </p:sp>
      <p:sp>
        <p:nvSpPr>
          <p:cNvPr id="171" name="Etapa aplicar mutações"/>
          <p:cNvSpPr/>
          <p:nvPr/>
        </p:nvSpPr>
        <p:spPr>
          <a:xfrm>
            <a:off x="8778240" y="5440680"/>
            <a:ext cx="3931920" cy="1188720"/>
          </a:xfrm>
          <a:prstGeom prst="roundRect">
            <a:avLst>
              <a:gd name="adj" fmla="val 12000"/>
            </a:avLst>
          </a:prstGeom>
          <a:solidFill>
            <a:srgbClr val="EFED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Texto aplicar mutações"/>
          <p:cNvSpPr txBox="1"/>
          <p:nvPr/>
        </p:nvSpPr>
        <p:spPr>
          <a:xfrm>
            <a:off x="9006840" y="5440680"/>
            <a:ext cx="3474720" cy="118872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2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aplicar mutações</a:t>
            </a:r>
          </a:p>
        </p:txBody>
      </p:sp>
      <p:cxnSp>
        <p:nvCxnSpPr>
          <p:cNvPr id="173" name="Seta 1→2"/>
          <p:cNvCxnSpPr/>
          <p:nvPr/>
        </p:nvCxnSpPr>
        <p:spPr>
          <a:xfrm>
            <a:off x="12783312" y="4343400"/>
            <a:ext cx="470916" cy="0"/>
          </a:xfrm>
          <a:prstGeom prst="line">
            <a:avLst/>
          </a:prstGeom>
          <a:ln w="57150">
            <a:solidFill>
              <a:srgbClr val="1B2740"/>
            </a:solidFill>
            <a:tailEnd type="triangle" w="med" len="med"/>
          </a:ln>
        </p:spPr>
      </p:cxnSp>
      <p:cxnSp>
        <p:nvCxnSpPr>
          <p:cNvPr id="174" name="Seta 2→3"/>
          <p:cNvCxnSpPr/>
          <p:nvPr/>
        </p:nvCxnSpPr>
        <p:spPr>
          <a:xfrm>
            <a:off x="15293340" y="4992624"/>
            <a:ext cx="0" cy="393192"/>
          </a:xfrm>
          <a:prstGeom prst="line">
            <a:avLst/>
          </a:prstGeom>
          <a:ln w="57150">
            <a:solidFill>
              <a:srgbClr val="1B2740"/>
            </a:solidFill>
            <a:tailEnd type="triangle" w="med" len="med"/>
          </a:ln>
        </p:spPr>
      </p:cxnSp>
      <p:cxnSp>
        <p:nvCxnSpPr>
          <p:cNvPr id="175" name="Seta 3→4"/>
          <p:cNvCxnSpPr/>
          <p:nvPr/>
        </p:nvCxnSpPr>
        <p:spPr>
          <a:xfrm flipH="1">
            <a:off x="12783312" y="6035040"/>
            <a:ext cx="470916" cy="0"/>
          </a:xfrm>
          <a:prstGeom prst="line">
            <a:avLst/>
          </a:prstGeom>
          <a:ln w="57150">
            <a:solidFill>
              <a:srgbClr val="1B2740"/>
            </a:solidFill>
            <a:tailEnd type="triangle" w="med" len="med"/>
          </a:ln>
        </p:spPr>
      </p:cxnSp>
      <p:cxnSp>
        <p:nvCxnSpPr>
          <p:cNvPr id="176" name="Seta 4→1"/>
          <p:cNvCxnSpPr/>
          <p:nvPr/>
        </p:nvCxnSpPr>
        <p:spPr>
          <a:xfrm flipV="1">
            <a:off x="10744200" y="4992624"/>
            <a:ext cx="0" cy="393192"/>
          </a:xfrm>
          <a:prstGeom prst="line">
            <a:avLst/>
          </a:prstGeom>
          <a:ln w="57150">
            <a:solidFill>
              <a:srgbClr val="1B2740"/>
            </a:solidFill>
            <a:tailEnd type="triangle" w="med" len="med"/>
          </a:ln>
        </p:spPr>
      </p:cxnSp>
      <p:sp>
        <p:nvSpPr>
          <p:cNvPr id="177" name="Pop número"/>
          <p:cNvSpPr txBox="1"/>
          <p:nvPr/>
        </p:nvSpPr>
        <p:spPr>
          <a:xfrm>
            <a:off x="8778240" y="6949440"/>
            <a:ext cx="1600200" cy="82296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5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300</a:t>
            </a:r>
          </a:p>
        </p:txBody>
      </p:sp>
      <p:sp>
        <p:nvSpPr>
          <p:cNvPr id="178" name="Pop legenda"/>
          <p:cNvSpPr txBox="1"/>
          <p:nvPr/>
        </p:nvSpPr>
        <p:spPr>
          <a:xfrm>
            <a:off x="10469880" y="6949440"/>
            <a:ext cx="2377440" cy="82296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elencos na</a:t>
            </a:r>
          </a:p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população</a:t>
            </a:r>
          </a:p>
        </p:txBody>
      </p:sp>
      <p:sp>
        <p:nvSpPr>
          <p:cNvPr id="179" name="Ger número"/>
          <p:cNvSpPr txBox="1"/>
          <p:nvPr/>
        </p:nvSpPr>
        <p:spPr>
          <a:xfrm>
            <a:off x="13327380" y="6949440"/>
            <a:ext cx="1600200" cy="82296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50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150</a:t>
            </a:r>
          </a:p>
        </p:txBody>
      </p:sp>
      <p:sp>
        <p:nvSpPr>
          <p:cNvPr id="180" name="Ger legenda"/>
          <p:cNvSpPr txBox="1"/>
          <p:nvPr/>
        </p:nvSpPr>
        <p:spPr>
          <a:xfrm>
            <a:off x="15019020" y="6949440"/>
            <a:ext cx="2286000" cy="82296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gerações,</a:t>
            </a:r>
          </a:p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no máximo</a:t>
            </a:r>
          </a:p>
        </p:txBody>
      </p:sp>
      <p:sp>
        <p:nvSpPr>
          <p:cNvPr id="181" name="Semente"/>
          <p:cNvSpPr txBox="1"/>
          <p:nvPr/>
        </p:nvSpPr>
        <p:spPr>
          <a:xfrm>
            <a:off x="8778240" y="8001000"/>
            <a:ext cx="848106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começa com o original e 299 sorteados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8"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2C638BA-649E-4656-7F78-4647855D84C0}"/>
              </a:ext>
            </a:extLst>
          </p:cNvPr>
          <p:cNvSpPr txBox="1"/>
          <p:nvPr/>
        </p:nvSpPr>
        <p:spPr>
          <a:xfrm>
            <a:off x="1028700" y="371475"/>
            <a:ext cx="14097000" cy="6572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399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 Medium"/>
                <a:ea typeface="Montserrat Medium"/>
                <a:cs typeface="Montserrat Medium"/>
              </a:rPr>
              <a:t>Método</a:t>
            </a:r>
            <a:endParaRPr lang="en-US" sz="4399" b="1" i="0" u="none" strike="noStrike" kern="1200" cap="none" spc="0" baseline="0" dirty="0">
              <a:solidFill>
                <a:srgbClr val="FFFFFF"/>
              </a:solidFill>
              <a:uFillTx/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01" name="Afirmação"/>
          <p:cNvSpPr txBox="1"/>
          <p:nvPr/>
        </p:nvSpPr>
        <p:spPr>
          <a:xfrm>
            <a:off x="1028700" y="1580998"/>
            <a:ext cx="16230600" cy="1218895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Na luta, a única aleatoriedade é a intenção sorteada</a:t>
            </a:r>
          </a:p>
        </p:txBody>
      </p:sp>
      <p:sp>
        <p:nvSpPr>
          <p:cNvPr id="102" name="Luta"/>
          <p:cNvSpPr/>
          <p:nvPr/>
        </p:nvSpPr>
        <p:spPr>
          <a:xfrm>
            <a:off x="1028700" y="2926080"/>
            <a:ext cx="9326880" cy="5029200"/>
          </a:xfrm>
          <a:prstGeom prst="roundRect">
            <a:avLst>
              <a:gd name="adj" fmla="val 5000"/>
            </a:avLst>
          </a:prstGeom>
          <a:solidFill>
            <a:srgbClr val="F4F4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Rótulo luta"/>
          <p:cNvSpPr txBox="1"/>
          <p:nvPr/>
        </p:nvSpPr>
        <p:spPr>
          <a:xfrm>
            <a:off x="1440180" y="3154680"/>
            <a:ext cx="850392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1" i="0" u="none" strike="noStrike" kern="1200" cap="none" spc="0" baseline="0">
                <a:solidFill>
                  <a:srgbClr val="685B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UMA LUTA</a:t>
            </a:r>
          </a:p>
        </p:txBody>
      </p:sp>
      <p:cxnSp>
        <p:nvCxnSpPr>
          <p:cNvPr id="104" name="Campo"/>
          <p:cNvCxnSpPr/>
          <p:nvPr/>
        </p:nvCxnSpPr>
        <p:spPr>
          <a:xfrm>
            <a:off x="1440180" y="4434840"/>
            <a:ext cx="8503920" cy="0"/>
          </a:xfrm>
          <a:prstGeom prst="line">
            <a:avLst/>
          </a:prstGeom>
          <a:ln w="38100">
            <a:solidFill>
              <a:srgbClr val="C9CCD8"/>
            </a:solidFill>
          </a:ln>
        </p:spPr>
      </p:cxnSp>
      <p:sp>
        <p:nvSpPr>
          <p:cNvPr id="105" name="Lutador 1"/>
          <p:cNvSpPr/>
          <p:nvPr/>
        </p:nvSpPr>
        <p:spPr>
          <a:xfrm>
            <a:off x="2857500" y="3703320"/>
            <a:ext cx="731520" cy="731520"/>
          </a:xfrm>
          <a:prstGeom prst="ellipse">
            <a:avLst/>
          </a:prstGeom>
          <a:solidFill>
            <a:srgbClr val="685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6" name="Avança 1"/>
          <p:cNvCxnSpPr/>
          <p:nvPr/>
        </p:nvCxnSpPr>
        <p:spPr>
          <a:xfrm>
            <a:off x="3726180" y="4069080"/>
            <a:ext cx="731520" cy="0"/>
          </a:xfrm>
          <a:prstGeom prst="line">
            <a:avLst/>
          </a:prstGeom>
          <a:ln w="57150">
            <a:solidFill>
              <a:srgbClr val="685BC7"/>
            </a:solidFill>
            <a:tailEnd type="triangle" w="med" len="med"/>
          </a:ln>
        </p:spPr>
      </p:cxnSp>
      <p:sp>
        <p:nvSpPr>
          <p:cNvPr id="107" name="Lutador 2"/>
          <p:cNvSpPr/>
          <p:nvPr/>
        </p:nvSpPr>
        <p:spPr>
          <a:xfrm>
            <a:off x="7063740" y="3703320"/>
            <a:ext cx="731520" cy="731520"/>
          </a:xfrm>
          <a:prstGeom prst="ellipse">
            <a:avLst/>
          </a:prstGeom>
          <a:solidFill>
            <a:srgbClr val="C854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8" name="Avança 2"/>
          <p:cNvCxnSpPr/>
          <p:nvPr/>
        </p:nvCxnSpPr>
        <p:spPr>
          <a:xfrm flipH="1">
            <a:off x="6195060" y="4069080"/>
            <a:ext cx="731520" cy="0"/>
          </a:xfrm>
          <a:prstGeom prst="line">
            <a:avLst/>
          </a:prstGeom>
          <a:ln w="57150">
            <a:solidFill>
              <a:srgbClr val="C8540F"/>
            </a:solidFill>
            <a:tailEnd type="triangle" w="med" len="med"/>
          </a:ln>
        </p:spPr>
      </p:cxnSp>
      <p:sp>
        <p:nvSpPr>
          <p:cNvPr id="109" name="Fora do alcance"/>
          <p:cNvSpPr txBox="1"/>
          <p:nvPr/>
        </p:nvSpPr>
        <p:spPr>
          <a:xfrm>
            <a:off x="1440180" y="4709160"/>
            <a:ext cx="8503920" cy="50292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Fora do alcance: </a:t>
            </a:r>
            <a:r>
              <a:rPr lang="pt-BR" sz="2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avança</a:t>
            </a:r>
          </a:p>
        </p:txBody>
      </p:sp>
      <p:sp>
        <p:nvSpPr>
          <p:cNvPr id="110" name="No alcance"/>
          <p:cNvSpPr txBox="1"/>
          <p:nvPr/>
        </p:nvSpPr>
        <p:spPr>
          <a:xfrm>
            <a:off x="1440180" y="5303520"/>
            <a:ext cx="8503920" cy="50292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No alcance: </a:t>
            </a:r>
            <a:r>
              <a:rPr lang="pt-BR" sz="28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sorteia uma intenção</a:t>
            </a:r>
          </a:p>
        </p:txBody>
      </p:sp>
      <p:sp>
        <p:nvSpPr>
          <p:cNvPr id="111" name="Intenção AVANÇAR"/>
          <p:cNvSpPr/>
          <p:nvPr/>
        </p:nvSpPr>
        <p:spPr>
          <a:xfrm>
            <a:off x="1440180" y="5989320"/>
            <a:ext cx="2514600" cy="64008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Texto AVANÇAR"/>
          <p:cNvSpPr txBox="1"/>
          <p:nvPr/>
        </p:nvSpPr>
        <p:spPr>
          <a:xfrm>
            <a:off x="1440180" y="5989320"/>
            <a:ext cx="2514600" cy="64008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2800" b="1" i="0" u="none" strike="noStrike" kern="1200" cap="none" spc="0" baseline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AVANÇAR</a:t>
            </a:r>
          </a:p>
        </p:txBody>
      </p:sp>
      <p:sp>
        <p:nvSpPr>
          <p:cNvPr id="113" name="Intenção RECUAR"/>
          <p:cNvSpPr/>
          <p:nvPr/>
        </p:nvSpPr>
        <p:spPr>
          <a:xfrm>
            <a:off x="4183380" y="5989320"/>
            <a:ext cx="2514600" cy="64008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Texto RECUAR"/>
          <p:cNvSpPr txBox="1"/>
          <p:nvPr/>
        </p:nvSpPr>
        <p:spPr>
          <a:xfrm>
            <a:off x="4183380" y="5989320"/>
            <a:ext cx="2514600" cy="64008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2800" b="1" i="0" u="none" strike="noStrike" kern="1200" cap="none" spc="0" baseline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RECUAR</a:t>
            </a:r>
          </a:p>
        </p:txBody>
      </p:sp>
      <p:sp>
        <p:nvSpPr>
          <p:cNvPr id="115" name="Intenção DEFENDER"/>
          <p:cNvSpPr/>
          <p:nvPr/>
        </p:nvSpPr>
        <p:spPr>
          <a:xfrm>
            <a:off x="6926580" y="5989320"/>
            <a:ext cx="2514600" cy="64008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Texto DEFENDER"/>
          <p:cNvSpPr txBox="1"/>
          <p:nvPr/>
        </p:nvSpPr>
        <p:spPr>
          <a:xfrm>
            <a:off x="6926580" y="5989320"/>
            <a:ext cx="2514600" cy="64008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pt-BR" sz="2800" b="1" i="0" u="none" strike="noStrike" kern="1200" cap="none" spc="0" baseline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DEFENDER</a:t>
            </a:r>
          </a:p>
        </p:txBody>
      </p:sp>
      <p:sp>
        <p:nvSpPr>
          <p:cNvPr id="117" name="Pesos"/>
          <p:cNvSpPr txBox="1"/>
          <p:nvPr/>
        </p:nvSpPr>
        <p:spPr>
          <a:xfrm>
            <a:off x="1440180" y="6903720"/>
            <a:ext cx="8503920" cy="50292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5B61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com probabilidade proporcional aos pesos</a:t>
            </a:r>
          </a:p>
        </p:txBody>
      </p:sp>
      <p:sp>
        <p:nvSpPr>
          <p:cNvPr id="118" name="Por elenco"/>
          <p:cNvSpPr/>
          <p:nvPr/>
        </p:nvSpPr>
        <p:spPr>
          <a:xfrm>
            <a:off x="10744200" y="2926080"/>
            <a:ext cx="6515100" cy="5029200"/>
          </a:xfrm>
          <a:prstGeom prst="roundRect">
            <a:avLst>
              <a:gd name="adj" fmla="val 5000"/>
            </a:avLst>
          </a:prstGeom>
          <a:solidFill>
            <a:srgbClr val="F4F4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Rótulo elenco"/>
          <p:cNvSpPr txBox="1"/>
          <p:nvPr/>
        </p:nvSpPr>
        <p:spPr>
          <a:xfrm>
            <a:off x="11155680" y="3154680"/>
            <a:ext cx="5692140" cy="45720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2800" b="1" i="0" u="none" strike="noStrike" kern="1200" cap="none" spc="0" baseline="0">
                <a:solidFill>
                  <a:srgbClr val="685B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PARA AVALIAR UM ELENCO</a:t>
            </a:r>
          </a:p>
        </p:txBody>
      </p:sp>
      <p:sp>
        <p:nvSpPr>
          <p:cNvPr id="120" name="Número 10"/>
          <p:cNvSpPr txBox="1"/>
          <p:nvPr/>
        </p:nvSpPr>
        <p:spPr>
          <a:xfrm>
            <a:off x="11155680" y="3794760"/>
            <a:ext cx="2377440" cy="109728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54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10</a:t>
            </a:r>
          </a:p>
        </p:txBody>
      </p:sp>
      <p:sp>
        <p:nvSpPr>
          <p:cNvPr id="121" name="Legenda 10"/>
          <p:cNvSpPr txBox="1"/>
          <p:nvPr/>
        </p:nvSpPr>
        <p:spPr>
          <a:xfrm>
            <a:off x="13624560" y="3794760"/>
            <a:ext cx="3314700" cy="109728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confrontos,</a:t>
            </a:r>
          </a:p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todos contra todos</a:t>
            </a:r>
          </a:p>
        </p:txBody>
      </p:sp>
      <p:sp>
        <p:nvSpPr>
          <p:cNvPr id="122" name="Número 150"/>
          <p:cNvSpPr txBox="1"/>
          <p:nvPr/>
        </p:nvSpPr>
        <p:spPr>
          <a:xfrm>
            <a:off x="11155680" y="5074920"/>
            <a:ext cx="2377440" cy="109728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54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150</a:t>
            </a:r>
          </a:p>
        </p:txBody>
      </p:sp>
      <p:sp>
        <p:nvSpPr>
          <p:cNvPr id="123" name="Legenda 150"/>
          <p:cNvSpPr txBox="1"/>
          <p:nvPr/>
        </p:nvSpPr>
        <p:spPr>
          <a:xfrm>
            <a:off x="13624560" y="5074920"/>
            <a:ext cx="3314700" cy="109728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lutas por</a:t>
            </a:r>
          </a:p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confronto</a:t>
            </a:r>
          </a:p>
        </p:txBody>
      </p:sp>
      <p:sp>
        <p:nvSpPr>
          <p:cNvPr id="124" name="Número 1.500"/>
          <p:cNvSpPr txBox="1"/>
          <p:nvPr/>
        </p:nvSpPr>
        <p:spPr>
          <a:xfrm>
            <a:off x="11155680" y="6355080"/>
            <a:ext cx="2377440" cy="109728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5400" b="1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1.500</a:t>
            </a:r>
          </a:p>
        </p:txBody>
      </p:sp>
      <p:sp>
        <p:nvSpPr>
          <p:cNvPr id="125" name="Legenda 1.500"/>
          <p:cNvSpPr txBox="1"/>
          <p:nvPr/>
        </p:nvSpPr>
        <p:spPr>
          <a:xfrm>
            <a:off x="13624560" y="6355080"/>
            <a:ext cx="3314700" cy="1097280"/>
          </a:xfrm>
          <a:prstGeom prst="rect">
            <a:avLst/>
          </a:prstGeom>
          <a:noFill/>
        </p:spPr>
        <p:txBody>
          <a:bodyPr vert="horz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lutas</a:t>
            </a:r>
          </a:p>
          <a:p>
            <a:pPr marL="0" indent="0" algn="l">
              <a:buNone/>
            </a:pPr>
            <a:r>
              <a:rPr lang="pt-BR" sz="28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no total</a:t>
            </a:r>
          </a:p>
        </p:txBody>
      </p:sp>
      <p:sp>
        <p:nvSpPr>
          <p:cNvPr id="126" name="Fecho"/>
          <p:cNvSpPr txBox="1"/>
          <p:nvPr/>
        </p:nvSpPr>
        <p:spPr>
          <a:xfrm>
            <a:off x="1028700" y="8229600"/>
            <a:ext cx="16230600" cy="640080"/>
          </a:xfrm>
          <a:prstGeom prst="rect">
            <a:avLst/>
          </a:prstGeom>
          <a:noFill/>
        </p:spPr>
        <p:txBody>
          <a:bodyPr vert="horz" wrap="square" lIns="0" tIns="0" rIns="0" bIns="0" anchor="t" anchorCtr="0">
            <a:noAutofit/>
          </a:bodyPr>
          <a:lstStyle/>
          <a:p>
            <a:pPr marL="0" indent="0" algn="l">
              <a:buNone/>
            </a:pPr>
            <a:r>
              <a:rPr lang="pt-BR" sz="30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Cada confronto é repetido </a:t>
            </a:r>
            <a:r>
              <a:rPr lang="pt-BR" sz="3000" b="1" i="0" u="none" strike="noStrike" kern="1200" cap="none" spc="0" baseline="0">
                <a:solidFill>
                  <a:srgbClr val="685B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150 vezes</a:t>
            </a:r>
            <a:r>
              <a:rPr lang="pt-BR" sz="3000" b="0" i="0" u="none" strike="noStrike" kern="1200" cap="none" spc="0" baseline="0">
                <a:solidFill>
                  <a:srgbClr val="1B27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 xml:space="preserve"> para estimar a taxa de vitória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45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2" baseType="lpstr">
      <vt:lpstr>Arial</vt:lpstr>
      <vt:lpstr>Calibri</vt:lpstr>
      <vt:lpstr>Montserrat</vt:lpstr>
      <vt:lpstr>Montserrat Bold</vt:lpstr>
      <vt:lpstr>Montserrat Bold Italics</vt:lpstr>
      <vt:lpstr>Montserrat Italics</vt:lpstr>
      <vt:lpstr>Montserrat Medium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Balanceamento competitivo com preservação de identidade: Algoritmos Genéticos e NSGA-II em arquétipos de jogos de luta</dc:title>
  <dc:creator>Matheus Gimenes de Souza; Everson Scherrer Borges</dc:creator>
  <cp:lastModifiedBy>Patricia Rodrigues</cp:lastModifiedBy>
  <cp:revision>1</cp:revision>
  <dcterms:created xsi:type="dcterms:W3CDTF">2006-08-16T00:00:00Z</dcterms:created>
  <dcterms:modified xsi:type="dcterms:W3CDTF">2026-09-18T17:04:18Z</dcterms:modified>
</cp:coreProperties>
</file>