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65" r:id="rId10"/>
    <p:sldId id="267" r:id="rId12"/>
    <p:sldId id="276" r:id="rId21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 a todos. Meu nome é Matheus, sou estudante de Sistemas de Informação no Ifes, campus Cachoeiro de Itapemirim. Vou apresentar um trabalho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estudar esse problema, escolhemos os jogos de luta, em que o confronto é um contra um e cada estilo é bem definido. Montamos um elenco com cinco estilos clássicos do gênero. Eles vão do rushdown, que pressiona o tempo todo, ao turtle, que se defende e espera o erro, e se enfrentam como em pedra, papel e tesoura. A pergunta da pesquisa é: um algoritmo genético consegue equilibrar esses cinco estilos sem destruir a identidade de cada 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personagem é descrito por dez números: atributos como vida, dano, alcance e velocidade, e pesos que indicam o quanto ele prefere avançar, recuar ou se defender. Para avaliar um elenco, um simulador coloca os cinco para lutar todos contra todos, cento e cinquenta vezes em cada confronto. O algoritmo genético faz o que a evolução faz: gera elencos, combina os melhores, aplica mutações e repete.</a:t>
            </a:r>
          </a:p>
          <a:p>
            <a:r>
              <a:t>A decisão central do trabalho é esta: não obrigamos o algoritmo a preservar os personagens. Ele busca apenas duas coisas: equilíbrio e proximidade com o elenco original. Afastar-se do original tem um custo, mas é permitido. Quem deveria vencer quem nunca entra na busca; isso só é medido depois. Se a identidade fosse uma regra, ela sobreviveria por obrigação. Medida por fora, sua preservação passa a ser 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 orçamento da busca: 300 elencos por geração, 150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para verificar a identidade de cada personagem, mas nenhum dos dez confrontos é equilibrado: um personagem vence todas as lutas, e outro não vence nenhuma.</a:t>
            </a:r>
          </a:p>
          <a:p>
            <a:r>
              <a:t>A primeira abordagem foi um algoritmo genético que soma os dois objetivos. Ele equilibra todos os dez confrontos. Porém, restam apenas sete dos vinte e um testes. Ou seja, caiu exatamente no problema que descrevemos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ponto deste gráfico é um elenco. Para a esquerda, mais equilíbrio; para baixo, mais identidade. O canto inferior esquerdo está vazio: para ganhar de um lado, é preciso perder do outro. No extremo do equilíbrio, o elenco mais equilibrado da fronteira tem nove dos dez confrontos equilibrados, mas preserva treze testes. Já no joelho da curva, o desbalanço caiu três quartos do caminho, enquanto vinte dos vinte e um testes continuam valendo. Quem projeta o jogo pode, então, escolher onde parar, conhecendo o custo de cada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resposta, ainda preliminar, é sim: é possível equilibrar sem apagar as identidades, mas não sem custo, e esse custo agora pode ser medido. O modelo ainda é simplificado, e o próximo passo é testar o equilíbrio contra um adversário que também se adapta.</a:t>
            </a:r>
          </a:p>
          <a:p>
            <a:r>
              <a:t>O código é aberto e está disponível no GitHub, pelo QR code, para quem quiser testá-lo. O projeto segue em desenvolvimento e recebendo atualizações.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comprometer um jogo competitivo. A primeira é a mais conhecida: um personagem fica forte demais, e todos os jogadores passam a escolhê-lo. A segunda é mais sutil. Para corrigir a primeira, ajustam-se os números até que ninguém domine. Só que, nesse processo, os personagens podem perder justamente aquilo que os tornava únicos. O jogo fica equilibrado, mas a escolha do personagem deixa de importar. O desafio, portanto, é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isso aconteceu? Porque somar os objetivos já é uma escolha. Com pesos iguais, o algoritmo decide sozinho quanto de identidade vale um pouco mais de equilíbrio, e entrega um único elenco. Por isso usamos também o NSGA-II, um algoritmo multiobjetivo que não faz essa soma. Ele só descarta um elenco se existir outro melhor nos dois objetivos ao mesmo tempo. O que sobra é a fronteira de Pareto: o conjunto dos melhores compromissos encontrados.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297680"/>
            <a:ext cx="857250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577840"/>
            <a:ext cx="7620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080760"/>
            <a:ext cx="76200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78040"/>
            <a:ext cx="76200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Ifes, 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81228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algoritmo nunca sabe quem deveria vencer quem</a:t>
            </a:r>
          </a:p>
        </p:txBody>
      </p:sp>
      <p:sp>
        <p:nvSpPr>
          <p:cNvPr id="102" name="Rótulo simulador"/>
          <p:cNvSpPr txBox="1"/>
          <p:nvPr/>
        </p:nvSpPr>
        <p:spPr>
          <a:xfrm>
            <a:off x="1028700" y="2926080"/>
            <a:ext cx="493776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SIMULADOR</a:t>
            </a:r>
          </a:p>
        </p:txBody>
      </p:sp>
      <p:sp>
        <p:nvSpPr>
          <p:cNvPr id="103" name="Simulador"/>
          <p:cNvSpPr/>
          <p:nvPr/>
        </p:nvSpPr>
        <p:spPr>
          <a:xfrm>
            <a:off x="1028700" y="3474720"/>
            <a:ext cx="4937760" cy="42519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utador 1"/>
          <p:cNvSpPr/>
          <p:nvPr/>
        </p:nvSpPr>
        <p:spPr>
          <a:xfrm>
            <a:off x="2125980" y="3794760"/>
            <a:ext cx="777240" cy="77724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Avança 1"/>
          <p:cNvCxnSpPr/>
          <p:nvPr/>
        </p:nvCxnSpPr>
        <p:spPr>
          <a:xfrm>
            <a:off x="2994660" y="4183380"/>
            <a:ext cx="457200" cy="0"/>
          </a:xfrm>
          <a:prstGeom prst="line">
            <a:avLst/>
          </a:prstGeom>
          <a:ln w="57150">
            <a:solidFill>
              <a:srgbClr val="685BC7"/>
            </a:solidFill>
            <a:tailEnd type="triangle" w="med" len="med"/>
          </a:ln>
        </p:spPr>
      </p:cxnSp>
      <p:sp>
        <p:nvSpPr>
          <p:cNvPr id="106" name="Lutador 2"/>
          <p:cNvSpPr/>
          <p:nvPr/>
        </p:nvSpPr>
        <p:spPr>
          <a:xfrm>
            <a:off x="4091940" y="3794760"/>
            <a:ext cx="777240" cy="77724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7" name="Avança 2"/>
          <p:cNvCxnSpPr/>
          <p:nvPr/>
        </p:nvCxnSpPr>
        <p:spPr>
          <a:xfrm flipH="1">
            <a:off x="3543300" y="4183380"/>
            <a:ext cx="457200" cy="0"/>
          </a:xfrm>
          <a:prstGeom prst="line">
            <a:avLst/>
          </a:prstGeom>
          <a:ln w="57150">
            <a:solidFill>
              <a:srgbClr val="C8540F"/>
            </a:solidFill>
            <a:tailEnd type="triangle" w="med" len="med"/>
          </a:ln>
        </p:spPr>
      </p:cxnSp>
      <p:cxnSp>
        <p:nvCxnSpPr>
          <p:cNvPr id="108" name="Chão"/>
          <p:cNvCxnSpPr/>
          <p:nvPr/>
        </p:nvCxnSpPr>
        <p:spPr>
          <a:xfrm>
            <a:off x="1348740" y="4754880"/>
            <a:ext cx="429768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sp>
        <p:nvSpPr>
          <p:cNvPr id="109" name="Genes"/>
          <p:cNvSpPr txBox="1"/>
          <p:nvPr/>
        </p:nvSpPr>
        <p:spPr>
          <a:xfrm>
            <a:off x="1348740" y="4983480"/>
            <a:ext cx="160020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0" name="Genes legenda"/>
          <p:cNvSpPr txBox="1"/>
          <p:nvPr/>
        </p:nvSpPr>
        <p:spPr>
          <a:xfrm>
            <a:off x="2994660" y="4983480"/>
            <a:ext cx="269748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números por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personagem</a:t>
            </a:r>
          </a:p>
        </p:txBody>
      </p:sp>
      <p:sp>
        <p:nvSpPr>
          <p:cNvPr id="111" name="Lutas"/>
          <p:cNvSpPr txBox="1"/>
          <p:nvPr/>
        </p:nvSpPr>
        <p:spPr>
          <a:xfrm>
            <a:off x="1348740" y="6263640"/>
            <a:ext cx="160020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12" name="Lutas legenda"/>
          <p:cNvSpPr txBox="1"/>
          <p:nvPr/>
        </p:nvSpPr>
        <p:spPr>
          <a:xfrm>
            <a:off x="2994660" y="6263640"/>
            <a:ext cx="2697480" cy="8686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lutas por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</a:t>
            </a:r>
          </a:p>
        </p:txBody>
      </p:sp>
      <p:cxnSp>
        <p:nvCxnSpPr>
          <p:cNvPr id="113" name="Seta 1"/>
          <p:cNvCxnSpPr/>
          <p:nvPr/>
        </p:nvCxnSpPr>
        <p:spPr>
          <a:xfrm>
            <a:off x="6080760" y="5600700"/>
            <a:ext cx="45720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4" name="Rótulo busca"/>
          <p:cNvSpPr txBox="1"/>
          <p:nvPr/>
        </p:nvSpPr>
        <p:spPr>
          <a:xfrm>
            <a:off x="6720840" y="2926080"/>
            <a:ext cx="539496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BUSCA EVOLUTIVA</a:t>
            </a:r>
          </a:p>
        </p:txBody>
      </p:sp>
      <p:sp>
        <p:nvSpPr>
          <p:cNvPr id="115" name="Busca"/>
          <p:cNvSpPr/>
          <p:nvPr/>
        </p:nvSpPr>
        <p:spPr>
          <a:xfrm>
            <a:off x="6720840" y="3474720"/>
            <a:ext cx="5394960" cy="42519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bjetivo equilíbrio"/>
          <p:cNvSpPr/>
          <p:nvPr/>
        </p:nvSpPr>
        <p:spPr>
          <a:xfrm>
            <a:off x="6995160" y="3749040"/>
            <a:ext cx="4846320" cy="1691640"/>
          </a:xfrm>
          <a:prstGeom prst="roundRect">
            <a:avLst>
              <a:gd name="adj" fmla="val 9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Equilíbrio título"/>
          <p:cNvSpPr txBox="1"/>
          <p:nvPr/>
        </p:nvSpPr>
        <p:spPr>
          <a:xfrm>
            <a:off x="7269480" y="3977640"/>
            <a:ext cx="429768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</a:t>
            </a:r>
          </a:p>
        </p:txBody>
      </p:sp>
      <p:sp>
        <p:nvSpPr>
          <p:cNvPr id="118" name="Equilíbrio legenda"/>
          <p:cNvSpPr txBox="1"/>
          <p:nvPr/>
        </p:nvSpPr>
        <p:spPr>
          <a:xfrm>
            <a:off x="7269480" y="461772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ninguém domina</a:t>
            </a:r>
          </a:p>
        </p:txBody>
      </p:sp>
      <p:sp>
        <p:nvSpPr>
          <p:cNvPr id="119" name="Objetivo identidade"/>
          <p:cNvSpPr/>
          <p:nvPr/>
        </p:nvSpPr>
        <p:spPr>
          <a:xfrm>
            <a:off x="6995160" y="5760720"/>
            <a:ext cx="4846320" cy="1691640"/>
          </a:xfrm>
          <a:prstGeom prst="roundRect">
            <a:avLst>
              <a:gd name="adj" fmla="val 9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Identidade título"/>
          <p:cNvSpPr txBox="1"/>
          <p:nvPr/>
        </p:nvSpPr>
        <p:spPr>
          <a:xfrm>
            <a:off x="7269480" y="5989320"/>
            <a:ext cx="429768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perto do original</a:t>
            </a:r>
          </a:p>
        </p:txBody>
      </p:sp>
      <p:sp>
        <p:nvSpPr>
          <p:cNvPr id="121" name="Identidade legenda"/>
          <p:cNvSpPr txBox="1"/>
          <p:nvPr/>
        </p:nvSpPr>
        <p:spPr>
          <a:xfrm>
            <a:off x="7269480" y="662940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afastar-se custa</a:t>
            </a:r>
          </a:p>
        </p:txBody>
      </p:sp>
      <p:cxnSp>
        <p:nvCxnSpPr>
          <p:cNvPr id="122" name="Seta 2"/>
          <p:cNvCxnSpPr/>
          <p:nvPr/>
        </p:nvCxnSpPr>
        <p:spPr>
          <a:xfrm>
            <a:off x="12298680" y="5600700"/>
            <a:ext cx="457200" cy="0"/>
          </a:xfrm>
          <a:prstGeom prst="line">
            <a:avLst/>
          </a:prstGeom>
          <a:ln w="57150">
            <a:solidFill>
              <a:srgbClr val="1B2740"/>
            </a:solidFill>
            <a:prstDash val="dash"/>
            <a:tailEnd type="triangle" w="med" len="med"/>
          </a:ln>
        </p:spPr>
      </p:cxnSp>
      <p:sp>
        <p:nvSpPr>
          <p:cNvPr id="123" name="Rótulo depois"/>
          <p:cNvSpPr txBox="1"/>
          <p:nvPr/>
        </p:nvSpPr>
        <p:spPr>
          <a:xfrm>
            <a:off x="12938760" y="2926080"/>
            <a:ext cx="432054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DEPOIS</a:t>
            </a:r>
          </a:p>
        </p:txBody>
      </p:sp>
      <p:sp>
        <p:nvSpPr>
          <p:cNvPr id="124" name="Fora da busca"/>
          <p:cNvSpPr/>
          <p:nvPr/>
        </p:nvSpPr>
        <p:spPr>
          <a:xfrm>
            <a:off x="12938760" y="3474720"/>
            <a:ext cx="43205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Fora"/>
          <p:cNvSpPr txBox="1"/>
          <p:nvPr/>
        </p:nvSpPr>
        <p:spPr>
          <a:xfrm>
            <a:off x="13258800" y="3794760"/>
            <a:ext cx="36804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fora da busca:</a:t>
            </a:r>
          </a:p>
        </p:txBody>
      </p:sp>
      <p:sp>
        <p:nvSpPr>
          <p:cNvPr id="126" name="Quem vence"/>
          <p:cNvSpPr txBox="1"/>
          <p:nvPr/>
        </p:nvSpPr>
        <p:spPr>
          <a:xfrm>
            <a:off x="13258800" y="4434840"/>
            <a:ext cx="368046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</a:t>
            </a:r>
          </a:p>
        </p:txBody>
      </p:sp>
      <p:sp>
        <p:nvSpPr>
          <p:cNvPr id="127" name="Testes"/>
          <p:cNvSpPr txBox="1"/>
          <p:nvPr/>
        </p:nvSpPr>
        <p:spPr>
          <a:xfrm>
            <a:off x="13258800" y="5806440"/>
            <a:ext cx="368046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  <a:p>
            <a:pPr marL="0" indent="0" algn="l">
              <a:lnSpc>
                <a:spcPct val="95000"/>
              </a:lnSpc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28" name="Fecho"/>
          <p:cNvSpPr txBox="1"/>
          <p:nvPr/>
        </p:nvSpPr>
        <p:spPr>
          <a:xfrm>
            <a:off x="1028700" y="8001000"/>
            <a:ext cx="16230600" cy="11887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por completo apaga boa parte da identidade</a:t>
            </a:r>
          </a:p>
        </p:txBody>
      </p:sp>
      <p:sp>
        <p:nvSpPr>
          <p:cNvPr id="102" name="Cartão canônico"/>
          <p:cNvSpPr/>
          <p:nvPr/>
        </p:nvSpPr>
        <p:spPr>
          <a:xfrm>
            <a:off x="102870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canônico"/>
          <p:cNvSpPr txBox="1"/>
          <p:nvPr/>
        </p:nvSpPr>
        <p:spPr>
          <a:xfrm>
            <a:off x="144018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 canônico</a:t>
            </a:r>
          </a:p>
        </p:txBody>
      </p:sp>
      <p:sp>
        <p:nvSpPr>
          <p:cNvPr id="104" name="Sub canônico"/>
          <p:cNvSpPr txBox="1"/>
          <p:nvPr/>
        </p:nvSpPr>
        <p:spPr>
          <a:xfrm>
            <a:off x="144018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original, antes da evolução</a:t>
            </a:r>
          </a:p>
        </p:txBody>
      </p:sp>
      <p:sp>
        <p:nvSpPr>
          <p:cNvPr id="105" name="Número canônico de 10 confrontos"/>
          <p:cNvSpPr txBox="1"/>
          <p:nvPr/>
        </p:nvSpPr>
        <p:spPr>
          <a:xfrm>
            <a:off x="144018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6" name="Legenda canônico de 10 confrontos"/>
          <p:cNvSpPr txBox="1"/>
          <p:nvPr/>
        </p:nvSpPr>
        <p:spPr>
          <a:xfrm>
            <a:off x="363474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07" name="Número canônico de 21 testes"/>
          <p:cNvSpPr txBox="1"/>
          <p:nvPr/>
        </p:nvSpPr>
        <p:spPr>
          <a:xfrm>
            <a:off x="144018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08" name="Legenda canônico de 21 testes"/>
          <p:cNvSpPr txBox="1"/>
          <p:nvPr/>
        </p:nvSpPr>
        <p:spPr>
          <a:xfrm>
            <a:off x="363474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09" name="Cartão escalar"/>
          <p:cNvSpPr/>
          <p:nvPr/>
        </p:nvSpPr>
        <p:spPr>
          <a:xfrm>
            <a:off x="1030986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ítulo escalar"/>
          <p:cNvSpPr txBox="1"/>
          <p:nvPr/>
        </p:nvSpPr>
        <p:spPr>
          <a:xfrm>
            <a:off x="1072134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11" name="Sub escalar"/>
          <p:cNvSpPr txBox="1"/>
          <p:nvPr/>
        </p:nvSpPr>
        <p:spPr>
          <a:xfrm>
            <a:off x="1072134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 os dois objetivos</a:t>
            </a:r>
          </a:p>
        </p:txBody>
      </p:sp>
      <p:sp>
        <p:nvSpPr>
          <p:cNvPr id="112" name="Número escalar de 10 confrontos"/>
          <p:cNvSpPr txBox="1"/>
          <p:nvPr/>
        </p:nvSpPr>
        <p:spPr>
          <a:xfrm>
            <a:off x="1072134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3" name="Legenda escalar de 10 confrontos"/>
          <p:cNvSpPr txBox="1"/>
          <p:nvPr/>
        </p:nvSpPr>
        <p:spPr>
          <a:xfrm>
            <a:off x="1291590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14" name="Número escalar de 21 testes"/>
          <p:cNvSpPr txBox="1"/>
          <p:nvPr/>
        </p:nvSpPr>
        <p:spPr>
          <a:xfrm>
            <a:off x="1072134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</a:p>
        </p:txBody>
      </p:sp>
      <p:sp>
        <p:nvSpPr>
          <p:cNvPr id="115" name="Legenda escalar de 21 testes"/>
          <p:cNvSpPr txBox="1"/>
          <p:nvPr/>
        </p:nvSpPr>
        <p:spPr>
          <a:xfrm>
            <a:off x="1291590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cxnSp>
        <p:nvCxnSpPr>
          <p:cNvPr id="116" name="Seta"/>
          <p:cNvCxnSpPr/>
          <p:nvPr/>
        </p:nvCxnSpPr>
        <p:spPr>
          <a:xfrm>
            <a:off x="8366760" y="5440680"/>
            <a:ext cx="155448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7" name="Nota"/>
          <p:cNvSpPr txBox="1"/>
          <p:nvPr/>
        </p:nvSpPr>
        <p:spPr>
          <a:xfrm>
            <a:off x="1028700" y="8138160"/>
            <a:ext cx="162306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equilibrado: taxa de vitória entre 40% e 60%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2788920"/>
            <a:ext cx="9418320" cy="6583680"/>
          </a:xfrm>
          <a:prstGeom prst="rect">
            <a:avLst/>
          </a:prstGeom>
        </p:spPr>
      </p:pic>
      <p:sp>
        <p:nvSpPr>
          <p:cNvPr id="101" name="Cor equilíbrio"/>
          <p:cNvSpPr/>
          <p:nvPr/>
        </p:nvSpPr>
        <p:spPr>
          <a:xfrm>
            <a:off x="10561320" y="29900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genda equilíbrio"/>
          <p:cNvSpPr txBox="1"/>
          <p:nvPr/>
        </p:nvSpPr>
        <p:spPr>
          <a:xfrm>
            <a:off x="11018520" y="288036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equilibrados</a:t>
            </a:r>
          </a:p>
        </p:txBody>
      </p:sp>
      <p:sp>
        <p:nvSpPr>
          <p:cNvPr id="103" name="Cor identidade"/>
          <p:cNvSpPr/>
          <p:nvPr/>
        </p:nvSpPr>
        <p:spPr>
          <a:xfrm>
            <a:off x="10561320" y="349300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genda identidade"/>
          <p:cNvSpPr txBox="1"/>
          <p:nvPr/>
        </p:nvSpPr>
        <p:spPr>
          <a:xfrm>
            <a:off x="11018520" y="338328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</p:txBody>
      </p:sp>
      <p:sp>
        <p:nvSpPr>
          <p:cNvPr id="105" name="Linha Canônico"/>
          <p:cNvSpPr/>
          <p:nvPr/>
        </p:nvSpPr>
        <p:spPr>
          <a:xfrm>
            <a:off x="10561320" y="443484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Marcador Canônico"/>
          <p:cNvSpPr/>
          <p:nvPr/>
        </p:nvSpPr>
        <p:spPr>
          <a:xfrm>
            <a:off x="10835640" y="4846320"/>
            <a:ext cx="365760" cy="36576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ótulo Canônico"/>
          <p:cNvSpPr txBox="1"/>
          <p:nvPr/>
        </p:nvSpPr>
        <p:spPr>
          <a:xfrm>
            <a:off x="11384280" y="443484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Canônico</a:t>
            </a:r>
          </a:p>
        </p:txBody>
      </p:sp>
      <p:sp>
        <p:nvSpPr>
          <p:cNvPr id="108" name="Equilíbrio Canônico"/>
          <p:cNvSpPr txBox="1"/>
          <p:nvPr/>
        </p:nvSpPr>
        <p:spPr>
          <a:xfrm>
            <a:off x="14310360" y="443484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9" name="Identidade Canônico"/>
          <p:cNvSpPr txBox="1"/>
          <p:nvPr/>
        </p:nvSpPr>
        <p:spPr>
          <a:xfrm>
            <a:off x="15681960" y="443484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10" name="Linha Joelho"/>
          <p:cNvSpPr/>
          <p:nvPr/>
        </p:nvSpPr>
        <p:spPr>
          <a:xfrm>
            <a:off x="10561320" y="576072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Marcador Joelho"/>
          <p:cNvSpPr/>
          <p:nvPr/>
        </p:nvSpPr>
        <p:spPr>
          <a:xfrm>
            <a:off x="10835640" y="6172200"/>
            <a:ext cx="365760" cy="36576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ótulo Joelho"/>
          <p:cNvSpPr txBox="1"/>
          <p:nvPr/>
        </p:nvSpPr>
        <p:spPr>
          <a:xfrm>
            <a:off x="11384280" y="576072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Joelho</a:t>
            </a:r>
          </a:p>
        </p:txBody>
      </p:sp>
      <p:sp>
        <p:nvSpPr>
          <p:cNvPr id="113" name="Equilíbrio Joelho"/>
          <p:cNvSpPr txBox="1"/>
          <p:nvPr/>
        </p:nvSpPr>
        <p:spPr>
          <a:xfrm>
            <a:off x="14310360" y="576072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</a:t>
            </a:r>
          </a:p>
        </p:txBody>
      </p:sp>
      <p:sp>
        <p:nvSpPr>
          <p:cNvPr id="114" name="Identidade Joelho"/>
          <p:cNvSpPr txBox="1"/>
          <p:nvPr/>
        </p:nvSpPr>
        <p:spPr>
          <a:xfrm>
            <a:off x="15681960" y="576072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</a:p>
        </p:txBody>
      </p:sp>
      <p:sp>
        <p:nvSpPr>
          <p:cNvPr id="115" name="Linha Mais equilibrado"/>
          <p:cNvSpPr/>
          <p:nvPr/>
        </p:nvSpPr>
        <p:spPr>
          <a:xfrm>
            <a:off x="10561320" y="708660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Marcador Mais equilibrado"/>
          <p:cNvSpPr/>
          <p:nvPr/>
        </p:nvSpPr>
        <p:spPr>
          <a:xfrm>
            <a:off x="10835640" y="7498080"/>
            <a:ext cx="365760" cy="36576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ótulo Mais equilibrado"/>
          <p:cNvSpPr txBox="1"/>
          <p:nvPr/>
        </p:nvSpPr>
        <p:spPr>
          <a:xfrm>
            <a:off x="11384280" y="708660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Mais equilibrado</a:t>
            </a:r>
          </a:p>
        </p:txBody>
      </p:sp>
      <p:sp>
        <p:nvSpPr>
          <p:cNvPr id="118" name="Equilíbrio Mais equilibrado"/>
          <p:cNvSpPr txBox="1"/>
          <p:nvPr/>
        </p:nvSpPr>
        <p:spPr>
          <a:xfrm>
            <a:off x="14310360" y="708660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9</a:t>
            </a:r>
          </a:p>
        </p:txBody>
      </p:sp>
      <p:sp>
        <p:nvSpPr>
          <p:cNvPr id="119" name="Identidade Mais equilibrado"/>
          <p:cNvSpPr txBox="1"/>
          <p:nvPr/>
        </p:nvSpPr>
        <p:spPr>
          <a:xfrm>
            <a:off x="15681960" y="708660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13</a:t>
            </a:r>
          </a:p>
        </p:txBody>
      </p:sp>
      <p:sp>
        <p:nvSpPr>
          <p:cNvPr id="120" name="Denominador equilíbrio"/>
          <p:cNvSpPr txBox="1"/>
          <p:nvPr/>
        </p:nvSpPr>
        <p:spPr>
          <a:xfrm>
            <a:off x="14310360" y="3931920"/>
            <a:ext cx="12801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</a:t>
            </a:r>
          </a:p>
        </p:txBody>
      </p:sp>
      <p:sp>
        <p:nvSpPr>
          <p:cNvPr id="121" name="Denominador identidade"/>
          <p:cNvSpPr txBox="1"/>
          <p:nvPr/>
        </p:nvSpPr>
        <p:spPr>
          <a:xfrm>
            <a:off x="15681960" y="3931920"/>
            <a:ext cx="14630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</a:t>
            </a:r>
          </a:p>
        </p:txBody>
      </p:sp>
      <p:sp>
        <p:nvSpPr>
          <p:cNvPr id="122" name="Nota"/>
          <p:cNvSpPr txBox="1"/>
          <p:nvPr/>
        </p:nvSpPr>
        <p:spPr>
          <a:xfrm>
            <a:off x="10561320" y="8458200"/>
            <a:ext cx="672084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ponto é um elenco da fronteira do NSGA-II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é possível equilibrar, mas a um custo mensurável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108960"/>
            <a:ext cx="9509760" cy="54864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42900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 PRESERVADOS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3977640"/>
            <a:ext cx="429768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39496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equilíbrio total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5989320" y="397764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5989320" y="5394960"/>
            <a:ext cx="43891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 da curva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172200"/>
            <a:ext cx="86410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355080"/>
            <a:ext cx="86868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adversário que também se adapta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45236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preliminar, em um modelo simplificado</a:t>
            </a:r>
          </a:p>
        </p:txBody>
      </p:sp>
      <p:sp>
        <p:nvSpPr>
          <p:cNvPr id="111" name="Convite"/>
          <p:cNvSpPr/>
          <p:nvPr/>
        </p:nvSpPr>
        <p:spPr>
          <a:xfrm>
            <a:off x="10927080" y="3108960"/>
            <a:ext cx="6332220" cy="548640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247120" y="3429000"/>
            <a:ext cx="569214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Código aberto</a:t>
            </a:r>
          </a:p>
        </p:txBody>
      </p:sp>
      <p:sp>
        <p:nvSpPr>
          <p:cNvPr id="113" name="Fundo QR"/>
          <p:cNvSpPr/>
          <p:nvPr/>
        </p:nvSpPr>
        <p:spPr>
          <a:xfrm>
            <a:off x="12810744" y="4114800"/>
            <a:ext cx="25603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2184" y="4206240"/>
            <a:ext cx="2377440" cy="237744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247120" y="6858000"/>
            <a:ext cx="5692140" cy="9601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</a:t>
            </a:r>
          </a:p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M-Gimenes/Simulation</a:t>
            </a:r>
          </a:p>
        </p:txBody>
      </p:sp>
      <p:sp>
        <p:nvSpPr>
          <p:cNvPr id="116" name="Situação"/>
          <p:cNvSpPr txBox="1"/>
          <p:nvPr/>
        </p:nvSpPr>
        <p:spPr>
          <a:xfrm>
            <a:off x="11247120" y="7909560"/>
            <a:ext cx="56921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em desenvolvimento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1417320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2697480"/>
            <a:ext cx="91440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3246120"/>
            <a:ext cx="9144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7818120" y="384048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3840" y="38862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Duas formas de comprometer um jogo competitivo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4980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32651" y="4665269"/>
            <a:ext cx="681502" cy="2238451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07655" y="5924398"/>
            <a:ext cx="681502" cy="979322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082659" y="6250838"/>
            <a:ext cx="681502" cy="652882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257663" y="6064301"/>
            <a:ext cx="681502" cy="839419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432667" y="6530645"/>
            <a:ext cx="681502" cy="373075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escolhem o mesmo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58419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076551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251555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426559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601563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4776567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escolha deixa de importar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1248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Somar os objetivos já é uma escolha</a:t>
            </a:r>
          </a:p>
        </p:txBody>
      </p:sp>
      <p:sp>
        <p:nvSpPr>
          <p:cNvPr id="102" name="Cartão escalar"/>
          <p:cNvSpPr/>
          <p:nvPr/>
        </p:nvSpPr>
        <p:spPr>
          <a:xfrm>
            <a:off x="10287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escalar"/>
          <p:cNvSpPr txBox="1"/>
          <p:nvPr/>
        </p:nvSpPr>
        <p:spPr>
          <a:xfrm>
            <a:off x="14859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04" name="Regra escalar"/>
          <p:cNvSpPr txBox="1"/>
          <p:nvPr/>
        </p:nvSpPr>
        <p:spPr>
          <a:xfrm>
            <a:off x="14859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aptidão = −(desvio + desbalanço)</a:t>
            </a:r>
          </a:p>
        </p:txBody>
      </p:sp>
      <p:cxnSp>
        <p:nvCxnSpPr>
          <p:cNvPr id="105" name="Eixo y escalar"/>
          <p:cNvCxnSpPr/>
          <p:nvPr/>
        </p:nvCxnSpPr>
        <p:spPr>
          <a:xfrm flipV="1">
            <a:off x="18516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06" name="Eixo x escalar"/>
          <p:cNvCxnSpPr/>
          <p:nvPr/>
        </p:nvCxnSpPr>
        <p:spPr>
          <a:xfrm>
            <a:off x="18516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07" name="Rótulo y escalar"/>
          <p:cNvSpPr txBox="1"/>
          <p:nvPr/>
        </p:nvSpPr>
        <p:spPr>
          <a:xfrm>
            <a:off x="20802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08" name="Rótulo x escalar"/>
          <p:cNvSpPr txBox="1"/>
          <p:nvPr/>
        </p:nvSpPr>
        <p:spPr>
          <a:xfrm>
            <a:off x="56235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09" name="Ponto escalar 1"/>
          <p:cNvSpPr/>
          <p:nvPr/>
        </p:nvSpPr>
        <p:spPr>
          <a:xfrm>
            <a:off x="2926080" y="5600700"/>
            <a:ext cx="411480" cy="41148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genda escalar"/>
          <p:cNvSpPr txBox="1"/>
          <p:nvPr/>
        </p:nvSpPr>
        <p:spPr>
          <a:xfrm>
            <a:off x="14859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único elenco</a:t>
            </a:r>
          </a:p>
        </p:txBody>
      </p:sp>
      <p:sp>
        <p:nvSpPr>
          <p:cNvPr id="111" name="Cartão nsga"/>
          <p:cNvSpPr/>
          <p:nvPr/>
        </p:nvSpPr>
        <p:spPr>
          <a:xfrm>
            <a:off x="93726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ítulo nsga"/>
          <p:cNvSpPr txBox="1"/>
          <p:nvPr/>
        </p:nvSpPr>
        <p:spPr>
          <a:xfrm>
            <a:off x="98298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NSGA-II</a:t>
            </a:r>
          </a:p>
        </p:txBody>
      </p:sp>
      <p:sp>
        <p:nvSpPr>
          <p:cNvPr id="113" name="Regra nsga"/>
          <p:cNvSpPr txBox="1"/>
          <p:nvPr/>
        </p:nvSpPr>
        <p:spPr>
          <a:xfrm>
            <a:off x="98298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descarta um elenco só se outro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 melhor nos dois objetivos</a:t>
            </a:r>
          </a:p>
        </p:txBody>
      </p:sp>
      <p:cxnSp>
        <p:nvCxnSpPr>
          <p:cNvPr id="114" name="Eixo y nsga"/>
          <p:cNvCxnSpPr/>
          <p:nvPr/>
        </p:nvCxnSpPr>
        <p:spPr>
          <a:xfrm flipV="1">
            <a:off x="101955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15" name="Eixo x nsga"/>
          <p:cNvCxnSpPr/>
          <p:nvPr/>
        </p:nvCxnSpPr>
        <p:spPr>
          <a:xfrm>
            <a:off x="101955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16" name="Rótulo y nsga"/>
          <p:cNvSpPr txBox="1"/>
          <p:nvPr/>
        </p:nvSpPr>
        <p:spPr>
          <a:xfrm>
            <a:off x="104241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17" name="Rótulo x nsga"/>
          <p:cNvSpPr txBox="1"/>
          <p:nvPr/>
        </p:nvSpPr>
        <p:spPr>
          <a:xfrm>
            <a:off x="139674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18" name="Ponto nsga 1"/>
          <p:cNvSpPr/>
          <p:nvPr/>
        </p:nvSpPr>
        <p:spPr>
          <a:xfrm>
            <a:off x="10881360" y="5486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Ponto nsga 2"/>
          <p:cNvSpPr/>
          <p:nvPr/>
        </p:nvSpPr>
        <p:spPr>
          <a:xfrm>
            <a:off x="11292840" y="5897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Ponto nsga 3"/>
          <p:cNvSpPr/>
          <p:nvPr/>
        </p:nvSpPr>
        <p:spPr>
          <a:xfrm>
            <a:off x="11750040" y="62179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Ponto nsga 4"/>
          <p:cNvSpPr/>
          <p:nvPr/>
        </p:nvSpPr>
        <p:spPr>
          <a:xfrm>
            <a:off x="12298680" y="64465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Ponto nsga 5"/>
          <p:cNvSpPr/>
          <p:nvPr/>
        </p:nvSpPr>
        <p:spPr>
          <a:xfrm>
            <a:off x="12893040" y="6629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Ponto nsga 6"/>
          <p:cNvSpPr/>
          <p:nvPr/>
        </p:nvSpPr>
        <p:spPr>
          <a:xfrm>
            <a:off x="13533120" y="676656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Ponto nsga 7"/>
          <p:cNvSpPr/>
          <p:nvPr/>
        </p:nvSpPr>
        <p:spPr>
          <a:xfrm>
            <a:off x="14218920" y="688543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Ponto nsga 8"/>
          <p:cNvSpPr/>
          <p:nvPr/>
        </p:nvSpPr>
        <p:spPr>
          <a:xfrm>
            <a:off x="14950440" y="697687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onto nsga 9"/>
          <p:cNvSpPr/>
          <p:nvPr/>
        </p:nvSpPr>
        <p:spPr>
          <a:xfrm>
            <a:off x="15681960" y="7040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Legenda nsga"/>
          <p:cNvSpPr txBox="1"/>
          <p:nvPr/>
        </p:nvSpPr>
        <p:spPr>
          <a:xfrm>
            <a:off x="98298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fronteira inteira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