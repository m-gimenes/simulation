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85" r:id="rId37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 tarde, professores. Meu nome é Matheus Gimenes, e vou apresentar o meu trabalho de conclusão de curso, orientado pelo professor Everson. O trabalho trata do balanceamento de personagens em jogos de luta e pergunta se é possível equilibrar um elenco sem apagar o que torna cada personagem único.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Existem duas formas de errar no balanceamento de um jogo competitivo. A mais conhecida é deixar um personagem forte demais, e então todos passam a escolhê-lo. A segunda costuma aparecer justamente ao corrigir a primeira: os números são ajustados até que ninguém domine, mas, no caminho, os personagens ficam parecidos. No limite, dar a todos os mesmos atributos produz um equilíbrio perfeito, e a escolha do personagem deixa de importar. O desafio deste trabalho fica entre os dois erros: equilibrar preservando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Usamos os jogos de luta, em que os estilos de personagem são bem definidos. O elenco tem cinco arquétipos clássicos do gênero: o Rushdown, da pressão; o Zoner, do controle de distância; o Grappler, do agarrão; o Combo Master, aqui representado pelo atordoamento; e o Turtle, da defesa. Os valores de cada arquétipo foram definidos por mim e são a premissa do trabalho. O elenco é desequilibrado de propósito, para que haja o que equilibrar. A pergunta de pesquisa é se um algoritmo genético consegue equilibrar esses cinco arquétipos sem destruir as suas identidades funcionais, e ela se divide em três questões: equilíbrio, identidade e o compromisso entre os dois.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avaliar um elenco, construímos um simulador de combate. Cada personagem tem onze genes: oito atributos, que dizem o que ele pode fazer, e três pesos, que dizem o que ele tende a fazer. A decisão central do modelo é separar dois canais. A postura, entre avançar, recuar e guardar, é sorteada com probabilidade proporcional aos pesos, e esse sorteio é a única fonte de aleatoriedade da luta. O ataque é uma regra: sai sempre que o oponente está ao alcance e o personagem não está defendendo. É isso que faz do controle de distância uma estratégia. No algoritmo genético, o indivíduo é o elenco inteiro, com 55 genes, avaliado em dez confrontos de 150 lutas 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trabalhos que aplicam busca ao balanceamento não medem se a identidade sobrevive. Aqui, ela entra na aptidão com uma regra: a aptidão pode conter o que cada arquétipo é, que é a premissa, mas nunca quem deve vencer quem, que é a resposta procurada. O desequilíbrio mede o quanto cada personagem se afasta de 50% de vitórias no total, sem exigir 50% em cada confronto, e barra counters acima de 65% e lutas decididas por massacre, sempre pela distância a 50%, nunca pela direção. O desvio mede a distância de cada personagem ao seu perfil canônico, com peso triplo nos genes que definem o arquétipo. Já a identidade funcional, se o personagem ainda joga como ele mesmo, é medida depois, por métricas que a busca não vê.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NSGA-II usa o mesmo ciclo, com outra seleção. Em vez de somar os dois termos, ele compara por dominância: um elenco domina outro se não é pior em nenhum dos dois e é melhor em pelo menos um. Os que ninguém domina formam a fronteira, e, entre eles, a seleção prefere os mais isolados, para espalhá-la. Uma consequência importa adiante: o elenco de menor desvio nunca é dominado, então nunca é descartado. A saída é a fronteira; para comparar, usamos o ponto dela que minimiza a mesma soma do escalar. Completam o desenho o híbrido, com o NSGA-II na primeira metade e o escalar na segunda, e o controle sem o termo de identidade. Cada braço rodou vinte vezes, com as mesmas sementes, e os elencos finais são reavaliados com mil lutas por 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Começo pela primeira questão. À esquerda está o elenco original, que chamamos de canônico. Ele é uma hierarquia: o Rushdown vence praticamente todas as lutas, o Turtle não vence nenhuma, e nove dos dez confrontos são decididos em mais de 99% das lutas. À direita está a média das vinte execuções do algoritmo escalar, com todos os confrontos entre 46% e 54%. O algoritmo convergiu em todas as execuções, em média na geração 31, e dezesseis delas terminaram com o elenco equilibrado, perto da simetria perfeita.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Equilibrar dentro do laço não basta, porque a busca pode se ajustar aos sorteios que viu. Na validação externa, o elenco evoluído foi testado com sorteios inéditos e cinco mil lutas por par, e foi o único dos quatro elencos testados que replicou o equilíbrio. Depois, alteramos uma regra do combate de cada vez, regras que a busca nunca viu. O equilíbrio resistiu a quatro das oito mudanças, ficou inconclusivo em duas e quebrou em duas: no campo menor e na persistência maior da intenção. É um equilíbrio real, mas ajustado às regras em que foi encontrado.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segunda questão, a evidência decisiva é o controle. Sem o termo de identidade, o mesmo algoritmo, com o mesmo orçamento, perde a identidade nas quatro métricas, com efeito grande, e fica no nível de elencos sorteados ao acaso. A concordância de comportamento, que vale 1 no canônico, fica em 0,28 com o termo e praticamente em zero sem ele. No equilíbrio, os dois braços não se separam depois da correção de Holm. A identidade que sobrevive se deve, portanto, ao termo, e ele não custou equilíbrio mensurável. Mas essa identidade é parcial: o algoritmo escalar mantém três das cinco asserções de comportamento.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mais se perde é a política, os pesos de comportamento. O Rushdown canônico avança em 86% das intenções; no algoritmo escalar, em 39%, e os cinco personagens convergem para uma política parecida. A política pesa no combate: com o mesmo passo de mutação dos atributos, os pesos mudam a taxa de vitória em 12 a 17 pontos percentuais. O problema é que a mutação dos pesos é quatro vezes menor, e, nesse passo, o efeito de cada mutação fica no nível do ruído da avaliação. Na prática, a busca quase não enxerga a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terceira questão, cada linha cinza é a fronteira de uma execução do NSGA-II, e os pontos azuis são o algoritmo escalar. O canto inferior esquerdo está vazio: para ganhar de um lado, perde-se do outro. O NSGA-II preserva mais identidade, mas deixa quase três confrontos desequilibrados por elenco e não termina equilibrado em nenhuma execução. O escalar fica além da ponta de equilíbrio da fronteira, pagando em desvio, e nenhum dos dois domina o outro. Mas, na própria soma que o escalar otimiza, a fronteira tem um ponto melhor que o dele em todas as vinte sementes.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o escalar não chega ao próprio ótimo? A explicação tem dois estágios, que esta execução mostra. No início, as diferenças de equilíbrio entre elencos são grandes, e a soma privilegia esse termo: o canônico sai da população na terceira geração, e, na vigésima, o elenco mais fiel que ainda resta já tem desvio 0,24. Depois da convergência, o desvio é calculado de forma exata, mas o desequilíbrio é estimado por sorteio, e o ruído dele é cerca de sessenta vezes o ganho de identidade por geração. A seleção passa a premiar sorte, e a identidade perdida quase não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essa explicação está certa, proteger a identidade no início da busca deveria ajudar, e é isso que o híbrido faz: na fase de Pareto, o elenco de menor desvio nunca é descartado. Com o mesmo orçamento, o híbrido chega perto da identidade do NSGA-II, com a concordância quase dobrando, de 0,28 para 0,52, e mantém o equilíbrio do escalar, com dezesseis elencos equilibrados em vinte. O preço é a velocidade: ele converge na geração 98, contra 31. Parte da perda de identidade vem, portanto, da seleção escalar, e não do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Voltando às três questões. No equilíbrio, a resposta é sim: em todas as execuções e também fora do laço, com sensibilidade a algumas regras. Na identidade, a resposta é parcial, e a parte preservada se deve ao termo de identidade, que não custou equilíbrio mensurável. No compromisso, o escalar fica na ponta do equilíbrio, o NSGA-II na da identidade, e o híbrido reúne os dois. Então, é possível equilibrar sem destruir as identidades, desde que haja pressão explícita por identidade e uma busca capaz de manter a diversidade de identidade sob avaliação ruidosa.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de combate ainda é simples. O ciclo de vantagens que propus para os arquétipos não se realiza nem no elenco canônico, que é uma hierarquia, o que indica que faltam mecânicas, como combos e janelas de punição. E o equilíbrio foi medido contra uma política fixa, sem nenhum oponente tentando explorá-lo. Os próximos passos são calibrar o passo de mutação da política contra o ruído, usar políticas que dependam do estado da luta e testar o equilíbrio contra oponentes que se adaptam. O código é aberto e está no GitHub.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 a aptidão definida, o algoritmo genético repete um ciclo. A população tem 300 elencos: na geração zero, o canônico e 299 sorteados. Cada elenco é avaliado no round-robin. O desvio sai direto dos genes, mas o desequilíbrio sai das lutas, e os sorteios mudam a cada geração, para que a busca não se ajuste a eles. Por isso, o desequilíbrio é sempre uma estimativa com ruído. Os 10% melhores passam direto, e cada pai é o melhor de um torneio de três. O cruzamento passa cada personagem inteiro de um dos pais, e a mutação perturba alguns genes, com passo quatro vezes menor nos pesos. Isso se repete por 150 gerações.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inel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2743200" cy="65836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61288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7612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73936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8026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86584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92908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9232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05556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1188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4964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61288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7612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73936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8026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386584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92908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99232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05556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1188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4964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61288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67612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8026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6584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92908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99232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05556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1188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4964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61288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467612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773936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08026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386584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692908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999232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5556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1188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864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4964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61288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467612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773936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08026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386584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692908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99232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305556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61188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8686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Trabalho de Conclusão de Curso · Sistemas de Informação</a:t>
            </a:r>
          </a:p>
        </p:txBody>
      </p:sp>
      <p:sp>
        <p:nvSpPr>
          <p:cNvPr id="60" name="Título"/>
          <p:cNvSpPr txBox="1"/>
          <p:nvPr/>
        </p:nvSpPr>
        <p:spPr>
          <a:xfrm>
            <a:off x="5074920" y="1371600"/>
            <a:ext cx="6629400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7201B"/>
                </a:solidFill>
                <a:latin typeface="Open Sans"/>
              </a:rPr>
              <a:t>Balanceamento de arquétipos em jogos de luta por algoritmos genéticos com preservação de identidade funcional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74920" y="38404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1B"/>
                </a:solidFill>
                <a:latin typeface="Open Sans"/>
              </a:rPr>
              <a:t>Matheus Gimenes de Souza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74920" y="438912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Orientador: Prof. Dr. Everson Scherrer Borges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74920" y="48463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Banca: Prof. Dr. Flávio Izo e Prof. Dr. Rafael Silva Guimarães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74920" y="60350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Cachoeiro de Itapemirim, 21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Há duas formas de errar no balanceamento de um elenco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5394960" cy="3611880"/>
          </a:xfrm>
          <a:prstGeom prst="roundRect">
            <a:avLst>
              <a:gd name="adj" fmla="val 3037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3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1B"/>
                </a:solidFill>
                <a:latin typeface="Open Sans"/>
              </a:rPr>
              <a:t>Um personagem domina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14015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taxa de vitória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807208"/>
            <a:ext cx="548640" cy="1737360"/>
          </a:xfrm>
          <a:prstGeom prst="roundRect">
            <a:avLst>
              <a:gd name="adj" fmla="val 10000"/>
            </a:avLst>
          </a:prstGeom>
          <a:solidFill>
            <a:srgbClr val="CD19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6E4B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0" y="3721608"/>
            <a:ext cx="548640" cy="822960"/>
          </a:xfrm>
          <a:prstGeom prst="roundRect">
            <a:avLst>
              <a:gd name="adj" fmla="val 10000"/>
            </a:avLst>
          </a:prstGeom>
          <a:solidFill>
            <a:srgbClr val="8A5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11879" y="3813048"/>
            <a:ext cx="548640" cy="731520"/>
          </a:xfrm>
          <a:prstGeom prst="roundRect">
            <a:avLst>
              <a:gd name="adj" fmla="val 10000"/>
            </a:avLst>
          </a:pr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4178808"/>
            <a:ext cx="548640" cy="365760"/>
          </a:xfrm>
          <a:prstGeom prst="roundRect">
            <a:avLst>
              <a:gd name="adj" fmla="val 15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68680" y="3630168"/>
            <a:ext cx="4251960" cy="0"/>
          </a:xfrm>
          <a:prstGeom prst="line">
            <a:avLst/>
          </a:prstGeom>
          <a:ln w="19050">
            <a:solidFill>
              <a:srgbClr val="6F7772"/>
            </a:solidFill>
            <a:prstDash val="dash"/>
          </a:ln>
        </p:spPr>
      </p:cxnSp>
      <p:sp>
        <p:nvSpPr>
          <p:cNvPr id="16" name="TextBox 15"/>
          <p:cNvSpPr txBox="1"/>
          <p:nvPr/>
        </p:nvSpPr>
        <p:spPr>
          <a:xfrm>
            <a:off x="5184648" y="3465576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F7772"/>
                </a:solidFill>
                <a:latin typeface="Open Sans"/>
              </a:rPr>
              <a:t>50%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4544568"/>
            <a:ext cx="4526279" cy="0"/>
          </a:xfrm>
          <a:prstGeom prst="line">
            <a:avLst/>
          </a:prstGeom>
          <a:ln w="19050">
            <a:solidFill>
              <a:srgbClr val="D5DAD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868680" y="46817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201B"/>
                </a:solidFill>
                <a:latin typeface="Open Sans"/>
              </a:rPr>
              <a:t>todos escolhem o mesmo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709928"/>
            <a:ext cx="5394960" cy="3611880"/>
          </a:xfrm>
          <a:prstGeom prst="roundRect">
            <a:avLst>
              <a:gd name="adj" fmla="val 3037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192023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1B"/>
                </a:solidFill>
                <a:latin typeface="Open Sans"/>
              </a:rPr>
              <a:t>Todos ficam iguais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414015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taxa de vitória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2552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71231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08592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77272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565392" y="3630168"/>
            <a:ext cx="4251960" cy="0"/>
          </a:xfrm>
          <a:prstGeom prst="line">
            <a:avLst/>
          </a:prstGeom>
          <a:ln w="19050">
            <a:solidFill>
              <a:srgbClr val="6F7772"/>
            </a:solidFill>
            <a:prstDash val="dash"/>
          </a:ln>
        </p:spPr>
      </p:cxnSp>
      <p:sp>
        <p:nvSpPr>
          <p:cNvPr id="28" name="TextBox 27"/>
          <p:cNvSpPr txBox="1"/>
          <p:nvPr/>
        </p:nvSpPr>
        <p:spPr>
          <a:xfrm>
            <a:off x="10881360" y="3465576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F7772"/>
                </a:solidFill>
                <a:latin typeface="Open Sans"/>
              </a:rPr>
              <a:t>50%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65392" y="4544568"/>
            <a:ext cx="4526280" cy="0"/>
          </a:xfrm>
          <a:prstGeom prst="line">
            <a:avLst/>
          </a:prstGeom>
          <a:ln w="19050">
            <a:solidFill>
              <a:srgbClr val="D5DAD7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6565392" y="46817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201B"/>
                </a:solidFill>
                <a:latin typeface="Open Sans"/>
              </a:rPr>
              <a:t>a escolha deixa de importar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50408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7201B"/>
                </a:solidFill>
                <a:latin typeface="Open Sans"/>
              </a:rPr>
              <a:t>O desafio: equilibrar </a:t>
            </a:r>
            <a:r>
              <a:rPr sz="2400" b="1" i="0">
                <a:solidFill>
                  <a:srgbClr val="1F6E2E"/>
                </a:solidFill>
                <a:latin typeface="Open Sans"/>
              </a:rPr>
              <a:t>preservando a diferença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Cinco arquétipos clássicos, desequilibrados de propósito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17319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CD19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Rushdown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pressão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75888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6E4B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Zoner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distância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34456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8A5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Grappler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agarrão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93023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97496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Combo Master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7496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atordoamento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82912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51592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56064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Turtle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064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defesa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10896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Valores de cada arquétipo definidos pelo autor: a premissa do trabalho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511295"/>
            <a:ext cx="11091672" cy="1298448"/>
          </a:xfrm>
          <a:prstGeom prst="roundRect">
            <a:avLst>
              <a:gd name="adj" fmla="val 845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621023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FE5C7"/>
                </a:solidFill>
                <a:latin typeface="Open Sans"/>
              </a:rPr>
              <a:t>PERGUNTA DE PESQUISA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3913632"/>
            <a:ext cx="10451592" cy="8412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Open Sans"/>
              </a:rPr>
              <a:t>Um algoritmo genético consegue equilibrar cinco arquétipos de um jogo de luta </a:t>
            </a:r>
            <a:r>
              <a:rPr sz="2200" b="1" i="0">
                <a:solidFill>
                  <a:srgbClr val="FFFFFF"/>
                </a:solidFill>
                <a:latin typeface="Open Sans"/>
              </a:rPr>
              <a:t>sem destruir suas identidades funcionais?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974336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6577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QP1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Equilíbrio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458968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o elenco fica equilibrado, também fora do laço?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88536" y="4974336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506577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QP2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Identidade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6" y="5458968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sobrevive além do que sobreviveria sem o termo de identidade?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1" y="4974336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1" y="506577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Compromisso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1" y="5458968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onde ficam o AG escalar, o NSGA-II e o híbrido?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Um simulador de luta em que cada gene muda o resultado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6537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UMA LUTA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761488"/>
            <a:ext cx="5303520" cy="0"/>
          </a:xfrm>
          <a:prstGeom prst="line">
            <a:avLst/>
          </a:prstGeom>
          <a:ln w="38100">
            <a:solidFill>
              <a:srgbClr val="AEB4B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828800" y="2286000"/>
            <a:ext cx="475488" cy="475488"/>
          </a:xfrm>
          <a:prstGeom prst="ellipse">
            <a:avLst/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80560" y="2286000"/>
            <a:ext cx="475488" cy="475488"/>
          </a:xfrm>
          <a:prstGeom prst="ellipse">
            <a:avLst/>
          </a:prstGeom>
          <a:solidFill>
            <a:srgbClr val="CD19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377440" y="2523744"/>
            <a:ext cx="685800" cy="0"/>
          </a:xfrm>
          <a:prstGeom prst="line">
            <a:avLst/>
          </a:prstGeom>
          <a:ln w="25400">
            <a:solidFill>
              <a:srgbClr val="4A524D"/>
            </a:solidFill>
            <a:tailEnd type="triangle"/>
          </a:ln>
        </p:spPr>
      </p:cxnSp>
      <p:sp>
        <p:nvSpPr>
          <p:cNvPr id="13" name="TextBox 12"/>
          <p:cNvSpPr txBox="1"/>
          <p:nvPr/>
        </p:nvSpPr>
        <p:spPr>
          <a:xfrm>
            <a:off x="914400" y="2834639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campo de uma dimensão, luta até o nocaute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Postura: </a:t>
            </a:r>
            <a:r>
              <a:rPr sz="1800" b="0" i="0">
                <a:solidFill>
                  <a:srgbClr val="17201B"/>
                </a:solidFill>
                <a:latin typeface="Open Sans"/>
              </a:rPr>
              <a:t>sorteada pelos pesos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67588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1720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75888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FRENTE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9191" y="367588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1720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79191" y="3675888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RECUAR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9704" y="367588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1720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3675888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GUARDA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178808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a única fonte de aleatoriedade da luta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681728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Ataque: </a:t>
            </a:r>
            <a:r>
              <a:rPr sz="1800" b="0" i="0">
                <a:solidFill>
                  <a:srgbClr val="17201B"/>
                </a:solidFill>
                <a:latin typeface="Open Sans"/>
              </a:rPr>
              <a:t>uma regra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84064"/>
            <a:ext cx="5486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sai sempre que o oponente está ao alcance, a recarga terminou e o personagem não está defendendo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12280" y="1709928"/>
            <a:ext cx="4828032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04888" y="1865376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UM INDIVÍDUO É UM ELENCO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4888" y="2267712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Zoner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2596896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Rushdown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4888" y="2926079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Combo 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3255264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Grappler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4888" y="3584447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Turtle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8200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7092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015984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294876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73768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52660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31552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10444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689336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968228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247120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58200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37092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15984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294876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73768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852660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131552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410444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689336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968228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1247120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458200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737092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015984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294876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573768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52660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131552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410444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689336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968228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1247120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458200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37092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015984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294876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573768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852660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0131552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0410444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689336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968228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1247120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458200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737092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015984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294876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573768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9852660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31552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0410444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0689336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0968228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1247120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123176" y="4041648"/>
            <a:ext cx="228600" cy="228600"/>
          </a:xfrm>
          <a:prstGeom prst="roundRect">
            <a:avLst>
              <a:gd name="adj" fmla="val 20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70648" y="3995928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1B"/>
                </a:solidFill>
                <a:latin typeface="Open Sans"/>
              </a:rPr>
              <a:t>8 atributos (vida, dano, alcance…)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123176" y="4389120"/>
            <a:ext cx="228600" cy="228600"/>
          </a:xfrm>
          <a:prstGeom prst="roundRect">
            <a:avLst>
              <a:gd name="adj" fmla="val 20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470648" y="434340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1B"/>
                </a:solidFill>
                <a:latin typeface="Open Sans"/>
              </a:rPr>
              <a:t>3 pesos: avançar, recuar, guardar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4888" y="481888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7201B"/>
                </a:solidFill>
                <a:latin typeface="Open Sans"/>
              </a:rPr>
              <a:t>55</a:t>
            </a:r>
            <a:r>
              <a:rPr sz="1700" b="0" i="0">
                <a:solidFill>
                  <a:srgbClr val="4A524D"/>
                </a:solidFill>
                <a:latin typeface="Open Sans"/>
              </a:rPr>
              <a:t>  genes</a:t>
            </a:r>
            <a:r>
              <a:rPr sz="3200" b="1" i="0">
                <a:solidFill>
                  <a:srgbClr val="17201B"/>
                </a:solidFill>
                <a:latin typeface="Open Sans"/>
              </a:rPr>
              <a:t>     1.500</a:t>
            </a:r>
            <a:r>
              <a:rPr sz="1700" b="0" i="0">
                <a:solidFill>
                  <a:srgbClr val="4A524D"/>
                </a:solidFill>
                <a:latin typeface="Open Sans"/>
              </a:rPr>
              <a:t>  lutas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4888" y="54132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por avaliação: 10 confrontos × 150 lutas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A aptidão diz o que cada arquétipo é, nunca quem deve vencer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708660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NA APTIDÃO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67127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D191E"/>
                </a:solidFill>
                <a:latin typeface="Open Sans"/>
              </a:rPr>
              <a:t>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88336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1,0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68833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global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6883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taxa de vitória total longe de 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72384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0,5 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30723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counter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307238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confronto acima de 65%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0,5 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4564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decisividade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345643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lutas decididas por massacre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77056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D191E"/>
                </a:solidFill>
                <a:latin typeface="Open Sans"/>
              </a:rPr>
              <a:t>só a distância a 50%, nunca a direção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" y="4389120"/>
            <a:ext cx="6446520" cy="0"/>
          </a:xfrm>
          <a:prstGeom prst="line">
            <a:avLst/>
          </a:prstGeom>
          <a:ln w="19050">
            <a:solidFill>
              <a:srgbClr val="D5DAD7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868680" y="4498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6E4BB8"/>
                </a:solidFill>
                <a:latin typeface="Open Sans"/>
              </a:rPr>
              <a:t>desvio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974336"/>
            <a:ext cx="65379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distância de cada personagem ao seu perfil canônico, com peso 3 nos genes que definem o arquétipo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709928"/>
            <a:ext cx="3776472" cy="4389120"/>
          </a:xfrm>
          <a:prstGeom prst="roundRect">
            <a:avLst>
              <a:gd name="adj" fmla="val 2905"/>
            </a:avLst>
          </a:prstGeom>
          <a:solidFill>
            <a:srgbClr val="FFFFFF"/>
          </a:solidFill>
          <a:ln w="19050">
            <a:solidFill>
              <a:srgbClr val="6F77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1847088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F7772"/>
                </a:solidFill>
                <a:latin typeface="Open Sans"/>
              </a:rPr>
              <a:t>SÓ MEDIDO DEPOIS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28600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identidade funcional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670048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5 asserções de comportamento e a concordância 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502151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quem vence quem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88620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o ciclo de vantagens entre os arquétipos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718304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regras novas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102352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validação fora do laço de otimização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O NSGA-II não soma os termos: devolve uma fronteira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6035040" cy="3931920"/>
          </a:xfrm>
          <a:prstGeom prst="roundRect">
            <a:avLst>
              <a:gd name="adj" fmla="val 279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B6834"/>
                </a:solidFill>
                <a:latin typeface="Open Sans"/>
              </a:rPr>
              <a:t>DOMINÂNCIA DE PARETO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25880" y="4498848"/>
            <a:ext cx="4846320" cy="0"/>
          </a:xfrm>
          <a:prstGeom prst="line">
            <a:avLst/>
          </a:prstGeom>
          <a:ln w="19050">
            <a:solidFill>
              <a:srgbClr val="6F7772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1325880" y="2350008"/>
            <a:ext cx="0" cy="2148840"/>
          </a:xfrm>
          <a:prstGeom prst="line">
            <a:avLst/>
          </a:prstGeom>
          <a:ln w="19050">
            <a:solidFill>
              <a:srgbClr val="6F7772"/>
            </a:solidFill>
            <a:tailEnd type="triangle" w="med" len="med"/>
          </a:ln>
        </p:spPr>
      </p:cxnSp>
      <p:sp>
        <p:nvSpPr>
          <p:cNvPr id="11" name="TextBox 10"/>
          <p:cNvSpPr txBox="1"/>
          <p:nvPr/>
        </p:nvSpPr>
        <p:spPr>
          <a:xfrm>
            <a:off x="3794760" y="4572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desequilíbrio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7" y="22402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desvio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F7772"/>
                </a:solidFill>
                <a:latin typeface="Open Sans"/>
              </a:rPr>
              <a:t>melhor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3491" y="2560320"/>
            <a:ext cx="3104387" cy="822959"/>
          </a:xfrm>
          <a:prstGeom prst="rect">
            <a:avLst/>
          </a:prstGeom>
          <a:solidFill>
            <a:srgbClr val="FDEE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684781" y="2651760"/>
            <a:ext cx="487833" cy="420624"/>
          </a:xfrm>
          <a:prstGeom prst="line">
            <a:avLst/>
          </a:prstGeom>
          <a:ln w="31750">
            <a:solidFill>
              <a:srgbClr val="EB6834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172614" y="3072384"/>
            <a:ext cx="620877" cy="310896"/>
          </a:xfrm>
          <a:prstGeom prst="line">
            <a:avLst/>
          </a:prstGeom>
          <a:ln w="31750">
            <a:solidFill>
              <a:srgbClr val="EB6834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93491" y="3383280"/>
            <a:ext cx="798272" cy="237744"/>
          </a:xfrm>
          <a:prstGeom prst="line">
            <a:avLst/>
          </a:prstGeom>
          <a:ln w="31750">
            <a:solidFill>
              <a:srgbClr val="EB6834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591763" y="3621024"/>
            <a:ext cx="975664" cy="164591"/>
          </a:xfrm>
          <a:prstGeom prst="line">
            <a:avLst/>
          </a:prstGeom>
          <a:ln w="31750">
            <a:solidFill>
              <a:srgbClr val="EB68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4567427" y="3785615"/>
            <a:ext cx="1020014" cy="109729"/>
          </a:xfrm>
          <a:prstGeom prst="line">
            <a:avLst/>
          </a:prstGeom>
          <a:ln w="31750">
            <a:solidFill>
              <a:srgbClr val="EB6834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538374" y="2665476"/>
            <a:ext cx="155448" cy="155448"/>
          </a:xfrm>
          <a:prstGeom prst="ellipse">
            <a:avLst/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24478" y="3104388"/>
            <a:ext cx="155448" cy="155448"/>
          </a:xfrm>
          <a:prstGeom prst="ellipse">
            <a:avLst/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1884" y="3360420"/>
            <a:ext cx="155448" cy="155448"/>
          </a:xfrm>
          <a:prstGeom prst="ellipse">
            <a:avLst/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01007" y="2738628"/>
            <a:ext cx="155448" cy="155448"/>
          </a:xfrm>
          <a:prstGeom prst="ellipse">
            <a:avLst/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98413" y="3177540"/>
            <a:ext cx="155448" cy="155448"/>
          </a:xfrm>
          <a:prstGeom prst="ellipse">
            <a:avLst/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247948" y="2884932"/>
            <a:ext cx="155448" cy="155448"/>
          </a:xfrm>
          <a:prstGeom prst="ellipse">
            <a:avLst/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597913" y="2564892"/>
            <a:ext cx="173736" cy="173736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85746" y="2985516"/>
            <a:ext cx="173736" cy="173736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06623" y="3296412"/>
            <a:ext cx="173736" cy="173736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04895" y="3534156"/>
            <a:ext cx="173736" cy="173736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698748"/>
            <a:ext cx="173736" cy="173736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00573" y="3808476"/>
            <a:ext cx="173736" cy="173736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09444" y="3401568"/>
            <a:ext cx="2743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11930" y="2834640"/>
            <a:ext cx="2743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9582" y="3749039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B6834"/>
                </a:solidFill>
                <a:latin typeface="Open Sans"/>
              </a:rPr>
              <a:t>fronteira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87241" y="4041648"/>
            <a:ext cx="16916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01B"/>
                </a:solidFill>
                <a:latin typeface="Open Sans"/>
              </a:rPr>
              <a:t>menor desvio: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01B"/>
                </a:solidFill>
                <a:latin typeface="Open Sans"/>
              </a:rPr>
              <a:t>ninguém o domina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873752"/>
            <a:ext cx="539495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A domina B: </a:t>
            </a:r>
            <a:r>
              <a:rPr sz="1500" b="0" i="0">
                <a:solidFill>
                  <a:srgbClr val="4A524D"/>
                </a:solidFill>
                <a:latin typeface="Open Sans"/>
              </a:rPr>
              <a:t>não é pior em nenhum dos dois termos e é melhor em pelo menos um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12280" y="1709928"/>
            <a:ext cx="4828032" cy="777240"/>
          </a:xfrm>
          <a:prstGeom prst="roundRect">
            <a:avLst>
              <a:gd name="adj" fmla="val 14117"/>
            </a:avLst>
          </a:prstGeom>
          <a:solidFill>
            <a:srgbClr val="E7F0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1773936"/>
            <a:ext cx="42793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A78D6"/>
                </a:solidFill>
                <a:latin typeface="Open Sans"/>
              </a:rPr>
              <a:t>AG escalar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157984"/>
            <a:ext cx="427939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soma os dois termos  →  </a:t>
            </a:r>
            <a:r>
              <a:rPr sz="1600" b="1" i="0">
                <a:solidFill>
                  <a:srgbClr val="17201B"/>
                </a:solidFill>
                <a:latin typeface="Open Sans"/>
              </a:rPr>
              <a:t>saída: um elenco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12280" y="2624328"/>
            <a:ext cx="4828032" cy="2057400"/>
          </a:xfrm>
          <a:prstGeom prst="roundRect">
            <a:avLst>
              <a:gd name="adj" fmla="val 5333"/>
            </a:avLst>
          </a:prstGeom>
          <a:solidFill>
            <a:srgbClr val="FDEE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86600" y="2697480"/>
            <a:ext cx="42793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B6834"/>
                </a:solidFill>
                <a:latin typeface="Open Sans"/>
              </a:rPr>
              <a:t>NSGA-II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3127248"/>
            <a:ext cx="4279392" cy="14813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fica com os elencos que ninguém domina e, entre eles, prefere os mais isolados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saída: uma fronteira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para comparar, o ponto dela que minimiza a mesma soma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12280" y="4818888"/>
            <a:ext cx="2331720" cy="822960"/>
          </a:xfrm>
          <a:prstGeom prst="roundRect">
            <a:avLst>
              <a:gd name="adj" fmla="val 13333"/>
            </a:avLst>
          </a:prstGeom>
          <a:solidFill>
            <a:srgbClr val="E3F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13448" y="487375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28A5F"/>
                </a:solidFill>
                <a:latin typeface="Open Sans"/>
              </a:rPr>
              <a:t>Híbrido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3448" y="5148072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7201B"/>
                </a:solidFill>
                <a:latin typeface="Open Sans"/>
              </a:rPr>
              <a:t>NSGA-II na 1ª metade, AG escalar na 2ª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08592" y="4818888"/>
            <a:ext cx="2331720" cy="822960"/>
          </a:xfrm>
          <a:prstGeom prst="roundRect">
            <a:avLst>
              <a:gd name="adj" fmla="val 13333"/>
            </a:avLst>
          </a:prstGeom>
          <a:solidFill>
            <a:srgbClr val="ECEC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487375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2514E"/>
                </a:solidFill>
                <a:latin typeface="Open Sans"/>
              </a:rPr>
              <a:t>Controle λ = 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60" y="5148072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7201B"/>
                </a:solidFill>
                <a:latin typeface="Open Sans"/>
              </a:rPr>
              <a:t>AG escalar sem o termo de identidade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852160"/>
            <a:ext cx="1109167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Mesmo orçamento · 20 execuções por braço, mesmas sementes · reavaliação com 1.000 lutas por par · Wilcoxon pareado e Holm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QP1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O AG escalar leva uma hierarquia ao equilíbrio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8</a:t>
            </a:r>
          </a:p>
        </p:txBody>
      </p:sp>
      <p:pic>
        <p:nvPicPr>
          <p:cNvPr id="7" name="Matrizes de confronto" descr="matriz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64208"/>
            <a:ext cx="694944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52160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% de vitórias da linha contra a coluna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09928"/>
            <a:ext cx="3913632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29967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7201B"/>
                </a:solidFill>
                <a:latin typeface="Open Sans"/>
              </a:rPr>
              <a:t>1,28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0" y="2395727"/>
            <a:ext cx="457200" cy="0"/>
          </a:xfrm>
          <a:prstGeom prst="line">
            <a:avLst/>
          </a:prstGeom>
          <a:ln w="25400">
            <a:solidFill>
              <a:srgbClr val="6F7772"/>
            </a:solidFill>
            <a:tailEnd type="triangle"/>
          </a:ln>
        </p:spPr>
      </p:cxnSp>
      <p:sp>
        <p:nvSpPr>
          <p:cNvPr id="12" name="TextBox 11"/>
          <p:cNvSpPr txBox="1"/>
          <p:nvPr/>
        </p:nvSpPr>
        <p:spPr>
          <a:xfrm>
            <a:off x="9738359" y="2029967"/>
            <a:ext cx="1901952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2A78D6"/>
                </a:solidFill>
                <a:latin typeface="Open Sans"/>
              </a:rPr>
              <a:t>0,036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670048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canônico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59" y="2670048"/>
            <a:ext cx="190195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AG escalar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26679" y="3127248"/>
            <a:ext cx="3913633" cy="0"/>
          </a:xfrm>
          <a:prstGeom prst="line">
            <a:avLst/>
          </a:prstGeom>
          <a:ln w="15240">
            <a:solidFill>
              <a:srgbClr val="D5DAD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726679" y="3236976"/>
            <a:ext cx="3913632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2A78D6"/>
                </a:solidFill>
                <a:latin typeface="Open Sans"/>
              </a:rPr>
              <a:t>20/20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886200"/>
            <a:ext cx="391363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execuções convergiram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224528"/>
            <a:ext cx="39136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na geração 31, em média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26679" y="4663440"/>
            <a:ext cx="3913633" cy="0"/>
          </a:xfrm>
          <a:prstGeom prst="line">
            <a:avLst/>
          </a:prstGeom>
          <a:ln w="15240">
            <a:solidFill>
              <a:srgbClr val="D5DAD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7726679" y="4773168"/>
            <a:ext cx="3913632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2A78D6"/>
                </a:solidFill>
                <a:latin typeface="Open Sans"/>
              </a:rPr>
              <a:t>16/20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5422392"/>
            <a:ext cx="391363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terminaram equilibradas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5760720"/>
            <a:ext cx="39136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personagens 40–60%, confrontos até 65%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QP1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Fora do laço, o equilíbrio se repete, mas depende das regras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4160520" cy="4389120"/>
          </a:xfrm>
          <a:prstGeom prst="roundRect">
            <a:avLst>
              <a:gd name="adj" fmla="val 2637"/>
            </a:avLst>
          </a:prstGeom>
          <a:solidFill>
            <a:srgbClr val="E7F0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65376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Open Sans"/>
              </a:rPr>
              <a:t>SORTEIOS INÉDITOS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31136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A78D6"/>
                </a:solidFill>
                <a:latin typeface="Open Sans"/>
              </a:rPr>
              <a:t>replica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35808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5.000 lutas por par, regras do treino: todos os confrontos dentro da faixa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61688"/>
            <a:ext cx="35661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o único dos 4 elencos testados que replica (AG escalar, dois pontos do NSGA-II e o canônico)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73736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UMA REGRA DO COMBATE ALTERADA POR VEZ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2167127"/>
            <a:ext cx="210312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Distância inicial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9752" y="2167127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6F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24344" y="2167127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67127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E2E"/>
                </a:solidFill>
                <a:latin typeface="Open Sans"/>
              </a:rPr>
              <a:t>robusto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167127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6F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82912" y="2167127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59568" y="2167127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E2E"/>
                </a:solidFill>
                <a:latin typeface="Open Sans"/>
              </a:rPr>
              <a:t>robusto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035808"/>
            <a:ext cx="210312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Tamanho do campo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59752" y="3035808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FB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24344" y="3035808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035808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3312F"/>
                </a:solidFill>
                <a:latin typeface="Open Sans"/>
              </a:rPr>
              <a:t>frágil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3035808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6F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82912" y="3035808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120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9568" y="3035808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E2E"/>
                </a:solidFill>
                <a:latin typeface="Open Sans"/>
              </a:rPr>
              <a:t>robusto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3904487"/>
            <a:ext cx="210312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Persistência da intenção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59752" y="3904487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CEE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24344" y="3904487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3904487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A524D"/>
                </a:solidFill>
                <a:latin typeface="Open Sans"/>
              </a:rPr>
              <a:t>inconclusivo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18320" y="3904487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FB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2912" y="3904487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568" y="3904487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3312F"/>
                </a:solidFill>
                <a:latin typeface="Open Sans"/>
              </a:rPr>
              <a:t>frágil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4773168"/>
            <a:ext cx="210312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Multiplicador da guarda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59752" y="4773168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CEE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4344" y="4773168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0,55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773168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A524D"/>
                </a:solidFill>
                <a:latin typeface="Open Sans"/>
              </a:rPr>
              <a:t>inconclusivo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18320" y="4773168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6F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82912" y="4773168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0,65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9568" y="4773168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E2E"/>
                </a:solidFill>
                <a:latin typeface="Open Sans"/>
              </a:rPr>
              <a:t>robusto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5705856"/>
            <a:ext cx="66568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4 robustas · 2 inconclusivas · 2 frágeis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QP2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Sem o termo, a identidade cai ao nível do acaso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709928"/>
            <a:ext cx="2194560" cy="566928"/>
          </a:xfrm>
          <a:prstGeom prst="roundRect">
            <a:avLst>
              <a:gd name="adj" fmla="val 19354"/>
            </a:avLst>
          </a:prstGeom>
          <a:solidFill>
            <a:srgbClr val="E7F0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70992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78D6"/>
                </a:solidFill>
                <a:latin typeface="Open Sans"/>
              </a:rPr>
              <a:t>AG escalar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1709928"/>
            <a:ext cx="2194560" cy="566928"/>
          </a:xfrm>
          <a:prstGeom prst="roundRect">
            <a:avLst>
              <a:gd name="adj" fmla="val 19354"/>
            </a:avLst>
          </a:prstGeom>
          <a:solidFill>
            <a:srgbClr val="ECEC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70992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Open Sans"/>
              </a:rPr>
              <a:t>sem o termo (λ = 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1709928"/>
            <a:ext cx="2194560" cy="566928"/>
          </a:xfrm>
          <a:prstGeom prst="roundRect">
            <a:avLst>
              <a:gd name="adj" fmla="val 19354"/>
            </a:avLst>
          </a:prstGeom>
          <a:solidFill>
            <a:srgbClr val="F3F3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170992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E8C86"/>
                </a:solidFill>
                <a:latin typeface="Open Sans"/>
              </a:rPr>
              <a:t>elencos sorteados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09928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identidade: as 4 separam, p ≤ 0,0044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395728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548640" y="2441448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Desvio do canônico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072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menor = mais fiel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441448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78D6"/>
                </a:solidFill>
                <a:latin typeface="Open Sans"/>
              </a:rPr>
              <a:t>0,25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441448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52514E"/>
                </a:solidFill>
                <a:latin typeface="Open Sans"/>
              </a:rPr>
              <a:t>0,41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441448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8E8C86"/>
                </a:solidFill>
                <a:latin typeface="Open Sans"/>
              </a:rPr>
              <a:t>0,42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3145536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48640" y="3191256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Asserções sobre os genes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5701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de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191256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78D6"/>
                </a:solidFill>
                <a:latin typeface="Open Sans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191256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52514E"/>
                </a:solidFill>
                <a:latin typeface="Open San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191256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8E8C86"/>
                </a:solidFill>
                <a:latin typeface="Open Sans"/>
              </a:rPr>
              <a:t>5,4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3895344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548640" y="3941064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Asserções de comportamento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30682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de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941064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78D6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941064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52514E"/>
                </a:solidFill>
                <a:latin typeface="Open San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941064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8E8C86"/>
                </a:solidFill>
                <a:latin typeface="Open Sans"/>
              </a:rPr>
              <a:t>1,0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4645152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48640" y="4690872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Concordância 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05663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canônico =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4690872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78D6"/>
                </a:solidFill>
                <a:latin typeface="Open Sans"/>
              </a:rPr>
              <a:t>0,28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690872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52514E"/>
                </a:solidFill>
                <a:latin typeface="Open Sans"/>
              </a:rPr>
              <a:t>−0,03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4690872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8E8C86"/>
                </a:solidFill>
                <a:latin typeface="Open Sans"/>
              </a:rPr>
              <a:t>−0,02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504688"/>
            <a:ext cx="11091672" cy="603504"/>
          </a:xfrm>
          <a:prstGeom prst="roundRect">
            <a:avLst>
              <a:gd name="adj" fmla="val 18181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59" y="5504688"/>
            <a:ext cx="10543032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Equilíbrio:</a:t>
            </a:r>
            <a:r>
              <a:rPr sz="1700" b="0" i="0">
                <a:solidFill>
                  <a:srgbClr val="17201B"/>
                </a:solidFill>
                <a:latin typeface="Open Sans"/>
              </a:rPr>
              <a:t> 0,036 contra 0,043, diferença não significativa após Holm (p = 0,059)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QP2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A política é o que mais se perde, e a busca mal a enxerga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847088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RUSHDOWN: CHANCE DE AVANÇAR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2860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canônico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313432"/>
            <a:ext cx="2516428" cy="329184"/>
          </a:xfrm>
          <a:prstGeom prst="roundRect">
            <a:avLst>
              <a:gd name="adj" fmla="val 13888"/>
            </a:avLst>
          </a:prstGeom>
          <a:solidFill>
            <a:srgbClr val="1720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6748" y="2286000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8346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NSGA-II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862072"/>
            <a:ext cx="1404518" cy="329184"/>
          </a:xfrm>
          <a:prstGeom prst="roundRect">
            <a:avLst>
              <a:gd name="adj" fmla="val 13888"/>
            </a:avLst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4838" y="2834640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48%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38327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híbrido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80" y="3410711"/>
            <a:ext cx="1375257" cy="329184"/>
          </a:xfrm>
          <a:prstGeom prst="roundRect">
            <a:avLst>
              <a:gd name="adj" fmla="val 13888"/>
            </a:avLst>
          </a:prstGeom>
          <a:solidFill>
            <a:srgbClr val="1BA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5577" y="3383279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47%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3192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AG escalar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68880" y="3959352"/>
            <a:ext cx="1141171" cy="329184"/>
          </a:xfrm>
          <a:prstGeom prst="roundRect">
            <a:avLst>
              <a:gd name="adj" fmla="val 13888"/>
            </a:avLst>
          </a:prstGeom>
          <a:solidFill>
            <a:srgbClr val="2A7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1491" y="3931920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39%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48056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sem o termo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68880" y="4507992"/>
            <a:ext cx="1024127" cy="329184"/>
          </a:xfrm>
          <a:prstGeom prst="roundRect">
            <a:avLst>
              <a:gd name="adj" fmla="val 13888"/>
            </a:avLst>
          </a:prstGeom>
          <a:solidFill>
            <a:srgbClr val="5251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84448" y="4480560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35%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518464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os cinco personagens convergem para uma política parecida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09928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847088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EFEITO DOS PESOS NA VITÓRIA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19672" y="2286000"/>
            <a:ext cx="237744" cy="237744"/>
          </a:xfrm>
          <a:prstGeom prst="roundRect">
            <a:avLst>
              <a:gd name="adj" fmla="val 19230"/>
            </a:avLst>
          </a:prstGeom>
          <a:solidFill>
            <a:srgbClr val="B3BA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231136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1B"/>
                </a:solidFill>
                <a:latin typeface="Open Sans"/>
              </a:rPr>
              <a:t>passo atual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05672" y="2286000"/>
            <a:ext cx="237744" cy="237744"/>
          </a:xfrm>
          <a:prstGeom prst="roundRect">
            <a:avLst>
              <a:gd name="adj" fmla="val 1923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223113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1B"/>
                </a:solidFill>
                <a:latin typeface="Open Sans"/>
              </a:rPr>
              <a:t>passo dos atributos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79776"/>
            <a:ext cx="11887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FRENTE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08392" y="2779776"/>
            <a:ext cx="562356" cy="274320"/>
          </a:xfrm>
          <a:prstGeom prst="roundRect">
            <a:avLst>
              <a:gd name="adj" fmla="val 13333"/>
            </a:avLst>
          </a:prstGeom>
          <a:solidFill>
            <a:srgbClr val="B3BA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5913" y="2752344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24D"/>
                </a:solidFill>
                <a:latin typeface="Open Sans"/>
              </a:rPr>
              <a:t>3,0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08392" y="3108960"/>
            <a:ext cx="2680563" cy="274320"/>
          </a:xfrm>
          <a:prstGeom prst="roundRect">
            <a:avLst>
              <a:gd name="adj" fmla="val 13333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62107" y="3081528"/>
            <a:ext cx="7315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1B"/>
                </a:solidFill>
                <a:latin typeface="Open Sans"/>
              </a:rPr>
              <a:t>14,3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566160"/>
            <a:ext cx="11887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RECUAR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08392" y="3566160"/>
            <a:ext cx="899769" cy="274320"/>
          </a:xfrm>
          <a:prstGeom prst="roundRect">
            <a:avLst>
              <a:gd name="adj" fmla="val 13333"/>
            </a:avLst>
          </a:prstGeom>
          <a:solidFill>
            <a:srgbClr val="B3BA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99601" y="3538727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24D"/>
                </a:solidFill>
                <a:latin typeface="Open Sans"/>
              </a:rPr>
              <a:t>4,8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8392" y="3895344"/>
            <a:ext cx="3092958" cy="274320"/>
          </a:xfrm>
          <a:prstGeom prst="roundRect">
            <a:avLst>
              <a:gd name="adj" fmla="val 13333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74502" y="3867912"/>
            <a:ext cx="7315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1B"/>
                </a:solidFill>
                <a:latin typeface="Open Sans"/>
              </a:rPr>
              <a:t>16,5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352544"/>
            <a:ext cx="11887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GUARDA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08392" y="4352544"/>
            <a:ext cx="543610" cy="274320"/>
          </a:xfrm>
          <a:prstGeom prst="roundRect">
            <a:avLst>
              <a:gd name="adj" fmla="val 13333"/>
            </a:avLst>
          </a:prstGeom>
          <a:solidFill>
            <a:srgbClr val="B3BA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5913" y="4325112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24D"/>
                </a:solidFill>
                <a:latin typeface="Open Sans"/>
              </a:rPr>
              <a:t>2,9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8392" y="4681728"/>
            <a:ext cx="2324404" cy="274320"/>
          </a:xfrm>
          <a:prstGeom prst="roundRect">
            <a:avLst>
              <a:gd name="adj" fmla="val 13333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5948" y="4654296"/>
            <a:ext cx="7315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1B"/>
                </a:solidFill>
                <a:latin typeface="Open Sans"/>
              </a:rPr>
              <a:t>12,4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364473" y="2670048"/>
            <a:ext cx="0" cy="2514600"/>
          </a:xfrm>
          <a:prstGeom prst="line">
            <a:avLst/>
          </a:prstGeom>
          <a:ln w="19050">
            <a:solidFill>
              <a:srgbClr val="B3312F"/>
            </a:solidFill>
            <a:prstDash val="dash"/>
          </a:ln>
        </p:spPr>
      </p:cxnSp>
      <p:sp>
        <p:nvSpPr>
          <p:cNvPr id="47" name="TextBox 46"/>
          <p:cNvSpPr txBox="1"/>
          <p:nvPr/>
        </p:nvSpPr>
        <p:spPr>
          <a:xfrm>
            <a:off x="7815833" y="5193792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3312F"/>
                </a:solidFill>
                <a:latin typeface="Open Sans"/>
              </a:rPr>
              <a:t>ruído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522976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pontos percentuais; mutação dos pesos 4× menor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Nenhum domina, mas o AG escalar não atinge o seu ótimo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12</a:t>
            </a:r>
          </a:p>
        </p:txBody>
      </p:sp>
      <p:pic>
        <p:nvPicPr>
          <p:cNvPr id="7" name="Fronteira de Pareto" descr="frontei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64208"/>
            <a:ext cx="740664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1709928"/>
            <a:ext cx="35478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B6834"/>
                </a:solidFill>
                <a:latin typeface="Open Sans"/>
              </a:rPr>
              <a:t>NSGA-II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093976"/>
            <a:ext cx="3547872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mais identidade (τ = 0,54), mas 2,8 counters por elenco e 0/20 equilibrados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218688"/>
            <a:ext cx="35478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A78D6"/>
                </a:solidFill>
                <a:latin typeface="Open Sans"/>
              </a:rPr>
              <a:t>AG escalar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02736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além da ponta de equilíbrio da fronteira em 19/20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480560"/>
            <a:ext cx="3685032" cy="1572768"/>
          </a:xfrm>
          <a:prstGeom prst="roundRect">
            <a:avLst>
              <a:gd name="adj" fmla="val 6976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4590288"/>
            <a:ext cx="327355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Na soma que o AG escalar otimiza, a fronteira tem um ponto melhor em </a:t>
            </a:r>
            <a:r>
              <a:rPr sz="1600" b="1" i="0">
                <a:solidFill>
                  <a:srgbClr val="17201B"/>
                </a:solidFill>
                <a:latin typeface="Open Sans"/>
              </a:rPr>
              <a:t>20 de 20</a:t>
            </a:r>
            <a:r>
              <a:rPr sz="1600" b="0" i="0">
                <a:solidFill>
                  <a:srgbClr val="17201B"/>
                </a:solidFill>
                <a:latin typeface="Open Sans"/>
              </a:rPr>
              <a:t> sementes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Por quê? A soma escalar perde identidade em dois estágios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13</a:t>
            </a:r>
          </a:p>
        </p:txBody>
      </p:sp>
      <p:pic>
        <p:nvPicPr>
          <p:cNvPr id="7" name="Mecanismo" descr="mecanis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64208"/>
            <a:ext cx="676656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execução de semente 42 (réplica instrumentada)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709928"/>
            <a:ext cx="4187952" cy="2103120"/>
          </a:xfrm>
          <a:prstGeom prst="roundRect">
            <a:avLst>
              <a:gd name="adj" fmla="val 5217"/>
            </a:avLst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1828800"/>
            <a:ext cx="3730752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3312F"/>
                </a:solidFill>
                <a:latin typeface="Open Sans"/>
              </a:rPr>
              <a:t>1  </a:t>
            </a:r>
            <a:r>
              <a:rPr sz="2000" b="1" i="0">
                <a:solidFill>
                  <a:srgbClr val="17201B"/>
                </a:solidFill>
                <a:latin typeface="Open Sans"/>
              </a:rPr>
              <a:t>No início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2286000"/>
            <a:ext cx="3685032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a soma premia as grandes diferenças de equilíbrio e descarta os elencos próximos do canônico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80" y="3310127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3312F"/>
                </a:solidFill>
                <a:latin typeface="Open Sans"/>
              </a:rPr>
              <a:t>o canônico sai na geração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950208"/>
            <a:ext cx="4187952" cy="2103120"/>
          </a:xfrm>
          <a:prstGeom prst="roundRect">
            <a:avLst>
              <a:gd name="adj" fmla="val 5217"/>
            </a:avLst>
          </a:prstGeom>
          <a:solidFill>
            <a:srgbClr val="EEF1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80" y="4069080"/>
            <a:ext cx="3730752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A524D"/>
                </a:solidFill>
                <a:latin typeface="Open Sans"/>
              </a:rPr>
              <a:t>2  </a:t>
            </a:r>
            <a:r>
              <a:rPr sz="2000" b="1" i="0">
                <a:solidFill>
                  <a:srgbClr val="17201B"/>
                </a:solidFill>
                <a:latin typeface="Open Sans"/>
              </a:rPr>
              <a:t>Depois do equilíbrio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80" y="4526280"/>
            <a:ext cx="3685032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o desvio é exato; o desequilíbrio, sorteado, tem ruído ~60× o ganho de identidade por geração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80" y="5550408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a seleção passa a premiar sorte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O híbrido une a identidade do NSGA-II ao equilíbrio do AG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709928"/>
            <a:ext cx="2194560" cy="4041648"/>
          </a:xfrm>
          <a:prstGeom prst="roundRect">
            <a:avLst>
              <a:gd name="adj" fmla="val 5000"/>
            </a:avLst>
          </a:prstGeom>
          <a:solidFill>
            <a:srgbClr val="E3F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177393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A78D6"/>
                </a:solidFill>
                <a:latin typeface="Open Sans"/>
              </a:rPr>
              <a:t>AG escalar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77393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8A5F"/>
                </a:solidFill>
                <a:latin typeface="Open Sans"/>
              </a:rPr>
              <a:t>Híbrido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77393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B6834"/>
                </a:solidFill>
                <a:latin typeface="Open Sans"/>
              </a:rPr>
              <a:t>NSGA-II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2860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48640" y="23225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Elencos equilibrados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700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de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3225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3225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3225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29718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48640" y="30083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Counters por elenco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558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média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0083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0,20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0083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0,25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30083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2,80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36576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48640" y="36941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Desvio do canônico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416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menor = mais fiel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941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0,25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941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0,17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941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0,14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43434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548640" y="43799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Concordância 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7274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canônico =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43799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0,28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799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0,52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43799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0,54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50292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548640" y="50657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Convergência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4132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geração média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50657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31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50657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98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50657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824728"/>
            <a:ext cx="1109167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Mesmo orçamento · identidade: p ≤ 0,0058 após Holm · equilíbrio: sem diferença (p = 1,00)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Sim: é possível equilibrar sem destruir as identidades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QP1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Equilíbrio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709928"/>
            <a:ext cx="80010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Sim.</a:t>
            </a:r>
            <a:r>
              <a:rPr sz="1700" b="0" i="0">
                <a:solidFill>
                  <a:srgbClr val="17201B"/>
                </a:solidFill>
                <a:latin typeface="Open Sans"/>
              </a:rPr>
              <a:t> Converge em 20 de 20 execuções, perto da simetria, e replica fora do laço; sensível a 2 de 8 regras.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34056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734056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QP2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Identidade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34056"/>
            <a:ext cx="80010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Em parte, e graças ao termo.</a:t>
            </a:r>
            <a:r>
              <a:rPr sz="1700" b="0" i="0">
                <a:solidFill>
                  <a:srgbClr val="17201B"/>
                </a:solidFill>
                <a:latin typeface="Open Sans"/>
              </a:rPr>
              <a:t> Sem ele, cai ao nível do acaso; a política é o que mais se perde.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58184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758184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Compromisso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758184"/>
            <a:ext cx="80010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Real, mas menor do que o AG escalar sugere.</a:t>
            </a:r>
            <a:r>
              <a:rPr sz="1700" b="0" i="0">
                <a:solidFill>
                  <a:srgbClr val="17201B"/>
                </a:solidFill>
                <a:latin typeface="Open Sans"/>
              </a:rPr>
              <a:t> O híbrido recupera identidade sem custo de equilíbrio.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10328"/>
            <a:ext cx="11091672" cy="1188720"/>
          </a:xfrm>
          <a:prstGeom prst="roundRect">
            <a:avLst>
              <a:gd name="adj" fmla="val 923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10328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Open Sans"/>
              </a:rPr>
              <a:t>Preservar identidade exige </a:t>
            </a:r>
            <a:r>
              <a:rPr sz="2000" b="1" i="0">
                <a:solidFill>
                  <a:srgbClr val="FFFFFF"/>
                </a:solidFill>
                <a:latin typeface="Open Sans"/>
              </a:rPr>
              <a:t>pressão explícita por identidade</a:t>
            </a:r>
            <a:r>
              <a:rPr sz="2000" b="0" i="0">
                <a:solidFill>
                  <a:srgbClr val="FFFFFF"/>
                </a:solidFill>
                <a:latin typeface="Open Sans"/>
              </a:rPr>
              <a:t> e uma busca que </a:t>
            </a:r>
            <a:r>
              <a:rPr sz="2000" b="1" i="0">
                <a:solidFill>
                  <a:srgbClr val="FFFFFF"/>
                </a:solidFill>
                <a:latin typeface="Open Sans"/>
              </a:rPr>
              <a:t>mantenha a diversidade sob avaliação ruidosa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O modelo ainda é simples; os próximos passos saem dos achados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847088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F7772"/>
                </a:solidFill>
                <a:latin typeface="Open Sans"/>
              </a:rPr>
              <a:t>LIMITES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41401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6F77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322576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Combate abstrato: sem animações, combos ou janelas de punição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3101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6F77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218688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O ciclo de vantagens proposto não se realiza nem no canônico, que é uma hierarquia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206240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6F77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114800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Política fixa: nenhum oponente tenta explorar o elenco evoluído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709928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47088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PRÓXIMOS PASSOS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9672" y="241401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2322576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Passo de mutação da política calibrado contra o ruído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33101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5432" y="3218688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Políticas que dependam do estado da luta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9672" y="4206240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85432" y="4114800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Oponentes que se adaptam ao elenco (coevolução)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9672" y="510235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5432" y="5010912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Calibrar o híbrido no orçamento completo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2743200" cy="65836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61288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7612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73936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8026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86584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92908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9232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05556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1188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4964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61288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7612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73936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8026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386584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92908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99232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05556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1188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4964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61288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67612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8026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6584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92908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99232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05556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1188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4964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61288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467612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773936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08026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386584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692908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999232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5556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1188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864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4964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61288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467612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773936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08026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386584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692908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99232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305556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61188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11887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7201B"/>
                </a:solidFill>
                <a:latin typeface="Open Sans"/>
              </a:rPr>
              <a:t>Obrigado!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74920" y="205740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524D"/>
                </a:solidFill>
                <a:latin typeface="Open Sans"/>
              </a:rPr>
              <a:t>Perguntas e comentários são bem-vindos</a:t>
            </a:r>
          </a:p>
        </p:txBody>
      </p:sp>
      <p:pic>
        <p:nvPicPr>
          <p:cNvPr id="61" name="QR code do repositório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017520"/>
            <a:ext cx="2103120" cy="21031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452360" y="342900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201B"/>
                </a:solidFill>
                <a:latin typeface="Open Sans"/>
              </a:rPr>
              <a:t>Código aberto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52360" y="38587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F6E2E"/>
                </a:solidFill>
                <a:latin typeface="Open Sans"/>
              </a:rPr>
              <a:t>github.com/M-Gimenes/Simulation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74920" y="58521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Matheus Gimenes de Souza · Ifes Cachoeiro de Itapemirim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O ciclo proposto não se realiza, nem no canônico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651760"/>
                <a:gridCol w="2651760"/>
                <a:gridCol w="2679192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Grupo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Arestas decididas (de 10)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Mantidas, das decididas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Tríades circulares (de 5)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Canônico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6/10 (60%)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AG escalar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9,30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105/186 (56,5%)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3,71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NSGA-II (20)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9,85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98/197 (49,7%)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4,17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Aleatórios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149/300 (49,7%)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Espelhos (5)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3/5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2,59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1032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16.000 lutas por par; aresta decidida: |WR − 0,5| &gt; 2σ. AG escalar contra o acaso: p = 0,091 (binomial). O canônico quebra 4 arestas por inversão completa: Rushdown vence todos, Turtle perde para todos. Ciclo proposto: Rushdown &gt; Zoner, Combo Master; Zoner &gt; Grappler, Turtle; Grappler &gt; Rushdown, Turtle; Combo Master &gt; Grappler, Zoner; Turtle &gt; Rushdown, Combo Master.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As duas penalidades da aptidão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965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D191E"/>
                </a:solidFill>
                <a:latin typeface="Open Sans"/>
              </a:rPr>
              <a:t>Desequilíbrio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819656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D191E"/>
                </a:solidFill>
                <a:latin typeface="Open Sans"/>
              </a:rPr>
              <a:t>P_dom = 1,0 · global + 0,5 · counter + 0,5 · decisividade   (de 0 a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276856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global: raiz da média dos quadrados, nos 5 personagens, de |WR_global − 0,5| / 0,5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734056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counter: nos 10 pares, o excesso de |WR_par − 0,5| acima de 0,15 (faixa de 35% a 65%)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91256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decisividade: nos 10 pares, D = média de |s − 0,5| por luta, penalizada fora de [0,02; 0,20]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58184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4BB8"/>
                </a:solidFill>
                <a:latin typeface="Open Sans"/>
              </a:rPr>
              <a:t>Desvio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758184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E4BB8"/>
                </a:solidFill>
                <a:latin typeface="Open Sans"/>
              </a:rPr>
              <a:t>P_drift = média, nos 5 personagens, de √( Σ w·d² / Σ w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15384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d = (gene − canônico) / amplitude do gene; w = 3 nos genes definidores, 1 nos demais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Aptidão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782312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6E2E"/>
                </a:solidFill>
                <a:latin typeface="Open Sans"/>
              </a:rPr>
              <a:t>AG escalar: F = −(1,0 · P_drift + 1,0 · P_dom)    NSGA-II: minimiza (P_dom, P_drift)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5239512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λ = 1: joelho da varredura (equilíbrio estável até 1,0; piora a partir de 2,0)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Perfis canônicos: a premissa (genes definidores em negrito)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R3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0751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7672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</a:tblGrid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Arquétipo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vida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dano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interv.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alcance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veloc.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atord.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repuls.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agarrão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FRENTE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RECUAR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GUARDA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Zoner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2,5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2,0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0,05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0,30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0,60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Rushdown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5,0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Combo Master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350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3,0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0,55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0,30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0,05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Grappler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400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2,0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Turtle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450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1,5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1,0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0,40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65192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Limites: vida 250–450, dano 15–30, intervalo 1–5, alcance 5–20, velocidade 1–5, atordoamento 0–0,6, repulsão 0–3, agarrão 0–1, pesos 0–1. Canônico: 23/23 asserções.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Validação externa dos elencos de semente 42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R4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76472"/>
                <a:gridCol w="1828800"/>
                <a:gridCol w="1828800"/>
                <a:gridCol w="1828800"/>
                <a:gridCol w="1828800"/>
              </a:tblGrid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Condição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AG escalar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NSGA-II s.o.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NSGA-II joelho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Canônico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Replicação (regras do treino)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0,033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0,051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Distância inicial 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0,394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Distância inicial 60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0,040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0,045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0,396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Campo 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0,143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Campo 120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0,033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0,160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0,407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1,272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Persistência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I  0,110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0,273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Persistência 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0,153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0,230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0,441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Guarda 0,55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I  0,075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0,108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0,397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Guarda 0,65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0,061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0,063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0,444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2472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R robusto, I inconclusivo, F frágil (IC de Wilson 95% contra a faixa); o número é o desequilíbrio na condição.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As seis métricas da família de testes, por braço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R5</a:t>
            </a:r>
          </a:p>
        </p:txBody>
      </p:sp>
      <p:pic>
        <p:nvPicPr>
          <p:cNvPr id="7" name="Picture 6" descr="metri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64208"/>
            <a:ext cx="1106424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44768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F7772"/>
                </a:solidFill>
                <a:latin typeface="Open Sans"/>
              </a:rPr>
              <a:t>Pontos: execuções; barra: mediana; tracejado: espelhos em desequilíbrio, elencos sorteados nas métricas de identidade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Convergência: medianas das 20 execuções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R6</a:t>
            </a:r>
          </a:p>
        </p:txBody>
      </p:sp>
      <p:pic>
        <p:nvPicPr>
          <p:cNvPr id="7" name="Picture 6" descr="converg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55648"/>
            <a:ext cx="11064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Sensibilidade: o quanto cada gene move a taxa de vitória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R7</a:t>
            </a:r>
          </a:p>
        </p:txBody>
      </p:sp>
      <p:pic>
        <p:nvPicPr>
          <p:cNvPr id="7" name="Picture 6" descr="sensibil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09928"/>
            <a:ext cx="960120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87000" y="2029967"/>
            <a:ext cx="1353312" cy="320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janela de 2 desvios de mutação; elenco do AG escalar, semente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Uma régua grosseira gerou uma diferença que não se sustentou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55648"/>
            <a:ext cx="5422392" cy="2926080"/>
          </a:xfrm>
          <a:prstGeom prst="roundRect">
            <a:avLst>
              <a:gd name="adj" fmla="val 375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7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200 lutas por par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A78D6"/>
                </a:solidFill>
                <a:latin typeface="Open Sans"/>
              </a:rPr>
              <a:t>0,0399</a:t>
            </a:r>
            <a:r>
              <a:rPr sz="1600" b="0" i="0">
                <a:solidFill>
                  <a:srgbClr val="4A524D"/>
                </a:solidFill>
                <a:latin typeface="Open Sans"/>
              </a:rPr>
              <a:t>  AG escalar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6440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2514E"/>
                </a:solidFill>
                <a:latin typeface="Open Sans"/>
              </a:rPr>
              <a:t>0,0534</a:t>
            </a:r>
            <a:r>
              <a:rPr sz="1600" b="0" i="0">
                <a:solidFill>
                  <a:srgbClr val="4A524D"/>
                </a:solidFill>
                <a:latin typeface="Open Sans"/>
              </a:rPr>
              <a:t>  sem o termo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4164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3312F"/>
                </a:solidFill>
                <a:latin typeface="Open Sans"/>
              </a:rPr>
              <a:t>p Holm = 0,038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55648"/>
            <a:ext cx="5422392" cy="2926080"/>
          </a:xfrm>
          <a:prstGeom prst="roundRect">
            <a:avLst>
              <a:gd name="adj" fmla="val 375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938527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1.000 lutas por par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53288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A78D6"/>
                </a:solidFill>
                <a:latin typeface="Open Sans"/>
              </a:rPr>
              <a:t>0,0355</a:t>
            </a:r>
            <a:r>
              <a:rPr sz="1600" b="0" i="0">
                <a:solidFill>
                  <a:srgbClr val="4A524D"/>
                </a:solidFill>
                <a:latin typeface="Open Sans"/>
              </a:rPr>
              <a:t>  AG escalar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26440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2514E"/>
                </a:solidFill>
                <a:latin typeface="Open Sans"/>
              </a:rPr>
              <a:t>0,0432</a:t>
            </a:r>
            <a:r>
              <a:rPr sz="1600" b="0" i="0">
                <a:solidFill>
                  <a:srgbClr val="4A524D"/>
                </a:solidFill>
                <a:latin typeface="Open Sans"/>
              </a:rPr>
              <a:t>  sem o termo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04164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p Holm = 0,059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56048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Os mesmos elencos, idênticos gene a gene, e o mesmo efeito (Â₁₂ = 0,30). O erro de medição a 200 lutas era da ordem da diferença entre os braços. Sobreviveu a afirmação mais estreita: a identidade não custou equilíbrio mensurável.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Modelos nulos: o piso de cada métrica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R9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234440"/>
                <a:gridCol w="1234440"/>
                <a:gridCol w="1417320"/>
                <a:gridCol w="1600200"/>
                <a:gridCol w="1051560"/>
                <a:gridCol w="1261872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Elenco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Deseq.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Genes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Comport.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τ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Difer.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Canônico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1,28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1,35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Espelhos (média de 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0,377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2,6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−0,18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Aleatórios (média de 30)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1,33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0,415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5,4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−0,02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Aleatórios (melhor)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0,327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40740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O espelho é a solução trivial do equilíbrio. Termo global dos espelhos: 0,014 (ruído puro); AG escalar: 0,032, perto da simetria sem alcançá-la.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AG escalar contra NSGA-II e híbrido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R10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96312"/>
                <a:gridCol w="1143000"/>
                <a:gridCol w="1463040"/>
                <a:gridCol w="1325880"/>
                <a:gridCol w="960120"/>
                <a:gridCol w="1234440"/>
                <a:gridCol w="1325880"/>
                <a:gridCol w="114300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Métrica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AG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NSGA-II s.o.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p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Â₁₂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Híbrido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p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Â₁₂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Desequilíbrio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0,0355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0,0759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0,0287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0,51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Hard counters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0,2473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0,1445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0,1663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0,97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Genes (de 18)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Comport. (de 5)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0,0027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0,24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0,0058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0,24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Concordância 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0,52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09320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Wilcoxon pareado (mesmas sementes 42–61). Contra o best_dominance do NSGA-II: as seis mantêm direção e significância. Personagens em banda: 5/5 em todos, sai da família.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Representantes das fronteiras do NSGA-II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R11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79192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Representante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Deseq.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Counters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Equil.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Genes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Comport.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τ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best_drift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1,056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0,059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8,45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0/20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0,80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knee_point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0,405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6,85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0/20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ideal_point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0,396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0,087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7,25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0/20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17,5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0,71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scalar_optimum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0,145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2,80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0/20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best_dominance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0,055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0,166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2,05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4/20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0,51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1032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Hipervolume 0,395 ± 0,011 (referência 1,3; 0,4); 53 pontos por fronteira, em média. Na soma desequilíbrio + desvio, a fronteira tem ponto melhor que o AG em 20/20 sementes (no laço) e em 18/20 (reavaliado).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Parâmetros e o que sustenta cada valor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R12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2377440"/>
                <a:gridCol w="4507992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Parâmetro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Valor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Sustentação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Lutas por par na busca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Razão λ_drift / λ_dom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 (joelho da varredura)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Pesos do desequilíbrio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 / 0,5 / 0,5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medido, projeto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Tolerância de hard counter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0,15 (65%)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domínio (grade 6-4 / 7-3), medido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Peso dos genes definidores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População × gerações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300 × 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projeto (convergiu entre 13 e 56)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Torneio / elitismo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 / 10%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 (nenhum braço os domina)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Mutação: taxa; desvio atributos; pesos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0,05; 10%; 2,5%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projeto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Persistência da intenção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5 sub-ticks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coerência, medido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Divisão do híbrido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0,5; fronteira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projeto (desempate por simplicidade)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O modelo de combate, em detalhe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Tempo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7556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tick de 5 sub-ticks; campo de 100, distância inicial 50; 100% das lutas acabam em nocaute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41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Intenção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414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sorteada com chance proporcional aos 3 pesos e mantida por 5 sub-ticks; fora do alcance dos dois, avançar é imposto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272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Ataque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1272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sai se a recarga terminou, o oponente está ao alcance e a postura não é GUARDA; dano fixo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130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Guarda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8130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dano × 0,6 contra quem defende; o agarrão soma: 0,6 + agarrão (Grappler: 1,5×)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988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Recarga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4988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intervalo e atordoamento convertidos em sub-ticks com resto acumulado: exatos na média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846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Desfecho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51846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nocaute, tempo (maior fração de vida) ou empate, que vale meia vitória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Um algoritmo genético evolui 300 elencos por 150 gerações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5340096" cy="1778508"/>
          </a:xfrm>
          <a:prstGeom prst="roundRect">
            <a:avLst>
              <a:gd name="adj" fmla="val 6169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0216" y="1709928"/>
            <a:ext cx="5340096" cy="1778508"/>
          </a:xfrm>
          <a:prstGeom prst="roundRect">
            <a:avLst>
              <a:gd name="adj" fmla="val 6169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0216" y="3872484"/>
            <a:ext cx="5340096" cy="1778508"/>
          </a:xfrm>
          <a:prstGeom prst="roundRect">
            <a:avLst>
              <a:gd name="adj" fmla="val 6169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872484"/>
            <a:ext cx="5340096" cy="1778508"/>
          </a:xfrm>
          <a:prstGeom prst="roundRect">
            <a:avLst>
              <a:gd name="adj" fmla="val 6169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952744" y="2599182"/>
            <a:ext cx="283463" cy="0"/>
          </a:xfrm>
          <a:prstGeom prst="line">
            <a:avLst/>
          </a:prstGeom>
          <a:ln w="28575">
            <a:solidFill>
              <a:srgbClr val="6F7772"/>
            </a:solidFill>
            <a:tailEnd type="triangle" w="med" len="med"/>
          </a:ln>
        </p:spPr>
      </p:cxnSp>
      <p:cxnSp>
        <p:nvCxnSpPr>
          <p:cNvPr id="12" name="Connector 11"/>
          <p:cNvCxnSpPr/>
          <p:nvPr/>
        </p:nvCxnSpPr>
        <p:spPr>
          <a:xfrm>
            <a:off x="8970263" y="3543300"/>
            <a:ext cx="0" cy="274320"/>
          </a:xfrm>
          <a:prstGeom prst="line">
            <a:avLst/>
          </a:prstGeom>
          <a:ln w="28575">
            <a:solidFill>
              <a:srgbClr val="6F7772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952744" y="4761738"/>
            <a:ext cx="283463" cy="0"/>
          </a:xfrm>
          <a:prstGeom prst="line">
            <a:avLst/>
          </a:prstGeom>
          <a:ln w="28575">
            <a:solidFill>
              <a:srgbClr val="6F7772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 flipV="1">
            <a:off x="3218688" y="3543300"/>
            <a:ext cx="0" cy="274320"/>
          </a:xfrm>
          <a:prstGeom prst="line">
            <a:avLst/>
          </a:prstGeom>
          <a:ln w="28575">
            <a:solidFill>
              <a:srgbClr val="6F7772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5614415" y="3200400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F77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37275" y="3351276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1B"/>
                </a:solidFill>
                <a:latin typeface="Open Sans"/>
              </a:rPr>
              <a:t>150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24D"/>
                </a:solidFill>
                <a:latin typeface="Open Sans"/>
              </a:rPr>
              <a:t>gerações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18470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1  POPULAÇÃO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2185416"/>
            <a:ext cx="1463040" cy="6949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7201B"/>
                </a:solidFill>
                <a:latin typeface="Open Sans"/>
              </a:rPr>
              <a:t>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286207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elencos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276856"/>
            <a:ext cx="3145536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cada um com 5 personagens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na geração 0: o canônico e 299 sorteados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18470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2  AVALIAÇÃO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4536" y="2185416"/>
            <a:ext cx="4791456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round-robin: 10 confrontos × 150 lutas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1" i="0">
                <a:solidFill>
                  <a:srgbClr val="CD191E"/>
                </a:solidFill>
                <a:latin typeface="Open Sans"/>
              </a:rPr>
              <a:t>desequilíbrio</a:t>
            </a:r>
            <a:r>
              <a:rPr sz="1600" b="0" i="0">
                <a:solidFill>
                  <a:srgbClr val="17201B"/>
                </a:solidFill>
                <a:latin typeface="Open Sans"/>
              </a:rPr>
              <a:t> das lutas  ·  </a:t>
            </a:r>
            <a:r>
              <a:rPr sz="1600" b="1" i="0">
                <a:solidFill>
                  <a:srgbClr val="6E4BB8"/>
                </a:solidFill>
                <a:latin typeface="Open Sans"/>
              </a:rPr>
              <a:t>desvio</a:t>
            </a:r>
            <a:r>
              <a:rPr sz="1600" b="0" i="0">
                <a:solidFill>
                  <a:srgbClr val="17201B"/>
                </a:solidFill>
                <a:latin typeface="Open Sans"/>
              </a:rPr>
              <a:t> dos genes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4536" y="2811780"/>
            <a:ext cx="479145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sorteios novos a cada geração: o desequilíbrio tem ruído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4536" y="4009644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3  SELEÇÃO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4375404"/>
            <a:ext cx="4791456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os 10% melhores passam direto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cada pai é o melhor de 3 sorteados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5239512"/>
            <a:ext cx="4791456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Open Sans"/>
              </a:rPr>
              <a:t>AG escalar: a aptidão é a soma dos dois termos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4009644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4  VARIAÇÃO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4375404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cruzamento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4722876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24D"/>
                </a:solidFill>
                <a:latin typeface="Open Sans"/>
              </a:rPr>
              <a:t>pai 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89888" y="475945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4A52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618488" y="475945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4A52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847088" y="475945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4A52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75688" y="475945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4A52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304288" y="475945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4A52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" y="498805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24D"/>
                </a:solidFill>
                <a:latin typeface="Open Sans"/>
              </a:rPr>
              <a:t>pai 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89888" y="50246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618488" y="50246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847088" y="50246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075688" y="50246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304288" y="50246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59" y="5298948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524D"/>
                </a:solidFill>
                <a:latin typeface="Open Sans"/>
              </a:rPr>
              <a:t>filho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89888" y="5335524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4A52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618488" y="5335524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847088" y="5335524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4A52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075688" y="5335524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4A52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304288" y="5335524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EB4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29000" y="4375404"/>
            <a:ext cx="218541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mutação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4695444"/>
            <a:ext cx="218541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1B"/>
                </a:solidFill>
                <a:latin typeface="Open Sans"/>
              </a:rPr>
              <a:t>ruído gaussiano em 5% dos genes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29000" y="5239512"/>
            <a:ext cx="2185416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pesos: passo 4× menor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852160"/>
            <a:ext cx="1109167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Saída: o melhor elenco da última geração. O NSGA-II usa o mesmo ciclo, com outra seleção.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Balanceamento de arquétipos em jogos de luta</dc:title>
  <dc:subject/>
  <dc:creator>Matheus Gimenes de Souza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