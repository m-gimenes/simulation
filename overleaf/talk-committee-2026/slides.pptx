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86" r:id="rId38"/>
    <p:sldId id="257" r:id="rId9"/>
    <p:sldId id="258" r:id="rId10"/>
    <p:sldId id="287" r:id="rId39"/>
    <p:sldId id="288" r:id="rId40"/>
    <p:sldId id="261" r:id="rId13"/>
    <p:sldId id="289" r:id="rId41"/>
    <p:sldId id="285" r:id="rId37"/>
    <p:sldId id="259" r:id="rId11"/>
    <p:sldId id="260" r:id="rId12"/>
    <p:sldId id="290" r:id="rId42"/>
    <p:sldId id="291" r:id="rId43"/>
    <p:sldId id="262" r:id="rId14"/>
    <p:sldId id="263" r:id="rId15"/>
    <p:sldId id="264" r:id="rId16"/>
    <p:sldId id="265" r:id="rId17"/>
    <p:sldId id="266" r:id="rId18"/>
    <p:sldId id="267" r:id="rId19"/>
    <p:sldId id="268" r:id="rId20"/>
    <p:sldId id="269" r:id="rId21"/>
    <p:sldId id="292" r:id="rId44"/>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6.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 tarde, professores. Meu nome é Matheus Gimenes, e vou apresentar o meu trabalho de conclusão de curso, orientado pelo professor Everson. O trabalho aplica algoritmos genéticos ao balanceamento de personagens em jogos de luta e pergunta se é possível equilibrar um elenco sem apagar o que torna cada personagem único.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Há duas formas de errar no balanceamento. A mais conhecida é deixar um personagem forte demais, e todos passam a escolhê-lo. A segunda aparece ao corrigir a primeira: os números são ajustados até ninguém dominar, mas os personagens ficam parecidos. No limite, dar a todos os mesmos atributos produz equilíbrio perfeito, e a escolha deixa de importar; esse elenco espelho é, no trabalho, a solução trivial de referência. O desafio fica entre os dois erros: equilibrar preservando a diferença.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pergunta de pesquisa é se um algoritmo genético consegue equilibrar cinco arquétipos de um jogo de luta sem destruir as suas identidades funcionais. Ela se divide em três questões: se o elenco fica equilibrado, inclusive fora da otimização; se a identidade sobrevive além do que sobreviveria sem um termo de identidade; e onde o AG escalar, o NSGA-II e um híbrido ficam no compromisso entre os dois. Os objetivos específicos seguem a ordem do trabalho: modelar os arquétipos, construir o simulador, formular a aptidão, comparar os três algoritmos no mesmo orçamento e medir a identidade fora da busca.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personagem tem onze genes: oito atributos, como vida, dano, alcance e agarrão, que dizem o que ele pode fazer, e três pesos, que dizem o que ele tende a fazer. A decisão central do simulador é separar dois canais. A postura, entre avançar, recuar e guardar, é sorteada com probabilidade proporcional aos pesos e mantida por um tick, de cinco sub-ticks; esse sorteio é a única fonte de aleatoriedade. O ataque é uma regra: sai quando a recarga terminou, o oponente está ao alcance e o personagem não guarda. É isso que faz do controle de distância uma estratégia. A guarda reduz o dano em 40%, e o agarrão a rompe.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aptidão pode conter o que cada arquétipo é, a premissa, mas nunca quem deve vencer quem, a resposta. O desequilíbrio tem três termos: o principal é a raiz da média dos quadrados da distância de cada taxa de vitória global a 50%; os secundários barram confrontos acima de 65%, entre o 6-4 saudável e o 7-3 de um counter, e lutas decididas por massacre. Todos usam a distância a 50%, nunca a direção. O desvio mede a distância de cada gene ao canônico, normalizada pela faixa, com peso três nos genes definidores. O AG escalar soma os dois termos com pesos iguais, o joelho de uma varredura; o NSGA-II os minimiza separados.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 dois objetivos em conflito, não há um ótimo único. A escalarização soma os dois com pesos, o que fixa de antemão o ponto do compromisso. A alternativa é a dominância de Pareto: uma solução domina outra se não é pior em nenhum objetivo e é melhor em pelo menos um, e as não dominadas formam a fronteira. O NSGA-II, de Deb e colegas, ordena a população em frentes, prefere os pontos isolados para espalhar a fronteira e põe pais e filhos na mesma disputa. E Knowles mostrou que separar os termos de uma soma preserva diversidade: é a ideia do híbrido.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Começo pela primeira questão. O canônico, à esquerda, é uma hierarquia: o Rushdown vence praticamente todas as lutas, o Turtle nenhuma, e o desequilíbrio é 1,28. À direita, a média das vinte execuções do AG escalar, com todos os confrontos entre 46% e 54%. A convergência exige o equilíbrio no laço e numa reavaliação com sorteios inéditos; veio nas vinte execuções, em média na geração 31, e dezesseis terminam equilibradas. É perto da simetria, mas não nela: as taxas globais ficam a 1,6 ponto de 50%, contra 0,7 de puro ruído num elenco espelho.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Equilibrar no laço não basta, porque a busca pode se ajustar aos sorteios. Na validação externa, o elenco foi testado com cinco mil lutas por par em sementes inéditas, e cada taxa de vitória foi classificada pelo intervalo de Wilson de 95% contra a faixa. Ele foi o único dos quatro elencos testados a replicar o equilíbrio. Alterando uma regra do combate por vez, resiste a quatro das oito mudanças, fica inconclusivo em duas e quebra no campo menor e na persistência maior. É um equilíbrio real, mas ajustado às regras do treino.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segunda questão, a evidência é o controle. Sem o termo de identidade, o mesmo algoritmo, com o mesmo orçamento, perde identidade nas quatro métricas, com efeito grande e p corrigido de no máximo 0,0044, e cai ao nível de elencos sorteados. A concordância τ, a correlação de Kendall entre a ordem canônica e a do elenco nas métricas de comportamento, vai de 0,28 a praticamente zero. No equilíbrio, os braços não se separam depois de Holm. A identidade que sobrevive se deve ao termo, que não custou equilíbrio mensurável, mas é parcial: três de cinco asserções de comportamento.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que mais se perde é a política. O Rushdown canônico avança em 86% das intenções; no AG escalar, em 39%, e os cinco convergem para uma política parecida. A análise de sensibilidade explica: no passo de mutação atual, cada peso move a taxa de vitória em 3 a 5 pontos, perto do piso de ruído de 3,5. Com o passo relativo dos atributos, move de 12 a 17 pontos, mais que o atordoamento. A política pesa no combate, mas, com mutação quatro vezes menor, cada passo dela some no ruído. A busca quase não a enxerga.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terceira questão, cada linha cinza é a fronteira de uma execução do NSGA-II, e os pontos azuis são o AG escalar. O NSGA-II preserva mais identidade, com τ de 0,54, mas deixa 2,8 counters por elenco e nenhum elenco equilibrado. O escalar fica além da ponta de equilíbrio da fronteira em 19 de 20 sementes, e, semente a semente, nenhum dos dois domina o outro em 18 de 20. Mas, na própria soma que o escalar otimiza, a fronteira tem um ponto melhor que o dele em todas as vinte sementes.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que o escalar não chega ao próprio ótimo? Em dois estágios. No início, as diferenças de equilíbrio entre elencos são grandes, e a soma privilegia esse termo: o canônico sai na terceira geração, e, na vigésima, o elenco mais fiel que resta já tem desvio 0,24. Depois da convergência, o desvio é exato, mas o desequilíbrio é amostrado, e o seu ruído é cerca de sessenta vezes o ganho de identidade por geração. É o problema da aptidão ruidosa: a seleção passa a premiar sorte, e a identidade perdida quase não volta.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a explicação está certa, proteger a identidade no início deveria ajudar, e é o que o híbrido faz: na fase de Pareto, o elenco de menor desvio nunca é dominado, então nunca é descartado. Com o mesmo orçamento, ele chega perto da identidade do NSGA-II, com desvio de 0,17 contra 0,25 e τ de 0,52 contra 0,28, efeitos grandes com p corrigido de no máximo 0,0058, e mantém o equilíbrio do escalar, com dezesseis elencos equilibrados em vinte. O preço é a velocidade: converge na geração 98, contra 31.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Voltando às questões. No equilíbrio, sim: em todas as execuções e fora do laço, com sensibilidade a duas regras. Na identidade, em parte, e a parte preservada se deve ao termo; a política é o que mais se perde. No compromisso, o escalar fica na ponta do equilíbrio, o NSGA-II na da identidade, e o híbrido reúne os dois. Então, é possível equilibrar sem destruir as identidades, desde que haja pressão explícita por identidade e uma busca que mantenha a diversidade sob avaliação ruidosa.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modelo ainda é simples: o ciclo que propus não se realiza nem no canônico, que é uma hierarquia, o que indica que faltam mecânicas, como combos e janelas de punição; e o equilíbrio foi medido contra uma política fixa, sem oponente tentando explorá-lo. Os próximos passos são calibrar o passo da política contra o ruído, políticas que dependam do estado da luta, oponentes que coevoluem e calibrar o híbrido no orçamento completo. O código é aberto e está no GitHub. Obrigado.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sistema tem duas camadas: a simulação decide as lutas sem conhecer os objetivos, e a otimização a usa como caixa-preta. Os perfis canônicos entram como referência do desvio e, no AG escalar, como semente da geração zero, ao lado de 299 elencos sorteados. Todos os elencos de uma geração enfrentam os mesmos sorteios, semeados luta a luta, e os sorteios mudam a cada geração, para a busca não se ajustar a eles. A seleção usa elitismo de 10% e torneio de três; o cruzamento passa cada personagem inteiro de um pai; e a mutação gaussiana atinge 5% dos genes, com passo quatro vezes menor nos pesos. As medições finais nunca voltam ao laço.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jogos digitais faturaram 188,8 bilhões de dólares em 2025, segundo a Newzoo, e sobre essa base cresceram os esports. Quando há competição, o equilíbrio entre personagens deixa de ser só uma questão de design: se poucos são viáveis, o jogo perde profundidade estratégica. Hoje, equilibrar é um ciclo manual de ajustar números, testar, observar e repetir, que continua depois do lançamento, a cada atualização. Há cerca de duas décadas, a computação evolutiva estuda como automatizar parte desse ciclo, usando a simulação como função de avaliação.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equilíbrio competitivo tem duas leituras. Na simetria estatística, cada opção tem 50% contra cada outra. Nas vantagens recíprocas, de Adams e Elias, cada opção vence alguns confrontos e perde outros, sem que nenhuma domine. Gingold mostra, nas ações de um jogo de luta, que para nenhuma escolha ser imbatível as vantagens precisam formar um ciclo, como no Pedra-Papel-Tesoura. Levo o argumento aos personagens: cinco arquétipos, o menor elenco em que cada um vence dois e perde dois. O ciclo é hipótese minha, medida só depois. Para a aptidão, equilibrar é impedir que alguém domine, e não forçar 50% em cada par.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algoritmo genético, de Holland e Goldberg, evolui uma população por seleção, cruzamento e mutação, e a aptidão é o seu único elo com o problema. Três propriedades importam: o torneio depende só da ordem das aptidões, então numa soma só a razão entre os pesos conta; o cruzamento por blocos herda juntas partes coerentes do cromossomo; e o passo da mutação regula exploração e explotação. Quando a aptidão vem de simulação, ela é uma variável aleatória, e, como discutem Jin e Branke, a seleção passa a premiar sorte. As defesas são números aleatórios comuns e reavaliar a solução final.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Esse tipo de busca é aplicado ao balanceamento há duas décadas, no que Togelius e colegas chamam de geração de conteúdo baseada em busca. Hom e Marks evoluíram regras de jogos de tabuleiro; Browne e Maire, jogos inteiros, avaliados por medidas externas à aptidão, princípio que adoto. O mais próximo é Chen e colegas, que equilibraram raças de um MMORPG em combate por turnos. Volz e colegas usaram otimização multiobjetivo num jogo de cartas. Nenhum trata luta em tempo real, nenhum formula o problema como compromisso entre equilíbrio e identidade, e nenhum mede se a identidade sobrevive. É nessa interseção que o trabalho entra.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bateria tem cinco braços. O AG escalar e o NSGA-II são os dois que a pergunta compara; o NSGA-II começa de uma população sorteada e entra nos testes pelo ponto da fronteira que minimiza a mesma soma. Dois controles repetem o escalar com um só fator alterado: sem o termo de identidade, o contrafactual da QP2, e sem a semente canônica. O quinto é o híbrido. São 20 execuções por braço, com as mesmas sementes, então o desenho é pareado: Wilcoxon, Â12 e correção de Holm sobre uma família fixa de métricas. Os elencos finais são reavaliados com mil lutas por par e lidos contra 35 modelos nulos.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sistema é escrito em Python, e o laço de combate é compilado com Numba, cerca de 150 vezes mais rápido que Python puro. Uma execução do AG escalar simula 68 milhões de lutas; uma do NSGA-II, 135 milhões. A avaliação roda em processos paralelos, e, como cada luta é semeada pela sua posição, o resultado não depende do número de processos. Cada arquivo de resultado registra a configuração e resumos do código que o produziu: carregar um desatualizado gera aviso, e gerar outro a partir dele é recusado.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Daí saem cinco contribuições: uma formulação não circular, que separa premissa de resposta; evidência controlada de que a identidade preservada se deve ao termo; uma falha da seleção escalar sob ruído, com um híbrido que a contorna no mesmo orçamento; a perda de identidade localizada na política, decidida pelo passo de mutação; e lições de método, como piso medido para cada métrica, resolução à altura da margem e rastreabilidade de cada número.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ainel"/>
          <p:cNvSpPr/>
          <p:nvPr/>
        </p:nvSpPr>
        <p:spPr>
          <a:xfrm>
            <a:off x="0" y="0"/>
            <a:ext cx="4480560" cy="6858000"/>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502920" y="566928"/>
            <a:ext cx="2743200" cy="658368"/>
          </a:xfrm>
          <a:prstGeom prst="rect">
            <a:avLst/>
          </a:prstGeom>
        </p:spPr>
      </p:pic>
      <p:sp>
        <p:nvSpPr>
          <p:cNvPr id="4" name="Rounded Rectangle 3"/>
          <p:cNvSpPr/>
          <p:nvPr/>
        </p:nvSpPr>
        <p:spPr>
          <a:xfrm>
            <a:off x="548640" y="4160520"/>
            <a:ext cx="228600" cy="228600"/>
          </a:xfrm>
          <a:prstGeom prst="roundRect">
            <a:avLst>
              <a:gd name="adj" fmla="val 22000"/>
            </a:avLst>
          </a:prstGeom>
          <a:solidFill>
            <a:srgbClr val="FFFFFF"/>
          </a:solidFill>
          <a:ln>
            <a:noFill/>
          </a:ln>
        </p:spPr>
        <p:txBody>
          <a:bodyPr rtlCol="0" anchor="ctr"/>
          <a:lstStyle/>
          <a:p>
            <a:pPr algn="ctr"/>
          </a:p>
        </p:txBody>
      </p:sp>
      <p:sp>
        <p:nvSpPr>
          <p:cNvPr id="5" name="Rounded Rectangle 4"/>
          <p:cNvSpPr/>
          <p:nvPr/>
        </p:nvSpPr>
        <p:spPr>
          <a:xfrm>
            <a:off x="854964" y="4160520"/>
            <a:ext cx="228600" cy="228600"/>
          </a:xfrm>
          <a:prstGeom prst="roundRect">
            <a:avLst>
              <a:gd name="adj" fmla="val 22000"/>
            </a:avLst>
          </a:prstGeom>
          <a:solidFill>
            <a:srgbClr val="FFFFFF"/>
          </a:solidFill>
          <a:ln>
            <a:noFill/>
          </a:ln>
        </p:spPr>
        <p:txBody>
          <a:bodyPr rtlCol="0" anchor="ctr"/>
          <a:lstStyle/>
          <a:p>
            <a:pPr algn="ctr"/>
          </a:p>
        </p:txBody>
      </p:sp>
      <p:sp>
        <p:nvSpPr>
          <p:cNvPr id="6" name="Rounded Rectangle 5"/>
          <p:cNvSpPr/>
          <p:nvPr/>
        </p:nvSpPr>
        <p:spPr>
          <a:xfrm>
            <a:off x="1161288" y="4160520"/>
            <a:ext cx="228600" cy="228600"/>
          </a:xfrm>
          <a:prstGeom prst="roundRect">
            <a:avLst>
              <a:gd name="adj" fmla="val 22000"/>
            </a:avLst>
          </a:prstGeom>
          <a:solidFill>
            <a:srgbClr val="FFFFFF"/>
          </a:solidFill>
          <a:ln>
            <a:noFill/>
          </a:ln>
        </p:spPr>
        <p:txBody>
          <a:bodyPr rtlCol="0" anchor="ctr"/>
          <a:lstStyle/>
          <a:p>
            <a:pPr algn="ctr"/>
          </a:p>
        </p:txBody>
      </p:sp>
      <p:sp>
        <p:nvSpPr>
          <p:cNvPr id="7" name="Rounded Rectangle 6"/>
          <p:cNvSpPr/>
          <p:nvPr/>
        </p:nvSpPr>
        <p:spPr>
          <a:xfrm>
            <a:off x="1467612" y="4160520"/>
            <a:ext cx="228600" cy="228600"/>
          </a:xfrm>
          <a:prstGeom prst="roundRect">
            <a:avLst>
              <a:gd name="adj" fmla="val 22000"/>
            </a:avLst>
          </a:prstGeom>
          <a:solidFill>
            <a:srgbClr val="FFFFFF"/>
          </a:solidFill>
          <a:ln>
            <a:noFill/>
          </a:ln>
        </p:spPr>
        <p:txBody>
          <a:bodyPr rtlCol="0" anchor="ctr"/>
          <a:lstStyle/>
          <a:p>
            <a:pPr algn="ctr"/>
          </a:p>
        </p:txBody>
      </p:sp>
      <p:sp>
        <p:nvSpPr>
          <p:cNvPr id="8" name="Rounded Rectangle 7"/>
          <p:cNvSpPr/>
          <p:nvPr/>
        </p:nvSpPr>
        <p:spPr>
          <a:xfrm>
            <a:off x="1773936" y="4160520"/>
            <a:ext cx="228600" cy="228600"/>
          </a:xfrm>
          <a:prstGeom prst="roundRect">
            <a:avLst>
              <a:gd name="adj" fmla="val 22000"/>
            </a:avLst>
          </a:prstGeom>
          <a:solidFill>
            <a:srgbClr val="FFFFFF"/>
          </a:solidFill>
          <a:ln>
            <a:noFill/>
          </a:ln>
        </p:spPr>
        <p:txBody>
          <a:bodyPr rtlCol="0" anchor="ctr"/>
          <a:lstStyle/>
          <a:p>
            <a:pPr algn="ctr"/>
          </a:p>
        </p:txBody>
      </p:sp>
      <p:sp>
        <p:nvSpPr>
          <p:cNvPr id="9" name="Rounded Rectangle 8"/>
          <p:cNvSpPr/>
          <p:nvPr/>
        </p:nvSpPr>
        <p:spPr>
          <a:xfrm>
            <a:off x="2080260" y="4160520"/>
            <a:ext cx="228600" cy="228600"/>
          </a:xfrm>
          <a:prstGeom prst="roundRect">
            <a:avLst>
              <a:gd name="adj" fmla="val 22000"/>
            </a:avLst>
          </a:prstGeom>
          <a:solidFill>
            <a:srgbClr val="FFFFFF"/>
          </a:solidFill>
          <a:ln>
            <a:noFill/>
          </a:ln>
        </p:spPr>
        <p:txBody>
          <a:bodyPr rtlCol="0" anchor="ctr"/>
          <a:lstStyle/>
          <a:p>
            <a:pPr algn="ctr"/>
          </a:p>
        </p:txBody>
      </p:sp>
      <p:sp>
        <p:nvSpPr>
          <p:cNvPr id="10" name="Rounded Rectangle 9"/>
          <p:cNvSpPr/>
          <p:nvPr/>
        </p:nvSpPr>
        <p:spPr>
          <a:xfrm>
            <a:off x="2386584" y="4160520"/>
            <a:ext cx="228600" cy="228600"/>
          </a:xfrm>
          <a:prstGeom prst="roundRect">
            <a:avLst>
              <a:gd name="adj" fmla="val 22000"/>
            </a:avLst>
          </a:prstGeom>
          <a:solidFill>
            <a:srgbClr val="FFFFFF"/>
          </a:solidFill>
          <a:ln>
            <a:noFill/>
          </a:ln>
        </p:spPr>
        <p:txBody>
          <a:bodyPr rtlCol="0" anchor="ctr"/>
          <a:lstStyle/>
          <a:p>
            <a:pPr algn="ctr"/>
          </a:p>
        </p:txBody>
      </p:sp>
      <p:sp>
        <p:nvSpPr>
          <p:cNvPr id="11" name="Rounded Rectangle 10"/>
          <p:cNvSpPr/>
          <p:nvPr/>
        </p:nvSpPr>
        <p:spPr>
          <a:xfrm>
            <a:off x="2692908" y="4160520"/>
            <a:ext cx="228600" cy="228600"/>
          </a:xfrm>
          <a:prstGeom prst="roundRect">
            <a:avLst>
              <a:gd name="adj" fmla="val 22000"/>
            </a:avLst>
          </a:prstGeom>
          <a:solidFill>
            <a:srgbClr val="FFFFFF"/>
          </a:solidFill>
          <a:ln>
            <a:noFill/>
          </a:ln>
        </p:spPr>
        <p:txBody>
          <a:bodyPr rtlCol="0" anchor="ctr"/>
          <a:lstStyle/>
          <a:p>
            <a:pPr algn="ctr"/>
          </a:p>
        </p:txBody>
      </p:sp>
      <p:sp>
        <p:nvSpPr>
          <p:cNvPr id="12" name="Rounded Rectangle 11"/>
          <p:cNvSpPr/>
          <p:nvPr/>
        </p:nvSpPr>
        <p:spPr>
          <a:xfrm>
            <a:off x="2999232" y="4160520"/>
            <a:ext cx="228600" cy="228600"/>
          </a:xfrm>
          <a:prstGeom prst="roundRect">
            <a:avLst>
              <a:gd name="adj" fmla="val 22000"/>
            </a:avLst>
          </a:prstGeom>
          <a:solidFill>
            <a:srgbClr val="BFE5C7"/>
          </a:solidFill>
          <a:ln>
            <a:noFill/>
          </a:ln>
        </p:spPr>
        <p:txBody>
          <a:bodyPr rtlCol="0" anchor="ctr"/>
          <a:lstStyle/>
          <a:p>
            <a:pPr algn="ctr"/>
          </a:p>
        </p:txBody>
      </p:sp>
      <p:sp>
        <p:nvSpPr>
          <p:cNvPr id="13" name="Rounded Rectangle 12"/>
          <p:cNvSpPr/>
          <p:nvPr/>
        </p:nvSpPr>
        <p:spPr>
          <a:xfrm>
            <a:off x="3305556" y="4160520"/>
            <a:ext cx="228600" cy="228600"/>
          </a:xfrm>
          <a:prstGeom prst="roundRect">
            <a:avLst>
              <a:gd name="adj" fmla="val 22000"/>
            </a:avLst>
          </a:prstGeom>
          <a:solidFill>
            <a:srgbClr val="BFE5C7"/>
          </a:solidFill>
          <a:ln>
            <a:noFill/>
          </a:ln>
        </p:spPr>
        <p:txBody>
          <a:bodyPr rtlCol="0" anchor="ctr"/>
          <a:lstStyle/>
          <a:p>
            <a:pPr algn="ctr"/>
          </a:p>
        </p:txBody>
      </p:sp>
      <p:sp>
        <p:nvSpPr>
          <p:cNvPr id="14" name="Rounded Rectangle 13"/>
          <p:cNvSpPr/>
          <p:nvPr/>
        </p:nvSpPr>
        <p:spPr>
          <a:xfrm>
            <a:off x="3611880" y="4160520"/>
            <a:ext cx="228600" cy="228600"/>
          </a:xfrm>
          <a:prstGeom prst="roundRect">
            <a:avLst>
              <a:gd name="adj" fmla="val 22000"/>
            </a:avLst>
          </a:prstGeom>
          <a:solidFill>
            <a:srgbClr val="BFE5C7"/>
          </a:solidFill>
          <a:ln>
            <a:noFill/>
          </a:ln>
        </p:spPr>
        <p:txBody>
          <a:bodyPr rtlCol="0" anchor="ctr"/>
          <a:lstStyle/>
          <a:p>
            <a:pPr algn="ctr"/>
          </a:p>
        </p:txBody>
      </p:sp>
      <p:sp>
        <p:nvSpPr>
          <p:cNvPr id="15" name="Rounded Rectangle 14"/>
          <p:cNvSpPr/>
          <p:nvPr/>
        </p:nvSpPr>
        <p:spPr>
          <a:xfrm>
            <a:off x="548640" y="4466844"/>
            <a:ext cx="228600" cy="228600"/>
          </a:xfrm>
          <a:prstGeom prst="roundRect">
            <a:avLst>
              <a:gd name="adj" fmla="val 22000"/>
            </a:avLst>
          </a:prstGeom>
          <a:solidFill>
            <a:srgbClr val="FFFFFF"/>
          </a:solidFill>
          <a:ln>
            <a:noFill/>
          </a:ln>
        </p:spPr>
        <p:txBody>
          <a:bodyPr rtlCol="0" anchor="ctr"/>
          <a:lstStyle/>
          <a:p>
            <a:pPr algn="ctr"/>
          </a:p>
        </p:txBody>
      </p:sp>
      <p:sp>
        <p:nvSpPr>
          <p:cNvPr id="16" name="Rounded Rectangle 15"/>
          <p:cNvSpPr/>
          <p:nvPr/>
        </p:nvSpPr>
        <p:spPr>
          <a:xfrm>
            <a:off x="854964" y="4466844"/>
            <a:ext cx="228600" cy="228600"/>
          </a:xfrm>
          <a:prstGeom prst="roundRect">
            <a:avLst>
              <a:gd name="adj" fmla="val 22000"/>
            </a:avLst>
          </a:prstGeom>
          <a:solidFill>
            <a:srgbClr val="FFFFFF"/>
          </a:solidFill>
          <a:ln>
            <a:noFill/>
          </a:ln>
        </p:spPr>
        <p:txBody>
          <a:bodyPr rtlCol="0" anchor="ctr"/>
          <a:lstStyle/>
          <a:p>
            <a:pPr algn="ctr"/>
          </a:p>
        </p:txBody>
      </p:sp>
      <p:sp>
        <p:nvSpPr>
          <p:cNvPr id="17" name="Rounded Rectangle 16"/>
          <p:cNvSpPr/>
          <p:nvPr/>
        </p:nvSpPr>
        <p:spPr>
          <a:xfrm>
            <a:off x="1161288" y="4466844"/>
            <a:ext cx="228600" cy="228600"/>
          </a:xfrm>
          <a:prstGeom prst="roundRect">
            <a:avLst>
              <a:gd name="adj" fmla="val 22000"/>
            </a:avLst>
          </a:prstGeom>
          <a:solidFill>
            <a:srgbClr val="FFFFFF"/>
          </a:solidFill>
          <a:ln>
            <a:noFill/>
          </a:ln>
        </p:spPr>
        <p:txBody>
          <a:bodyPr rtlCol="0" anchor="ctr"/>
          <a:lstStyle/>
          <a:p>
            <a:pPr algn="ctr"/>
          </a:p>
        </p:txBody>
      </p:sp>
      <p:sp>
        <p:nvSpPr>
          <p:cNvPr id="18" name="Rounded Rectangle 17"/>
          <p:cNvSpPr/>
          <p:nvPr/>
        </p:nvSpPr>
        <p:spPr>
          <a:xfrm>
            <a:off x="1467612" y="4466844"/>
            <a:ext cx="228600" cy="228600"/>
          </a:xfrm>
          <a:prstGeom prst="roundRect">
            <a:avLst>
              <a:gd name="adj" fmla="val 22000"/>
            </a:avLst>
          </a:prstGeom>
          <a:solidFill>
            <a:srgbClr val="FFFFFF"/>
          </a:solidFill>
          <a:ln>
            <a:noFill/>
          </a:ln>
        </p:spPr>
        <p:txBody>
          <a:bodyPr rtlCol="0" anchor="ctr"/>
          <a:lstStyle/>
          <a:p>
            <a:pPr algn="ctr"/>
          </a:p>
        </p:txBody>
      </p:sp>
      <p:sp>
        <p:nvSpPr>
          <p:cNvPr id="19" name="Rounded Rectangle 18"/>
          <p:cNvSpPr/>
          <p:nvPr/>
        </p:nvSpPr>
        <p:spPr>
          <a:xfrm>
            <a:off x="1773936" y="4466844"/>
            <a:ext cx="228600" cy="228600"/>
          </a:xfrm>
          <a:prstGeom prst="roundRect">
            <a:avLst>
              <a:gd name="adj" fmla="val 22000"/>
            </a:avLst>
          </a:prstGeom>
          <a:solidFill>
            <a:srgbClr val="FFFFFF"/>
          </a:solidFill>
          <a:ln>
            <a:noFill/>
          </a:ln>
        </p:spPr>
        <p:txBody>
          <a:bodyPr rtlCol="0" anchor="ctr"/>
          <a:lstStyle/>
          <a:p>
            <a:pPr algn="ctr"/>
          </a:p>
        </p:txBody>
      </p:sp>
      <p:sp>
        <p:nvSpPr>
          <p:cNvPr id="20" name="Rounded Rectangle 19"/>
          <p:cNvSpPr/>
          <p:nvPr/>
        </p:nvSpPr>
        <p:spPr>
          <a:xfrm>
            <a:off x="2080260" y="4466844"/>
            <a:ext cx="228600" cy="228600"/>
          </a:xfrm>
          <a:prstGeom prst="roundRect">
            <a:avLst>
              <a:gd name="adj" fmla="val 22000"/>
            </a:avLst>
          </a:prstGeom>
          <a:solidFill>
            <a:srgbClr val="FFFFFF"/>
          </a:solidFill>
          <a:ln>
            <a:noFill/>
          </a:ln>
        </p:spPr>
        <p:txBody>
          <a:bodyPr rtlCol="0" anchor="ctr"/>
          <a:lstStyle/>
          <a:p>
            <a:pPr algn="ctr"/>
          </a:p>
        </p:txBody>
      </p:sp>
      <p:sp>
        <p:nvSpPr>
          <p:cNvPr id="21" name="Rounded Rectangle 20"/>
          <p:cNvSpPr/>
          <p:nvPr/>
        </p:nvSpPr>
        <p:spPr>
          <a:xfrm>
            <a:off x="2386584" y="4466844"/>
            <a:ext cx="228600" cy="228600"/>
          </a:xfrm>
          <a:prstGeom prst="roundRect">
            <a:avLst>
              <a:gd name="adj" fmla="val 22000"/>
            </a:avLst>
          </a:prstGeom>
          <a:solidFill>
            <a:srgbClr val="FFFFFF"/>
          </a:solidFill>
          <a:ln>
            <a:noFill/>
          </a:ln>
        </p:spPr>
        <p:txBody>
          <a:bodyPr rtlCol="0" anchor="ctr"/>
          <a:lstStyle/>
          <a:p>
            <a:pPr algn="ctr"/>
          </a:p>
        </p:txBody>
      </p:sp>
      <p:sp>
        <p:nvSpPr>
          <p:cNvPr id="22" name="Rounded Rectangle 21"/>
          <p:cNvSpPr/>
          <p:nvPr/>
        </p:nvSpPr>
        <p:spPr>
          <a:xfrm>
            <a:off x="2692908" y="4466844"/>
            <a:ext cx="228600" cy="228600"/>
          </a:xfrm>
          <a:prstGeom prst="roundRect">
            <a:avLst>
              <a:gd name="adj" fmla="val 22000"/>
            </a:avLst>
          </a:prstGeom>
          <a:solidFill>
            <a:srgbClr val="FFFFFF"/>
          </a:solidFill>
          <a:ln>
            <a:noFill/>
          </a:ln>
        </p:spPr>
        <p:txBody>
          <a:bodyPr rtlCol="0" anchor="ctr"/>
          <a:lstStyle/>
          <a:p>
            <a:pPr algn="ctr"/>
          </a:p>
        </p:txBody>
      </p:sp>
      <p:sp>
        <p:nvSpPr>
          <p:cNvPr id="23" name="Rounded Rectangle 22"/>
          <p:cNvSpPr/>
          <p:nvPr/>
        </p:nvSpPr>
        <p:spPr>
          <a:xfrm>
            <a:off x="2999232" y="4466844"/>
            <a:ext cx="228600" cy="228600"/>
          </a:xfrm>
          <a:prstGeom prst="roundRect">
            <a:avLst>
              <a:gd name="adj" fmla="val 22000"/>
            </a:avLst>
          </a:prstGeom>
          <a:solidFill>
            <a:srgbClr val="BFE5C7"/>
          </a:solidFill>
          <a:ln>
            <a:noFill/>
          </a:ln>
        </p:spPr>
        <p:txBody>
          <a:bodyPr rtlCol="0" anchor="ctr"/>
          <a:lstStyle/>
          <a:p>
            <a:pPr algn="ctr"/>
          </a:p>
        </p:txBody>
      </p:sp>
      <p:sp>
        <p:nvSpPr>
          <p:cNvPr id="24" name="Rounded Rectangle 23"/>
          <p:cNvSpPr/>
          <p:nvPr/>
        </p:nvSpPr>
        <p:spPr>
          <a:xfrm>
            <a:off x="3305556" y="4466844"/>
            <a:ext cx="228600" cy="228600"/>
          </a:xfrm>
          <a:prstGeom prst="roundRect">
            <a:avLst>
              <a:gd name="adj" fmla="val 22000"/>
            </a:avLst>
          </a:prstGeom>
          <a:solidFill>
            <a:srgbClr val="BFE5C7"/>
          </a:solidFill>
          <a:ln>
            <a:noFill/>
          </a:ln>
        </p:spPr>
        <p:txBody>
          <a:bodyPr rtlCol="0" anchor="ctr"/>
          <a:lstStyle/>
          <a:p>
            <a:pPr algn="ctr"/>
          </a:p>
        </p:txBody>
      </p:sp>
      <p:sp>
        <p:nvSpPr>
          <p:cNvPr id="25" name="Rounded Rectangle 24"/>
          <p:cNvSpPr/>
          <p:nvPr/>
        </p:nvSpPr>
        <p:spPr>
          <a:xfrm>
            <a:off x="3611880" y="4466844"/>
            <a:ext cx="228600" cy="228600"/>
          </a:xfrm>
          <a:prstGeom prst="roundRect">
            <a:avLst>
              <a:gd name="adj" fmla="val 22000"/>
            </a:avLst>
          </a:prstGeom>
          <a:solidFill>
            <a:srgbClr val="BFE5C7"/>
          </a:solidFill>
          <a:ln>
            <a:noFill/>
          </a:ln>
        </p:spPr>
        <p:txBody>
          <a:bodyPr rtlCol="0" anchor="ctr"/>
          <a:lstStyle/>
          <a:p>
            <a:pPr algn="ctr"/>
          </a:p>
        </p:txBody>
      </p:sp>
      <p:sp>
        <p:nvSpPr>
          <p:cNvPr id="26" name="Rounded Rectangle 25"/>
          <p:cNvSpPr/>
          <p:nvPr/>
        </p:nvSpPr>
        <p:spPr>
          <a:xfrm>
            <a:off x="548640" y="4773168"/>
            <a:ext cx="228600" cy="228600"/>
          </a:xfrm>
          <a:prstGeom prst="roundRect">
            <a:avLst>
              <a:gd name="adj" fmla="val 22000"/>
            </a:avLst>
          </a:prstGeom>
          <a:solidFill>
            <a:srgbClr val="FFFFFF"/>
          </a:solidFill>
          <a:ln>
            <a:noFill/>
          </a:ln>
        </p:spPr>
        <p:txBody>
          <a:bodyPr rtlCol="0" anchor="ctr"/>
          <a:lstStyle/>
          <a:p>
            <a:pPr algn="ctr"/>
          </a:p>
        </p:txBody>
      </p:sp>
      <p:sp>
        <p:nvSpPr>
          <p:cNvPr id="27" name="Rounded Rectangle 26"/>
          <p:cNvSpPr/>
          <p:nvPr/>
        </p:nvSpPr>
        <p:spPr>
          <a:xfrm>
            <a:off x="854964" y="4773168"/>
            <a:ext cx="228600" cy="228600"/>
          </a:xfrm>
          <a:prstGeom prst="roundRect">
            <a:avLst>
              <a:gd name="adj" fmla="val 22000"/>
            </a:avLst>
          </a:prstGeom>
          <a:solidFill>
            <a:srgbClr val="FFFFFF"/>
          </a:solidFill>
          <a:ln>
            <a:noFill/>
          </a:ln>
        </p:spPr>
        <p:txBody>
          <a:bodyPr rtlCol="0" anchor="ctr"/>
          <a:lstStyle/>
          <a:p>
            <a:pPr algn="ctr"/>
          </a:p>
        </p:txBody>
      </p:sp>
      <p:sp>
        <p:nvSpPr>
          <p:cNvPr id="28" name="Rounded Rectangle 27"/>
          <p:cNvSpPr/>
          <p:nvPr/>
        </p:nvSpPr>
        <p:spPr>
          <a:xfrm>
            <a:off x="1161288" y="4773168"/>
            <a:ext cx="228600" cy="228600"/>
          </a:xfrm>
          <a:prstGeom prst="roundRect">
            <a:avLst>
              <a:gd name="adj" fmla="val 22000"/>
            </a:avLst>
          </a:prstGeom>
          <a:solidFill>
            <a:srgbClr val="FFFFFF"/>
          </a:solidFill>
          <a:ln>
            <a:noFill/>
          </a:ln>
        </p:spPr>
        <p:txBody>
          <a:bodyPr rtlCol="0" anchor="ctr"/>
          <a:lstStyle/>
          <a:p>
            <a:pPr algn="ctr"/>
          </a:p>
        </p:txBody>
      </p:sp>
      <p:sp>
        <p:nvSpPr>
          <p:cNvPr id="29" name="Rounded Rectangle 28"/>
          <p:cNvSpPr/>
          <p:nvPr/>
        </p:nvSpPr>
        <p:spPr>
          <a:xfrm>
            <a:off x="1467612" y="4773168"/>
            <a:ext cx="228600" cy="228600"/>
          </a:xfrm>
          <a:prstGeom prst="roundRect">
            <a:avLst>
              <a:gd name="adj" fmla="val 22000"/>
            </a:avLst>
          </a:prstGeom>
          <a:solidFill>
            <a:srgbClr val="FFFFFF"/>
          </a:solidFill>
          <a:ln>
            <a:noFill/>
          </a:ln>
        </p:spPr>
        <p:txBody>
          <a:bodyPr rtlCol="0" anchor="ctr"/>
          <a:lstStyle/>
          <a:p>
            <a:pPr algn="ctr"/>
          </a:p>
        </p:txBody>
      </p:sp>
      <p:sp>
        <p:nvSpPr>
          <p:cNvPr id="30" name="Rounded Rectangle 29"/>
          <p:cNvSpPr/>
          <p:nvPr/>
        </p:nvSpPr>
        <p:spPr>
          <a:xfrm>
            <a:off x="1773936" y="4773168"/>
            <a:ext cx="228600" cy="228600"/>
          </a:xfrm>
          <a:prstGeom prst="roundRect">
            <a:avLst>
              <a:gd name="adj" fmla="val 22000"/>
            </a:avLst>
          </a:prstGeom>
          <a:solidFill>
            <a:srgbClr val="FFFFFF"/>
          </a:solidFill>
          <a:ln>
            <a:noFill/>
          </a:ln>
        </p:spPr>
        <p:txBody>
          <a:bodyPr rtlCol="0" anchor="ctr"/>
          <a:lstStyle/>
          <a:p>
            <a:pPr algn="ctr"/>
          </a:p>
        </p:txBody>
      </p:sp>
      <p:sp>
        <p:nvSpPr>
          <p:cNvPr id="31" name="Rounded Rectangle 30"/>
          <p:cNvSpPr/>
          <p:nvPr/>
        </p:nvSpPr>
        <p:spPr>
          <a:xfrm>
            <a:off x="2080260" y="4773168"/>
            <a:ext cx="228600" cy="228600"/>
          </a:xfrm>
          <a:prstGeom prst="roundRect">
            <a:avLst>
              <a:gd name="adj" fmla="val 22000"/>
            </a:avLst>
          </a:prstGeom>
          <a:solidFill>
            <a:srgbClr val="FFFFFF"/>
          </a:solidFill>
          <a:ln>
            <a:noFill/>
          </a:ln>
        </p:spPr>
        <p:txBody>
          <a:bodyPr rtlCol="0" anchor="ctr"/>
          <a:lstStyle/>
          <a:p>
            <a:pPr algn="ctr"/>
          </a:p>
        </p:txBody>
      </p:sp>
      <p:sp>
        <p:nvSpPr>
          <p:cNvPr id="32" name="Rounded Rectangle 31"/>
          <p:cNvSpPr/>
          <p:nvPr/>
        </p:nvSpPr>
        <p:spPr>
          <a:xfrm>
            <a:off x="2386584" y="4773168"/>
            <a:ext cx="228600" cy="228600"/>
          </a:xfrm>
          <a:prstGeom prst="roundRect">
            <a:avLst>
              <a:gd name="adj" fmla="val 22000"/>
            </a:avLst>
          </a:prstGeom>
          <a:solidFill>
            <a:srgbClr val="FFFFFF"/>
          </a:solidFill>
          <a:ln>
            <a:noFill/>
          </a:ln>
        </p:spPr>
        <p:txBody>
          <a:bodyPr rtlCol="0" anchor="ctr"/>
          <a:lstStyle/>
          <a:p>
            <a:pPr algn="ctr"/>
          </a:p>
        </p:txBody>
      </p:sp>
      <p:sp>
        <p:nvSpPr>
          <p:cNvPr id="33" name="Rounded Rectangle 32"/>
          <p:cNvSpPr/>
          <p:nvPr/>
        </p:nvSpPr>
        <p:spPr>
          <a:xfrm>
            <a:off x="2692908" y="4773168"/>
            <a:ext cx="228600" cy="228600"/>
          </a:xfrm>
          <a:prstGeom prst="roundRect">
            <a:avLst>
              <a:gd name="adj" fmla="val 22000"/>
            </a:avLst>
          </a:prstGeom>
          <a:solidFill>
            <a:srgbClr val="FFFFFF"/>
          </a:solidFill>
          <a:ln>
            <a:noFill/>
          </a:ln>
        </p:spPr>
        <p:txBody>
          <a:bodyPr rtlCol="0" anchor="ctr"/>
          <a:lstStyle/>
          <a:p>
            <a:pPr algn="ctr"/>
          </a:p>
        </p:txBody>
      </p:sp>
      <p:sp>
        <p:nvSpPr>
          <p:cNvPr id="34" name="Rounded Rectangle 33"/>
          <p:cNvSpPr/>
          <p:nvPr/>
        </p:nvSpPr>
        <p:spPr>
          <a:xfrm>
            <a:off x="2999232" y="4773168"/>
            <a:ext cx="228600" cy="228600"/>
          </a:xfrm>
          <a:prstGeom prst="roundRect">
            <a:avLst>
              <a:gd name="adj" fmla="val 22000"/>
            </a:avLst>
          </a:prstGeom>
          <a:solidFill>
            <a:srgbClr val="BFE5C7"/>
          </a:solidFill>
          <a:ln>
            <a:noFill/>
          </a:ln>
        </p:spPr>
        <p:txBody>
          <a:bodyPr rtlCol="0" anchor="ctr"/>
          <a:lstStyle/>
          <a:p>
            <a:pPr algn="ctr"/>
          </a:p>
        </p:txBody>
      </p:sp>
      <p:sp>
        <p:nvSpPr>
          <p:cNvPr id="35" name="Rounded Rectangle 34"/>
          <p:cNvSpPr/>
          <p:nvPr/>
        </p:nvSpPr>
        <p:spPr>
          <a:xfrm>
            <a:off x="3305556" y="4773168"/>
            <a:ext cx="228600" cy="228600"/>
          </a:xfrm>
          <a:prstGeom prst="roundRect">
            <a:avLst>
              <a:gd name="adj" fmla="val 22000"/>
            </a:avLst>
          </a:prstGeom>
          <a:solidFill>
            <a:srgbClr val="BFE5C7"/>
          </a:solidFill>
          <a:ln>
            <a:noFill/>
          </a:ln>
        </p:spPr>
        <p:txBody>
          <a:bodyPr rtlCol="0" anchor="ctr"/>
          <a:lstStyle/>
          <a:p>
            <a:pPr algn="ctr"/>
          </a:p>
        </p:txBody>
      </p:sp>
      <p:sp>
        <p:nvSpPr>
          <p:cNvPr id="36" name="Rounded Rectangle 35"/>
          <p:cNvSpPr/>
          <p:nvPr/>
        </p:nvSpPr>
        <p:spPr>
          <a:xfrm>
            <a:off x="3611880" y="4773168"/>
            <a:ext cx="228600" cy="228600"/>
          </a:xfrm>
          <a:prstGeom prst="roundRect">
            <a:avLst>
              <a:gd name="adj" fmla="val 22000"/>
            </a:avLst>
          </a:prstGeom>
          <a:solidFill>
            <a:srgbClr val="BFE5C7"/>
          </a:solidFill>
          <a:ln>
            <a:noFill/>
          </a:ln>
        </p:spPr>
        <p:txBody>
          <a:bodyPr rtlCol="0" anchor="ctr"/>
          <a:lstStyle/>
          <a:p>
            <a:pPr algn="ctr"/>
          </a:p>
        </p:txBody>
      </p:sp>
      <p:sp>
        <p:nvSpPr>
          <p:cNvPr id="37" name="Rounded Rectangle 36"/>
          <p:cNvSpPr/>
          <p:nvPr/>
        </p:nvSpPr>
        <p:spPr>
          <a:xfrm>
            <a:off x="548640" y="5079492"/>
            <a:ext cx="228600" cy="228600"/>
          </a:xfrm>
          <a:prstGeom prst="roundRect">
            <a:avLst>
              <a:gd name="adj" fmla="val 22000"/>
            </a:avLst>
          </a:prstGeom>
          <a:solidFill>
            <a:srgbClr val="FFFFFF"/>
          </a:solidFill>
          <a:ln>
            <a:noFill/>
          </a:ln>
        </p:spPr>
        <p:txBody>
          <a:bodyPr rtlCol="0" anchor="ctr"/>
          <a:lstStyle/>
          <a:p>
            <a:pPr algn="ctr"/>
          </a:p>
        </p:txBody>
      </p:sp>
      <p:sp>
        <p:nvSpPr>
          <p:cNvPr id="38" name="Rounded Rectangle 37"/>
          <p:cNvSpPr/>
          <p:nvPr/>
        </p:nvSpPr>
        <p:spPr>
          <a:xfrm>
            <a:off x="854964" y="5079492"/>
            <a:ext cx="228600" cy="228600"/>
          </a:xfrm>
          <a:prstGeom prst="roundRect">
            <a:avLst>
              <a:gd name="adj" fmla="val 22000"/>
            </a:avLst>
          </a:prstGeom>
          <a:solidFill>
            <a:srgbClr val="FFFFFF"/>
          </a:solidFill>
          <a:ln>
            <a:noFill/>
          </a:ln>
        </p:spPr>
        <p:txBody>
          <a:bodyPr rtlCol="0" anchor="ctr"/>
          <a:lstStyle/>
          <a:p>
            <a:pPr algn="ctr"/>
          </a:p>
        </p:txBody>
      </p:sp>
      <p:sp>
        <p:nvSpPr>
          <p:cNvPr id="39" name="Rounded Rectangle 38"/>
          <p:cNvSpPr/>
          <p:nvPr/>
        </p:nvSpPr>
        <p:spPr>
          <a:xfrm>
            <a:off x="1161288" y="5079492"/>
            <a:ext cx="228600" cy="228600"/>
          </a:xfrm>
          <a:prstGeom prst="roundRect">
            <a:avLst>
              <a:gd name="adj" fmla="val 22000"/>
            </a:avLst>
          </a:prstGeom>
          <a:solidFill>
            <a:srgbClr val="FFFFFF"/>
          </a:solidFill>
          <a:ln>
            <a:noFill/>
          </a:ln>
        </p:spPr>
        <p:txBody>
          <a:bodyPr rtlCol="0" anchor="ctr"/>
          <a:lstStyle/>
          <a:p>
            <a:pPr algn="ctr"/>
          </a:p>
        </p:txBody>
      </p:sp>
      <p:sp>
        <p:nvSpPr>
          <p:cNvPr id="40" name="Rounded Rectangle 39"/>
          <p:cNvSpPr/>
          <p:nvPr/>
        </p:nvSpPr>
        <p:spPr>
          <a:xfrm>
            <a:off x="1467612" y="5079492"/>
            <a:ext cx="228600" cy="228600"/>
          </a:xfrm>
          <a:prstGeom prst="roundRect">
            <a:avLst>
              <a:gd name="adj" fmla="val 22000"/>
            </a:avLst>
          </a:prstGeom>
          <a:solidFill>
            <a:srgbClr val="FFFFFF"/>
          </a:solidFill>
          <a:ln>
            <a:noFill/>
          </a:ln>
        </p:spPr>
        <p:txBody>
          <a:bodyPr rtlCol="0" anchor="ctr"/>
          <a:lstStyle/>
          <a:p>
            <a:pPr algn="ctr"/>
          </a:p>
        </p:txBody>
      </p:sp>
      <p:sp>
        <p:nvSpPr>
          <p:cNvPr id="41" name="Rounded Rectangle 40"/>
          <p:cNvSpPr/>
          <p:nvPr/>
        </p:nvSpPr>
        <p:spPr>
          <a:xfrm>
            <a:off x="1773936" y="5079492"/>
            <a:ext cx="228600" cy="228600"/>
          </a:xfrm>
          <a:prstGeom prst="roundRect">
            <a:avLst>
              <a:gd name="adj" fmla="val 22000"/>
            </a:avLst>
          </a:prstGeom>
          <a:solidFill>
            <a:srgbClr val="FFFFFF"/>
          </a:solidFill>
          <a:ln>
            <a:noFill/>
          </a:ln>
        </p:spPr>
        <p:txBody>
          <a:bodyPr rtlCol="0" anchor="ctr"/>
          <a:lstStyle/>
          <a:p>
            <a:pPr algn="ctr"/>
          </a:p>
        </p:txBody>
      </p:sp>
      <p:sp>
        <p:nvSpPr>
          <p:cNvPr id="42" name="Rounded Rectangle 41"/>
          <p:cNvSpPr/>
          <p:nvPr/>
        </p:nvSpPr>
        <p:spPr>
          <a:xfrm>
            <a:off x="2080260" y="5079492"/>
            <a:ext cx="228600" cy="228600"/>
          </a:xfrm>
          <a:prstGeom prst="roundRect">
            <a:avLst>
              <a:gd name="adj" fmla="val 22000"/>
            </a:avLst>
          </a:prstGeom>
          <a:solidFill>
            <a:srgbClr val="FFFFFF"/>
          </a:solidFill>
          <a:ln>
            <a:noFill/>
          </a:ln>
        </p:spPr>
        <p:txBody>
          <a:bodyPr rtlCol="0" anchor="ctr"/>
          <a:lstStyle/>
          <a:p>
            <a:pPr algn="ctr"/>
          </a:p>
        </p:txBody>
      </p:sp>
      <p:sp>
        <p:nvSpPr>
          <p:cNvPr id="43" name="Rounded Rectangle 42"/>
          <p:cNvSpPr/>
          <p:nvPr/>
        </p:nvSpPr>
        <p:spPr>
          <a:xfrm>
            <a:off x="2386584" y="5079492"/>
            <a:ext cx="228600" cy="228600"/>
          </a:xfrm>
          <a:prstGeom prst="roundRect">
            <a:avLst>
              <a:gd name="adj" fmla="val 22000"/>
            </a:avLst>
          </a:prstGeom>
          <a:solidFill>
            <a:srgbClr val="FFFFFF"/>
          </a:solidFill>
          <a:ln>
            <a:noFill/>
          </a:ln>
        </p:spPr>
        <p:txBody>
          <a:bodyPr rtlCol="0" anchor="ctr"/>
          <a:lstStyle/>
          <a:p>
            <a:pPr algn="ctr"/>
          </a:p>
        </p:txBody>
      </p:sp>
      <p:sp>
        <p:nvSpPr>
          <p:cNvPr id="44" name="Rounded Rectangle 43"/>
          <p:cNvSpPr/>
          <p:nvPr/>
        </p:nvSpPr>
        <p:spPr>
          <a:xfrm>
            <a:off x="2692908" y="5079492"/>
            <a:ext cx="228600" cy="228600"/>
          </a:xfrm>
          <a:prstGeom prst="roundRect">
            <a:avLst>
              <a:gd name="adj" fmla="val 22000"/>
            </a:avLst>
          </a:prstGeom>
          <a:solidFill>
            <a:srgbClr val="FFFFFF"/>
          </a:solidFill>
          <a:ln>
            <a:noFill/>
          </a:ln>
        </p:spPr>
        <p:txBody>
          <a:bodyPr rtlCol="0" anchor="ctr"/>
          <a:lstStyle/>
          <a:p>
            <a:pPr algn="ctr"/>
          </a:p>
        </p:txBody>
      </p:sp>
      <p:sp>
        <p:nvSpPr>
          <p:cNvPr id="45" name="Rounded Rectangle 44"/>
          <p:cNvSpPr/>
          <p:nvPr/>
        </p:nvSpPr>
        <p:spPr>
          <a:xfrm>
            <a:off x="2999232" y="5079492"/>
            <a:ext cx="228600" cy="228600"/>
          </a:xfrm>
          <a:prstGeom prst="roundRect">
            <a:avLst>
              <a:gd name="adj" fmla="val 22000"/>
            </a:avLst>
          </a:prstGeom>
          <a:solidFill>
            <a:srgbClr val="BFE5C7"/>
          </a:solidFill>
          <a:ln>
            <a:noFill/>
          </a:ln>
        </p:spPr>
        <p:txBody>
          <a:bodyPr rtlCol="0" anchor="ctr"/>
          <a:lstStyle/>
          <a:p>
            <a:pPr algn="ctr"/>
          </a:p>
        </p:txBody>
      </p:sp>
      <p:sp>
        <p:nvSpPr>
          <p:cNvPr id="46" name="Rounded Rectangle 45"/>
          <p:cNvSpPr/>
          <p:nvPr/>
        </p:nvSpPr>
        <p:spPr>
          <a:xfrm>
            <a:off x="3305556" y="5079492"/>
            <a:ext cx="228600" cy="228600"/>
          </a:xfrm>
          <a:prstGeom prst="roundRect">
            <a:avLst>
              <a:gd name="adj" fmla="val 22000"/>
            </a:avLst>
          </a:prstGeom>
          <a:solidFill>
            <a:srgbClr val="BFE5C7"/>
          </a:solidFill>
          <a:ln>
            <a:noFill/>
          </a:ln>
        </p:spPr>
        <p:txBody>
          <a:bodyPr rtlCol="0" anchor="ctr"/>
          <a:lstStyle/>
          <a:p>
            <a:pPr algn="ctr"/>
          </a:p>
        </p:txBody>
      </p:sp>
      <p:sp>
        <p:nvSpPr>
          <p:cNvPr id="47" name="Rounded Rectangle 46"/>
          <p:cNvSpPr/>
          <p:nvPr/>
        </p:nvSpPr>
        <p:spPr>
          <a:xfrm>
            <a:off x="3611880" y="5079492"/>
            <a:ext cx="228600" cy="228600"/>
          </a:xfrm>
          <a:prstGeom prst="roundRect">
            <a:avLst>
              <a:gd name="adj" fmla="val 22000"/>
            </a:avLst>
          </a:prstGeom>
          <a:solidFill>
            <a:srgbClr val="BFE5C7"/>
          </a:solidFill>
          <a:ln>
            <a:noFill/>
          </a:ln>
        </p:spPr>
        <p:txBody>
          <a:bodyPr rtlCol="0" anchor="ctr"/>
          <a:lstStyle/>
          <a:p>
            <a:pPr algn="ctr"/>
          </a:p>
        </p:txBody>
      </p:sp>
      <p:sp>
        <p:nvSpPr>
          <p:cNvPr id="48" name="Rounded Rectangle 47"/>
          <p:cNvSpPr/>
          <p:nvPr/>
        </p:nvSpPr>
        <p:spPr>
          <a:xfrm>
            <a:off x="548640" y="5385816"/>
            <a:ext cx="228600" cy="228600"/>
          </a:xfrm>
          <a:prstGeom prst="roundRect">
            <a:avLst>
              <a:gd name="adj" fmla="val 22000"/>
            </a:avLst>
          </a:prstGeom>
          <a:solidFill>
            <a:srgbClr val="FFFFFF"/>
          </a:solidFill>
          <a:ln>
            <a:noFill/>
          </a:ln>
        </p:spPr>
        <p:txBody>
          <a:bodyPr rtlCol="0" anchor="ctr"/>
          <a:lstStyle/>
          <a:p>
            <a:pPr algn="ctr"/>
          </a:p>
        </p:txBody>
      </p:sp>
      <p:sp>
        <p:nvSpPr>
          <p:cNvPr id="49" name="Rounded Rectangle 48"/>
          <p:cNvSpPr/>
          <p:nvPr/>
        </p:nvSpPr>
        <p:spPr>
          <a:xfrm>
            <a:off x="854964" y="5385816"/>
            <a:ext cx="228600" cy="228600"/>
          </a:xfrm>
          <a:prstGeom prst="roundRect">
            <a:avLst>
              <a:gd name="adj" fmla="val 22000"/>
            </a:avLst>
          </a:prstGeom>
          <a:solidFill>
            <a:srgbClr val="FFFFFF"/>
          </a:solidFill>
          <a:ln>
            <a:noFill/>
          </a:ln>
        </p:spPr>
        <p:txBody>
          <a:bodyPr rtlCol="0" anchor="ctr"/>
          <a:lstStyle/>
          <a:p>
            <a:pPr algn="ctr"/>
          </a:p>
        </p:txBody>
      </p:sp>
      <p:sp>
        <p:nvSpPr>
          <p:cNvPr id="50" name="Rounded Rectangle 49"/>
          <p:cNvSpPr/>
          <p:nvPr/>
        </p:nvSpPr>
        <p:spPr>
          <a:xfrm>
            <a:off x="1161288" y="5385816"/>
            <a:ext cx="228600" cy="228600"/>
          </a:xfrm>
          <a:prstGeom prst="roundRect">
            <a:avLst>
              <a:gd name="adj" fmla="val 22000"/>
            </a:avLst>
          </a:prstGeom>
          <a:solidFill>
            <a:srgbClr val="FFFFFF"/>
          </a:solidFill>
          <a:ln>
            <a:noFill/>
          </a:ln>
        </p:spPr>
        <p:txBody>
          <a:bodyPr rtlCol="0" anchor="ctr"/>
          <a:lstStyle/>
          <a:p>
            <a:pPr algn="ctr"/>
          </a:p>
        </p:txBody>
      </p:sp>
      <p:sp>
        <p:nvSpPr>
          <p:cNvPr id="51" name="Rounded Rectangle 50"/>
          <p:cNvSpPr/>
          <p:nvPr/>
        </p:nvSpPr>
        <p:spPr>
          <a:xfrm>
            <a:off x="1467612" y="5385816"/>
            <a:ext cx="228600" cy="228600"/>
          </a:xfrm>
          <a:prstGeom prst="roundRect">
            <a:avLst>
              <a:gd name="adj" fmla="val 22000"/>
            </a:avLst>
          </a:prstGeom>
          <a:solidFill>
            <a:srgbClr val="FFFFFF"/>
          </a:solidFill>
          <a:ln>
            <a:noFill/>
          </a:ln>
        </p:spPr>
        <p:txBody>
          <a:bodyPr rtlCol="0" anchor="ctr"/>
          <a:lstStyle/>
          <a:p>
            <a:pPr algn="ctr"/>
          </a:p>
        </p:txBody>
      </p:sp>
      <p:sp>
        <p:nvSpPr>
          <p:cNvPr id="52" name="Rounded Rectangle 51"/>
          <p:cNvSpPr/>
          <p:nvPr/>
        </p:nvSpPr>
        <p:spPr>
          <a:xfrm>
            <a:off x="1773936" y="5385816"/>
            <a:ext cx="228600" cy="228600"/>
          </a:xfrm>
          <a:prstGeom prst="roundRect">
            <a:avLst>
              <a:gd name="adj" fmla="val 22000"/>
            </a:avLst>
          </a:prstGeom>
          <a:solidFill>
            <a:srgbClr val="FFFFFF"/>
          </a:solidFill>
          <a:ln>
            <a:noFill/>
          </a:ln>
        </p:spPr>
        <p:txBody>
          <a:bodyPr rtlCol="0" anchor="ctr"/>
          <a:lstStyle/>
          <a:p>
            <a:pPr algn="ctr"/>
          </a:p>
        </p:txBody>
      </p:sp>
      <p:sp>
        <p:nvSpPr>
          <p:cNvPr id="53" name="Rounded Rectangle 52"/>
          <p:cNvSpPr/>
          <p:nvPr/>
        </p:nvSpPr>
        <p:spPr>
          <a:xfrm>
            <a:off x="2080260" y="5385816"/>
            <a:ext cx="228600" cy="228600"/>
          </a:xfrm>
          <a:prstGeom prst="roundRect">
            <a:avLst>
              <a:gd name="adj" fmla="val 22000"/>
            </a:avLst>
          </a:prstGeom>
          <a:solidFill>
            <a:srgbClr val="FFFFFF"/>
          </a:solidFill>
          <a:ln>
            <a:noFill/>
          </a:ln>
        </p:spPr>
        <p:txBody>
          <a:bodyPr rtlCol="0" anchor="ctr"/>
          <a:lstStyle/>
          <a:p>
            <a:pPr algn="ctr"/>
          </a:p>
        </p:txBody>
      </p:sp>
      <p:sp>
        <p:nvSpPr>
          <p:cNvPr id="54" name="Rounded Rectangle 53"/>
          <p:cNvSpPr/>
          <p:nvPr/>
        </p:nvSpPr>
        <p:spPr>
          <a:xfrm>
            <a:off x="2386584" y="5385816"/>
            <a:ext cx="228600" cy="228600"/>
          </a:xfrm>
          <a:prstGeom prst="roundRect">
            <a:avLst>
              <a:gd name="adj" fmla="val 22000"/>
            </a:avLst>
          </a:prstGeom>
          <a:solidFill>
            <a:srgbClr val="FFFFFF"/>
          </a:solidFill>
          <a:ln>
            <a:noFill/>
          </a:ln>
        </p:spPr>
        <p:txBody>
          <a:bodyPr rtlCol="0" anchor="ctr"/>
          <a:lstStyle/>
          <a:p>
            <a:pPr algn="ctr"/>
          </a:p>
        </p:txBody>
      </p:sp>
      <p:sp>
        <p:nvSpPr>
          <p:cNvPr id="55" name="Rounded Rectangle 54"/>
          <p:cNvSpPr/>
          <p:nvPr/>
        </p:nvSpPr>
        <p:spPr>
          <a:xfrm>
            <a:off x="2692908" y="5385816"/>
            <a:ext cx="228600" cy="228600"/>
          </a:xfrm>
          <a:prstGeom prst="roundRect">
            <a:avLst>
              <a:gd name="adj" fmla="val 22000"/>
            </a:avLst>
          </a:prstGeom>
          <a:solidFill>
            <a:srgbClr val="FFFFFF"/>
          </a:solidFill>
          <a:ln>
            <a:noFill/>
          </a:ln>
        </p:spPr>
        <p:txBody>
          <a:bodyPr rtlCol="0" anchor="ctr"/>
          <a:lstStyle/>
          <a:p>
            <a:pPr algn="ctr"/>
          </a:p>
        </p:txBody>
      </p:sp>
      <p:sp>
        <p:nvSpPr>
          <p:cNvPr id="56" name="Rounded Rectangle 55"/>
          <p:cNvSpPr/>
          <p:nvPr/>
        </p:nvSpPr>
        <p:spPr>
          <a:xfrm>
            <a:off x="2999232" y="5385816"/>
            <a:ext cx="228600" cy="228600"/>
          </a:xfrm>
          <a:prstGeom prst="roundRect">
            <a:avLst>
              <a:gd name="adj" fmla="val 22000"/>
            </a:avLst>
          </a:prstGeom>
          <a:solidFill>
            <a:srgbClr val="BFE5C7"/>
          </a:solidFill>
          <a:ln>
            <a:noFill/>
          </a:ln>
        </p:spPr>
        <p:txBody>
          <a:bodyPr rtlCol="0" anchor="ctr"/>
          <a:lstStyle/>
          <a:p>
            <a:pPr algn="ctr"/>
          </a:p>
        </p:txBody>
      </p:sp>
      <p:sp>
        <p:nvSpPr>
          <p:cNvPr id="57" name="Rounded Rectangle 56"/>
          <p:cNvSpPr/>
          <p:nvPr/>
        </p:nvSpPr>
        <p:spPr>
          <a:xfrm>
            <a:off x="3305556" y="5385816"/>
            <a:ext cx="228600" cy="228600"/>
          </a:xfrm>
          <a:prstGeom prst="roundRect">
            <a:avLst>
              <a:gd name="adj" fmla="val 22000"/>
            </a:avLst>
          </a:prstGeom>
          <a:solidFill>
            <a:srgbClr val="BFE5C7"/>
          </a:solidFill>
          <a:ln>
            <a:noFill/>
          </a:ln>
        </p:spPr>
        <p:txBody>
          <a:bodyPr rtlCol="0" anchor="ctr"/>
          <a:lstStyle/>
          <a:p>
            <a:pPr algn="ctr"/>
          </a:p>
        </p:txBody>
      </p:sp>
      <p:sp>
        <p:nvSpPr>
          <p:cNvPr id="58" name="Rounded Rectangle 57"/>
          <p:cNvSpPr/>
          <p:nvPr/>
        </p:nvSpPr>
        <p:spPr>
          <a:xfrm>
            <a:off x="3611880" y="5385816"/>
            <a:ext cx="228600" cy="228600"/>
          </a:xfrm>
          <a:prstGeom prst="roundRect">
            <a:avLst>
              <a:gd name="adj" fmla="val 22000"/>
            </a:avLst>
          </a:prstGeom>
          <a:solidFill>
            <a:srgbClr val="BFE5C7"/>
          </a:solidFill>
          <a:ln>
            <a:noFill/>
          </a:ln>
        </p:spPr>
        <p:txBody>
          <a:bodyPr rtlCol="0" anchor="ctr"/>
          <a:lstStyle/>
          <a:p>
            <a:pPr algn="ctr"/>
          </a:p>
        </p:txBody>
      </p:sp>
      <p:sp>
        <p:nvSpPr>
          <p:cNvPr id="59" name="TextBox 58"/>
          <p:cNvSpPr txBox="1"/>
          <p:nvPr/>
        </p:nvSpPr>
        <p:spPr>
          <a:xfrm>
            <a:off x="5074920" y="868680"/>
            <a:ext cx="6583680" cy="365760"/>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Trabalho de Conclusão de Curso · Sistemas de Informação</a:t>
            </a:r>
          </a:p>
        </p:txBody>
      </p:sp>
      <p:sp>
        <p:nvSpPr>
          <p:cNvPr id="60" name="Título"/>
          <p:cNvSpPr txBox="1"/>
          <p:nvPr/>
        </p:nvSpPr>
        <p:spPr>
          <a:xfrm>
            <a:off x="5074920" y="1371600"/>
            <a:ext cx="6629400" cy="2286000"/>
          </a:xfrm>
          <a:prstGeom prst="rect">
            <a:avLst/>
          </a:prstGeom>
          <a:noFill/>
        </p:spPr>
        <p:txBody>
          <a:bodyPr wrap="square" lIns="0" rIns="0" tIns="0" bIns="0" anchor="t">
            <a:noAutofit/>
          </a:bodyPr>
          <a:lstStyle/>
          <a:p>
            <a:pPr algn="l">
              <a:lnSpc>
                <a:spcPct val="100000"/>
              </a:lnSpc>
              <a:spcBef>
                <a:spcPts val="0"/>
              </a:spcBef>
              <a:spcAft>
                <a:spcPts val="0"/>
              </a:spcAft>
            </a:pPr>
            <a:r>
              <a:rPr sz="3000" b="1" i="0">
                <a:solidFill>
                  <a:srgbClr val="17201B"/>
                </a:solidFill>
                <a:latin typeface="Open Sans"/>
              </a:rPr>
              <a:t>Balanceamento de arquétipos em jogos de luta por algoritmos genéticos com preservação de identidade funcional</a:t>
            </a:r>
          </a:p>
        </p:txBody>
      </p:sp>
      <p:sp>
        <p:nvSpPr>
          <p:cNvPr id="61" name="TextBox 60"/>
          <p:cNvSpPr txBox="1"/>
          <p:nvPr/>
        </p:nvSpPr>
        <p:spPr>
          <a:xfrm>
            <a:off x="5074920" y="3840480"/>
            <a:ext cx="6583680" cy="457200"/>
          </a:xfrm>
          <a:prstGeom prst="rect">
            <a:avLst/>
          </a:prstGeom>
          <a:noFill/>
        </p:spPr>
        <p:txBody>
          <a:bodyPr wrap="square" lIns="0" rIns="0" tIns="0" bIns="0" anchor="t">
            <a:noAutofit/>
          </a:bodyPr>
          <a:lstStyle/>
          <a:p>
            <a:pPr algn="l">
              <a:lnSpc>
                <a:spcPct val="100000"/>
              </a:lnSpc>
              <a:spcBef>
                <a:spcPts val="0"/>
              </a:spcBef>
              <a:spcAft>
                <a:spcPts val="0"/>
              </a:spcAft>
            </a:pPr>
            <a:r>
              <a:rPr sz="2200" b="1" i="0">
                <a:solidFill>
                  <a:srgbClr val="17201B"/>
                </a:solidFill>
                <a:latin typeface="Open Sans"/>
              </a:rPr>
              <a:t>Matheus Gimenes de Souza</a:t>
            </a:r>
          </a:p>
        </p:txBody>
      </p:sp>
      <p:sp>
        <p:nvSpPr>
          <p:cNvPr id="62" name="TextBox 61"/>
          <p:cNvSpPr txBox="1"/>
          <p:nvPr/>
        </p:nvSpPr>
        <p:spPr>
          <a:xfrm>
            <a:off x="5074920" y="4389120"/>
            <a:ext cx="6583680" cy="41148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4A524D"/>
                </a:solidFill>
                <a:latin typeface="Open Sans"/>
              </a:rPr>
              <a:t>Orientador: Prof. Dr. Everson Scherrer Borges</a:t>
            </a:r>
          </a:p>
        </p:txBody>
      </p:sp>
      <p:sp>
        <p:nvSpPr>
          <p:cNvPr id="63" name="TextBox 62"/>
          <p:cNvSpPr txBox="1"/>
          <p:nvPr/>
        </p:nvSpPr>
        <p:spPr>
          <a:xfrm>
            <a:off x="5074920" y="4846320"/>
            <a:ext cx="6583680" cy="8229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4A524D"/>
                </a:solidFill>
                <a:latin typeface="Open Sans"/>
              </a:rPr>
              <a:t>Banca: Prof. Dr. Flávio Izo e Prof. Dr. Rafael Silva Guimarães</a:t>
            </a:r>
          </a:p>
        </p:txBody>
      </p:sp>
      <p:sp>
        <p:nvSpPr>
          <p:cNvPr id="64" name="TextBox 63"/>
          <p:cNvSpPr txBox="1"/>
          <p:nvPr/>
        </p:nvSpPr>
        <p:spPr>
          <a:xfrm>
            <a:off x="5074920" y="6035040"/>
            <a:ext cx="6583680" cy="36576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Cachoeiro de Itapemirim,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Há duas formas de errar no balanceamento de um elenco</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3</a:t>
            </a:r>
          </a:p>
        </p:txBody>
      </p:sp>
      <p:sp>
        <p:nvSpPr>
          <p:cNvPr id="7" name="Rounded Rectangle 6"/>
          <p:cNvSpPr/>
          <p:nvPr/>
        </p:nvSpPr>
        <p:spPr>
          <a:xfrm>
            <a:off x="548640" y="1709928"/>
            <a:ext cx="5394960" cy="3611880"/>
          </a:xfrm>
          <a:prstGeom prst="roundRect">
            <a:avLst>
              <a:gd name="adj" fmla="val 3037"/>
            </a:avLst>
          </a:prstGeom>
          <a:solidFill>
            <a:srgbClr val="F2F4F3"/>
          </a:solidFill>
          <a:ln>
            <a:noFill/>
          </a:ln>
        </p:spPr>
        <p:txBody>
          <a:bodyPr rtlCol="0" anchor="ctr"/>
          <a:lstStyle/>
          <a:p>
            <a:pPr algn="ctr"/>
          </a:p>
        </p:txBody>
      </p:sp>
      <p:sp>
        <p:nvSpPr>
          <p:cNvPr id="8" name="TextBox 7"/>
          <p:cNvSpPr txBox="1"/>
          <p:nvPr/>
        </p:nvSpPr>
        <p:spPr>
          <a:xfrm>
            <a:off x="868680" y="1920239"/>
            <a:ext cx="4754880" cy="457200"/>
          </a:xfrm>
          <a:prstGeom prst="rect">
            <a:avLst/>
          </a:prstGeom>
          <a:noFill/>
        </p:spPr>
        <p:txBody>
          <a:bodyPr wrap="square" lIns="0" rIns="0" tIns="0" bIns="0" anchor="t">
            <a:noAutofit/>
          </a:bodyPr>
          <a:lstStyle/>
          <a:p>
            <a:pPr algn="l">
              <a:lnSpc>
                <a:spcPct val="100000"/>
              </a:lnSpc>
              <a:spcBef>
                <a:spcPts val="0"/>
              </a:spcBef>
              <a:spcAft>
                <a:spcPts val="0"/>
              </a:spcAft>
            </a:pPr>
            <a:r>
              <a:rPr sz="2200" b="1" i="0">
                <a:solidFill>
                  <a:srgbClr val="17201B"/>
                </a:solidFill>
                <a:latin typeface="Open Sans"/>
              </a:rPr>
              <a:t>Um personagem domina</a:t>
            </a:r>
          </a:p>
        </p:txBody>
      </p:sp>
      <p:sp>
        <p:nvSpPr>
          <p:cNvPr id="9" name="TextBox 8"/>
          <p:cNvSpPr txBox="1"/>
          <p:nvPr/>
        </p:nvSpPr>
        <p:spPr>
          <a:xfrm>
            <a:off x="868680" y="2414015"/>
            <a:ext cx="274320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taxa de vitória</a:t>
            </a:r>
          </a:p>
        </p:txBody>
      </p:sp>
      <p:sp>
        <p:nvSpPr>
          <p:cNvPr id="10" name="Rounded Rectangle 9"/>
          <p:cNvSpPr/>
          <p:nvPr/>
        </p:nvSpPr>
        <p:spPr>
          <a:xfrm>
            <a:off x="1005840" y="2807208"/>
            <a:ext cx="548640" cy="1737360"/>
          </a:xfrm>
          <a:prstGeom prst="roundRect">
            <a:avLst>
              <a:gd name="adj" fmla="val 10000"/>
            </a:avLst>
          </a:prstGeom>
          <a:solidFill>
            <a:srgbClr val="CD191E"/>
          </a:solidFill>
          <a:ln>
            <a:noFill/>
          </a:ln>
        </p:spPr>
        <p:txBody>
          <a:bodyPr rtlCol="0" anchor="ctr"/>
          <a:lstStyle/>
          <a:p>
            <a:pPr algn="ctr"/>
          </a:p>
        </p:txBody>
      </p:sp>
      <p:sp>
        <p:nvSpPr>
          <p:cNvPr id="11" name="Rounded Rectangle 10"/>
          <p:cNvSpPr/>
          <p:nvPr/>
        </p:nvSpPr>
        <p:spPr>
          <a:xfrm>
            <a:off x="1874519" y="3630168"/>
            <a:ext cx="548640" cy="914400"/>
          </a:xfrm>
          <a:prstGeom prst="roundRect">
            <a:avLst>
              <a:gd name="adj" fmla="val 10000"/>
            </a:avLst>
          </a:prstGeom>
          <a:solidFill>
            <a:srgbClr val="6E4BB8"/>
          </a:solidFill>
          <a:ln>
            <a:noFill/>
          </a:ln>
        </p:spPr>
        <p:txBody>
          <a:bodyPr rtlCol="0" anchor="ctr"/>
          <a:lstStyle/>
          <a:p>
            <a:pPr algn="ctr"/>
          </a:p>
        </p:txBody>
      </p:sp>
      <p:sp>
        <p:nvSpPr>
          <p:cNvPr id="12" name="Rounded Rectangle 11"/>
          <p:cNvSpPr/>
          <p:nvPr/>
        </p:nvSpPr>
        <p:spPr>
          <a:xfrm>
            <a:off x="2743200" y="3721608"/>
            <a:ext cx="548640" cy="822960"/>
          </a:xfrm>
          <a:prstGeom prst="roundRect">
            <a:avLst>
              <a:gd name="adj" fmla="val 10000"/>
            </a:avLst>
          </a:prstGeom>
          <a:solidFill>
            <a:srgbClr val="8A5A2B"/>
          </a:solidFill>
          <a:ln>
            <a:noFill/>
          </a:ln>
        </p:spPr>
        <p:txBody>
          <a:bodyPr rtlCol="0" anchor="ctr"/>
          <a:lstStyle/>
          <a:p>
            <a:pPr algn="ctr"/>
          </a:p>
        </p:txBody>
      </p:sp>
      <p:sp>
        <p:nvSpPr>
          <p:cNvPr id="13" name="Rounded Rectangle 12"/>
          <p:cNvSpPr/>
          <p:nvPr/>
        </p:nvSpPr>
        <p:spPr>
          <a:xfrm>
            <a:off x="3611879" y="3813048"/>
            <a:ext cx="548640" cy="731520"/>
          </a:xfrm>
          <a:prstGeom prst="roundRect">
            <a:avLst>
              <a:gd name="adj" fmla="val 10000"/>
            </a:avLst>
          </a:prstGeom>
          <a:solidFill>
            <a:srgbClr val="D4A017"/>
          </a:solidFill>
          <a:ln>
            <a:noFill/>
          </a:ln>
        </p:spPr>
        <p:txBody>
          <a:bodyPr rtlCol="0" anchor="ctr"/>
          <a:lstStyle/>
          <a:p>
            <a:pPr algn="ctr"/>
          </a:p>
        </p:txBody>
      </p:sp>
      <p:sp>
        <p:nvSpPr>
          <p:cNvPr id="14" name="Rounded Rectangle 13"/>
          <p:cNvSpPr/>
          <p:nvPr/>
        </p:nvSpPr>
        <p:spPr>
          <a:xfrm>
            <a:off x="4480560" y="4178808"/>
            <a:ext cx="548640" cy="365760"/>
          </a:xfrm>
          <a:prstGeom prst="roundRect">
            <a:avLst>
              <a:gd name="adj" fmla="val 15000"/>
            </a:avLst>
          </a:prstGeom>
          <a:solidFill>
            <a:srgbClr val="2F9E41"/>
          </a:solidFill>
          <a:ln>
            <a:noFill/>
          </a:ln>
        </p:spPr>
        <p:txBody>
          <a:bodyPr rtlCol="0" anchor="ctr"/>
          <a:lstStyle/>
          <a:p>
            <a:pPr algn="ctr"/>
          </a:p>
        </p:txBody>
      </p:sp>
      <p:cxnSp>
        <p:nvCxnSpPr>
          <p:cNvPr id="15" name="Connector 14"/>
          <p:cNvCxnSpPr/>
          <p:nvPr/>
        </p:nvCxnSpPr>
        <p:spPr>
          <a:xfrm>
            <a:off x="868680" y="3630168"/>
            <a:ext cx="4251960" cy="0"/>
          </a:xfrm>
          <a:prstGeom prst="line">
            <a:avLst/>
          </a:prstGeom>
          <a:ln w="19050">
            <a:solidFill>
              <a:srgbClr val="6F7772"/>
            </a:solidFill>
            <a:prstDash val="dash"/>
          </a:ln>
        </p:spPr>
      </p:cxnSp>
      <p:sp>
        <p:nvSpPr>
          <p:cNvPr id="16" name="TextBox 15"/>
          <p:cNvSpPr txBox="1"/>
          <p:nvPr/>
        </p:nvSpPr>
        <p:spPr>
          <a:xfrm>
            <a:off x="5184648" y="3465576"/>
            <a:ext cx="64008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6F7772"/>
                </a:solidFill>
                <a:latin typeface="Open Sans"/>
              </a:rPr>
              <a:t>50%</a:t>
            </a:r>
          </a:p>
        </p:txBody>
      </p:sp>
      <p:cxnSp>
        <p:nvCxnSpPr>
          <p:cNvPr id="17" name="Connector 16"/>
          <p:cNvCxnSpPr/>
          <p:nvPr/>
        </p:nvCxnSpPr>
        <p:spPr>
          <a:xfrm>
            <a:off x="868680" y="4544568"/>
            <a:ext cx="4526279" cy="0"/>
          </a:xfrm>
          <a:prstGeom prst="line">
            <a:avLst/>
          </a:prstGeom>
          <a:ln w="19050">
            <a:solidFill>
              <a:srgbClr val="D5DAD7"/>
            </a:solidFill>
          </a:ln>
        </p:spPr>
      </p:cxnSp>
      <p:sp>
        <p:nvSpPr>
          <p:cNvPr id="18" name="TextBox 17"/>
          <p:cNvSpPr txBox="1"/>
          <p:nvPr/>
        </p:nvSpPr>
        <p:spPr>
          <a:xfrm>
            <a:off x="868680" y="4681728"/>
            <a:ext cx="4754880" cy="411480"/>
          </a:xfrm>
          <a:prstGeom prst="rect">
            <a:avLst/>
          </a:prstGeom>
          <a:noFill/>
        </p:spPr>
        <p:txBody>
          <a:bodyPr wrap="square" lIns="0" rIns="0" tIns="0" bIns="0" anchor="t">
            <a:noAutofit/>
          </a:bodyPr>
          <a:lstStyle/>
          <a:p>
            <a:pPr algn="l">
              <a:lnSpc>
                <a:spcPct val="100000"/>
              </a:lnSpc>
              <a:spcBef>
                <a:spcPts val="0"/>
              </a:spcBef>
              <a:spcAft>
                <a:spcPts val="0"/>
              </a:spcAft>
            </a:pPr>
            <a:r>
              <a:rPr sz="1900" b="0" i="0">
                <a:solidFill>
                  <a:srgbClr val="17201B"/>
                </a:solidFill>
                <a:latin typeface="Open Sans"/>
              </a:rPr>
              <a:t>todos escolhem o mesmo</a:t>
            </a:r>
          </a:p>
        </p:txBody>
      </p:sp>
      <p:sp>
        <p:nvSpPr>
          <p:cNvPr id="19" name="Rounded Rectangle 18"/>
          <p:cNvSpPr/>
          <p:nvPr/>
        </p:nvSpPr>
        <p:spPr>
          <a:xfrm>
            <a:off x="6245352" y="1709928"/>
            <a:ext cx="5394960" cy="3611880"/>
          </a:xfrm>
          <a:prstGeom prst="roundRect">
            <a:avLst>
              <a:gd name="adj" fmla="val 3037"/>
            </a:avLst>
          </a:prstGeom>
          <a:solidFill>
            <a:srgbClr val="F2F4F3"/>
          </a:solidFill>
          <a:ln>
            <a:noFill/>
          </a:ln>
        </p:spPr>
        <p:txBody>
          <a:bodyPr rtlCol="0" anchor="ctr"/>
          <a:lstStyle/>
          <a:p>
            <a:pPr algn="ctr"/>
          </a:p>
        </p:txBody>
      </p:sp>
      <p:sp>
        <p:nvSpPr>
          <p:cNvPr id="20" name="TextBox 19"/>
          <p:cNvSpPr txBox="1"/>
          <p:nvPr/>
        </p:nvSpPr>
        <p:spPr>
          <a:xfrm>
            <a:off x="6565392" y="1920239"/>
            <a:ext cx="4754880" cy="457200"/>
          </a:xfrm>
          <a:prstGeom prst="rect">
            <a:avLst/>
          </a:prstGeom>
          <a:noFill/>
        </p:spPr>
        <p:txBody>
          <a:bodyPr wrap="square" lIns="0" rIns="0" tIns="0" bIns="0" anchor="t">
            <a:noAutofit/>
          </a:bodyPr>
          <a:lstStyle/>
          <a:p>
            <a:pPr algn="l">
              <a:lnSpc>
                <a:spcPct val="100000"/>
              </a:lnSpc>
              <a:spcBef>
                <a:spcPts val="0"/>
              </a:spcBef>
              <a:spcAft>
                <a:spcPts val="0"/>
              </a:spcAft>
            </a:pPr>
            <a:r>
              <a:rPr sz="2200" b="1" i="0">
                <a:solidFill>
                  <a:srgbClr val="17201B"/>
                </a:solidFill>
                <a:latin typeface="Open Sans"/>
              </a:rPr>
              <a:t>Todos ficam iguais</a:t>
            </a:r>
          </a:p>
        </p:txBody>
      </p:sp>
      <p:sp>
        <p:nvSpPr>
          <p:cNvPr id="21" name="TextBox 20"/>
          <p:cNvSpPr txBox="1"/>
          <p:nvPr/>
        </p:nvSpPr>
        <p:spPr>
          <a:xfrm>
            <a:off x="6565392" y="2414015"/>
            <a:ext cx="274320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taxa de vitória</a:t>
            </a:r>
          </a:p>
        </p:txBody>
      </p:sp>
      <p:sp>
        <p:nvSpPr>
          <p:cNvPr id="22" name="Rounded Rectangle 21"/>
          <p:cNvSpPr/>
          <p:nvPr/>
        </p:nvSpPr>
        <p:spPr>
          <a:xfrm>
            <a:off x="6702552" y="3630168"/>
            <a:ext cx="548640" cy="914400"/>
          </a:xfrm>
          <a:prstGeom prst="roundRect">
            <a:avLst>
              <a:gd name="adj" fmla="val 10000"/>
            </a:avLst>
          </a:prstGeom>
          <a:solidFill>
            <a:srgbClr val="C3C8C5"/>
          </a:solidFill>
          <a:ln>
            <a:noFill/>
          </a:ln>
        </p:spPr>
        <p:txBody>
          <a:bodyPr rtlCol="0" anchor="ctr"/>
          <a:lstStyle/>
          <a:p>
            <a:pPr algn="ctr"/>
          </a:p>
        </p:txBody>
      </p:sp>
      <p:sp>
        <p:nvSpPr>
          <p:cNvPr id="23" name="Rounded Rectangle 22"/>
          <p:cNvSpPr/>
          <p:nvPr/>
        </p:nvSpPr>
        <p:spPr>
          <a:xfrm>
            <a:off x="7571231" y="3630168"/>
            <a:ext cx="548640" cy="914400"/>
          </a:xfrm>
          <a:prstGeom prst="roundRect">
            <a:avLst>
              <a:gd name="adj" fmla="val 10000"/>
            </a:avLst>
          </a:prstGeom>
          <a:solidFill>
            <a:srgbClr val="C3C8C5"/>
          </a:solidFill>
          <a:ln>
            <a:noFill/>
          </a:ln>
        </p:spPr>
        <p:txBody>
          <a:bodyPr rtlCol="0" anchor="ctr"/>
          <a:lstStyle/>
          <a:p>
            <a:pPr algn="ctr"/>
          </a:p>
        </p:txBody>
      </p:sp>
      <p:sp>
        <p:nvSpPr>
          <p:cNvPr id="24" name="Rounded Rectangle 23"/>
          <p:cNvSpPr/>
          <p:nvPr/>
        </p:nvSpPr>
        <p:spPr>
          <a:xfrm>
            <a:off x="8439912" y="3630168"/>
            <a:ext cx="548640" cy="914400"/>
          </a:xfrm>
          <a:prstGeom prst="roundRect">
            <a:avLst>
              <a:gd name="adj" fmla="val 10000"/>
            </a:avLst>
          </a:prstGeom>
          <a:solidFill>
            <a:srgbClr val="C3C8C5"/>
          </a:solidFill>
          <a:ln>
            <a:noFill/>
          </a:ln>
        </p:spPr>
        <p:txBody>
          <a:bodyPr rtlCol="0" anchor="ctr"/>
          <a:lstStyle/>
          <a:p>
            <a:pPr algn="ctr"/>
          </a:p>
        </p:txBody>
      </p:sp>
      <p:sp>
        <p:nvSpPr>
          <p:cNvPr id="25" name="Rounded Rectangle 24"/>
          <p:cNvSpPr/>
          <p:nvPr/>
        </p:nvSpPr>
        <p:spPr>
          <a:xfrm>
            <a:off x="9308592" y="3630168"/>
            <a:ext cx="548640" cy="914400"/>
          </a:xfrm>
          <a:prstGeom prst="roundRect">
            <a:avLst>
              <a:gd name="adj" fmla="val 10000"/>
            </a:avLst>
          </a:prstGeom>
          <a:solidFill>
            <a:srgbClr val="C3C8C5"/>
          </a:solidFill>
          <a:ln>
            <a:noFill/>
          </a:ln>
        </p:spPr>
        <p:txBody>
          <a:bodyPr rtlCol="0" anchor="ctr"/>
          <a:lstStyle/>
          <a:p>
            <a:pPr algn="ctr"/>
          </a:p>
        </p:txBody>
      </p:sp>
      <p:sp>
        <p:nvSpPr>
          <p:cNvPr id="26" name="Rounded Rectangle 25"/>
          <p:cNvSpPr/>
          <p:nvPr/>
        </p:nvSpPr>
        <p:spPr>
          <a:xfrm>
            <a:off x="10177272" y="3630168"/>
            <a:ext cx="548640" cy="914400"/>
          </a:xfrm>
          <a:prstGeom prst="roundRect">
            <a:avLst>
              <a:gd name="adj" fmla="val 10000"/>
            </a:avLst>
          </a:prstGeom>
          <a:solidFill>
            <a:srgbClr val="C3C8C5"/>
          </a:solidFill>
          <a:ln>
            <a:noFill/>
          </a:ln>
        </p:spPr>
        <p:txBody>
          <a:bodyPr rtlCol="0" anchor="ctr"/>
          <a:lstStyle/>
          <a:p>
            <a:pPr algn="ctr"/>
          </a:p>
        </p:txBody>
      </p:sp>
      <p:cxnSp>
        <p:nvCxnSpPr>
          <p:cNvPr id="27" name="Connector 26"/>
          <p:cNvCxnSpPr/>
          <p:nvPr/>
        </p:nvCxnSpPr>
        <p:spPr>
          <a:xfrm>
            <a:off x="6565392" y="3630168"/>
            <a:ext cx="4251960" cy="0"/>
          </a:xfrm>
          <a:prstGeom prst="line">
            <a:avLst/>
          </a:prstGeom>
          <a:ln w="19050">
            <a:solidFill>
              <a:srgbClr val="6F7772"/>
            </a:solidFill>
            <a:prstDash val="dash"/>
          </a:ln>
        </p:spPr>
      </p:cxnSp>
      <p:sp>
        <p:nvSpPr>
          <p:cNvPr id="28" name="TextBox 27"/>
          <p:cNvSpPr txBox="1"/>
          <p:nvPr/>
        </p:nvSpPr>
        <p:spPr>
          <a:xfrm>
            <a:off x="10881360" y="3465576"/>
            <a:ext cx="64008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6F7772"/>
                </a:solidFill>
                <a:latin typeface="Open Sans"/>
              </a:rPr>
              <a:t>50%</a:t>
            </a:r>
          </a:p>
        </p:txBody>
      </p:sp>
      <p:cxnSp>
        <p:nvCxnSpPr>
          <p:cNvPr id="29" name="Connector 28"/>
          <p:cNvCxnSpPr/>
          <p:nvPr/>
        </p:nvCxnSpPr>
        <p:spPr>
          <a:xfrm>
            <a:off x="6565392" y="4544568"/>
            <a:ext cx="4526280" cy="0"/>
          </a:xfrm>
          <a:prstGeom prst="line">
            <a:avLst/>
          </a:prstGeom>
          <a:ln w="19050">
            <a:solidFill>
              <a:srgbClr val="D5DAD7"/>
            </a:solidFill>
          </a:ln>
        </p:spPr>
      </p:cxnSp>
      <p:sp>
        <p:nvSpPr>
          <p:cNvPr id="30" name="TextBox 29"/>
          <p:cNvSpPr txBox="1"/>
          <p:nvPr/>
        </p:nvSpPr>
        <p:spPr>
          <a:xfrm>
            <a:off x="6565392" y="4681728"/>
            <a:ext cx="4754880" cy="411480"/>
          </a:xfrm>
          <a:prstGeom prst="rect">
            <a:avLst/>
          </a:prstGeom>
          <a:noFill/>
        </p:spPr>
        <p:txBody>
          <a:bodyPr wrap="square" lIns="0" rIns="0" tIns="0" bIns="0" anchor="t">
            <a:noAutofit/>
          </a:bodyPr>
          <a:lstStyle/>
          <a:p>
            <a:pPr algn="l">
              <a:lnSpc>
                <a:spcPct val="100000"/>
              </a:lnSpc>
              <a:spcBef>
                <a:spcPts val="0"/>
              </a:spcBef>
              <a:spcAft>
                <a:spcPts val="0"/>
              </a:spcAft>
            </a:pPr>
            <a:r>
              <a:rPr sz="1900" b="0" i="0">
                <a:solidFill>
                  <a:srgbClr val="17201B"/>
                </a:solidFill>
                <a:latin typeface="Open Sans"/>
              </a:rPr>
              <a:t>a escolha deixa de importar</a:t>
            </a:r>
          </a:p>
        </p:txBody>
      </p:sp>
      <p:sp>
        <p:nvSpPr>
          <p:cNvPr id="31" name="TextBox 30"/>
          <p:cNvSpPr txBox="1"/>
          <p:nvPr/>
        </p:nvSpPr>
        <p:spPr>
          <a:xfrm>
            <a:off x="548640" y="5550408"/>
            <a:ext cx="11091672" cy="548640"/>
          </a:xfrm>
          <a:prstGeom prst="rect">
            <a:avLst/>
          </a:prstGeom>
          <a:noFill/>
        </p:spPr>
        <p:txBody>
          <a:bodyPr wrap="square" lIns="0" rIns="0" tIns="0" bIns="0" anchor="t">
            <a:noAutofit/>
          </a:bodyPr>
          <a:lstStyle/>
          <a:p>
            <a:pPr algn="l">
              <a:lnSpc>
                <a:spcPct val="100000"/>
              </a:lnSpc>
              <a:spcBef>
                <a:spcPts val="0"/>
              </a:spcBef>
              <a:spcAft>
                <a:spcPts val="0"/>
              </a:spcAft>
            </a:pPr>
            <a:r>
              <a:rPr sz="2400" b="0" i="0">
                <a:solidFill>
                  <a:srgbClr val="17201B"/>
                </a:solidFill>
                <a:latin typeface="Open Sans"/>
              </a:rPr>
              <a:t>O desafio: equilibrar </a:t>
            </a:r>
            <a:r>
              <a:rPr sz="2400" b="1" i="0">
                <a:solidFill>
                  <a:srgbClr val="1F6E2E"/>
                </a:solidFill>
                <a:latin typeface="Open Sans"/>
              </a:rPr>
              <a:t>preservando a diferença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Pergunta de pesquisa e objetivos</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4</a:t>
            </a:r>
          </a:p>
        </p:txBody>
      </p:sp>
      <p:sp>
        <p:nvSpPr>
          <p:cNvPr id="28" name="Rounded Rectangle 27"/>
          <p:cNvSpPr/>
          <p:nvPr/>
        </p:nvSpPr>
        <p:spPr>
          <a:xfrm>
            <a:off x="548640" y="1709927"/>
            <a:ext cx="11091672" cy="1298448"/>
          </a:xfrm>
          <a:prstGeom prst="roundRect">
            <a:avLst>
              <a:gd name="adj" fmla="val 8450"/>
            </a:avLst>
          </a:prstGeom>
          <a:solidFill>
            <a:srgbClr val="1F6E2E"/>
          </a:solidFill>
          <a:ln>
            <a:noFill/>
          </a:ln>
        </p:spPr>
        <p:txBody>
          <a:bodyPr rtlCol="0" anchor="ctr"/>
          <a:lstStyle/>
          <a:p>
            <a:pPr algn="ctr"/>
          </a:p>
        </p:txBody>
      </p:sp>
      <p:sp>
        <p:nvSpPr>
          <p:cNvPr id="29" name="TextBox 28"/>
          <p:cNvSpPr txBox="1"/>
          <p:nvPr/>
        </p:nvSpPr>
        <p:spPr>
          <a:xfrm>
            <a:off x="868680" y="1819655"/>
            <a:ext cx="5486400" cy="310896"/>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BFE5C7"/>
                </a:solidFill>
                <a:latin typeface="Open Sans"/>
              </a:rPr>
              <a:t>PERGUNTA DE PESQUISA</a:t>
            </a:r>
          </a:p>
        </p:txBody>
      </p:sp>
      <p:sp>
        <p:nvSpPr>
          <p:cNvPr id="30" name="TextBox 29"/>
          <p:cNvSpPr txBox="1"/>
          <p:nvPr/>
        </p:nvSpPr>
        <p:spPr>
          <a:xfrm>
            <a:off x="868680" y="2112264"/>
            <a:ext cx="10451592" cy="841248"/>
          </a:xfrm>
          <a:prstGeom prst="rect">
            <a:avLst/>
          </a:prstGeom>
          <a:noFill/>
        </p:spPr>
        <p:txBody>
          <a:bodyPr wrap="square" lIns="0" rIns="0" tIns="0" bIns="0" anchor="t">
            <a:noAutofit/>
          </a:bodyPr>
          <a:lstStyle/>
          <a:p>
            <a:pPr algn="l">
              <a:lnSpc>
                <a:spcPct val="100000"/>
              </a:lnSpc>
              <a:spcBef>
                <a:spcPts val="0"/>
              </a:spcBef>
              <a:spcAft>
                <a:spcPts val="0"/>
              </a:spcAft>
            </a:pPr>
            <a:r>
              <a:rPr sz="2200" b="0" i="0">
                <a:solidFill>
                  <a:srgbClr val="FFFFFF"/>
                </a:solidFill>
                <a:latin typeface="Open Sans"/>
              </a:rPr>
              <a:t>Um algoritmo genético consegue equilibrar cinco arquétipos de um jogo de luta </a:t>
            </a:r>
            <a:r>
              <a:rPr sz="2200" b="1" i="0">
                <a:solidFill>
                  <a:srgbClr val="FFFFFF"/>
                </a:solidFill>
                <a:latin typeface="Open Sans"/>
              </a:rPr>
              <a:t>sem destruir suas identidades funcionais?</a:t>
            </a:r>
          </a:p>
        </p:txBody>
      </p:sp>
      <p:sp>
        <p:nvSpPr>
          <p:cNvPr id="31" name="Rounded Rectangle 30"/>
          <p:cNvSpPr/>
          <p:nvPr/>
        </p:nvSpPr>
        <p:spPr>
          <a:xfrm>
            <a:off x="548640" y="3172968"/>
            <a:ext cx="3611880" cy="1143000"/>
          </a:xfrm>
          <a:prstGeom prst="roundRect">
            <a:avLst>
              <a:gd name="adj" fmla="val 9600"/>
            </a:avLst>
          </a:prstGeom>
          <a:solidFill>
            <a:srgbClr val="F2F4F3"/>
          </a:solidFill>
          <a:ln>
            <a:noFill/>
          </a:ln>
        </p:spPr>
        <p:txBody>
          <a:bodyPr rtlCol="0" anchor="ctr"/>
          <a:lstStyle/>
          <a:p>
            <a:pPr algn="ctr"/>
          </a:p>
        </p:txBody>
      </p:sp>
      <p:sp>
        <p:nvSpPr>
          <p:cNvPr id="32" name="TextBox 31"/>
          <p:cNvSpPr txBox="1"/>
          <p:nvPr/>
        </p:nvSpPr>
        <p:spPr>
          <a:xfrm>
            <a:off x="777240" y="3264408"/>
            <a:ext cx="3200400" cy="384048"/>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2F9E41"/>
                </a:solidFill>
                <a:latin typeface="Open Sans"/>
              </a:rPr>
              <a:t>QP1  </a:t>
            </a:r>
            <a:r>
              <a:rPr sz="1900" b="1" i="0">
                <a:solidFill>
                  <a:srgbClr val="17201B"/>
                </a:solidFill>
                <a:latin typeface="Open Sans"/>
              </a:rPr>
              <a:t>Equilíbrio</a:t>
            </a:r>
          </a:p>
        </p:txBody>
      </p:sp>
      <p:sp>
        <p:nvSpPr>
          <p:cNvPr id="33" name="TextBox 32"/>
          <p:cNvSpPr txBox="1"/>
          <p:nvPr/>
        </p:nvSpPr>
        <p:spPr>
          <a:xfrm>
            <a:off x="777240" y="3657600"/>
            <a:ext cx="3200400" cy="60350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4A524D"/>
                </a:solidFill>
                <a:latin typeface="Open Sans"/>
              </a:rPr>
              <a:t>o elenco fica equilibrado, também fora do laço?</a:t>
            </a:r>
          </a:p>
        </p:txBody>
      </p:sp>
      <p:sp>
        <p:nvSpPr>
          <p:cNvPr id="34" name="Rounded Rectangle 33"/>
          <p:cNvSpPr/>
          <p:nvPr/>
        </p:nvSpPr>
        <p:spPr>
          <a:xfrm>
            <a:off x="4288536" y="3172968"/>
            <a:ext cx="3611880" cy="1143000"/>
          </a:xfrm>
          <a:prstGeom prst="roundRect">
            <a:avLst>
              <a:gd name="adj" fmla="val 9600"/>
            </a:avLst>
          </a:prstGeom>
          <a:solidFill>
            <a:srgbClr val="F2F4F3"/>
          </a:solidFill>
          <a:ln>
            <a:noFill/>
          </a:ln>
        </p:spPr>
        <p:txBody>
          <a:bodyPr rtlCol="0" anchor="ctr"/>
          <a:lstStyle/>
          <a:p>
            <a:pPr algn="ctr"/>
          </a:p>
        </p:txBody>
      </p:sp>
      <p:sp>
        <p:nvSpPr>
          <p:cNvPr id="35" name="TextBox 34"/>
          <p:cNvSpPr txBox="1"/>
          <p:nvPr/>
        </p:nvSpPr>
        <p:spPr>
          <a:xfrm>
            <a:off x="4517136" y="3264408"/>
            <a:ext cx="3200400" cy="384048"/>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2F9E41"/>
                </a:solidFill>
                <a:latin typeface="Open Sans"/>
              </a:rPr>
              <a:t>QP2  </a:t>
            </a:r>
            <a:r>
              <a:rPr sz="1900" b="1" i="0">
                <a:solidFill>
                  <a:srgbClr val="17201B"/>
                </a:solidFill>
                <a:latin typeface="Open Sans"/>
              </a:rPr>
              <a:t>Identidade</a:t>
            </a:r>
          </a:p>
        </p:txBody>
      </p:sp>
      <p:sp>
        <p:nvSpPr>
          <p:cNvPr id="36" name="TextBox 35"/>
          <p:cNvSpPr txBox="1"/>
          <p:nvPr/>
        </p:nvSpPr>
        <p:spPr>
          <a:xfrm>
            <a:off x="4517136" y="3657600"/>
            <a:ext cx="3200400" cy="60350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4A524D"/>
                </a:solidFill>
                <a:latin typeface="Open Sans"/>
              </a:rPr>
              <a:t>sobrevive além do que sobreviveria sem o termo de identidade?</a:t>
            </a:r>
          </a:p>
        </p:txBody>
      </p:sp>
      <p:sp>
        <p:nvSpPr>
          <p:cNvPr id="37" name="Rounded Rectangle 36"/>
          <p:cNvSpPr/>
          <p:nvPr/>
        </p:nvSpPr>
        <p:spPr>
          <a:xfrm>
            <a:off x="8028431" y="3172968"/>
            <a:ext cx="3611880" cy="1143000"/>
          </a:xfrm>
          <a:prstGeom prst="roundRect">
            <a:avLst>
              <a:gd name="adj" fmla="val 9600"/>
            </a:avLst>
          </a:prstGeom>
          <a:solidFill>
            <a:srgbClr val="F2F4F3"/>
          </a:solidFill>
          <a:ln>
            <a:noFill/>
          </a:ln>
        </p:spPr>
        <p:txBody>
          <a:bodyPr rtlCol="0" anchor="ctr"/>
          <a:lstStyle/>
          <a:p>
            <a:pPr algn="ctr"/>
          </a:p>
        </p:txBody>
      </p:sp>
      <p:sp>
        <p:nvSpPr>
          <p:cNvPr id="38" name="TextBox 37"/>
          <p:cNvSpPr txBox="1"/>
          <p:nvPr/>
        </p:nvSpPr>
        <p:spPr>
          <a:xfrm>
            <a:off x="8257031" y="3264408"/>
            <a:ext cx="3200400" cy="384048"/>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2F9E41"/>
                </a:solidFill>
                <a:latin typeface="Open Sans"/>
              </a:rPr>
              <a:t>QP3  </a:t>
            </a:r>
            <a:r>
              <a:rPr sz="1900" b="1" i="0">
                <a:solidFill>
                  <a:srgbClr val="17201B"/>
                </a:solidFill>
                <a:latin typeface="Open Sans"/>
              </a:rPr>
              <a:t>Compromisso</a:t>
            </a:r>
          </a:p>
        </p:txBody>
      </p:sp>
      <p:sp>
        <p:nvSpPr>
          <p:cNvPr id="39" name="TextBox 38"/>
          <p:cNvSpPr txBox="1"/>
          <p:nvPr/>
        </p:nvSpPr>
        <p:spPr>
          <a:xfrm>
            <a:off x="8257031" y="3657600"/>
            <a:ext cx="3200400" cy="60350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4A524D"/>
                </a:solidFill>
                <a:latin typeface="Open Sans"/>
              </a:rPr>
              <a:t>onde ficam o AG escalar, o NSGA-II e o híbrido?</a:t>
            </a:r>
          </a:p>
        </p:txBody>
      </p:sp>
      <p:sp>
        <p:nvSpPr>
          <p:cNvPr id="40" name="TextBox 39"/>
          <p:cNvSpPr txBox="1"/>
          <p:nvPr/>
        </p:nvSpPr>
        <p:spPr>
          <a:xfrm>
            <a:off x="548640" y="4480560"/>
            <a:ext cx="11091672" cy="292608"/>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2F9E41"/>
                </a:solidFill>
                <a:latin typeface="Open Sans"/>
              </a:rPr>
              <a:t>OBJETIVOS ESPECÍFICOS</a:t>
            </a:r>
          </a:p>
        </p:txBody>
      </p:sp>
      <p:sp>
        <p:nvSpPr>
          <p:cNvPr id="41" name="Rounded Rectangle 40"/>
          <p:cNvSpPr/>
          <p:nvPr/>
        </p:nvSpPr>
        <p:spPr>
          <a:xfrm>
            <a:off x="548640" y="4828032"/>
            <a:ext cx="2108606" cy="1271016"/>
          </a:xfrm>
          <a:prstGeom prst="roundRect">
            <a:avLst>
              <a:gd name="adj" fmla="val 8633"/>
            </a:avLst>
          </a:prstGeom>
          <a:solidFill>
            <a:srgbClr val="F2F4F3"/>
          </a:solidFill>
          <a:ln>
            <a:noFill/>
          </a:ln>
        </p:spPr>
        <p:txBody>
          <a:bodyPr rtlCol="0" anchor="ctr"/>
          <a:lstStyle/>
          <a:p>
            <a:pPr algn="ctr"/>
          </a:p>
        </p:txBody>
      </p:sp>
      <p:sp>
        <p:nvSpPr>
          <p:cNvPr id="42" name="TextBox 41"/>
          <p:cNvSpPr txBox="1"/>
          <p:nvPr/>
        </p:nvSpPr>
        <p:spPr>
          <a:xfrm>
            <a:off x="694944" y="4919472"/>
            <a:ext cx="1815998" cy="292608"/>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2F9E41"/>
                </a:solidFill>
                <a:latin typeface="Open Sans"/>
              </a:rPr>
              <a:t>1</a:t>
            </a:r>
          </a:p>
        </p:txBody>
      </p:sp>
      <p:sp>
        <p:nvSpPr>
          <p:cNvPr id="43" name="TextBox 42"/>
          <p:cNvSpPr txBox="1"/>
          <p:nvPr/>
        </p:nvSpPr>
        <p:spPr>
          <a:xfrm>
            <a:off x="694944" y="5230368"/>
            <a:ext cx="1815998" cy="804672"/>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7201B"/>
                </a:solidFill>
                <a:latin typeface="Open Sans"/>
              </a:rPr>
              <a:t>modelar 5 arquétipos como vetores de genes</a:t>
            </a:r>
          </a:p>
        </p:txBody>
      </p:sp>
      <p:sp>
        <p:nvSpPr>
          <p:cNvPr id="44" name="Rounded Rectangle 43"/>
          <p:cNvSpPr/>
          <p:nvPr/>
        </p:nvSpPr>
        <p:spPr>
          <a:xfrm>
            <a:off x="2794406" y="4828032"/>
            <a:ext cx="2108606" cy="1271016"/>
          </a:xfrm>
          <a:prstGeom prst="roundRect">
            <a:avLst>
              <a:gd name="adj" fmla="val 8633"/>
            </a:avLst>
          </a:prstGeom>
          <a:solidFill>
            <a:srgbClr val="F2F4F3"/>
          </a:solidFill>
          <a:ln>
            <a:noFill/>
          </a:ln>
        </p:spPr>
        <p:txBody>
          <a:bodyPr rtlCol="0" anchor="ctr"/>
          <a:lstStyle/>
          <a:p>
            <a:pPr algn="ctr"/>
          </a:p>
        </p:txBody>
      </p:sp>
      <p:sp>
        <p:nvSpPr>
          <p:cNvPr id="45" name="TextBox 44"/>
          <p:cNvSpPr txBox="1"/>
          <p:nvPr/>
        </p:nvSpPr>
        <p:spPr>
          <a:xfrm>
            <a:off x="2940710" y="4919472"/>
            <a:ext cx="1815998" cy="292608"/>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2F9E41"/>
                </a:solidFill>
                <a:latin typeface="Open Sans"/>
              </a:rPr>
              <a:t>2</a:t>
            </a:r>
          </a:p>
        </p:txBody>
      </p:sp>
      <p:sp>
        <p:nvSpPr>
          <p:cNvPr id="46" name="TextBox 45"/>
          <p:cNvSpPr txBox="1"/>
          <p:nvPr/>
        </p:nvSpPr>
        <p:spPr>
          <a:xfrm>
            <a:off x="2940710" y="5230368"/>
            <a:ext cx="1815998" cy="804672"/>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7201B"/>
                </a:solidFill>
                <a:latin typeface="Open Sans"/>
              </a:rPr>
              <a:t>um simulador em que cada gene pesa</a:t>
            </a:r>
          </a:p>
        </p:txBody>
      </p:sp>
      <p:sp>
        <p:nvSpPr>
          <p:cNvPr id="47" name="Rounded Rectangle 46"/>
          <p:cNvSpPr/>
          <p:nvPr/>
        </p:nvSpPr>
        <p:spPr>
          <a:xfrm>
            <a:off x="5040172" y="4828032"/>
            <a:ext cx="2108606" cy="1271016"/>
          </a:xfrm>
          <a:prstGeom prst="roundRect">
            <a:avLst>
              <a:gd name="adj" fmla="val 8633"/>
            </a:avLst>
          </a:prstGeom>
          <a:solidFill>
            <a:srgbClr val="F2F4F3"/>
          </a:solidFill>
          <a:ln>
            <a:noFill/>
          </a:ln>
        </p:spPr>
        <p:txBody>
          <a:bodyPr rtlCol="0" anchor="ctr"/>
          <a:lstStyle/>
          <a:p>
            <a:pPr algn="ctr"/>
          </a:p>
        </p:txBody>
      </p:sp>
      <p:sp>
        <p:nvSpPr>
          <p:cNvPr id="48" name="TextBox 47"/>
          <p:cNvSpPr txBox="1"/>
          <p:nvPr/>
        </p:nvSpPr>
        <p:spPr>
          <a:xfrm>
            <a:off x="5186476" y="4919472"/>
            <a:ext cx="1815998" cy="292608"/>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2F9E41"/>
                </a:solidFill>
                <a:latin typeface="Open Sans"/>
              </a:rPr>
              <a:t>3</a:t>
            </a:r>
          </a:p>
        </p:txBody>
      </p:sp>
      <p:sp>
        <p:nvSpPr>
          <p:cNvPr id="49" name="TextBox 48"/>
          <p:cNvSpPr txBox="1"/>
          <p:nvPr/>
        </p:nvSpPr>
        <p:spPr>
          <a:xfrm>
            <a:off x="5186476" y="5230368"/>
            <a:ext cx="1815998" cy="804672"/>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7201B"/>
                </a:solidFill>
                <a:latin typeface="Open Sans"/>
              </a:rPr>
              <a:t>uma aptidão que não codifica quem vence</a:t>
            </a:r>
          </a:p>
        </p:txBody>
      </p:sp>
      <p:sp>
        <p:nvSpPr>
          <p:cNvPr id="50" name="Rounded Rectangle 49"/>
          <p:cNvSpPr/>
          <p:nvPr/>
        </p:nvSpPr>
        <p:spPr>
          <a:xfrm>
            <a:off x="7285939" y="4828032"/>
            <a:ext cx="2108606" cy="1271016"/>
          </a:xfrm>
          <a:prstGeom prst="roundRect">
            <a:avLst>
              <a:gd name="adj" fmla="val 8633"/>
            </a:avLst>
          </a:prstGeom>
          <a:solidFill>
            <a:srgbClr val="F2F4F3"/>
          </a:solidFill>
          <a:ln>
            <a:noFill/>
          </a:ln>
        </p:spPr>
        <p:txBody>
          <a:bodyPr rtlCol="0" anchor="ctr"/>
          <a:lstStyle/>
          <a:p>
            <a:pPr algn="ctr"/>
          </a:p>
        </p:txBody>
      </p:sp>
      <p:sp>
        <p:nvSpPr>
          <p:cNvPr id="51" name="TextBox 50"/>
          <p:cNvSpPr txBox="1"/>
          <p:nvPr/>
        </p:nvSpPr>
        <p:spPr>
          <a:xfrm>
            <a:off x="7432243" y="4919472"/>
            <a:ext cx="1815998" cy="292608"/>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2F9E41"/>
                </a:solidFill>
                <a:latin typeface="Open Sans"/>
              </a:rPr>
              <a:t>4</a:t>
            </a:r>
          </a:p>
        </p:txBody>
      </p:sp>
      <p:sp>
        <p:nvSpPr>
          <p:cNvPr id="52" name="TextBox 51"/>
          <p:cNvSpPr txBox="1"/>
          <p:nvPr/>
        </p:nvSpPr>
        <p:spPr>
          <a:xfrm>
            <a:off x="7432243" y="5230368"/>
            <a:ext cx="1815998" cy="804672"/>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7201B"/>
                </a:solidFill>
                <a:latin typeface="Open Sans"/>
              </a:rPr>
              <a:t>AG escalar, NSGA-II e híbrido no mesmo orçamento</a:t>
            </a:r>
          </a:p>
        </p:txBody>
      </p:sp>
      <p:sp>
        <p:nvSpPr>
          <p:cNvPr id="53" name="Rounded Rectangle 52"/>
          <p:cNvSpPr/>
          <p:nvPr/>
        </p:nvSpPr>
        <p:spPr>
          <a:xfrm>
            <a:off x="9531705" y="4828032"/>
            <a:ext cx="2108606" cy="1271016"/>
          </a:xfrm>
          <a:prstGeom prst="roundRect">
            <a:avLst>
              <a:gd name="adj" fmla="val 8633"/>
            </a:avLst>
          </a:prstGeom>
          <a:solidFill>
            <a:srgbClr val="F2F4F3"/>
          </a:solidFill>
          <a:ln>
            <a:noFill/>
          </a:ln>
        </p:spPr>
        <p:txBody>
          <a:bodyPr rtlCol="0" anchor="ctr"/>
          <a:lstStyle/>
          <a:p>
            <a:pPr algn="ctr"/>
          </a:p>
        </p:txBody>
      </p:sp>
      <p:sp>
        <p:nvSpPr>
          <p:cNvPr id="54" name="TextBox 53"/>
          <p:cNvSpPr txBox="1"/>
          <p:nvPr/>
        </p:nvSpPr>
        <p:spPr>
          <a:xfrm>
            <a:off x="9678009" y="4919472"/>
            <a:ext cx="1815998" cy="292608"/>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2F9E41"/>
                </a:solidFill>
                <a:latin typeface="Open Sans"/>
              </a:rPr>
              <a:t>5</a:t>
            </a:r>
          </a:p>
        </p:txBody>
      </p:sp>
      <p:sp>
        <p:nvSpPr>
          <p:cNvPr id="55" name="TextBox 54"/>
          <p:cNvSpPr txBox="1"/>
          <p:nvPr/>
        </p:nvSpPr>
        <p:spPr>
          <a:xfrm>
            <a:off x="9678009" y="5230368"/>
            <a:ext cx="1815998" cy="804672"/>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7201B"/>
                </a:solidFill>
                <a:latin typeface="Open Sans"/>
              </a:rPr>
              <a:t>medir a identidade e validar o equilíbrio fora da busca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1" i="0">
                <a:solidFill>
                  <a:srgbClr val="FFFFFF"/>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Um simulador de luta em que cada gene muda o resultado</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10</a:t>
            </a:r>
          </a:p>
        </p:txBody>
      </p:sp>
      <p:sp>
        <p:nvSpPr>
          <p:cNvPr id="7" name="Rounded Rectangle 6"/>
          <p:cNvSpPr/>
          <p:nvPr/>
        </p:nvSpPr>
        <p:spPr>
          <a:xfrm>
            <a:off x="548640" y="1709928"/>
            <a:ext cx="6035040" cy="4389120"/>
          </a:xfrm>
          <a:prstGeom prst="roundRect">
            <a:avLst>
              <a:gd name="adj" fmla="val 2500"/>
            </a:avLst>
          </a:prstGeom>
          <a:solidFill>
            <a:srgbClr val="F2F4F3"/>
          </a:solidFill>
          <a:ln>
            <a:noFill/>
          </a:ln>
        </p:spPr>
        <p:txBody>
          <a:bodyPr rtlCol="0" anchor="ctr"/>
          <a:lstStyle/>
          <a:p>
            <a:pPr algn="ctr"/>
          </a:p>
        </p:txBody>
      </p:sp>
      <p:sp>
        <p:nvSpPr>
          <p:cNvPr id="8" name="TextBox 7"/>
          <p:cNvSpPr txBox="1"/>
          <p:nvPr/>
        </p:nvSpPr>
        <p:spPr>
          <a:xfrm>
            <a:off x="868680" y="1865376"/>
            <a:ext cx="457200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UMA LUTA</a:t>
            </a:r>
          </a:p>
        </p:txBody>
      </p:sp>
      <p:cxnSp>
        <p:nvCxnSpPr>
          <p:cNvPr id="9" name="Connector 8"/>
          <p:cNvCxnSpPr/>
          <p:nvPr/>
        </p:nvCxnSpPr>
        <p:spPr>
          <a:xfrm>
            <a:off x="914400" y="2761488"/>
            <a:ext cx="5303520" cy="0"/>
          </a:xfrm>
          <a:prstGeom prst="line">
            <a:avLst/>
          </a:prstGeom>
          <a:ln w="38100">
            <a:solidFill>
              <a:srgbClr val="AEB4B0"/>
            </a:solidFill>
          </a:ln>
        </p:spPr>
      </p:cxnSp>
      <p:sp>
        <p:nvSpPr>
          <p:cNvPr id="10" name="Oval 9"/>
          <p:cNvSpPr/>
          <p:nvPr/>
        </p:nvSpPr>
        <p:spPr>
          <a:xfrm>
            <a:off x="1828800" y="2286000"/>
            <a:ext cx="475488" cy="475488"/>
          </a:xfrm>
          <a:prstGeom prst="ellipse">
            <a:avLst/>
          </a:prstGeom>
          <a:solidFill>
            <a:srgbClr val="1F6E2E"/>
          </a:solidFill>
          <a:ln>
            <a:noFill/>
          </a:ln>
        </p:spPr>
        <p:txBody>
          <a:bodyPr rtlCol="0" anchor="ctr"/>
          <a:lstStyle/>
          <a:p>
            <a:pPr algn="ctr"/>
          </a:p>
        </p:txBody>
      </p:sp>
      <p:sp>
        <p:nvSpPr>
          <p:cNvPr id="11" name="Oval 10"/>
          <p:cNvSpPr/>
          <p:nvPr/>
        </p:nvSpPr>
        <p:spPr>
          <a:xfrm>
            <a:off x="4480560" y="2286000"/>
            <a:ext cx="475488" cy="475488"/>
          </a:xfrm>
          <a:prstGeom prst="ellipse">
            <a:avLst/>
          </a:prstGeom>
          <a:solidFill>
            <a:srgbClr val="CD191E"/>
          </a:solidFill>
          <a:ln>
            <a:noFill/>
          </a:ln>
        </p:spPr>
        <p:txBody>
          <a:bodyPr rtlCol="0" anchor="ctr"/>
          <a:lstStyle/>
          <a:p>
            <a:pPr algn="ctr"/>
          </a:p>
        </p:txBody>
      </p:sp>
      <p:cxnSp>
        <p:nvCxnSpPr>
          <p:cNvPr id="12" name="Connector 11"/>
          <p:cNvCxnSpPr/>
          <p:nvPr/>
        </p:nvCxnSpPr>
        <p:spPr>
          <a:xfrm>
            <a:off x="2377440" y="2523744"/>
            <a:ext cx="685800" cy="0"/>
          </a:xfrm>
          <a:prstGeom prst="line">
            <a:avLst/>
          </a:prstGeom>
          <a:ln w="25400">
            <a:solidFill>
              <a:srgbClr val="4A524D"/>
            </a:solidFill>
            <a:tailEnd type="triangle"/>
          </a:ln>
        </p:spPr>
      </p:cxnSp>
      <p:sp>
        <p:nvSpPr>
          <p:cNvPr id="13" name="TextBox 12"/>
          <p:cNvSpPr txBox="1"/>
          <p:nvPr/>
        </p:nvSpPr>
        <p:spPr>
          <a:xfrm>
            <a:off x="914400" y="2834639"/>
            <a:ext cx="530352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campo de uma dimensão; tick = 5 sub-ticks</a:t>
            </a:r>
          </a:p>
        </p:txBody>
      </p:sp>
      <p:sp>
        <p:nvSpPr>
          <p:cNvPr id="14" name="TextBox 13"/>
          <p:cNvSpPr txBox="1"/>
          <p:nvPr/>
        </p:nvSpPr>
        <p:spPr>
          <a:xfrm>
            <a:off x="868680" y="3236976"/>
            <a:ext cx="5486400" cy="384048"/>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Postura: </a:t>
            </a:r>
            <a:r>
              <a:rPr sz="1800" b="0" i="0">
                <a:solidFill>
                  <a:srgbClr val="17201B"/>
                </a:solidFill>
                <a:latin typeface="Open Sans"/>
              </a:rPr>
              <a:t>sorteada pelos pesos</a:t>
            </a:r>
          </a:p>
        </p:txBody>
      </p:sp>
      <p:sp>
        <p:nvSpPr>
          <p:cNvPr id="15" name="Rounded Rectangle 14"/>
          <p:cNvSpPr/>
          <p:nvPr/>
        </p:nvSpPr>
        <p:spPr>
          <a:xfrm>
            <a:off x="868680" y="3675888"/>
            <a:ext cx="1691640" cy="438912"/>
          </a:xfrm>
          <a:prstGeom prst="roundRect">
            <a:avLst>
              <a:gd name="adj" fmla="val 50000"/>
            </a:avLst>
          </a:prstGeom>
          <a:solidFill>
            <a:srgbClr val="17201B"/>
          </a:solidFill>
          <a:ln>
            <a:noFill/>
          </a:ln>
        </p:spPr>
        <p:txBody>
          <a:bodyPr rtlCol="0" anchor="ctr"/>
          <a:lstStyle/>
          <a:p>
            <a:pPr algn="ctr"/>
          </a:p>
        </p:txBody>
      </p:sp>
      <p:sp>
        <p:nvSpPr>
          <p:cNvPr id="16" name="TextBox 15"/>
          <p:cNvSpPr txBox="1"/>
          <p:nvPr/>
        </p:nvSpPr>
        <p:spPr>
          <a:xfrm>
            <a:off x="868680" y="3675888"/>
            <a:ext cx="1691640" cy="438912"/>
          </a:xfrm>
          <a:prstGeom prst="rect">
            <a:avLst/>
          </a:prstGeom>
          <a:noFill/>
        </p:spPr>
        <p:txBody>
          <a:bodyPr wrap="square" lIns="0" rIns="0" tIns="0" bIns="0" anchor="ctr">
            <a:noAutofit/>
          </a:bodyPr>
          <a:lstStyle/>
          <a:p>
            <a:pPr algn="ctr">
              <a:lnSpc>
                <a:spcPct val="100000"/>
              </a:lnSpc>
              <a:spcBef>
                <a:spcPts val="0"/>
              </a:spcBef>
              <a:spcAft>
                <a:spcPts val="0"/>
              </a:spcAft>
            </a:pPr>
            <a:r>
              <a:rPr sz="1600" b="1" i="0">
                <a:solidFill>
                  <a:srgbClr val="FFFFFF"/>
                </a:solidFill>
                <a:latin typeface="Open Sans"/>
              </a:rPr>
              <a:t>FRENTE</a:t>
            </a:r>
          </a:p>
        </p:txBody>
      </p:sp>
      <p:sp>
        <p:nvSpPr>
          <p:cNvPr id="17" name="Rounded Rectangle 16"/>
          <p:cNvSpPr/>
          <p:nvPr/>
        </p:nvSpPr>
        <p:spPr>
          <a:xfrm>
            <a:off x="2679191" y="3675888"/>
            <a:ext cx="1691640" cy="438912"/>
          </a:xfrm>
          <a:prstGeom prst="roundRect">
            <a:avLst>
              <a:gd name="adj" fmla="val 50000"/>
            </a:avLst>
          </a:prstGeom>
          <a:solidFill>
            <a:srgbClr val="17201B"/>
          </a:solidFill>
          <a:ln>
            <a:noFill/>
          </a:ln>
        </p:spPr>
        <p:txBody>
          <a:bodyPr rtlCol="0" anchor="ctr"/>
          <a:lstStyle/>
          <a:p>
            <a:pPr algn="ctr"/>
          </a:p>
        </p:txBody>
      </p:sp>
      <p:sp>
        <p:nvSpPr>
          <p:cNvPr id="18" name="TextBox 17"/>
          <p:cNvSpPr txBox="1"/>
          <p:nvPr/>
        </p:nvSpPr>
        <p:spPr>
          <a:xfrm>
            <a:off x="2679191" y="3675888"/>
            <a:ext cx="1691640" cy="438912"/>
          </a:xfrm>
          <a:prstGeom prst="rect">
            <a:avLst/>
          </a:prstGeom>
          <a:noFill/>
        </p:spPr>
        <p:txBody>
          <a:bodyPr wrap="square" lIns="0" rIns="0" tIns="0" bIns="0" anchor="ctr">
            <a:noAutofit/>
          </a:bodyPr>
          <a:lstStyle/>
          <a:p>
            <a:pPr algn="ctr">
              <a:lnSpc>
                <a:spcPct val="100000"/>
              </a:lnSpc>
              <a:spcBef>
                <a:spcPts val="0"/>
              </a:spcBef>
              <a:spcAft>
                <a:spcPts val="0"/>
              </a:spcAft>
            </a:pPr>
            <a:r>
              <a:rPr sz="1600" b="1" i="0">
                <a:solidFill>
                  <a:srgbClr val="FFFFFF"/>
                </a:solidFill>
                <a:latin typeface="Open Sans"/>
              </a:rPr>
              <a:t>RECUAR</a:t>
            </a:r>
          </a:p>
        </p:txBody>
      </p:sp>
      <p:sp>
        <p:nvSpPr>
          <p:cNvPr id="19" name="Rounded Rectangle 18"/>
          <p:cNvSpPr/>
          <p:nvPr/>
        </p:nvSpPr>
        <p:spPr>
          <a:xfrm>
            <a:off x="4489704" y="3675888"/>
            <a:ext cx="1691640" cy="438912"/>
          </a:xfrm>
          <a:prstGeom prst="roundRect">
            <a:avLst>
              <a:gd name="adj" fmla="val 50000"/>
            </a:avLst>
          </a:prstGeom>
          <a:solidFill>
            <a:srgbClr val="17201B"/>
          </a:solidFill>
          <a:ln>
            <a:noFill/>
          </a:ln>
        </p:spPr>
        <p:txBody>
          <a:bodyPr rtlCol="0" anchor="ctr"/>
          <a:lstStyle/>
          <a:p>
            <a:pPr algn="ctr"/>
          </a:p>
        </p:txBody>
      </p:sp>
      <p:sp>
        <p:nvSpPr>
          <p:cNvPr id="20" name="TextBox 19"/>
          <p:cNvSpPr txBox="1"/>
          <p:nvPr/>
        </p:nvSpPr>
        <p:spPr>
          <a:xfrm>
            <a:off x="4489704" y="3675888"/>
            <a:ext cx="1691640" cy="438912"/>
          </a:xfrm>
          <a:prstGeom prst="rect">
            <a:avLst/>
          </a:prstGeom>
          <a:noFill/>
        </p:spPr>
        <p:txBody>
          <a:bodyPr wrap="square" lIns="0" rIns="0" tIns="0" bIns="0" anchor="ctr">
            <a:noAutofit/>
          </a:bodyPr>
          <a:lstStyle/>
          <a:p>
            <a:pPr algn="ctr">
              <a:lnSpc>
                <a:spcPct val="100000"/>
              </a:lnSpc>
              <a:spcBef>
                <a:spcPts val="0"/>
              </a:spcBef>
              <a:spcAft>
                <a:spcPts val="0"/>
              </a:spcAft>
            </a:pPr>
            <a:r>
              <a:rPr sz="1600" b="1" i="0">
                <a:solidFill>
                  <a:srgbClr val="FFFFFF"/>
                </a:solidFill>
                <a:latin typeface="Open Sans"/>
              </a:rPr>
              <a:t>GUARDA</a:t>
            </a:r>
          </a:p>
        </p:txBody>
      </p:sp>
      <p:sp>
        <p:nvSpPr>
          <p:cNvPr id="21" name="TextBox 20"/>
          <p:cNvSpPr txBox="1"/>
          <p:nvPr/>
        </p:nvSpPr>
        <p:spPr>
          <a:xfrm>
            <a:off x="868680" y="4178808"/>
            <a:ext cx="5486400" cy="32918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4A524D"/>
                </a:solidFill>
                <a:latin typeface="Open Sans"/>
              </a:rPr>
              <a:t>mantida por 1 tick; a única fonte de aleatoriedade</a:t>
            </a:r>
          </a:p>
        </p:txBody>
      </p:sp>
      <p:sp>
        <p:nvSpPr>
          <p:cNvPr id="22" name="TextBox 21"/>
          <p:cNvSpPr txBox="1"/>
          <p:nvPr/>
        </p:nvSpPr>
        <p:spPr>
          <a:xfrm>
            <a:off x="868680" y="4681728"/>
            <a:ext cx="5486400" cy="384048"/>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Ataque: </a:t>
            </a:r>
            <a:r>
              <a:rPr sz="1800" b="0" i="0">
                <a:solidFill>
                  <a:srgbClr val="17201B"/>
                </a:solidFill>
                <a:latin typeface="Open Sans"/>
              </a:rPr>
              <a:t>uma regra</a:t>
            </a:r>
          </a:p>
        </p:txBody>
      </p:sp>
      <p:sp>
        <p:nvSpPr>
          <p:cNvPr id="23" name="TextBox 22"/>
          <p:cNvSpPr txBox="1"/>
          <p:nvPr/>
        </p:nvSpPr>
        <p:spPr>
          <a:xfrm>
            <a:off x="868680" y="5084064"/>
            <a:ext cx="5486400" cy="96012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4A524D"/>
                </a:solidFill>
                <a:latin typeface="Open Sans"/>
              </a:rPr>
              <a:t>sai quando a recarga terminou, o oponente está ao alcance e o personagem não guarda</a:t>
            </a:r>
          </a:p>
          <a:p>
            <a:pPr algn="l">
              <a:lnSpc>
                <a:spcPct val="100000"/>
              </a:lnSpc>
              <a:spcBef>
                <a:spcPts val="600"/>
              </a:spcBef>
              <a:spcAft>
                <a:spcPts val="0"/>
              </a:spcAft>
            </a:pPr>
            <a:r>
              <a:rPr sz="1600" b="1" i="0">
                <a:solidFill>
                  <a:srgbClr val="17201B"/>
                </a:solidFill>
                <a:latin typeface="Open Sans"/>
              </a:rPr>
              <a:t>Guarda: </a:t>
            </a:r>
            <a:r>
              <a:rPr sz="1600" b="0" i="0">
                <a:solidFill>
                  <a:srgbClr val="4A524D"/>
                </a:solidFill>
                <a:latin typeface="Open Sans"/>
              </a:rPr>
              <a:t>dano × 0,6; o agarrão a rompe</a:t>
            </a:r>
          </a:p>
        </p:txBody>
      </p:sp>
      <p:sp>
        <p:nvSpPr>
          <p:cNvPr id="24" name="Rounded Rectangle 23"/>
          <p:cNvSpPr/>
          <p:nvPr/>
        </p:nvSpPr>
        <p:spPr>
          <a:xfrm>
            <a:off x="6812280" y="1709928"/>
            <a:ext cx="4828032" cy="4389120"/>
          </a:xfrm>
          <a:prstGeom prst="roundRect">
            <a:avLst>
              <a:gd name="adj" fmla="val 2500"/>
            </a:avLst>
          </a:prstGeom>
          <a:solidFill>
            <a:srgbClr val="F2F4F3"/>
          </a:solidFill>
          <a:ln>
            <a:noFill/>
          </a:ln>
        </p:spPr>
        <p:txBody>
          <a:bodyPr rtlCol="0" anchor="ctr"/>
          <a:lstStyle/>
          <a:p>
            <a:pPr algn="ctr"/>
          </a:p>
        </p:txBody>
      </p:sp>
      <p:sp>
        <p:nvSpPr>
          <p:cNvPr id="25" name="TextBox 24"/>
          <p:cNvSpPr txBox="1"/>
          <p:nvPr/>
        </p:nvSpPr>
        <p:spPr>
          <a:xfrm>
            <a:off x="7104888" y="1865376"/>
            <a:ext cx="420624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UM INDIVÍDUO É UM ELENCO</a:t>
            </a:r>
          </a:p>
        </p:txBody>
      </p:sp>
      <p:sp>
        <p:nvSpPr>
          <p:cNvPr id="26" name="TextBox 25"/>
          <p:cNvSpPr txBox="1"/>
          <p:nvPr/>
        </p:nvSpPr>
        <p:spPr>
          <a:xfrm>
            <a:off x="7104888" y="2267712"/>
            <a:ext cx="132588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7201B"/>
                </a:solidFill>
                <a:latin typeface="Open Sans"/>
              </a:rPr>
              <a:t>Zoner</a:t>
            </a:r>
          </a:p>
        </p:txBody>
      </p:sp>
      <p:sp>
        <p:nvSpPr>
          <p:cNvPr id="27" name="TextBox 26"/>
          <p:cNvSpPr txBox="1"/>
          <p:nvPr/>
        </p:nvSpPr>
        <p:spPr>
          <a:xfrm>
            <a:off x="7104888" y="2596896"/>
            <a:ext cx="132588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7201B"/>
                </a:solidFill>
                <a:latin typeface="Open Sans"/>
              </a:rPr>
              <a:t>Rushdown</a:t>
            </a:r>
          </a:p>
        </p:txBody>
      </p:sp>
      <p:sp>
        <p:nvSpPr>
          <p:cNvPr id="28" name="TextBox 27"/>
          <p:cNvSpPr txBox="1"/>
          <p:nvPr/>
        </p:nvSpPr>
        <p:spPr>
          <a:xfrm>
            <a:off x="7104888" y="2926079"/>
            <a:ext cx="132588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7201B"/>
                </a:solidFill>
                <a:latin typeface="Open Sans"/>
              </a:rPr>
              <a:t>Combo M.</a:t>
            </a:r>
          </a:p>
        </p:txBody>
      </p:sp>
      <p:sp>
        <p:nvSpPr>
          <p:cNvPr id="29" name="TextBox 28"/>
          <p:cNvSpPr txBox="1"/>
          <p:nvPr/>
        </p:nvSpPr>
        <p:spPr>
          <a:xfrm>
            <a:off x="7104888" y="3255264"/>
            <a:ext cx="132588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7201B"/>
                </a:solidFill>
                <a:latin typeface="Open Sans"/>
              </a:rPr>
              <a:t>Grappler</a:t>
            </a:r>
          </a:p>
        </p:txBody>
      </p:sp>
      <p:sp>
        <p:nvSpPr>
          <p:cNvPr id="30" name="TextBox 29"/>
          <p:cNvSpPr txBox="1"/>
          <p:nvPr/>
        </p:nvSpPr>
        <p:spPr>
          <a:xfrm>
            <a:off x="7104888" y="3584447"/>
            <a:ext cx="132588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7201B"/>
                </a:solidFill>
                <a:latin typeface="Open Sans"/>
              </a:rPr>
              <a:t>Turtle</a:t>
            </a:r>
          </a:p>
        </p:txBody>
      </p:sp>
      <p:sp>
        <p:nvSpPr>
          <p:cNvPr id="31" name="Rounded Rectangle 30"/>
          <p:cNvSpPr/>
          <p:nvPr/>
        </p:nvSpPr>
        <p:spPr>
          <a:xfrm>
            <a:off x="8458200" y="2304288"/>
            <a:ext cx="228600" cy="228600"/>
          </a:xfrm>
          <a:prstGeom prst="roundRect">
            <a:avLst>
              <a:gd name="adj" fmla="val 22000"/>
            </a:avLst>
          </a:prstGeom>
          <a:solidFill>
            <a:srgbClr val="1F6E2E"/>
          </a:solidFill>
          <a:ln>
            <a:noFill/>
          </a:ln>
        </p:spPr>
        <p:txBody>
          <a:bodyPr rtlCol="0" anchor="ctr"/>
          <a:lstStyle/>
          <a:p>
            <a:pPr algn="ctr"/>
          </a:p>
        </p:txBody>
      </p:sp>
      <p:sp>
        <p:nvSpPr>
          <p:cNvPr id="32" name="Rounded Rectangle 31"/>
          <p:cNvSpPr/>
          <p:nvPr/>
        </p:nvSpPr>
        <p:spPr>
          <a:xfrm>
            <a:off x="8737092" y="2304288"/>
            <a:ext cx="228600" cy="228600"/>
          </a:xfrm>
          <a:prstGeom prst="roundRect">
            <a:avLst>
              <a:gd name="adj" fmla="val 22000"/>
            </a:avLst>
          </a:prstGeom>
          <a:solidFill>
            <a:srgbClr val="1F6E2E"/>
          </a:solidFill>
          <a:ln>
            <a:noFill/>
          </a:ln>
        </p:spPr>
        <p:txBody>
          <a:bodyPr rtlCol="0" anchor="ctr"/>
          <a:lstStyle/>
          <a:p>
            <a:pPr algn="ctr"/>
          </a:p>
        </p:txBody>
      </p:sp>
      <p:sp>
        <p:nvSpPr>
          <p:cNvPr id="33" name="Rounded Rectangle 32"/>
          <p:cNvSpPr/>
          <p:nvPr/>
        </p:nvSpPr>
        <p:spPr>
          <a:xfrm>
            <a:off x="9015984" y="2304288"/>
            <a:ext cx="228600" cy="228600"/>
          </a:xfrm>
          <a:prstGeom prst="roundRect">
            <a:avLst>
              <a:gd name="adj" fmla="val 22000"/>
            </a:avLst>
          </a:prstGeom>
          <a:solidFill>
            <a:srgbClr val="1F6E2E"/>
          </a:solidFill>
          <a:ln>
            <a:noFill/>
          </a:ln>
        </p:spPr>
        <p:txBody>
          <a:bodyPr rtlCol="0" anchor="ctr"/>
          <a:lstStyle/>
          <a:p>
            <a:pPr algn="ctr"/>
          </a:p>
        </p:txBody>
      </p:sp>
      <p:sp>
        <p:nvSpPr>
          <p:cNvPr id="34" name="Rounded Rectangle 33"/>
          <p:cNvSpPr/>
          <p:nvPr/>
        </p:nvSpPr>
        <p:spPr>
          <a:xfrm>
            <a:off x="9294876" y="2304288"/>
            <a:ext cx="228600" cy="228600"/>
          </a:xfrm>
          <a:prstGeom prst="roundRect">
            <a:avLst>
              <a:gd name="adj" fmla="val 22000"/>
            </a:avLst>
          </a:prstGeom>
          <a:solidFill>
            <a:srgbClr val="1F6E2E"/>
          </a:solidFill>
          <a:ln>
            <a:noFill/>
          </a:ln>
        </p:spPr>
        <p:txBody>
          <a:bodyPr rtlCol="0" anchor="ctr"/>
          <a:lstStyle/>
          <a:p>
            <a:pPr algn="ctr"/>
          </a:p>
        </p:txBody>
      </p:sp>
      <p:sp>
        <p:nvSpPr>
          <p:cNvPr id="35" name="Rounded Rectangle 34"/>
          <p:cNvSpPr/>
          <p:nvPr/>
        </p:nvSpPr>
        <p:spPr>
          <a:xfrm>
            <a:off x="9573768" y="2304288"/>
            <a:ext cx="228600" cy="228600"/>
          </a:xfrm>
          <a:prstGeom prst="roundRect">
            <a:avLst>
              <a:gd name="adj" fmla="val 22000"/>
            </a:avLst>
          </a:prstGeom>
          <a:solidFill>
            <a:srgbClr val="1F6E2E"/>
          </a:solidFill>
          <a:ln>
            <a:noFill/>
          </a:ln>
        </p:spPr>
        <p:txBody>
          <a:bodyPr rtlCol="0" anchor="ctr"/>
          <a:lstStyle/>
          <a:p>
            <a:pPr algn="ctr"/>
          </a:p>
        </p:txBody>
      </p:sp>
      <p:sp>
        <p:nvSpPr>
          <p:cNvPr id="36" name="Rounded Rectangle 35"/>
          <p:cNvSpPr/>
          <p:nvPr/>
        </p:nvSpPr>
        <p:spPr>
          <a:xfrm>
            <a:off x="9852660" y="2304288"/>
            <a:ext cx="228600" cy="228600"/>
          </a:xfrm>
          <a:prstGeom prst="roundRect">
            <a:avLst>
              <a:gd name="adj" fmla="val 22000"/>
            </a:avLst>
          </a:prstGeom>
          <a:solidFill>
            <a:srgbClr val="1F6E2E"/>
          </a:solidFill>
          <a:ln>
            <a:noFill/>
          </a:ln>
        </p:spPr>
        <p:txBody>
          <a:bodyPr rtlCol="0" anchor="ctr"/>
          <a:lstStyle/>
          <a:p>
            <a:pPr algn="ctr"/>
          </a:p>
        </p:txBody>
      </p:sp>
      <p:sp>
        <p:nvSpPr>
          <p:cNvPr id="37" name="Rounded Rectangle 36"/>
          <p:cNvSpPr/>
          <p:nvPr/>
        </p:nvSpPr>
        <p:spPr>
          <a:xfrm>
            <a:off x="10131552" y="2304288"/>
            <a:ext cx="228600" cy="228600"/>
          </a:xfrm>
          <a:prstGeom prst="roundRect">
            <a:avLst>
              <a:gd name="adj" fmla="val 22000"/>
            </a:avLst>
          </a:prstGeom>
          <a:solidFill>
            <a:srgbClr val="1F6E2E"/>
          </a:solidFill>
          <a:ln>
            <a:noFill/>
          </a:ln>
        </p:spPr>
        <p:txBody>
          <a:bodyPr rtlCol="0" anchor="ctr"/>
          <a:lstStyle/>
          <a:p>
            <a:pPr algn="ctr"/>
          </a:p>
        </p:txBody>
      </p:sp>
      <p:sp>
        <p:nvSpPr>
          <p:cNvPr id="38" name="Rounded Rectangle 37"/>
          <p:cNvSpPr/>
          <p:nvPr/>
        </p:nvSpPr>
        <p:spPr>
          <a:xfrm>
            <a:off x="10410444" y="2304288"/>
            <a:ext cx="228600" cy="228600"/>
          </a:xfrm>
          <a:prstGeom prst="roundRect">
            <a:avLst>
              <a:gd name="adj" fmla="val 22000"/>
            </a:avLst>
          </a:prstGeom>
          <a:solidFill>
            <a:srgbClr val="1F6E2E"/>
          </a:solidFill>
          <a:ln>
            <a:noFill/>
          </a:ln>
        </p:spPr>
        <p:txBody>
          <a:bodyPr rtlCol="0" anchor="ctr"/>
          <a:lstStyle/>
          <a:p>
            <a:pPr algn="ctr"/>
          </a:p>
        </p:txBody>
      </p:sp>
      <p:sp>
        <p:nvSpPr>
          <p:cNvPr id="39" name="Rounded Rectangle 38"/>
          <p:cNvSpPr/>
          <p:nvPr/>
        </p:nvSpPr>
        <p:spPr>
          <a:xfrm>
            <a:off x="10689336" y="2304288"/>
            <a:ext cx="228600" cy="228600"/>
          </a:xfrm>
          <a:prstGeom prst="roundRect">
            <a:avLst>
              <a:gd name="adj" fmla="val 22000"/>
            </a:avLst>
          </a:prstGeom>
          <a:solidFill>
            <a:srgbClr val="8FD19B"/>
          </a:solidFill>
          <a:ln>
            <a:noFill/>
          </a:ln>
        </p:spPr>
        <p:txBody>
          <a:bodyPr rtlCol="0" anchor="ctr"/>
          <a:lstStyle/>
          <a:p>
            <a:pPr algn="ctr"/>
          </a:p>
        </p:txBody>
      </p:sp>
      <p:sp>
        <p:nvSpPr>
          <p:cNvPr id="40" name="Rounded Rectangle 39"/>
          <p:cNvSpPr/>
          <p:nvPr/>
        </p:nvSpPr>
        <p:spPr>
          <a:xfrm>
            <a:off x="10968228" y="2304288"/>
            <a:ext cx="228600" cy="228600"/>
          </a:xfrm>
          <a:prstGeom prst="roundRect">
            <a:avLst>
              <a:gd name="adj" fmla="val 22000"/>
            </a:avLst>
          </a:prstGeom>
          <a:solidFill>
            <a:srgbClr val="8FD19B"/>
          </a:solidFill>
          <a:ln>
            <a:noFill/>
          </a:ln>
        </p:spPr>
        <p:txBody>
          <a:bodyPr rtlCol="0" anchor="ctr"/>
          <a:lstStyle/>
          <a:p>
            <a:pPr algn="ctr"/>
          </a:p>
        </p:txBody>
      </p:sp>
      <p:sp>
        <p:nvSpPr>
          <p:cNvPr id="41" name="Rounded Rectangle 40"/>
          <p:cNvSpPr/>
          <p:nvPr/>
        </p:nvSpPr>
        <p:spPr>
          <a:xfrm>
            <a:off x="11247120" y="2304288"/>
            <a:ext cx="228600" cy="228600"/>
          </a:xfrm>
          <a:prstGeom prst="roundRect">
            <a:avLst>
              <a:gd name="adj" fmla="val 22000"/>
            </a:avLst>
          </a:prstGeom>
          <a:solidFill>
            <a:srgbClr val="8FD19B"/>
          </a:solidFill>
          <a:ln>
            <a:noFill/>
          </a:ln>
        </p:spPr>
        <p:txBody>
          <a:bodyPr rtlCol="0" anchor="ctr"/>
          <a:lstStyle/>
          <a:p>
            <a:pPr algn="ctr"/>
          </a:p>
        </p:txBody>
      </p:sp>
      <p:sp>
        <p:nvSpPr>
          <p:cNvPr id="42" name="Rounded Rectangle 41"/>
          <p:cNvSpPr/>
          <p:nvPr/>
        </p:nvSpPr>
        <p:spPr>
          <a:xfrm>
            <a:off x="8458200" y="2633472"/>
            <a:ext cx="228600" cy="228600"/>
          </a:xfrm>
          <a:prstGeom prst="roundRect">
            <a:avLst>
              <a:gd name="adj" fmla="val 22000"/>
            </a:avLst>
          </a:prstGeom>
          <a:solidFill>
            <a:srgbClr val="1F6E2E"/>
          </a:solidFill>
          <a:ln>
            <a:noFill/>
          </a:ln>
        </p:spPr>
        <p:txBody>
          <a:bodyPr rtlCol="0" anchor="ctr"/>
          <a:lstStyle/>
          <a:p>
            <a:pPr algn="ctr"/>
          </a:p>
        </p:txBody>
      </p:sp>
      <p:sp>
        <p:nvSpPr>
          <p:cNvPr id="43" name="Rounded Rectangle 42"/>
          <p:cNvSpPr/>
          <p:nvPr/>
        </p:nvSpPr>
        <p:spPr>
          <a:xfrm>
            <a:off x="8737092" y="2633472"/>
            <a:ext cx="228600" cy="228600"/>
          </a:xfrm>
          <a:prstGeom prst="roundRect">
            <a:avLst>
              <a:gd name="adj" fmla="val 22000"/>
            </a:avLst>
          </a:prstGeom>
          <a:solidFill>
            <a:srgbClr val="1F6E2E"/>
          </a:solidFill>
          <a:ln>
            <a:noFill/>
          </a:ln>
        </p:spPr>
        <p:txBody>
          <a:bodyPr rtlCol="0" anchor="ctr"/>
          <a:lstStyle/>
          <a:p>
            <a:pPr algn="ctr"/>
          </a:p>
        </p:txBody>
      </p:sp>
      <p:sp>
        <p:nvSpPr>
          <p:cNvPr id="44" name="Rounded Rectangle 43"/>
          <p:cNvSpPr/>
          <p:nvPr/>
        </p:nvSpPr>
        <p:spPr>
          <a:xfrm>
            <a:off x="9015984" y="2633472"/>
            <a:ext cx="228600" cy="228600"/>
          </a:xfrm>
          <a:prstGeom prst="roundRect">
            <a:avLst>
              <a:gd name="adj" fmla="val 22000"/>
            </a:avLst>
          </a:prstGeom>
          <a:solidFill>
            <a:srgbClr val="1F6E2E"/>
          </a:solidFill>
          <a:ln>
            <a:noFill/>
          </a:ln>
        </p:spPr>
        <p:txBody>
          <a:bodyPr rtlCol="0" anchor="ctr"/>
          <a:lstStyle/>
          <a:p>
            <a:pPr algn="ctr"/>
          </a:p>
        </p:txBody>
      </p:sp>
      <p:sp>
        <p:nvSpPr>
          <p:cNvPr id="45" name="Rounded Rectangle 44"/>
          <p:cNvSpPr/>
          <p:nvPr/>
        </p:nvSpPr>
        <p:spPr>
          <a:xfrm>
            <a:off x="9294876" y="2633472"/>
            <a:ext cx="228600" cy="228600"/>
          </a:xfrm>
          <a:prstGeom prst="roundRect">
            <a:avLst>
              <a:gd name="adj" fmla="val 22000"/>
            </a:avLst>
          </a:prstGeom>
          <a:solidFill>
            <a:srgbClr val="1F6E2E"/>
          </a:solidFill>
          <a:ln>
            <a:noFill/>
          </a:ln>
        </p:spPr>
        <p:txBody>
          <a:bodyPr rtlCol="0" anchor="ctr"/>
          <a:lstStyle/>
          <a:p>
            <a:pPr algn="ctr"/>
          </a:p>
        </p:txBody>
      </p:sp>
      <p:sp>
        <p:nvSpPr>
          <p:cNvPr id="46" name="Rounded Rectangle 45"/>
          <p:cNvSpPr/>
          <p:nvPr/>
        </p:nvSpPr>
        <p:spPr>
          <a:xfrm>
            <a:off x="9573768" y="2633472"/>
            <a:ext cx="228600" cy="228600"/>
          </a:xfrm>
          <a:prstGeom prst="roundRect">
            <a:avLst>
              <a:gd name="adj" fmla="val 22000"/>
            </a:avLst>
          </a:prstGeom>
          <a:solidFill>
            <a:srgbClr val="1F6E2E"/>
          </a:solidFill>
          <a:ln>
            <a:noFill/>
          </a:ln>
        </p:spPr>
        <p:txBody>
          <a:bodyPr rtlCol="0" anchor="ctr"/>
          <a:lstStyle/>
          <a:p>
            <a:pPr algn="ctr"/>
          </a:p>
        </p:txBody>
      </p:sp>
      <p:sp>
        <p:nvSpPr>
          <p:cNvPr id="47" name="Rounded Rectangle 46"/>
          <p:cNvSpPr/>
          <p:nvPr/>
        </p:nvSpPr>
        <p:spPr>
          <a:xfrm>
            <a:off x="9852660" y="2633472"/>
            <a:ext cx="228600" cy="228600"/>
          </a:xfrm>
          <a:prstGeom prst="roundRect">
            <a:avLst>
              <a:gd name="adj" fmla="val 22000"/>
            </a:avLst>
          </a:prstGeom>
          <a:solidFill>
            <a:srgbClr val="1F6E2E"/>
          </a:solidFill>
          <a:ln>
            <a:noFill/>
          </a:ln>
        </p:spPr>
        <p:txBody>
          <a:bodyPr rtlCol="0" anchor="ctr"/>
          <a:lstStyle/>
          <a:p>
            <a:pPr algn="ctr"/>
          </a:p>
        </p:txBody>
      </p:sp>
      <p:sp>
        <p:nvSpPr>
          <p:cNvPr id="48" name="Rounded Rectangle 47"/>
          <p:cNvSpPr/>
          <p:nvPr/>
        </p:nvSpPr>
        <p:spPr>
          <a:xfrm>
            <a:off x="10131552" y="2633472"/>
            <a:ext cx="228600" cy="228600"/>
          </a:xfrm>
          <a:prstGeom prst="roundRect">
            <a:avLst>
              <a:gd name="adj" fmla="val 22000"/>
            </a:avLst>
          </a:prstGeom>
          <a:solidFill>
            <a:srgbClr val="1F6E2E"/>
          </a:solidFill>
          <a:ln>
            <a:noFill/>
          </a:ln>
        </p:spPr>
        <p:txBody>
          <a:bodyPr rtlCol="0" anchor="ctr"/>
          <a:lstStyle/>
          <a:p>
            <a:pPr algn="ctr"/>
          </a:p>
        </p:txBody>
      </p:sp>
      <p:sp>
        <p:nvSpPr>
          <p:cNvPr id="49" name="Rounded Rectangle 48"/>
          <p:cNvSpPr/>
          <p:nvPr/>
        </p:nvSpPr>
        <p:spPr>
          <a:xfrm>
            <a:off x="10410444" y="2633472"/>
            <a:ext cx="228600" cy="228600"/>
          </a:xfrm>
          <a:prstGeom prst="roundRect">
            <a:avLst>
              <a:gd name="adj" fmla="val 22000"/>
            </a:avLst>
          </a:prstGeom>
          <a:solidFill>
            <a:srgbClr val="1F6E2E"/>
          </a:solidFill>
          <a:ln>
            <a:noFill/>
          </a:ln>
        </p:spPr>
        <p:txBody>
          <a:bodyPr rtlCol="0" anchor="ctr"/>
          <a:lstStyle/>
          <a:p>
            <a:pPr algn="ctr"/>
          </a:p>
        </p:txBody>
      </p:sp>
      <p:sp>
        <p:nvSpPr>
          <p:cNvPr id="50" name="Rounded Rectangle 49"/>
          <p:cNvSpPr/>
          <p:nvPr/>
        </p:nvSpPr>
        <p:spPr>
          <a:xfrm>
            <a:off x="10689336" y="2633472"/>
            <a:ext cx="228600" cy="228600"/>
          </a:xfrm>
          <a:prstGeom prst="roundRect">
            <a:avLst>
              <a:gd name="adj" fmla="val 22000"/>
            </a:avLst>
          </a:prstGeom>
          <a:solidFill>
            <a:srgbClr val="8FD19B"/>
          </a:solidFill>
          <a:ln>
            <a:noFill/>
          </a:ln>
        </p:spPr>
        <p:txBody>
          <a:bodyPr rtlCol="0" anchor="ctr"/>
          <a:lstStyle/>
          <a:p>
            <a:pPr algn="ctr"/>
          </a:p>
        </p:txBody>
      </p:sp>
      <p:sp>
        <p:nvSpPr>
          <p:cNvPr id="51" name="Rounded Rectangle 50"/>
          <p:cNvSpPr/>
          <p:nvPr/>
        </p:nvSpPr>
        <p:spPr>
          <a:xfrm>
            <a:off x="10968228" y="2633472"/>
            <a:ext cx="228600" cy="228600"/>
          </a:xfrm>
          <a:prstGeom prst="roundRect">
            <a:avLst>
              <a:gd name="adj" fmla="val 22000"/>
            </a:avLst>
          </a:prstGeom>
          <a:solidFill>
            <a:srgbClr val="8FD19B"/>
          </a:solidFill>
          <a:ln>
            <a:noFill/>
          </a:ln>
        </p:spPr>
        <p:txBody>
          <a:bodyPr rtlCol="0" anchor="ctr"/>
          <a:lstStyle/>
          <a:p>
            <a:pPr algn="ctr"/>
          </a:p>
        </p:txBody>
      </p:sp>
      <p:sp>
        <p:nvSpPr>
          <p:cNvPr id="52" name="Rounded Rectangle 51"/>
          <p:cNvSpPr/>
          <p:nvPr/>
        </p:nvSpPr>
        <p:spPr>
          <a:xfrm>
            <a:off x="11247120" y="2633472"/>
            <a:ext cx="228600" cy="228600"/>
          </a:xfrm>
          <a:prstGeom prst="roundRect">
            <a:avLst>
              <a:gd name="adj" fmla="val 22000"/>
            </a:avLst>
          </a:prstGeom>
          <a:solidFill>
            <a:srgbClr val="8FD19B"/>
          </a:solidFill>
          <a:ln>
            <a:noFill/>
          </a:ln>
        </p:spPr>
        <p:txBody>
          <a:bodyPr rtlCol="0" anchor="ctr"/>
          <a:lstStyle/>
          <a:p>
            <a:pPr algn="ctr"/>
          </a:p>
        </p:txBody>
      </p:sp>
      <p:sp>
        <p:nvSpPr>
          <p:cNvPr id="53" name="Rounded Rectangle 52"/>
          <p:cNvSpPr/>
          <p:nvPr/>
        </p:nvSpPr>
        <p:spPr>
          <a:xfrm>
            <a:off x="8458200" y="2962656"/>
            <a:ext cx="228600" cy="228600"/>
          </a:xfrm>
          <a:prstGeom prst="roundRect">
            <a:avLst>
              <a:gd name="adj" fmla="val 22000"/>
            </a:avLst>
          </a:prstGeom>
          <a:solidFill>
            <a:srgbClr val="1F6E2E"/>
          </a:solidFill>
          <a:ln>
            <a:noFill/>
          </a:ln>
        </p:spPr>
        <p:txBody>
          <a:bodyPr rtlCol="0" anchor="ctr"/>
          <a:lstStyle/>
          <a:p>
            <a:pPr algn="ctr"/>
          </a:p>
        </p:txBody>
      </p:sp>
      <p:sp>
        <p:nvSpPr>
          <p:cNvPr id="54" name="Rounded Rectangle 53"/>
          <p:cNvSpPr/>
          <p:nvPr/>
        </p:nvSpPr>
        <p:spPr>
          <a:xfrm>
            <a:off x="8737092" y="2962656"/>
            <a:ext cx="228600" cy="228600"/>
          </a:xfrm>
          <a:prstGeom prst="roundRect">
            <a:avLst>
              <a:gd name="adj" fmla="val 22000"/>
            </a:avLst>
          </a:prstGeom>
          <a:solidFill>
            <a:srgbClr val="1F6E2E"/>
          </a:solidFill>
          <a:ln>
            <a:noFill/>
          </a:ln>
        </p:spPr>
        <p:txBody>
          <a:bodyPr rtlCol="0" anchor="ctr"/>
          <a:lstStyle/>
          <a:p>
            <a:pPr algn="ctr"/>
          </a:p>
        </p:txBody>
      </p:sp>
      <p:sp>
        <p:nvSpPr>
          <p:cNvPr id="55" name="Rounded Rectangle 54"/>
          <p:cNvSpPr/>
          <p:nvPr/>
        </p:nvSpPr>
        <p:spPr>
          <a:xfrm>
            <a:off x="9015984" y="2962656"/>
            <a:ext cx="228600" cy="228600"/>
          </a:xfrm>
          <a:prstGeom prst="roundRect">
            <a:avLst>
              <a:gd name="adj" fmla="val 22000"/>
            </a:avLst>
          </a:prstGeom>
          <a:solidFill>
            <a:srgbClr val="1F6E2E"/>
          </a:solidFill>
          <a:ln>
            <a:noFill/>
          </a:ln>
        </p:spPr>
        <p:txBody>
          <a:bodyPr rtlCol="0" anchor="ctr"/>
          <a:lstStyle/>
          <a:p>
            <a:pPr algn="ctr"/>
          </a:p>
        </p:txBody>
      </p:sp>
      <p:sp>
        <p:nvSpPr>
          <p:cNvPr id="56" name="Rounded Rectangle 55"/>
          <p:cNvSpPr/>
          <p:nvPr/>
        </p:nvSpPr>
        <p:spPr>
          <a:xfrm>
            <a:off x="9294876" y="2962656"/>
            <a:ext cx="228600" cy="228600"/>
          </a:xfrm>
          <a:prstGeom prst="roundRect">
            <a:avLst>
              <a:gd name="adj" fmla="val 22000"/>
            </a:avLst>
          </a:prstGeom>
          <a:solidFill>
            <a:srgbClr val="1F6E2E"/>
          </a:solidFill>
          <a:ln>
            <a:noFill/>
          </a:ln>
        </p:spPr>
        <p:txBody>
          <a:bodyPr rtlCol="0" anchor="ctr"/>
          <a:lstStyle/>
          <a:p>
            <a:pPr algn="ctr"/>
          </a:p>
        </p:txBody>
      </p:sp>
      <p:sp>
        <p:nvSpPr>
          <p:cNvPr id="57" name="Rounded Rectangle 56"/>
          <p:cNvSpPr/>
          <p:nvPr/>
        </p:nvSpPr>
        <p:spPr>
          <a:xfrm>
            <a:off x="9573768" y="2962656"/>
            <a:ext cx="228600" cy="228600"/>
          </a:xfrm>
          <a:prstGeom prst="roundRect">
            <a:avLst>
              <a:gd name="adj" fmla="val 22000"/>
            </a:avLst>
          </a:prstGeom>
          <a:solidFill>
            <a:srgbClr val="1F6E2E"/>
          </a:solidFill>
          <a:ln>
            <a:noFill/>
          </a:ln>
        </p:spPr>
        <p:txBody>
          <a:bodyPr rtlCol="0" anchor="ctr"/>
          <a:lstStyle/>
          <a:p>
            <a:pPr algn="ctr"/>
          </a:p>
        </p:txBody>
      </p:sp>
      <p:sp>
        <p:nvSpPr>
          <p:cNvPr id="58" name="Rounded Rectangle 57"/>
          <p:cNvSpPr/>
          <p:nvPr/>
        </p:nvSpPr>
        <p:spPr>
          <a:xfrm>
            <a:off x="9852660" y="2962656"/>
            <a:ext cx="228600" cy="228600"/>
          </a:xfrm>
          <a:prstGeom prst="roundRect">
            <a:avLst>
              <a:gd name="adj" fmla="val 22000"/>
            </a:avLst>
          </a:prstGeom>
          <a:solidFill>
            <a:srgbClr val="1F6E2E"/>
          </a:solidFill>
          <a:ln>
            <a:noFill/>
          </a:ln>
        </p:spPr>
        <p:txBody>
          <a:bodyPr rtlCol="0" anchor="ctr"/>
          <a:lstStyle/>
          <a:p>
            <a:pPr algn="ctr"/>
          </a:p>
        </p:txBody>
      </p:sp>
      <p:sp>
        <p:nvSpPr>
          <p:cNvPr id="59" name="Rounded Rectangle 58"/>
          <p:cNvSpPr/>
          <p:nvPr/>
        </p:nvSpPr>
        <p:spPr>
          <a:xfrm>
            <a:off x="10131552" y="2962656"/>
            <a:ext cx="228600" cy="228600"/>
          </a:xfrm>
          <a:prstGeom prst="roundRect">
            <a:avLst>
              <a:gd name="adj" fmla="val 22000"/>
            </a:avLst>
          </a:prstGeom>
          <a:solidFill>
            <a:srgbClr val="1F6E2E"/>
          </a:solidFill>
          <a:ln>
            <a:noFill/>
          </a:ln>
        </p:spPr>
        <p:txBody>
          <a:bodyPr rtlCol="0" anchor="ctr"/>
          <a:lstStyle/>
          <a:p>
            <a:pPr algn="ctr"/>
          </a:p>
        </p:txBody>
      </p:sp>
      <p:sp>
        <p:nvSpPr>
          <p:cNvPr id="60" name="Rounded Rectangle 59"/>
          <p:cNvSpPr/>
          <p:nvPr/>
        </p:nvSpPr>
        <p:spPr>
          <a:xfrm>
            <a:off x="10410444" y="2962656"/>
            <a:ext cx="228600" cy="228600"/>
          </a:xfrm>
          <a:prstGeom prst="roundRect">
            <a:avLst>
              <a:gd name="adj" fmla="val 22000"/>
            </a:avLst>
          </a:prstGeom>
          <a:solidFill>
            <a:srgbClr val="1F6E2E"/>
          </a:solidFill>
          <a:ln>
            <a:noFill/>
          </a:ln>
        </p:spPr>
        <p:txBody>
          <a:bodyPr rtlCol="0" anchor="ctr"/>
          <a:lstStyle/>
          <a:p>
            <a:pPr algn="ctr"/>
          </a:p>
        </p:txBody>
      </p:sp>
      <p:sp>
        <p:nvSpPr>
          <p:cNvPr id="61" name="Rounded Rectangle 60"/>
          <p:cNvSpPr/>
          <p:nvPr/>
        </p:nvSpPr>
        <p:spPr>
          <a:xfrm>
            <a:off x="10689336" y="2962656"/>
            <a:ext cx="228600" cy="228600"/>
          </a:xfrm>
          <a:prstGeom prst="roundRect">
            <a:avLst>
              <a:gd name="adj" fmla="val 22000"/>
            </a:avLst>
          </a:prstGeom>
          <a:solidFill>
            <a:srgbClr val="8FD19B"/>
          </a:solidFill>
          <a:ln>
            <a:noFill/>
          </a:ln>
        </p:spPr>
        <p:txBody>
          <a:bodyPr rtlCol="0" anchor="ctr"/>
          <a:lstStyle/>
          <a:p>
            <a:pPr algn="ctr"/>
          </a:p>
        </p:txBody>
      </p:sp>
      <p:sp>
        <p:nvSpPr>
          <p:cNvPr id="62" name="Rounded Rectangle 61"/>
          <p:cNvSpPr/>
          <p:nvPr/>
        </p:nvSpPr>
        <p:spPr>
          <a:xfrm>
            <a:off x="10968228" y="2962656"/>
            <a:ext cx="228600" cy="228600"/>
          </a:xfrm>
          <a:prstGeom prst="roundRect">
            <a:avLst>
              <a:gd name="adj" fmla="val 22000"/>
            </a:avLst>
          </a:prstGeom>
          <a:solidFill>
            <a:srgbClr val="8FD19B"/>
          </a:solidFill>
          <a:ln>
            <a:noFill/>
          </a:ln>
        </p:spPr>
        <p:txBody>
          <a:bodyPr rtlCol="0" anchor="ctr"/>
          <a:lstStyle/>
          <a:p>
            <a:pPr algn="ctr"/>
          </a:p>
        </p:txBody>
      </p:sp>
      <p:sp>
        <p:nvSpPr>
          <p:cNvPr id="63" name="Rounded Rectangle 62"/>
          <p:cNvSpPr/>
          <p:nvPr/>
        </p:nvSpPr>
        <p:spPr>
          <a:xfrm>
            <a:off x="11247120" y="2962656"/>
            <a:ext cx="228600" cy="228600"/>
          </a:xfrm>
          <a:prstGeom prst="roundRect">
            <a:avLst>
              <a:gd name="adj" fmla="val 22000"/>
            </a:avLst>
          </a:prstGeom>
          <a:solidFill>
            <a:srgbClr val="8FD19B"/>
          </a:solidFill>
          <a:ln>
            <a:noFill/>
          </a:ln>
        </p:spPr>
        <p:txBody>
          <a:bodyPr rtlCol="0" anchor="ctr"/>
          <a:lstStyle/>
          <a:p>
            <a:pPr algn="ctr"/>
          </a:p>
        </p:txBody>
      </p:sp>
      <p:sp>
        <p:nvSpPr>
          <p:cNvPr id="64" name="Rounded Rectangle 63"/>
          <p:cNvSpPr/>
          <p:nvPr/>
        </p:nvSpPr>
        <p:spPr>
          <a:xfrm>
            <a:off x="8458200" y="3291840"/>
            <a:ext cx="228600" cy="228600"/>
          </a:xfrm>
          <a:prstGeom prst="roundRect">
            <a:avLst>
              <a:gd name="adj" fmla="val 22000"/>
            </a:avLst>
          </a:prstGeom>
          <a:solidFill>
            <a:srgbClr val="1F6E2E"/>
          </a:solidFill>
          <a:ln>
            <a:noFill/>
          </a:ln>
        </p:spPr>
        <p:txBody>
          <a:bodyPr rtlCol="0" anchor="ctr"/>
          <a:lstStyle/>
          <a:p>
            <a:pPr algn="ctr"/>
          </a:p>
        </p:txBody>
      </p:sp>
      <p:sp>
        <p:nvSpPr>
          <p:cNvPr id="65" name="Rounded Rectangle 64"/>
          <p:cNvSpPr/>
          <p:nvPr/>
        </p:nvSpPr>
        <p:spPr>
          <a:xfrm>
            <a:off x="8737092" y="3291840"/>
            <a:ext cx="228600" cy="228600"/>
          </a:xfrm>
          <a:prstGeom prst="roundRect">
            <a:avLst>
              <a:gd name="adj" fmla="val 22000"/>
            </a:avLst>
          </a:prstGeom>
          <a:solidFill>
            <a:srgbClr val="1F6E2E"/>
          </a:solidFill>
          <a:ln>
            <a:noFill/>
          </a:ln>
        </p:spPr>
        <p:txBody>
          <a:bodyPr rtlCol="0" anchor="ctr"/>
          <a:lstStyle/>
          <a:p>
            <a:pPr algn="ctr"/>
          </a:p>
        </p:txBody>
      </p:sp>
      <p:sp>
        <p:nvSpPr>
          <p:cNvPr id="66" name="Rounded Rectangle 65"/>
          <p:cNvSpPr/>
          <p:nvPr/>
        </p:nvSpPr>
        <p:spPr>
          <a:xfrm>
            <a:off x="9015984" y="3291840"/>
            <a:ext cx="228600" cy="228600"/>
          </a:xfrm>
          <a:prstGeom prst="roundRect">
            <a:avLst>
              <a:gd name="adj" fmla="val 22000"/>
            </a:avLst>
          </a:prstGeom>
          <a:solidFill>
            <a:srgbClr val="1F6E2E"/>
          </a:solidFill>
          <a:ln>
            <a:noFill/>
          </a:ln>
        </p:spPr>
        <p:txBody>
          <a:bodyPr rtlCol="0" anchor="ctr"/>
          <a:lstStyle/>
          <a:p>
            <a:pPr algn="ctr"/>
          </a:p>
        </p:txBody>
      </p:sp>
      <p:sp>
        <p:nvSpPr>
          <p:cNvPr id="67" name="Rounded Rectangle 66"/>
          <p:cNvSpPr/>
          <p:nvPr/>
        </p:nvSpPr>
        <p:spPr>
          <a:xfrm>
            <a:off x="9294876" y="3291840"/>
            <a:ext cx="228600" cy="228600"/>
          </a:xfrm>
          <a:prstGeom prst="roundRect">
            <a:avLst>
              <a:gd name="adj" fmla="val 22000"/>
            </a:avLst>
          </a:prstGeom>
          <a:solidFill>
            <a:srgbClr val="1F6E2E"/>
          </a:solidFill>
          <a:ln>
            <a:noFill/>
          </a:ln>
        </p:spPr>
        <p:txBody>
          <a:bodyPr rtlCol="0" anchor="ctr"/>
          <a:lstStyle/>
          <a:p>
            <a:pPr algn="ctr"/>
          </a:p>
        </p:txBody>
      </p:sp>
      <p:sp>
        <p:nvSpPr>
          <p:cNvPr id="68" name="Rounded Rectangle 67"/>
          <p:cNvSpPr/>
          <p:nvPr/>
        </p:nvSpPr>
        <p:spPr>
          <a:xfrm>
            <a:off x="9573768" y="3291840"/>
            <a:ext cx="228600" cy="228600"/>
          </a:xfrm>
          <a:prstGeom prst="roundRect">
            <a:avLst>
              <a:gd name="adj" fmla="val 22000"/>
            </a:avLst>
          </a:prstGeom>
          <a:solidFill>
            <a:srgbClr val="1F6E2E"/>
          </a:solidFill>
          <a:ln>
            <a:noFill/>
          </a:ln>
        </p:spPr>
        <p:txBody>
          <a:bodyPr rtlCol="0" anchor="ctr"/>
          <a:lstStyle/>
          <a:p>
            <a:pPr algn="ctr"/>
          </a:p>
        </p:txBody>
      </p:sp>
      <p:sp>
        <p:nvSpPr>
          <p:cNvPr id="69" name="Rounded Rectangle 68"/>
          <p:cNvSpPr/>
          <p:nvPr/>
        </p:nvSpPr>
        <p:spPr>
          <a:xfrm>
            <a:off x="9852660" y="3291840"/>
            <a:ext cx="228600" cy="228600"/>
          </a:xfrm>
          <a:prstGeom prst="roundRect">
            <a:avLst>
              <a:gd name="adj" fmla="val 22000"/>
            </a:avLst>
          </a:prstGeom>
          <a:solidFill>
            <a:srgbClr val="1F6E2E"/>
          </a:solidFill>
          <a:ln>
            <a:noFill/>
          </a:ln>
        </p:spPr>
        <p:txBody>
          <a:bodyPr rtlCol="0" anchor="ctr"/>
          <a:lstStyle/>
          <a:p>
            <a:pPr algn="ctr"/>
          </a:p>
        </p:txBody>
      </p:sp>
      <p:sp>
        <p:nvSpPr>
          <p:cNvPr id="70" name="Rounded Rectangle 69"/>
          <p:cNvSpPr/>
          <p:nvPr/>
        </p:nvSpPr>
        <p:spPr>
          <a:xfrm>
            <a:off x="10131552" y="3291840"/>
            <a:ext cx="228600" cy="228600"/>
          </a:xfrm>
          <a:prstGeom prst="roundRect">
            <a:avLst>
              <a:gd name="adj" fmla="val 22000"/>
            </a:avLst>
          </a:prstGeom>
          <a:solidFill>
            <a:srgbClr val="1F6E2E"/>
          </a:solidFill>
          <a:ln>
            <a:noFill/>
          </a:ln>
        </p:spPr>
        <p:txBody>
          <a:bodyPr rtlCol="0" anchor="ctr"/>
          <a:lstStyle/>
          <a:p>
            <a:pPr algn="ctr"/>
          </a:p>
        </p:txBody>
      </p:sp>
      <p:sp>
        <p:nvSpPr>
          <p:cNvPr id="71" name="Rounded Rectangle 70"/>
          <p:cNvSpPr/>
          <p:nvPr/>
        </p:nvSpPr>
        <p:spPr>
          <a:xfrm>
            <a:off x="10410444" y="3291840"/>
            <a:ext cx="228600" cy="228600"/>
          </a:xfrm>
          <a:prstGeom prst="roundRect">
            <a:avLst>
              <a:gd name="adj" fmla="val 22000"/>
            </a:avLst>
          </a:prstGeom>
          <a:solidFill>
            <a:srgbClr val="1F6E2E"/>
          </a:solidFill>
          <a:ln>
            <a:noFill/>
          </a:ln>
        </p:spPr>
        <p:txBody>
          <a:bodyPr rtlCol="0" anchor="ctr"/>
          <a:lstStyle/>
          <a:p>
            <a:pPr algn="ctr"/>
          </a:p>
        </p:txBody>
      </p:sp>
      <p:sp>
        <p:nvSpPr>
          <p:cNvPr id="72" name="Rounded Rectangle 71"/>
          <p:cNvSpPr/>
          <p:nvPr/>
        </p:nvSpPr>
        <p:spPr>
          <a:xfrm>
            <a:off x="10689336" y="3291840"/>
            <a:ext cx="228600" cy="228600"/>
          </a:xfrm>
          <a:prstGeom prst="roundRect">
            <a:avLst>
              <a:gd name="adj" fmla="val 22000"/>
            </a:avLst>
          </a:prstGeom>
          <a:solidFill>
            <a:srgbClr val="8FD19B"/>
          </a:solidFill>
          <a:ln>
            <a:noFill/>
          </a:ln>
        </p:spPr>
        <p:txBody>
          <a:bodyPr rtlCol="0" anchor="ctr"/>
          <a:lstStyle/>
          <a:p>
            <a:pPr algn="ctr"/>
          </a:p>
        </p:txBody>
      </p:sp>
      <p:sp>
        <p:nvSpPr>
          <p:cNvPr id="73" name="Rounded Rectangle 72"/>
          <p:cNvSpPr/>
          <p:nvPr/>
        </p:nvSpPr>
        <p:spPr>
          <a:xfrm>
            <a:off x="10968228" y="3291840"/>
            <a:ext cx="228600" cy="228600"/>
          </a:xfrm>
          <a:prstGeom prst="roundRect">
            <a:avLst>
              <a:gd name="adj" fmla="val 22000"/>
            </a:avLst>
          </a:prstGeom>
          <a:solidFill>
            <a:srgbClr val="8FD19B"/>
          </a:solidFill>
          <a:ln>
            <a:noFill/>
          </a:ln>
        </p:spPr>
        <p:txBody>
          <a:bodyPr rtlCol="0" anchor="ctr"/>
          <a:lstStyle/>
          <a:p>
            <a:pPr algn="ctr"/>
          </a:p>
        </p:txBody>
      </p:sp>
      <p:sp>
        <p:nvSpPr>
          <p:cNvPr id="74" name="Rounded Rectangle 73"/>
          <p:cNvSpPr/>
          <p:nvPr/>
        </p:nvSpPr>
        <p:spPr>
          <a:xfrm>
            <a:off x="11247120" y="3291840"/>
            <a:ext cx="228600" cy="228600"/>
          </a:xfrm>
          <a:prstGeom prst="roundRect">
            <a:avLst>
              <a:gd name="adj" fmla="val 22000"/>
            </a:avLst>
          </a:prstGeom>
          <a:solidFill>
            <a:srgbClr val="8FD19B"/>
          </a:solidFill>
          <a:ln>
            <a:noFill/>
          </a:ln>
        </p:spPr>
        <p:txBody>
          <a:bodyPr rtlCol="0" anchor="ctr"/>
          <a:lstStyle/>
          <a:p>
            <a:pPr algn="ctr"/>
          </a:p>
        </p:txBody>
      </p:sp>
      <p:sp>
        <p:nvSpPr>
          <p:cNvPr id="75" name="Rounded Rectangle 74"/>
          <p:cNvSpPr/>
          <p:nvPr/>
        </p:nvSpPr>
        <p:spPr>
          <a:xfrm>
            <a:off x="8458200" y="3621024"/>
            <a:ext cx="228600" cy="228600"/>
          </a:xfrm>
          <a:prstGeom prst="roundRect">
            <a:avLst>
              <a:gd name="adj" fmla="val 22000"/>
            </a:avLst>
          </a:prstGeom>
          <a:solidFill>
            <a:srgbClr val="1F6E2E"/>
          </a:solidFill>
          <a:ln>
            <a:noFill/>
          </a:ln>
        </p:spPr>
        <p:txBody>
          <a:bodyPr rtlCol="0" anchor="ctr"/>
          <a:lstStyle/>
          <a:p>
            <a:pPr algn="ctr"/>
          </a:p>
        </p:txBody>
      </p:sp>
      <p:sp>
        <p:nvSpPr>
          <p:cNvPr id="76" name="Rounded Rectangle 75"/>
          <p:cNvSpPr/>
          <p:nvPr/>
        </p:nvSpPr>
        <p:spPr>
          <a:xfrm>
            <a:off x="8737092" y="3621024"/>
            <a:ext cx="228600" cy="228600"/>
          </a:xfrm>
          <a:prstGeom prst="roundRect">
            <a:avLst>
              <a:gd name="adj" fmla="val 22000"/>
            </a:avLst>
          </a:prstGeom>
          <a:solidFill>
            <a:srgbClr val="1F6E2E"/>
          </a:solidFill>
          <a:ln>
            <a:noFill/>
          </a:ln>
        </p:spPr>
        <p:txBody>
          <a:bodyPr rtlCol="0" anchor="ctr"/>
          <a:lstStyle/>
          <a:p>
            <a:pPr algn="ctr"/>
          </a:p>
        </p:txBody>
      </p:sp>
      <p:sp>
        <p:nvSpPr>
          <p:cNvPr id="77" name="Rounded Rectangle 76"/>
          <p:cNvSpPr/>
          <p:nvPr/>
        </p:nvSpPr>
        <p:spPr>
          <a:xfrm>
            <a:off x="9015984" y="3621024"/>
            <a:ext cx="228600" cy="228600"/>
          </a:xfrm>
          <a:prstGeom prst="roundRect">
            <a:avLst>
              <a:gd name="adj" fmla="val 22000"/>
            </a:avLst>
          </a:prstGeom>
          <a:solidFill>
            <a:srgbClr val="1F6E2E"/>
          </a:solidFill>
          <a:ln>
            <a:noFill/>
          </a:ln>
        </p:spPr>
        <p:txBody>
          <a:bodyPr rtlCol="0" anchor="ctr"/>
          <a:lstStyle/>
          <a:p>
            <a:pPr algn="ctr"/>
          </a:p>
        </p:txBody>
      </p:sp>
      <p:sp>
        <p:nvSpPr>
          <p:cNvPr id="78" name="Rounded Rectangle 77"/>
          <p:cNvSpPr/>
          <p:nvPr/>
        </p:nvSpPr>
        <p:spPr>
          <a:xfrm>
            <a:off x="9294876" y="3621024"/>
            <a:ext cx="228600" cy="228600"/>
          </a:xfrm>
          <a:prstGeom prst="roundRect">
            <a:avLst>
              <a:gd name="adj" fmla="val 22000"/>
            </a:avLst>
          </a:prstGeom>
          <a:solidFill>
            <a:srgbClr val="1F6E2E"/>
          </a:solidFill>
          <a:ln>
            <a:noFill/>
          </a:ln>
        </p:spPr>
        <p:txBody>
          <a:bodyPr rtlCol="0" anchor="ctr"/>
          <a:lstStyle/>
          <a:p>
            <a:pPr algn="ctr"/>
          </a:p>
        </p:txBody>
      </p:sp>
      <p:sp>
        <p:nvSpPr>
          <p:cNvPr id="79" name="Rounded Rectangle 78"/>
          <p:cNvSpPr/>
          <p:nvPr/>
        </p:nvSpPr>
        <p:spPr>
          <a:xfrm>
            <a:off x="9573768" y="3621024"/>
            <a:ext cx="228600" cy="228600"/>
          </a:xfrm>
          <a:prstGeom prst="roundRect">
            <a:avLst>
              <a:gd name="adj" fmla="val 22000"/>
            </a:avLst>
          </a:prstGeom>
          <a:solidFill>
            <a:srgbClr val="1F6E2E"/>
          </a:solidFill>
          <a:ln>
            <a:noFill/>
          </a:ln>
        </p:spPr>
        <p:txBody>
          <a:bodyPr rtlCol="0" anchor="ctr"/>
          <a:lstStyle/>
          <a:p>
            <a:pPr algn="ctr"/>
          </a:p>
        </p:txBody>
      </p:sp>
      <p:sp>
        <p:nvSpPr>
          <p:cNvPr id="80" name="Rounded Rectangle 79"/>
          <p:cNvSpPr/>
          <p:nvPr/>
        </p:nvSpPr>
        <p:spPr>
          <a:xfrm>
            <a:off x="9852660" y="3621024"/>
            <a:ext cx="228600" cy="228600"/>
          </a:xfrm>
          <a:prstGeom prst="roundRect">
            <a:avLst>
              <a:gd name="adj" fmla="val 22000"/>
            </a:avLst>
          </a:prstGeom>
          <a:solidFill>
            <a:srgbClr val="1F6E2E"/>
          </a:solidFill>
          <a:ln>
            <a:noFill/>
          </a:ln>
        </p:spPr>
        <p:txBody>
          <a:bodyPr rtlCol="0" anchor="ctr"/>
          <a:lstStyle/>
          <a:p>
            <a:pPr algn="ctr"/>
          </a:p>
        </p:txBody>
      </p:sp>
      <p:sp>
        <p:nvSpPr>
          <p:cNvPr id="81" name="Rounded Rectangle 80"/>
          <p:cNvSpPr/>
          <p:nvPr/>
        </p:nvSpPr>
        <p:spPr>
          <a:xfrm>
            <a:off x="10131552" y="3621024"/>
            <a:ext cx="228600" cy="228600"/>
          </a:xfrm>
          <a:prstGeom prst="roundRect">
            <a:avLst>
              <a:gd name="adj" fmla="val 22000"/>
            </a:avLst>
          </a:prstGeom>
          <a:solidFill>
            <a:srgbClr val="1F6E2E"/>
          </a:solidFill>
          <a:ln>
            <a:noFill/>
          </a:ln>
        </p:spPr>
        <p:txBody>
          <a:bodyPr rtlCol="0" anchor="ctr"/>
          <a:lstStyle/>
          <a:p>
            <a:pPr algn="ctr"/>
          </a:p>
        </p:txBody>
      </p:sp>
      <p:sp>
        <p:nvSpPr>
          <p:cNvPr id="82" name="Rounded Rectangle 81"/>
          <p:cNvSpPr/>
          <p:nvPr/>
        </p:nvSpPr>
        <p:spPr>
          <a:xfrm>
            <a:off x="10410444" y="3621024"/>
            <a:ext cx="228600" cy="228600"/>
          </a:xfrm>
          <a:prstGeom prst="roundRect">
            <a:avLst>
              <a:gd name="adj" fmla="val 22000"/>
            </a:avLst>
          </a:prstGeom>
          <a:solidFill>
            <a:srgbClr val="1F6E2E"/>
          </a:solidFill>
          <a:ln>
            <a:noFill/>
          </a:ln>
        </p:spPr>
        <p:txBody>
          <a:bodyPr rtlCol="0" anchor="ctr"/>
          <a:lstStyle/>
          <a:p>
            <a:pPr algn="ctr"/>
          </a:p>
        </p:txBody>
      </p:sp>
      <p:sp>
        <p:nvSpPr>
          <p:cNvPr id="83" name="Rounded Rectangle 82"/>
          <p:cNvSpPr/>
          <p:nvPr/>
        </p:nvSpPr>
        <p:spPr>
          <a:xfrm>
            <a:off x="10689336" y="3621024"/>
            <a:ext cx="228600" cy="228600"/>
          </a:xfrm>
          <a:prstGeom prst="roundRect">
            <a:avLst>
              <a:gd name="adj" fmla="val 22000"/>
            </a:avLst>
          </a:prstGeom>
          <a:solidFill>
            <a:srgbClr val="8FD19B"/>
          </a:solidFill>
          <a:ln>
            <a:noFill/>
          </a:ln>
        </p:spPr>
        <p:txBody>
          <a:bodyPr rtlCol="0" anchor="ctr"/>
          <a:lstStyle/>
          <a:p>
            <a:pPr algn="ctr"/>
          </a:p>
        </p:txBody>
      </p:sp>
      <p:sp>
        <p:nvSpPr>
          <p:cNvPr id="84" name="Rounded Rectangle 83"/>
          <p:cNvSpPr/>
          <p:nvPr/>
        </p:nvSpPr>
        <p:spPr>
          <a:xfrm>
            <a:off x="10968228" y="3621024"/>
            <a:ext cx="228600" cy="228600"/>
          </a:xfrm>
          <a:prstGeom prst="roundRect">
            <a:avLst>
              <a:gd name="adj" fmla="val 22000"/>
            </a:avLst>
          </a:prstGeom>
          <a:solidFill>
            <a:srgbClr val="8FD19B"/>
          </a:solidFill>
          <a:ln>
            <a:noFill/>
          </a:ln>
        </p:spPr>
        <p:txBody>
          <a:bodyPr rtlCol="0" anchor="ctr"/>
          <a:lstStyle/>
          <a:p>
            <a:pPr algn="ctr"/>
          </a:p>
        </p:txBody>
      </p:sp>
      <p:sp>
        <p:nvSpPr>
          <p:cNvPr id="85" name="Rounded Rectangle 84"/>
          <p:cNvSpPr/>
          <p:nvPr/>
        </p:nvSpPr>
        <p:spPr>
          <a:xfrm>
            <a:off x="11247120" y="3621024"/>
            <a:ext cx="228600" cy="228600"/>
          </a:xfrm>
          <a:prstGeom prst="roundRect">
            <a:avLst>
              <a:gd name="adj" fmla="val 22000"/>
            </a:avLst>
          </a:prstGeom>
          <a:solidFill>
            <a:srgbClr val="8FD19B"/>
          </a:solidFill>
          <a:ln>
            <a:noFill/>
          </a:ln>
        </p:spPr>
        <p:txBody>
          <a:bodyPr rtlCol="0" anchor="ctr"/>
          <a:lstStyle/>
          <a:p>
            <a:pPr algn="ctr"/>
          </a:p>
        </p:txBody>
      </p:sp>
      <p:sp>
        <p:nvSpPr>
          <p:cNvPr id="86" name="Rounded Rectangle 85"/>
          <p:cNvSpPr/>
          <p:nvPr/>
        </p:nvSpPr>
        <p:spPr>
          <a:xfrm>
            <a:off x="7123176" y="4041648"/>
            <a:ext cx="228600" cy="228600"/>
          </a:xfrm>
          <a:prstGeom prst="roundRect">
            <a:avLst>
              <a:gd name="adj" fmla="val 20000"/>
            </a:avLst>
          </a:prstGeom>
          <a:solidFill>
            <a:srgbClr val="1F6E2E"/>
          </a:solidFill>
          <a:ln>
            <a:noFill/>
          </a:ln>
        </p:spPr>
        <p:txBody>
          <a:bodyPr rtlCol="0" anchor="ctr"/>
          <a:lstStyle/>
          <a:p>
            <a:pPr algn="ctr"/>
          </a:p>
        </p:txBody>
      </p:sp>
      <p:sp>
        <p:nvSpPr>
          <p:cNvPr id="87" name="TextBox 86"/>
          <p:cNvSpPr txBox="1"/>
          <p:nvPr/>
        </p:nvSpPr>
        <p:spPr>
          <a:xfrm>
            <a:off x="7470648" y="3995928"/>
            <a:ext cx="3931920" cy="32918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7201B"/>
                </a:solidFill>
                <a:latin typeface="Open Sans"/>
              </a:rPr>
              <a:t>8 atributos (vida, dano, alcance…)</a:t>
            </a:r>
          </a:p>
        </p:txBody>
      </p:sp>
      <p:sp>
        <p:nvSpPr>
          <p:cNvPr id="88" name="Rounded Rectangle 87"/>
          <p:cNvSpPr/>
          <p:nvPr/>
        </p:nvSpPr>
        <p:spPr>
          <a:xfrm>
            <a:off x="7123176" y="4389120"/>
            <a:ext cx="228600" cy="228600"/>
          </a:xfrm>
          <a:prstGeom prst="roundRect">
            <a:avLst>
              <a:gd name="adj" fmla="val 20000"/>
            </a:avLst>
          </a:prstGeom>
          <a:solidFill>
            <a:srgbClr val="8FD19B"/>
          </a:solidFill>
          <a:ln>
            <a:noFill/>
          </a:ln>
        </p:spPr>
        <p:txBody>
          <a:bodyPr rtlCol="0" anchor="ctr"/>
          <a:lstStyle/>
          <a:p>
            <a:pPr algn="ctr"/>
          </a:p>
        </p:txBody>
      </p:sp>
      <p:sp>
        <p:nvSpPr>
          <p:cNvPr id="89" name="TextBox 88"/>
          <p:cNvSpPr txBox="1"/>
          <p:nvPr/>
        </p:nvSpPr>
        <p:spPr>
          <a:xfrm>
            <a:off x="7470648" y="4343400"/>
            <a:ext cx="3931920" cy="32918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7201B"/>
                </a:solidFill>
                <a:latin typeface="Open Sans"/>
              </a:rPr>
              <a:t>3 pesos: avançar, recuar, guardar</a:t>
            </a:r>
          </a:p>
        </p:txBody>
      </p:sp>
      <p:sp>
        <p:nvSpPr>
          <p:cNvPr id="90" name="TextBox 89"/>
          <p:cNvSpPr txBox="1"/>
          <p:nvPr/>
        </p:nvSpPr>
        <p:spPr>
          <a:xfrm>
            <a:off x="7104888" y="4818888"/>
            <a:ext cx="4297680" cy="566928"/>
          </a:xfrm>
          <a:prstGeom prst="rect">
            <a:avLst/>
          </a:prstGeom>
          <a:noFill/>
        </p:spPr>
        <p:txBody>
          <a:bodyPr wrap="square" lIns="0" rIns="0" tIns="0" bIns="0" anchor="t">
            <a:noAutofit/>
          </a:bodyPr>
          <a:lstStyle/>
          <a:p>
            <a:pPr algn="l">
              <a:lnSpc>
                <a:spcPct val="100000"/>
              </a:lnSpc>
              <a:spcBef>
                <a:spcPts val="0"/>
              </a:spcBef>
              <a:spcAft>
                <a:spcPts val="0"/>
              </a:spcAft>
            </a:pPr>
            <a:r>
              <a:rPr sz="3200" b="1" i="0">
                <a:solidFill>
                  <a:srgbClr val="17201B"/>
                </a:solidFill>
                <a:latin typeface="Open Sans"/>
              </a:rPr>
              <a:t>55</a:t>
            </a:r>
            <a:r>
              <a:rPr sz="1700" b="0" i="0">
                <a:solidFill>
                  <a:srgbClr val="4A524D"/>
                </a:solidFill>
                <a:latin typeface="Open Sans"/>
              </a:rPr>
              <a:t>  genes</a:t>
            </a:r>
            <a:r>
              <a:rPr sz="3200" b="1" i="0">
                <a:solidFill>
                  <a:srgbClr val="17201B"/>
                </a:solidFill>
                <a:latin typeface="Open Sans"/>
              </a:rPr>
              <a:t>     1.500</a:t>
            </a:r>
            <a:r>
              <a:rPr sz="1700" b="0" i="0">
                <a:solidFill>
                  <a:srgbClr val="4A524D"/>
                </a:solidFill>
                <a:latin typeface="Open Sans"/>
              </a:rPr>
              <a:t>  lutas</a:t>
            </a:r>
          </a:p>
        </p:txBody>
      </p:sp>
      <p:sp>
        <p:nvSpPr>
          <p:cNvPr id="91" name="TextBox 90"/>
          <p:cNvSpPr txBox="1"/>
          <p:nvPr/>
        </p:nvSpPr>
        <p:spPr>
          <a:xfrm>
            <a:off x="7104888" y="5413248"/>
            <a:ext cx="4297680" cy="566928"/>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4A524D"/>
                </a:solidFill>
                <a:latin typeface="Open Sans"/>
              </a:rPr>
              <a:t>por avaliação: 10 confrontos × 150 lutas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1" i="0">
                <a:solidFill>
                  <a:srgbClr val="FFFFFF"/>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A aptidão diz o que cada arquétipo é, nunca quem deve vencer</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11</a:t>
            </a:r>
          </a:p>
        </p:txBody>
      </p:sp>
      <p:sp>
        <p:nvSpPr>
          <p:cNvPr id="7" name="Rounded Rectangle 6"/>
          <p:cNvSpPr/>
          <p:nvPr/>
        </p:nvSpPr>
        <p:spPr>
          <a:xfrm>
            <a:off x="548640" y="1709928"/>
            <a:ext cx="7086600" cy="4389120"/>
          </a:xfrm>
          <a:prstGeom prst="roundRect">
            <a:avLst>
              <a:gd name="adj" fmla="val 2500"/>
            </a:avLst>
          </a:prstGeom>
          <a:solidFill>
            <a:srgbClr val="F2F4F3"/>
          </a:solidFill>
          <a:ln>
            <a:noFill/>
          </a:ln>
        </p:spPr>
        <p:txBody>
          <a:bodyPr rtlCol="0" anchor="ctr"/>
          <a:lstStyle/>
          <a:p>
            <a:pPr algn="ctr"/>
          </a:p>
        </p:txBody>
      </p:sp>
      <p:sp>
        <p:nvSpPr>
          <p:cNvPr id="8" name="TextBox 7"/>
          <p:cNvSpPr txBox="1"/>
          <p:nvPr/>
        </p:nvSpPr>
        <p:spPr>
          <a:xfrm>
            <a:off x="868680" y="1847088"/>
            <a:ext cx="457200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NA APTIDÃO</a:t>
            </a:r>
          </a:p>
        </p:txBody>
      </p:sp>
      <p:sp>
        <p:nvSpPr>
          <p:cNvPr id="9" name="TextBox 8"/>
          <p:cNvSpPr txBox="1"/>
          <p:nvPr/>
        </p:nvSpPr>
        <p:spPr>
          <a:xfrm>
            <a:off x="868680" y="2167127"/>
            <a:ext cx="6400800" cy="457200"/>
          </a:xfrm>
          <a:prstGeom prst="rect">
            <a:avLst/>
          </a:prstGeom>
          <a:noFill/>
        </p:spPr>
        <p:txBody>
          <a:bodyPr wrap="square" lIns="0" rIns="0" tIns="0" bIns="0" anchor="t">
            <a:noAutofit/>
          </a:bodyPr>
          <a:lstStyle/>
          <a:p>
            <a:pPr algn="l">
              <a:lnSpc>
                <a:spcPct val="100000"/>
              </a:lnSpc>
              <a:spcBef>
                <a:spcPts val="0"/>
              </a:spcBef>
              <a:spcAft>
                <a:spcPts val="0"/>
              </a:spcAft>
            </a:pPr>
            <a:r>
              <a:rPr sz="2400" b="1" i="0">
                <a:solidFill>
                  <a:srgbClr val="CD191E"/>
                </a:solidFill>
                <a:latin typeface="Open Sans"/>
              </a:rPr>
              <a:t>desequilíbrio</a:t>
            </a:r>
          </a:p>
        </p:txBody>
      </p:sp>
      <p:sp>
        <p:nvSpPr>
          <p:cNvPr id="10" name="TextBox 9"/>
          <p:cNvSpPr txBox="1"/>
          <p:nvPr/>
        </p:nvSpPr>
        <p:spPr>
          <a:xfrm>
            <a:off x="868680" y="2688336"/>
            <a:ext cx="685800" cy="3657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4A524D"/>
                </a:solidFill>
                <a:latin typeface="Open Sans"/>
              </a:rPr>
              <a:t>1,0 ×</a:t>
            </a:r>
          </a:p>
        </p:txBody>
      </p:sp>
      <p:sp>
        <p:nvSpPr>
          <p:cNvPr id="11" name="TextBox 10"/>
          <p:cNvSpPr txBox="1"/>
          <p:nvPr/>
        </p:nvSpPr>
        <p:spPr>
          <a:xfrm>
            <a:off x="1572768" y="2688336"/>
            <a:ext cx="1737360" cy="365760"/>
          </a:xfrm>
          <a:prstGeom prst="rect">
            <a:avLst/>
          </a:prstGeom>
          <a:noFill/>
        </p:spPr>
        <p:txBody>
          <a:bodyPr wrap="square" lIns="0" rIns="0" tIns="0" bIns="0" anchor="t">
            <a:noAutofit/>
          </a:bodyPr>
          <a:lstStyle/>
          <a:p>
            <a:pPr algn="l">
              <a:lnSpc>
                <a:spcPct val="100000"/>
              </a:lnSpc>
              <a:spcBef>
                <a:spcPts val="0"/>
              </a:spcBef>
              <a:spcAft>
                <a:spcPts val="0"/>
              </a:spcAft>
            </a:pPr>
            <a:r>
              <a:rPr sz="1700" b="1" i="0">
                <a:solidFill>
                  <a:srgbClr val="17201B"/>
                </a:solidFill>
                <a:latin typeface="Open Sans"/>
              </a:rPr>
              <a:t>global</a:t>
            </a:r>
          </a:p>
        </p:txBody>
      </p:sp>
      <p:sp>
        <p:nvSpPr>
          <p:cNvPr id="12" name="TextBox 11"/>
          <p:cNvSpPr txBox="1"/>
          <p:nvPr/>
        </p:nvSpPr>
        <p:spPr>
          <a:xfrm>
            <a:off x="3310128" y="2688336"/>
            <a:ext cx="4206240" cy="3657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7201B"/>
                </a:solidFill>
                <a:latin typeface="Open Sans"/>
              </a:rPr>
              <a:t>taxa de vitória total longe de 50%</a:t>
            </a:r>
          </a:p>
        </p:txBody>
      </p:sp>
      <p:sp>
        <p:nvSpPr>
          <p:cNvPr id="13" name="TextBox 12"/>
          <p:cNvSpPr txBox="1"/>
          <p:nvPr/>
        </p:nvSpPr>
        <p:spPr>
          <a:xfrm>
            <a:off x="868680" y="3072384"/>
            <a:ext cx="685800" cy="3657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4A524D"/>
                </a:solidFill>
                <a:latin typeface="Open Sans"/>
              </a:rPr>
              <a:t>0,5 ×</a:t>
            </a:r>
          </a:p>
        </p:txBody>
      </p:sp>
      <p:sp>
        <p:nvSpPr>
          <p:cNvPr id="14" name="TextBox 13"/>
          <p:cNvSpPr txBox="1"/>
          <p:nvPr/>
        </p:nvSpPr>
        <p:spPr>
          <a:xfrm>
            <a:off x="1572768" y="3072384"/>
            <a:ext cx="1737360" cy="365760"/>
          </a:xfrm>
          <a:prstGeom prst="rect">
            <a:avLst/>
          </a:prstGeom>
          <a:noFill/>
        </p:spPr>
        <p:txBody>
          <a:bodyPr wrap="square" lIns="0" rIns="0" tIns="0" bIns="0" anchor="t">
            <a:noAutofit/>
          </a:bodyPr>
          <a:lstStyle/>
          <a:p>
            <a:pPr algn="l">
              <a:lnSpc>
                <a:spcPct val="100000"/>
              </a:lnSpc>
              <a:spcBef>
                <a:spcPts val="0"/>
              </a:spcBef>
              <a:spcAft>
                <a:spcPts val="0"/>
              </a:spcAft>
            </a:pPr>
            <a:r>
              <a:rPr sz="1700" b="1" i="0">
                <a:solidFill>
                  <a:srgbClr val="17201B"/>
                </a:solidFill>
                <a:latin typeface="Open Sans"/>
              </a:rPr>
              <a:t>counter</a:t>
            </a:r>
          </a:p>
        </p:txBody>
      </p:sp>
      <p:sp>
        <p:nvSpPr>
          <p:cNvPr id="15" name="TextBox 14"/>
          <p:cNvSpPr txBox="1"/>
          <p:nvPr/>
        </p:nvSpPr>
        <p:spPr>
          <a:xfrm>
            <a:off x="3310128" y="3072384"/>
            <a:ext cx="4206240" cy="3657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7201B"/>
                </a:solidFill>
                <a:latin typeface="Open Sans"/>
              </a:rPr>
              <a:t>confronto acima de 65%</a:t>
            </a:r>
          </a:p>
        </p:txBody>
      </p:sp>
      <p:sp>
        <p:nvSpPr>
          <p:cNvPr id="16" name="TextBox 15"/>
          <p:cNvSpPr txBox="1"/>
          <p:nvPr/>
        </p:nvSpPr>
        <p:spPr>
          <a:xfrm>
            <a:off x="868680" y="3456432"/>
            <a:ext cx="685800" cy="3657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4A524D"/>
                </a:solidFill>
                <a:latin typeface="Open Sans"/>
              </a:rPr>
              <a:t>0,5 ×</a:t>
            </a:r>
          </a:p>
        </p:txBody>
      </p:sp>
      <p:sp>
        <p:nvSpPr>
          <p:cNvPr id="17" name="TextBox 16"/>
          <p:cNvSpPr txBox="1"/>
          <p:nvPr/>
        </p:nvSpPr>
        <p:spPr>
          <a:xfrm>
            <a:off x="1572768" y="3456432"/>
            <a:ext cx="1737360" cy="365760"/>
          </a:xfrm>
          <a:prstGeom prst="rect">
            <a:avLst/>
          </a:prstGeom>
          <a:noFill/>
        </p:spPr>
        <p:txBody>
          <a:bodyPr wrap="square" lIns="0" rIns="0" tIns="0" bIns="0" anchor="t">
            <a:noAutofit/>
          </a:bodyPr>
          <a:lstStyle/>
          <a:p>
            <a:pPr algn="l">
              <a:lnSpc>
                <a:spcPct val="100000"/>
              </a:lnSpc>
              <a:spcBef>
                <a:spcPts val="0"/>
              </a:spcBef>
              <a:spcAft>
                <a:spcPts val="0"/>
              </a:spcAft>
            </a:pPr>
            <a:r>
              <a:rPr sz="1700" b="1" i="0">
                <a:solidFill>
                  <a:srgbClr val="17201B"/>
                </a:solidFill>
                <a:latin typeface="Open Sans"/>
              </a:rPr>
              <a:t>decisividade</a:t>
            </a:r>
          </a:p>
        </p:txBody>
      </p:sp>
      <p:sp>
        <p:nvSpPr>
          <p:cNvPr id="18" name="TextBox 17"/>
          <p:cNvSpPr txBox="1"/>
          <p:nvPr/>
        </p:nvSpPr>
        <p:spPr>
          <a:xfrm>
            <a:off x="3310128" y="3456432"/>
            <a:ext cx="4206240" cy="3657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7201B"/>
                </a:solidFill>
                <a:latin typeface="Open Sans"/>
              </a:rPr>
              <a:t>lutas decididas por massacre</a:t>
            </a:r>
          </a:p>
        </p:txBody>
      </p:sp>
      <p:sp>
        <p:nvSpPr>
          <p:cNvPr id="19" name="TextBox 18"/>
          <p:cNvSpPr txBox="1"/>
          <p:nvPr/>
        </p:nvSpPr>
        <p:spPr>
          <a:xfrm>
            <a:off x="868680" y="3877056"/>
            <a:ext cx="6583680" cy="365760"/>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CD191E"/>
                </a:solidFill>
                <a:latin typeface="Open Sans"/>
              </a:rPr>
              <a:t>só a distância a 50%, nunca a direção</a:t>
            </a:r>
          </a:p>
        </p:txBody>
      </p:sp>
      <p:cxnSp>
        <p:nvCxnSpPr>
          <p:cNvPr id="20" name="Connector 19"/>
          <p:cNvCxnSpPr/>
          <p:nvPr/>
        </p:nvCxnSpPr>
        <p:spPr>
          <a:xfrm>
            <a:off x="868680" y="4389120"/>
            <a:ext cx="6446520" cy="0"/>
          </a:xfrm>
          <a:prstGeom prst="line">
            <a:avLst/>
          </a:prstGeom>
          <a:ln w="19050">
            <a:solidFill>
              <a:srgbClr val="D5DAD7"/>
            </a:solidFill>
          </a:ln>
        </p:spPr>
      </p:cxnSp>
      <p:sp>
        <p:nvSpPr>
          <p:cNvPr id="21" name="TextBox 20"/>
          <p:cNvSpPr txBox="1"/>
          <p:nvPr/>
        </p:nvSpPr>
        <p:spPr>
          <a:xfrm>
            <a:off x="868680" y="4498848"/>
            <a:ext cx="6400800" cy="457200"/>
          </a:xfrm>
          <a:prstGeom prst="rect">
            <a:avLst/>
          </a:prstGeom>
          <a:noFill/>
        </p:spPr>
        <p:txBody>
          <a:bodyPr wrap="square" lIns="0" rIns="0" tIns="0" bIns="0" anchor="t">
            <a:noAutofit/>
          </a:bodyPr>
          <a:lstStyle/>
          <a:p>
            <a:pPr algn="l">
              <a:lnSpc>
                <a:spcPct val="100000"/>
              </a:lnSpc>
              <a:spcBef>
                <a:spcPts val="0"/>
              </a:spcBef>
              <a:spcAft>
                <a:spcPts val="0"/>
              </a:spcAft>
            </a:pPr>
            <a:r>
              <a:rPr sz="2400" b="1" i="0">
                <a:solidFill>
                  <a:srgbClr val="6E4BB8"/>
                </a:solidFill>
                <a:latin typeface="Open Sans"/>
              </a:rPr>
              <a:t>desvio</a:t>
            </a:r>
          </a:p>
        </p:txBody>
      </p:sp>
      <p:sp>
        <p:nvSpPr>
          <p:cNvPr id="22" name="TextBox 21"/>
          <p:cNvSpPr txBox="1"/>
          <p:nvPr/>
        </p:nvSpPr>
        <p:spPr>
          <a:xfrm>
            <a:off x="868680" y="4974336"/>
            <a:ext cx="6537960" cy="603504"/>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7201B"/>
                </a:solidFill>
                <a:latin typeface="Open Sans"/>
              </a:rPr>
              <a:t>distância de cada gene ao canônico, normalizada pela faixa, com peso 3 nos genes definidores</a:t>
            </a:r>
          </a:p>
        </p:txBody>
      </p:sp>
      <p:sp>
        <p:nvSpPr>
          <p:cNvPr id="23" name="Rounded Rectangle 22"/>
          <p:cNvSpPr/>
          <p:nvPr/>
        </p:nvSpPr>
        <p:spPr>
          <a:xfrm>
            <a:off x="7863840" y="1709928"/>
            <a:ext cx="3776472" cy="4389120"/>
          </a:xfrm>
          <a:prstGeom prst="roundRect">
            <a:avLst>
              <a:gd name="adj" fmla="val 2905"/>
            </a:avLst>
          </a:prstGeom>
          <a:solidFill>
            <a:srgbClr val="FFFFFF"/>
          </a:solidFill>
          <a:ln w="19050">
            <a:solidFill>
              <a:srgbClr val="6F7772"/>
            </a:solidFill>
            <a:prstDash val="dash"/>
          </a:ln>
        </p:spPr>
        <p:txBody>
          <a:bodyPr rtlCol="0" anchor="ctr"/>
          <a:lstStyle/>
          <a:p>
            <a:pPr algn="ctr"/>
          </a:p>
        </p:txBody>
      </p:sp>
      <p:sp>
        <p:nvSpPr>
          <p:cNvPr id="24" name="TextBox 23"/>
          <p:cNvSpPr txBox="1"/>
          <p:nvPr/>
        </p:nvSpPr>
        <p:spPr>
          <a:xfrm>
            <a:off x="8138160" y="1847088"/>
            <a:ext cx="329184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6F7772"/>
                </a:solidFill>
                <a:latin typeface="Open Sans"/>
              </a:rPr>
              <a:t>SÓ MEDIDO DEPOIS</a:t>
            </a:r>
          </a:p>
        </p:txBody>
      </p:sp>
      <p:sp>
        <p:nvSpPr>
          <p:cNvPr id="25" name="TextBox 24"/>
          <p:cNvSpPr txBox="1"/>
          <p:nvPr/>
        </p:nvSpPr>
        <p:spPr>
          <a:xfrm>
            <a:off x="8138160" y="2286000"/>
            <a:ext cx="3291840" cy="384048"/>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identidade funcional</a:t>
            </a:r>
          </a:p>
        </p:txBody>
      </p:sp>
      <p:sp>
        <p:nvSpPr>
          <p:cNvPr id="26" name="TextBox 25"/>
          <p:cNvSpPr txBox="1"/>
          <p:nvPr/>
        </p:nvSpPr>
        <p:spPr>
          <a:xfrm>
            <a:off x="8138160" y="2670048"/>
            <a:ext cx="3291840" cy="68580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4A524D"/>
                </a:solidFill>
                <a:latin typeface="Open Sans"/>
              </a:rPr>
              <a:t>5 asserções de comportamento e a concordância τ</a:t>
            </a:r>
          </a:p>
        </p:txBody>
      </p:sp>
      <p:sp>
        <p:nvSpPr>
          <p:cNvPr id="27" name="TextBox 26"/>
          <p:cNvSpPr txBox="1"/>
          <p:nvPr/>
        </p:nvSpPr>
        <p:spPr>
          <a:xfrm>
            <a:off x="8138160" y="3502151"/>
            <a:ext cx="3291840" cy="384048"/>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quem vence quem</a:t>
            </a:r>
          </a:p>
        </p:txBody>
      </p:sp>
      <p:sp>
        <p:nvSpPr>
          <p:cNvPr id="28" name="TextBox 27"/>
          <p:cNvSpPr txBox="1"/>
          <p:nvPr/>
        </p:nvSpPr>
        <p:spPr>
          <a:xfrm>
            <a:off x="8138160" y="3886200"/>
            <a:ext cx="3291840" cy="68580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4A524D"/>
                </a:solidFill>
                <a:latin typeface="Open Sans"/>
              </a:rPr>
              <a:t>o ciclo de vantagens entre os arquétipos</a:t>
            </a:r>
          </a:p>
        </p:txBody>
      </p:sp>
      <p:sp>
        <p:nvSpPr>
          <p:cNvPr id="29" name="TextBox 28"/>
          <p:cNvSpPr txBox="1"/>
          <p:nvPr/>
        </p:nvSpPr>
        <p:spPr>
          <a:xfrm>
            <a:off x="8138160" y="4718304"/>
            <a:ext cx="3291840" cy="384048"/>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regras novas</a:t>
            </a:r>
          </a:p>
        </p:txBody>
      </p:sp>
      <p:sp>
        <p:nvSpPr>
          <p:cNvPr id="30" name="TextBox 29"/>
          <p:cNvSpPr txBox="1"/>
          <p:nvPr/>
        </p:nvSpPr>
        <p:spPr>
          <a:xfrm>
            <a:off x="8138160" y="5102352"/>
            <a:ext cx="3291840" cy="68580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4A524D"/>
                </a:solidFill>
                <a:latin typeface="Open Sans"/>
              </a:rPr>
              <a:t>validação fora do laço de otimização</a:t>
            </a:r>
          </a:p>
        </p:txBody>
      </p:sp>
      <p:sp>
        <p:nvSpPr>
          <p:cNvPr id="31" name="TextBox 30"/>
          <p:cNvSpPr txBox="1"/>
          <p:nvPr/>
        </p:nvSpPr>
        <p:spPr>
          <a:xfrm>
            <a:off x="868680" y="5632704"/>
            <a:ext cx="6537960" cy="292608"/>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A78D6"/>
                </a:solidFill>
                <a:latin typeface="Open Sans"/>
              </a:rPr>
              <a:t>AG escalar: soma com pesos iguais</a:t>
            </a:r>
            <a:r>
              <a:rPr sz="1500" b="0" i="0">
                <a:solidFill>
                  <a:srgbClr val="6F7772"/>
                </a:solidFill>
                <a:latin typeface="Open Sans"/>
              </a:rPr>
              <a:t>   ·   </a:t>
            </a:r>
            <a:r>
              <a:rPr sz="1500" b="1" i="0">
                <a:solidFill>
                  <a:srgbClr val="EB6834"/>
                </a:solidFill>
                <a:latin typeface="Open Sans"/>
              </a:rPr>
              <a:t>NSGA-II: minimiza os dois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1" i="0">
                <a:solidFill>
                  <a:srgbClr val="FFFFFF"/>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Arquitetura: a busca usa a simulação como caixa-preta</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9</a:t>
            </a:r>
          </a:p>
        </p:txBody>
      </p:sp>
      <p:sp>
        <p:nvSpPr>
          <p:cNvPr id="7" name="Rounded Rectangle 6"/>
          <p:cNvSpPr/>
          <p:nvPr/>
        </p:nvSpPr>
        <p:spPr>
          <a:xfrm>
            <a:off x="548640" y="1709928"/>
            <a:ext cx="11091672" cy="502920"/>
          </a:xfrm>
          <a:prstGeom prst="roundRect">
            <a:avLst>
              <a:gd name="adj" fmla="val 18181"/>
            </a:avLst>
          </a:prstGeom>
          <a:solidFill>
            <a:srgbClr val="EFEAF7"/>
          </a:solidFill>
          <a:ln>
            <a:noFill/>
          </a:ln>
        </p:spPr>
        <p:txBody>
          <a:bodyPr rtlCol="0" anchor="ctr"/>
          <a:lstStyle/>
          <a:p>
            <a:pPr algn="ctr"/>
          </a:p>
        </p:txBody>
      </p:sp>
      <p:sp>
        <p:nvSpPr>
          <p:cNvPr id="8" name="TextBox 7"/>
          <p:cNvSpPr txBox="1"/>
          <p:nvPr/>
        </p:nvSpPr>
        <p:spPr>
          <a:xfrm>
            <a:off x="822960" y="1709928"/>
            <a:ext cx="10607040" cy="502920"/>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6E4BB8"/>
                </a:solidFill>
                <a:latin typeface="Open Sans"/>
              </a:rPr>
              <a:t>PERFIS CANÔNICOS</a:t>
            </a:r>
            <a:r>
              <a:rPr sz="1500" b="0" i="0">
                <a:solidFill>
                  <a:srgbClr val="17201B"/>
                </a:solidFill>
                <a:latin typeface="Open Sans"/>
              </a:rPr>
              <a:t>   premissa: os 11 genes de referência e os genes que definem cada arquétipo</a:t>
            </a:r>
          </a:p>
        </p:txBody>
      </p:sp>
      <p:sp>
        <p:nvSpPr>
          <p:cNvPr id="9" name="Rounded Rectangle 8"/>
          <p:cNvSpPr/>
          <p:nvPr/>
        </p:nvSpPr>
        <p:spPr>
          <a:xfrm>
            <a:off x="548640" y="2487168"/>
            <a:ext cx="11091672" cy="2615184"/>
          </a:xfrm>
          <a:prstGeom prst="roundRect">
            <a:avLst>
              <a:gd name="adj" fmla="val 4195"/>
            </a:avLst>
          </a:prstGeom>
          <a:noFill/>
          <a:ln w="19050">
            <a:solidFill>
              <a:srgbClr val="AEB4B0"/>
            </a:solidFill>
            <a:prstDash val="dash"/>
          </a:ln>
        </p:spPr>
        <p:txBody>
          <a:bodyPr rtlCol="0" anchor="ctr"/>
          <a:lstStyle/>
          <a:p>
            <a:pPr algn="ctr"/>
          </a:p>
        </p:txBody>
      </p:sp>
      <p:sp>
        <p:nvSpPr>
          <p:cNvPr id="10" name="Rounded Rectangle 9"/>
          <p:cNvSpPr/>
          <p:nvPr/>
        </p:nvSpPr>
        <p:spPr>
          <a:xfrm>
            <a:off x="731520" y="2697480"/>
            <a:ext cx="2359152" cy="2057400"/>
          </a:xfrm>
          <a:prstGeom prst="roundRect">
            <a:avLst>
              <a:gd name="adj" fmla="val 5333"/>
            </a:avLst>
          </a:prstGeom>
          <a:solidFill>
            <a:srgbClr val="F2F4F3"/>
          </a:solidFill>
          <a:ln>
            <a:noFill/>
          </a:ln>
        </p:spPr>
        <p:txBody>
          <a:bodyPr rtlCol="0" anchor="ctr"/>
          <a:lstStyle/>
          <a:p>
            <a:pPr algn="ctr"/>
          </a:p>
        </p:txBody>
      </p:sp>
      <p:sp>
        <p:nvSpPr>
          <p:cNvPr id="11" name="Rounded Rectangle 10"/>
          <p:cNvSpPr/>
          <p:nvPr/>
        </p:nvSpPr>
        <p:spPr>
          <a:xfrm>
            <a:off x="3419856" y="2697480"/>
            <a:ext cx="2560320" cy="2057400"/>
          </a:xfrm>
          <a:prstGeom prst="roundRect">
            <a:avLst>
              <a:gd name="adj" fmla="val 5333"/>
            </a:avLst>
          </a:prstGeom>
          <a:solidFill>
            <a:srgbClr val="F2F4F3"/>
          </a:solidFill>
          <a:ln>
            <a:noFill/>
          </a:ln>
        </p:spPr>
        <p:txBody>
          <a:bodyPr rtlCol="0" anchor="ctr"/>
          <a:lstStyle/>
          <a:p>
            <a:pPr algn="ctr"/>
          </a:p>
        </p:txBody>
      </p:sp>
      <p:sp>
        <p:nvSpPr>
          <p:cNvPr id="12" name="Rounded Rectangle 11"/>
          <p:cNvSpPr/>
          <p:nvPr/>
        </p:nvSpPr>
        <p:spPr>
          <a:xfrm>
            <a:off x="6309359" y="2697480"/>
            <a:ext cx="2103120" cy="2057400"/>
          </a:xfrm>
          <a:prstGeom prst="roundRect">
            <a:avLst>
              <a:gd name="adj" fmla="val 5333"/>
            </a:avLst>
          </a:prstGeom>
          <a:solidFill>
            <a:srgbClr val="F2F4F3"/>
          </a:solidFill>
          <a:ln>
            <a:noFill/>
          </a:ln>
        </p:spPr>
        <p:txBody>
          <a:bodyPr rtlCol="0" anchor="ctr"/>
          <a:lstStyle/>
          <a:p>
            <a:pPr algn="ctr"/>
          </a:p>
        </p:txBody>
      </p:sp>
      <p:sp>
        <p:nvSpPr>
          <p:cNvPr id="13" name="Rounded Rectangle 12"/>
          <p:cNvSpPr/>
          <p:nvPr/>
        </p:nvSpPr>
        <p:spPr>
          <a:xfrm>
            <a:off x="8741663" y="2697480"/>
            <a:ext cx="2715768" cy="2057400"/>
          </a:xfrm>
          <a:prstGeom prst="roundRect">
            <a:avLst>
              <a:gd name="adj" fmla="val 5333"/>
            </a:avLst>
          </a:prstGeom>
          <a:solidFill>
            <a:srgbClr val="F2F4F3"/>
          </a:solidFill>
          <a:ln>
            <a:noFill/>
          </a:ln>
        </p:spPr>
        <p:txBody>
          <a:bodyPr rtlCol="0" anchor="ctr"/>
          <a:lstStyle/>
          <a:p>
            <a:pPr algn="ctr"/>
          </a:p>
        </p:txBody>
      </p:sp>
      <p:cxnSp>
        <p:nvCxnSpPr>
          <p:cNvPr id="14" name="Connector 13"/>
          <p:cNvCxnSpPr/>
          <p:nvPr/>
        </p:nvCxnSpPr>
        <p:spPr>
          <a:xfrm>
            <a:off x="3136391" y="3726180"/>
            <a:ext cx="237745" cy="0"/>
          </a:xfrm>
          <a:prstGeom prst="line">
            <a:avLst/>
          </a:prstGeom>
          <a:ln w="28575">
            <a:solidFill>
              <a:srgbClr val="6F7772"/>
            </a:solidFill>
            <a:tailEnd type="triangle" w="med" len="med"/>
          </a:ln>
        </p:spPr>
      </p:cxnSp>
      <p:cxnSp>
        <p:nvCxnSpPr>
          <p:cNvPr id="15" name="Connector 14"/>
          <p:cNvCxnSpPr/>
          <p:nvPr/>
        </p:nvCxnSpPr>
        <p:spPr>
          <a:xfrm>
            <a:off x="6025895" y="3726180"/>
            <a:ext cx="237745" cy="0"/>
          </a:xfrm>
          <a:prstGeom prst="line">
            <a:avLst/>
          </a:prstGeom>
          <a:ln w="28575">
            <a:solidFill>
              <a:srgbClr val="6F7772"/>
            </a:solidFill>
            <a:tailEnd type="triangle" w="med" len="med"/>
          </a:ln>
        </p:spPr>
      </p:cxnSp>
      <p:cxnSp>
        <p:nvCxnSpPr>
          <p:cNvPr id="16" name="Connector 15"/>
          <p:cNvCxnSpPr/>
          <p:nvPr/>
        </p:nvCxnSpPr>
        <p:spPr>
          <a:xfrm>
            <a:off x="8458200" y="3726180"/>
            <a:ext cx="237743" cy="0"/>
          </a:xfrm>
          <a:prstGeom prst="line">
            <a:avLst/>
          </a:prstGeom>
          <a:ln w="28575">
            <a:solidFill>
              <a:srgbClr val="6F7772"/>
            </a:solidFill>
            <a:tailEnd type="triangle" w="med" len="med"/>
          </a:ln>
        </p:spPr>
      </p:cxnSp>
      <p:cxnSp>
        <p:nvCxnSpPr>
          <p:cNvPr id="17" name="Connector 16"/>
          <p:cNvCxnSpPr/>
          <p:nvPr/>
        </p:nvCxnSpPr>
        <p:spPr>
          <a:xfrm>
            <a:off x="1911095" y="2231136"/>
            <a:ext cx="0" cy="448056"/>
          </a:xfrm>
          <a:prstGeom prst="line">
            <a:avLst/>
          </a:prstGeom>
          <a:ln w="25400">
            <a:solidFill>
              <a:srgbClr val="6E4BB8"/>
            </a:solidFill>
            <a:tailEnd type="triangle" w="med" len="med"/>
          </a:ln>
        </p:spPr>
      </p:cxnSp>
      <p:cxnSp>
        <p:nvCxnSpPr>
          <p:cNvPr id="18" name="Connector 17"/>
          <p:cNvCxnSpPr/>
          <p:nvPr/>
        </p:nvCxnSpPr>
        <p:spPr>
          <a:xfrm>
            <a:off x="4700016" y="2231136"/>
            <a:ext cx="0" cy="448056"/>
          </a:xfrm>
          <a:prstGeom prst="line">
            <a:avLst/>
          </a:prstGeom>
          <a:ln w="25400">
            <a:solidFill>
              <a:srgbClr val="6E4BB8"/>
            </a:solidFill>
            <a:tailEnd type="triangle" w="med" len="med"/>
          </a:ln>
        </p:spPr>
      </p:cxnSp>
      <p:sp>
        <p:nvSpPr>
          <p:cNvPr id="19" name="TextBox 18"/>
          <p:cNvSpPr txBox="1"/>
          <p:nvPr/>
        </p:nvSpPr>
        <p:spPr>
          <a:xfrm>
            <a:off x="2020824" y="2240280"/>
            <a:ext cx="2011680" cy="237744"/>
          </a:xfrm>
          <a:prstGeom prst="rect">
            <a:avLst/>
          </a:prstGeom>
          <a:noFill/>
        </p:spPr>
        <p:txBody>
          <a:bodyPr wrap="square" lIns="0" rIns="0" tIns="0" bIns="0" anchor="t">
            <a:noAutofit/>
          </a:bodyPr>
          <a:lstStyle/>
          <a:p>
            <a:pPr algn="l">
              <a:lnSpc>
                <a:spcPct val="100000"/>
              </a:lnSpc>
              <a:spcBef>
                <a:spcPts val="0"/>
              </a:spcBef>
              <a:spcAft>
                <a:spcPts val="0"/>
              </a:spcAft>
            </a:pPr>
            <a:r>
              <a:rPr sz="1300" b="0" i="0">
                <a:solidFill>
                  <a:srgbClr val="6E4BB8"/>
                </a:solidFill>
                <a:latin typeface="Open Sans"/>
              </a:rPr>
              <a:t>semente (AG escalar)</a:t>
            </a:r>
          </a:p>
        </p:txBody>
      </p:sp>
      <p:sp>
        <p:nvSpPr>
          <p:cNvPr id="20" name="TextBox 19"/>
          <p:cNvSpPr txBox="1"/>
          <p:nvPr/>
        </p:nvSpPr>
        <p:spPr>
          <a:xfrm>
            <a:off x="4809744" y="2240280"/>
            <a:ext cx="2011680" cy="237744"/>
          </a:xfrm>
          <a:prstGeom prst="rect">
            <a:avLst/>
          </a:prstGeom>
          <a:noFill/>
        </p:spPr>
        <p:txBody>
          <a:bodyPr wrap="square" lIns="0" rIns="0" tIns="0" bIns="0" anchor="t">
            <a:noAutofit/>
          </a:bodyPr>
          <a:lstStyle/>
          <a:p>
            <a:pPr algn="l">
              <a:lnSpc>
                <a:spcPct val="100000"/>
              </a:lnSpc>
              <a:spcBef>
                <a:spcPts val="0"/>
              </a:spcBef>
              <a:spcAft>
                <a:spcPts val="0"/>
              </a:spcAft>
            </a:pPr>
            <a:r>
              <a:rPr sz="1300" b="0" i="0">
                <a:solidFill>
                  <a:srgbClr val="6E4BB8"/>
                </a:solidFill>
                <a:latin typeface="Open Sans"/>
              </a:rPr>
              <a:t>referência do desvio</a:t>
            </a:r>
          </a:p>
        </p:txBody>
      </p:sp>
      <p:cxnSp>
        <p:nvCxnSpPr>
          <p:cNvPr id="21" name="Connector 20"/>
          <p:cNvCxnSpPr/>
          <p:nvPr/>
        </p:nvCxnSpPr>
        <p:spPr>
          <a:xfrm>
            <a:off x="10099547" y="4754880"/>
            <a:ext cx="0" cy="182880"/>
          </a:xfrm>
          <a:prstGeom prst="line">
            <a:avLst/>
          </a:prstGeom>
          <a:ln w="25400">
            <a:solidFill>
              <a:srgbClr val="6F7772"/>
            </a:solidFill>
          </a:ln>
        </p:spPr>
      </p:cxnSp>
      <p:cxnSp>
        <p:nvCxnSpPr>
          <p:cNvPr id="22" name="Connector 21"/>
          <p:cNvCxnSpPr/>
          <p:nvPr/>
        </p:nvCxnSpPr>
        <p:spPr>
          <a:xfrm flipH="1">
            <a:off x="1911095" y="4937760"/>
            <a:ext cx="8188452" cy="0"/>
          </a:xfrm>
          <a:prstGeom prst="line">
            <a:avLst/>
          </a:prstGeom>
          <a:ln w="25400">
            <a:solidFill>
              <a:srgbClr val="6F7772"/>
            </a:solidFill>
          </a:ln>
        </p:spPr>
      </p:cxnSp>
      <p:cxnSp>
        <p:nvCxnSpPr>
          <p:cNvPr id="23" name="Connector 22"/>
          <p:cNvCxnSpPr/>
          <p:nvPr/>
        </p:nvCxnSpPr>
        <p:spPr>
          <a:xfrm flipV="1">
            <a:off x="1911095" y="4773168"/>
            <a:ext cx="0" cy="164592"/>
          </a:xfrm>
          <a:prstGeom prst="line">
            <a:avLst/>
          </a:prstGeom>
          <a:ln w="25400">
            <a:solidFill>
              <a:srgbClr val="6F7772"/>
            </a:solidFill>
            <a:tailEnd type="triangle" w="med" len="med"/>
          </a:ln>
        </p:spPr>
      </p:cxnSp>
      <p:sp>
        <p:nvSpPr>
          <p:cNvPr id="24" name="Rectangle 23"/>
          <p:cNvSpPr/>
          <p:nvPr/>
        </p:nvSpPr>
        <p:spPr>
          <a:xfrm>
            <a:off x="4251960" y="4800600"/>
            <a:ext cx="3566160" cy="274320"/>
          </a:xfrm>
          <a:prstGeom prst="rect">
            <a:avLst/>
          </a:prstGeom>
          <a:solidFill>
            <a:srgbClr val="FFFFFF"/>
          </a:solidFill>
          <a:ln>
            <a:noFill/>
          </a:ln>
        </p:spPr>
        <p:txBody>
          <a:bodyPr rtlCol="0" anchor="ctr"/>
          <a:lstStyle/>
          <a:p>
            <a:pPr algn="ctr"/>
          </a:p>
        </p:txBody>
      </p:sp>
      <p:sp>
        <p:nvSpPr>
          <p:cNvPr id="25" name="TextBox 24"/>
          <p:cNvSpPr txBox="1"/>
          <p:nvPr/>
        </p:nvSpPr>
        <p:spPr>
          <a:xfrm>
            <a:off x="4251960" y="4809744"/>
            <a:ext cx="3566160" cy="256032"/>
          </a:xfrm>
          <a:prstGeom prst="rect">
            <a:avLst/>
          </a:prstGeom>
          <a:noFill/>
        </p:spPr>
        <p:txBody>
          <a:bodyPr wrap="square" lIns="0" rIns="0" tIns="0" bIns="0" anchor="t">
            <a:noAutofit/>
          </a:bodyPr>
          <a:lstStyle/>
          <a:p>
            <a:pPr algn="ctr">
              <a:lnSpc>
                <a:spcPct val="100000"/>
              </a:lnSpc>
              <a:spcBef>
                <a:spcPts val="0"/>
              </a:spcBef>
              <a:spcAft>
                <a:spcPts val="0"/>
              </a:spcAft>
            </a:pPr>
            <a:r>
              <a:rPr sz="1300" b="1" i="0">
                <a:solidFill>
                  <a:srgbClr val="6F7772"/>
                </a:solidFill>
                <a:latin typeface="Open Sans"/>
              </a:rPr>
              <a:t>laço evolutivo: 150 gerações</a:t>
            </a:r>
          </a:p>
        </p:txBody>
      </p:sp>
      <p:sp>
        <p:nvSpPr>
          <p:cNvPr id="26" name="TextBox 25"/>
          <p:cNvSpPr txBox="1"/>
          <p:nvPr/>
        </p:nvSpPr>
        <p:spPr>
          <a:xfrm>
            <a:off x="896112" y="2807208"/>
            <a:ext cx="2029968" cy="274320"/>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2F9E41"/>
                </a:solidFill>
                <a:latin typeface="Open Sans"/>
              </a:rPr>
              <a:t>POPULAÇÃO</a:t>
            </a:r>
          </a:p>
        </p:txBody>
      </p:sp>
      <p:sp>
        <p:nvSpPr>
          <p:cNvPr id="27" name="TextBox 26"/>
          <p:cNvSpPr txBox="1"/>
          <p:nvPr/>
        </p:nvSpPr>
        <p:spPr>
          <a:xfrm>
            <a:off x="896112" y="3118104"/>
            <a:ext cx="2029968" cy="1527048"/>
          </a:xfrm>
          <a:prstGeom prst="rect">
            <a:avLst/>
          </a:prstGeom>
          <a:noFill/>
        </p:spPr>
        <p:txBody>
          <a:bodyPr wrap="square" lIns="0" rIns="0" tIns="0" bIns="0" anchor="t">
            <a:noAutofit/>
          </a:bodyPr>
          <a:lstStyle/>
          <a:p>
            <a:pPr algn="l">
              <a:lnSpc>
                <a:spcPct val="100000"/>
              </a:lnSpc>
              <a:spcBef>
                <a:spcPts val="0"/>
              </a:spcBef>
              <a:spcAft>
                <a:spcPts val="0"/>
              </a:spcAft>
            </a:pPr>
            <a:r>
              <a:rPr sz="2000" b="1" i="0">
                <a:solidFill>
                  <a:srgbClr val="17201B"/>
                </a:solidFill>
                <a:latin typeface="Open Sans"/>
              </a:rPr>
              <a:t>300 elencos</a:t>
            </a:r>
          </a:p>
          <a:p>
            <a:pPr algn="l">
              <a:lnSpc>
                <a:spcPct val="100000"/>
              </a:lnSpc>
              <a:spcBef>
                <a:spcPts val="300"/>
              </a:spcBef>
              <a:spcAft>
                <a:spcPts val="0"/>
              </a:spcAft>
            </a:pPr>
            <a:r>
              <a:rPr sz="1300" b="0" i="0">
                <a:solidFill>
                  <a:srgbClr val="4A524D"/>
                </a:solidFill>
                <a:latin typeface="Open Sans"/>
              </a:rPr>
              <a:t>5 personagens × 11 genes</a:t>
            </a:r>
          </a:p>
          <a:p>
            <a:pPr algn="l">
              <a:lnSpc>
                <a:spcPct val="100000"/>
              </a:lnSpc>
              <a:spcBef>
                <a:spcPts val="300"/>
              </a:spcBef>
              <a:spcAft>
                <a:spcPts val="0"/>
              </a:spcAft>
            </a:pPr>
            <a:r>
              <a:rPr sz="1300" b="0" i="0">
                <a:solidFill>
                  <a:srgbClr val="17201B"/>
                </a:solidFill>
                <a:latin typeface="Open Sans"/>
              </a:rPr>
              <a:t>geração 0: o canônico e 299 sorteados</a:t>
            </a:r>
          </a:p>
        </p:txBody>
      </p:sp>
      <p:sp>
        <p:nvSpPr>
          <p:cNvPr id="28" name="TextBox 27"/>
          <p:cNvSpPr txBox="1"/>
          <p:nvPr/>
        </p:nvSpPr>
        <p:spPr>
          <a:xfrm>
            <a:off x="3584448" y="2807208"/>
            <a:ext cx="2231136" cy="274320"/>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2F9E41"/>
                </a:solidFill>
                <a:latin typeface="Open Sans"/>
              </a:rPr>
              <a:t>AVALIAÇÃO</a:t>
            </a:r>
          </a:p>
        </p:txBody>
      </p:sp>
      <p:sp>
        <p:nvSpPr>
          <p:cNvPr id="29" name="TextBox 28"/>
          <p:cNvSpPr txBox="1"/>
          <p:nvPr/>
        </p:nvSpPr>
        <p:spPr>
          <a:xfrm>
            <a:off x="3584448" y="3118104"/>
            <a:ext cx="2231136" cy="1527048"/>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17201B"/>
                </a:solidFill>
                <a:latin typeface="Open Sans"/>
              </a:rPr>
              <a:t>10 pares × 150 lutas</a:t>
            </a:r>
          </a:p>
          <a:p>
            <a:pPr algn="l">
              <a:lnSpc>
                <a:spcPct val="100000"/>
              </a:lnSpc>
              <a:spcBef>
                <a:spcPts val="300"/>
              </a:spcBef>
              <a:spcAft>
                <a:spcPts val="0"/>
              </a:spcAft>
            </a:pPr>
            <a:r>
              <a:rPr sz="1300" b="1" i="0">
                <a:solidFill>
                  <a:srgbClr val="CD191E"/>
                </a:solidFill>
                <a:latin typeface="Open Sans"/>
              </a:rPr>
              <a:t>desequilíbrio</a:t>
            </a:r>
            <a:r>
              <a:rPr sz="1300" b="0" i="0">
                <a:solidFill>
                  <a:srgbClr val="17201B"/>
                </a:solidFill>
                <a:latin typeface="Open Sans"/>
              </a:rPr>
              <a:t>: das lutas, com ruído</a:t>
            </a:r>
          </a:p>
          <a:p>
            <a:pPr algn="l">
              <a:lnSpc>
                <a:spcPct val="100000"/>
              </a:lnSpc>
              <a:spcBef>
                <a:spcPts val="300"/>
              </a:spcBef>
              <a:spcAft>
                <a:spcPts val="0"/>
              </a:spcAft>
            </a:pPr>
            <a:r>
              <a:rPr sz="1300" b="1" i="0">
                <a:solidFill>
                  <a:srgbClr val="6E4BB8"/>
                </a:solidFill>
                <a:latin typeface="Open Sans"/>
              </a:rPr>
              <a:t>desvio</a:t>
            </a:r>
            <a:r>
              <a:rPr sz="1300" b="0" i="0">
                <a:solidFill>
                  <a:srgbClr val="17201B"/>
                </a:solidFill>
                <a:latin typeface="Open Sans"/>
              </a:rPr>
              <a:t>: dos genes, exato</a:t>
            </a:r>
          </a:p>
          <a:p>
            <a:pPr algn="l">
              <a:lnSpc>
                <a:spcPct val="100000"/>
              </a:lnSpc>
              <a:spcBef>
                <a:spcPts val="300"/>
              </a:spcBef>
              <a:spcAft>
                <a:spcPts val="0"/>
              </a:spcAft>
            </a:pPr>
            <a:r>
              <a:rPr sz="1300" b="0" i="0">
                <a:solidFill>
                  <a:srgbClr val="4A524D"/>
                </a:solidFill>
                <a:latin typeface="Open Sans"/>
              </a:rPr>
              <a:t>sorteios iguais na geração, novos a cada geração</a:t>
            </a:r>
          </a:p>
        </p:txBody>
      </p:sp>
      <p:sp>
        <p:nvSpPr>
          <p:cNvPr id="30" name="TextBox 29"/>
          <p:cNvSpPr txBox="1"/>
          <p:nvPr/>
        </p:nvSpPr>
        <p:spPr>
          <a:xfrm>
            <a:off x="6473951" y="2807208"/>
            <a:ext cx="1773936" cy="274320"/>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2F9E41"/>
                </a:solidFill>
                <a:latin typeface="Open Sans"/>
              </a:rPr>
              <a:t>SELEÇÃO</a:t>
            </a:r>
          </a:p>
        </p:txBody>
      </p:sp>
      <p:sp>
        <p:nvSpPr>
          <p:cNvPr id="31" name="TextBox 30"/>
          <p:cNvSpPr txBox="1"/>
          <p:nvPr/>
        </p:nvSpPr>
        <p:spPr>
          <a:xfrm>
            <a:off x="6473951" y="3118104"/>
            <a:ext cx="1773936" cy="1527048"/>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7201B"/>
                </a:solidFill>
                <a:latin typeface="Open Sans"/>
              </a:rPr>
              <a:t>elitismo de 10%</a:t>
            </a:r>
          </a:p>
          <a:p>
            <a:pPr algn="l">
              <a:lnSpc>
                <a:spcPct val="100000"/>
              </a:lnSpc>
              <a:spcBef>
                <a:spcPts val="300"/>
              </a:spcBef>
              <a:spcAft>
                <a:spcPts val="0"/>
              </a:spcAft>
            </a:pPr>
            <a:r>
              <a:rPr sz="1400" b="0" i="0">
                <a:solidFill>
                  <a:srgbClr val="17201B"/>
                </a:solidFill>
                <a:latin typeface="Open Sans"/>
              </a:rPr>
              <a:t>torneio de 3</a:t>
            </a:r>
          </a:p>
          <a:p>
            <a:pPr algn="l">
              <a:lnSpc>
                <a:spcPct val="100000"/>
              </a:lnSpc>
              <a:spcBef>
                <a:spcPts val="300"/>
              </a:spcBef>
              <a:spcAft>
                <a:spcPts val="0"/>
              </a:spcAft>
            </a:pPr>
            <a:r>
              <a:rPr sz="1300" b="1" i="0">
                <a:solidFill>
                  <a:srgbClr val="2A78D6"/>
                </a:solidFill>
                <a:latin typeface="Open Sans"/>
              </a:rPr>
              <a:t>AG escalar: </a:t>
            </a:r>
            <a:r>
              <a:rPr sz="1300" b="0" i="0">
                <a:solidFill>
                  <a:srgbClr val="17201B"/>
                </a:solidFill>
                <a:latin typeface="Open Sans"/>
              </a:rPr>
              <a:t>soma</a:t>
            </a:r>
          </a:p>
          <a:p>
            <a:pPr algn="l">
              <a:lnSpc>
                <a:spcPct val="100000"/>
              </a:lnSpc>
              <a:spcBef>
                <a:spcPts val="300"/>
              </a:spcBef>
              <a:spcAft>
                <a:spcPts val="0"/>
              </a:spcAft>
            </a:pPr>
            <a:r>
              <a:rPr sz="1300" b="1" i="0">
                <a:solidFill>
                  <a:srgbClr val="EB6834"/>
                </a:solidFill>
                <a:latin typeface="Open Sans"/>
              </a:rPr>
              <a:t>NSGA-II: </a:t>
            </a:r>
            <a:r>
              <a:rPr sz="1300" b="0" i="0">
                <a:solidFill>
                  <a:srgbClr val="17201B"/>
                </a:solidFill>
                <a:latin typeface="Open Sans"/>
              </a:rPr>
              <a:t>dominância</a:t>
            </a:r>
          </a:p>
        </p:txBody>
      </p:sp>
      <p:sp>
        <p:nvSpPr>
          <p:cNvPr id="32" name="TextBox 31"/>
          <p:cNvSpPr txBox="1"/>
          <p:nvPr/>
        </p:nvSpPr>
        <p:spPr>
          <a:xfrm>
            <a:off x="8906255" y="2807208"/>
            <a:ext cx="2386584" cy="274320"/>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2F9E41"/>
                </a:solidFill>
                <a:latin typeface="Open Sans"/>
              </a:rPr>
              <a:t>VARIAÇÃO</a:t>
            </a:r>
          </a:p>
        </p:txBody>
      </p:sp>
      <p:sp>
        <p:nvSpPr>
          <p:cNvPr id="33" name="TextBox 32"/>
          <p:cNvSpPr txBox="1"/>
          <p:nvPr/>
        </p:nvSpPr>
        <p:spPr>
          <a:xfrm>
            <a:off x="8906255" y="3118104"/>
            <a:ext cx="2386584" cy="1527048"/>
          </a:xfrm>
          <a:prstGeom prst="rect">
            <a:avLst/>
          </a:prstGeom>
          <a:noFill/>
        </p:spPr>
        <p:txBody>
          <a:bodyPr wrap="square" lIns="0" rIns="0" tIns="0" bIns="0" anchor="t">
            <a:noAutofit/>
          </a:bodyPr>
          <a:lstStyle/>
          <a:p>
            <a:pPr algn="l">
              <a:lnSpc>
                <a:spcPct val="100000"/>
              </a:lnSpc>
              <a:spcBef>
                <a:spcPts val="0"/>
              </a:spcBef>
              <a:spcAft>
                <a:spcPts val="0"/>
              </a:spcAft>
            </a:pPr>
            <a:r>
              <a:rPr sz="1300" b="0" i="0">
                <a:solidFill>
                  <a:srgbClr val="17201B"/>
                </a:solidFill>
                <a:latin typeface="Open Sans"/>
              </a:rPr>
              <a:t>cruzamento: cada personagem vem inteiro de um pai</a:t>
            </a:r>
          </a:p>
          <a:p>
            <a:pPr algn="l">
              <a:lnSpc>
                <a:spcPct val="100000"/>
              </a:lnSpc>
              <a:spcBef>
                <a:spcPts val="300"/>
              </a:spcBef>
              <a:spcAft>
                <a:spcPts val="0"/>
              </a:spcAft>
            </a:pPr>
            <a:r>
              <a:rPr sz="1300" b="0" i="0">
                <a:solidFill>
                  <a:srgbClr val="17201B"/>
                </a:solidFill>
                <a:latin typeface="Open Sans"/>
              </a:rPr>
              <a:t>mutação gaussiana em 5% dos genes</a:t>
            </a:r>
          </a:p>
          <a:p>
            <a:pPr algn="l">
              <a:lnSpc>
                <a:spcPct val="100000"/>
              </a:lnSpc>
              <a:spcBef>
                <a:spcPts val="300"/>
              </a:spcBef>
              <a:spcAft>
                <a:spcPts val="0"/>
              </a:spcAft>
            </a:pPr>
            <a:r>
              <a:rPr sz="1300" b="1" i="0">
                <a:solidFill>
                  <a:srgbClr val="17201B"/>
                </a:solidFill>
                <a:latin typeface="Open Sans"/>
              </a:rPr>
              <a:t>passo: 10% da faixa; nos pesos, 2,5%</a:t>
            </a:r>
          </a:p>
        </p:txBody>
      </p:sp>
      <p:cxnSp>
        <p:nvCxnSpPr>
          <p:cNvPr id="34" name="Connector 33"/>
          <p:cNvCxnSpPr/>
          <p:nvPr/>
        </p:nvCxnSpPr>
        <p:spPr>
          <a:xfrm>
            <a:off x="3200400" y="5102352"/>
            <a:ext cx="0" cy="118872"/>
          </a:xfrm>
          <a:prstGeom prst="line">
            <a:avLst/>
          </a:prstGeom>
          <a:ln w="25400">
            <a:solidFill>
              <a:srgbClr val="6F7772"/>
            </a:solidFill>
            <a:tailEnd type="triangle" w="med" len="med"/>
          </a:ln>
        </p:spPr>
      </p:cxnSp>
      <p:sp>
        <p:nvSpPr>
          <p:cNvPr id="35" name="Rounded Rectangle 34"/>
          <p:cNvSpPr/>
          <p:nvPr/>
        </p:nvSpPr>
        <p:spPr>
          <a:xfrm>
            <a:off x="548640" y="5230368"/>
            <a:ext cx="5303520" cy="868680"/>
          </a:xfrm>
          <a:prstGeom prst="roundRect">
            <a:avLst>
              <a:gd name="adj" fmla="val 12631"/>
            </a:avLst>
          </a:prstGeom>
          <a:solidFill>
            <a:srgbClr val="F2F4F3"/>
          </a:solidFill>
          <a:ln>
            <a:noFill/>
          </a:ln>
        </p:spPr>
        <p:txBody>
          <a:bodyPr rtlCol="0" anchor="ctr"/>
          <a:lstStyle/>
          <a:p>
            <a:pPr algn="ctr"/>
          </a:p>
        </p:txBody>
      </p:sp>
      <p:sp>
        <p:nvSpPr>
          <p:cNvPr id="36" name="TextBox 35"/>
          <p:cNvSpPr txBox="1"/>
          <p:nvPr/>
        </p:nvSpPr>
        <p:spPr>
          <a:xfrm>
            <a:off x="804672" y="5294376"/>
            <a:ext cx="4846320" cy="274320"/>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2F9E41"/>
                </a:solidFill>
                <a:latin typeface="Open Sans"/>
              </a:rPr>
              <a:t>SAÍDA</a:t>
            </a:r>
          </a:p>
        </p:txBody>
      </p:sp>
      <p:sp>
        <p:nvSpPr>
          <p:cNvPr id="37" name="TextBox 36"/>
          <p:cNvSpPr txBox="1"/>
          <p:nvPr/>
        </p:nvSpPr>
        <p:spPr>
          <a:xfrm>
            <a:off x="804672" y="5568696"/>
            <a:ext cx="4846320" cy="512064"/>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7201B"/>
                </a:solidFill>
                <a:latin typeface="Open Sans"/>
              </a:rPr>
              <a:t>melhor elenco (AG escalar, híbrido) ou fronteira de Pareto (NSGA-II)</a:t>
            </a:r>
          </a:p>
        </p:txBody>
      </p:sp>
      <p:cxnSp>
        <p:nvCxnSpPr>
          <p:cNvPr id="38" name="Connector 37"/>
          <p:cNvCxnSpPr/>
          <p:nvPr/>
        </p:nvCxnSpPr>
        <p:spPr>
          <a:xfrm>
            <a:off x="5897880" y="5664708"/>
            <a:ext cx="411480" cy="0"/>
          </a:xfrm>
          <a:prstGeom prst="line">
            <a:avLst/>
          </a:prstGeom>
          <a:ln w="25400">
            <a:solidFill>
              <a:srgbClr val="6F7772"/>
            </a:solidFill>
            <a:prstDash val="dash"/>
            <a:tailEnd type="triangle" w="med" len="med"/>
          </a:ln>
        </p:spPr>
      </p:cxnSp>
      <p:sp>
        <p:nvSpPr>
          <p:cNvPr id="39" name="Rounded Rectangle 38"/>
          <p:cNvSpPr/>
          <p:nvPr/>
        </p:nvSpPr>
        <p:spPr>
          <a:xfrm>
            <a:off x="6355080" y="5230368"/>
            <a:ext cx="5285232" cy="868680"/>
          </a:xfrm>
          <a:prstGeom prst="roundRect">
            <a:avLst>
              <a:gd name="adj" fmla="val 12631"/>
            </a:avLst>
          </a:prstGeom>
          <a:solidFill>
            <a:srgbClr val="FFFFFF"/>
          </a:solidFill>
          <a:ln w="19050">
            <a:solidFill>
              <a:srgbClr val="6F7772"/>
            </a:solidFill>
            <a:prstDash val="dash"/>
          </a:ln>
        </p:spPr>
        <p:txBody>
          <a:bodyPr rtlCol="0" anchor="ctr"/>
          <a:lstStyle/>
          <a:p>
            <a:pPr algn="ctr"/>
          </a:p>
        </p:txBody>
      </p:sp>
      <p:sp>
        <p:nvSpPr>
          <p:cNvPr id="40" name="TextBox 39"/>
          <p:cNvSpPr txBox="1"/>
          <p:nvPr/>
        </p:nvSpPr>
        <p:spPr>
          <a:xfrm>
            <a:off x="6611112" y="5294376"/>
            <a:ext cx="4846320" cy="274320"/>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6F7772"/>
                </a:solidFill>
                <a:latin typeface="Open Sans"/>
              </a:rPr>
              <a:t>MEDIDO DEPOIS, FORA DO LAÇO</a:t>
            </a:r>
          </a:p>
        </p:txBody>
      </p:sp>
      <p:sp>
        <p:nvSpPr>
          <p:cNvPr id="41" name="TextBox 40"/>
          <p:cNvSpPr txBox="1"/>
          <p:nvPr/>
        </p:nvSpPr>
        <p:spPr>
          <a:xfrm>
            <a:off x="6611112" y="5568696"/>
            <a:ext cx="4846320" cy="512064"/>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17201B"/>
                </a:solidFill>
                <a:latin typeface="Open Sans"/>
              </a:rPr>
              <a:t>validador, concordância τ, ciclo e validação externa: nada volta à busca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1" i="0">
                <a:solidFill>
                  <a:srgbClr val="FFFFFF"/>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Dois objetivos em conflito: somar ou comparar por dominância</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7</a:t>
            </a:r>
          </a:p>
        </p:txBody>
      </p:sp>
      <p:sp>
        <p:nvSpPr>
          <p:cNvPr id="7" name="Rounded Rectangle 6"/>
          <p:cNvSpPr/>
          <p:nvPr/>
        </p:nvSpPr>
        <p:spPr>
          <a:xfrm>
            <a:off x="548640" y="1709928"/>
            <a:ext cx="6035040" cy="4389120"/>
          </a:xfrm>
          <a:prstGeom prst="roundRect">
            <a:avLst>
              <a:gd name="adj" fmla="val 2790"/>
            </a:avLst>
          </a:prstGeom>
          <a:solidFill>
            <a:srgbClr val="F2F4F3"/>
          </a:solidFill>
          <a:ln>
            <a:noFill/>
          </a:ln>
        </p:spPr>
        <p:txBody>
          <a:bodyPr rtlCol="0" anchor="ctr"/>
          <a:lstStyle/>
          <a:p>
            <a:pPr algn="ctr"/>
          </a:p>
        </p:txBody>
      </p:sp>
      <p:sp>
        <p:nvSpPr>
          <p:cNvPr id="8" name="TextBox 7"/>
          <p:cNvSpPr txBox="1"/>
          <p:nvPr/>
        </p:nvSpPr>
        <p:spPr>
          <a:xfrm>
            <a:off x="868680" y="1847088"/>
            <a:ext cx="457200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EB6834"/>
                </a:solidFill>
                <a:latin typeface="Open Sans"/>
              </a:rPr>
              <a:t>DOMINÂNCIA DE PARETO</a:t>
            </a:r>
          </a:p>
        </p:txBody>
      </p:sp>
      <p:cxnSp>
        <p:nvCxnSpPr>
          <p:cNvPr id="9" name="Connector 8"/>
          <p:cNvCxnSpPr/>
          <p:nvPr/>
        </p:nvCxnSpPr>
        <p:spPr>
          <a:xfrm>
            <a:off x="1325880" y="4498848"/>
            <a:ext cx="4846320" cy="0"/>
          </a:xfrm>
          <a:prstGeom prst="line">
            <a:avLst/>
          </a:prstGeom>
          <a:ln w="19050">
            <a:solidFill>
              <a:srgbClr val="6F7772"/>
            </a:solidFill>
            <a:tailEnd type="triangle" w="med" len="med"/>
          </a:ln>
        </p:spPr>
      </p:cxnSp>
      <p:cxnSp>
        <p:nvCxnSpPr>
          <p:cNvPr id="10" name="Connector 9"/>
          <p:cNvCxnSpPr/>
          <p:nvPr/>
        </p:nvCxnSpPr>
        <p:spPr>
          <a:xfrm flipV="1">
            <a:off x="1325880" y="2350008"/>
            <a:ext cx="0" cy="2148840"/>
          </a:xfrm>
          <a:prstGeom prst="line">
            <a:avLst/>
          </a:prstGeom>
          <a:ln w="19050">
            <a:solidFill>
              <a:srgbClr val="6F7772"/>
            </a:solidFill>
            <a:tailEnd type="triangle" w="med" len="med"/>
          </a:ln>
        </p:spPr>
      </p:cxnSp>
      <p:sp>
        <p:nvSpPr>
          <p:cNvPr id="11" name="TextBox 10"/>
          <p:cNvSpPr txBox="1"/>
          <p:nvPr/>
        </p:nvSpPr>
        <p:spPr>
          <a:xfrm>
            <a:off x="3794760" y="4572000"/>
            <a:ext cx="2377440" cy="274320"/>
          </a:xfrm>
          <a:prstGeom prst="rect">
            <a:avLst/>
          </a:prstGeom>
          <a:noFill/>
        </p:spPr>
        <p:txBody>
          <a:bodyPr wrap="square" lIns="0" rIns="0" tIns="0" bIns="0" anchor="t">
            <a:noAutofit/>
          </a:bodyPr>
          <a:lstStyle/>
          <a:p>
            <a:pPr algn="r">
              <a:lnSpc>
                <a:spcPct val="100000"/>
              </a:lnSpc>
              <a:spcBef>
                <a:spcPts val="0"/>
              </a:spcBef>
              <a:spcAft>
                <a:spcPts val="0"/>
              </a:spcAft>
            </a:pPr>
            <a:r>
              <a:rPr sz="1400" b="0" i="0">
                <a:solidFill>
                  <a:srgbClr val="6F7772"/>
                </a:solidFill>
                <a:latin typeface="Open Sans"/>
              </a:rPr>
              <a:t>desequilíbrio</a:t>
            </a:r>
          </a:p>
        </p:txBody>
      </p:sp>
      <p:sp>
        <p:nvSpPr>
          <p:cNvPr id="12" name="TextBox 11"/>
          <p:cNvSpPr txBox="1"/>
          <p:nvPr/>
        </p:nvSpPr>
        <p:spPr>
          <a:xfrm>
            <a:off x="1435607" y="2240280"/>
            <a:ext cx="1828800" cy="274320"/>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6F7772"/>
                </a:solidFill>
                <a:latin typeface="Open Sans"/>
              </a:rPr>
              <a:t>desvio</a:t>
            </a:r>
          </a:p>
        </p:txBody>
      </p:sp>
      <p:sp>
        <p:nvSpPr>
          <p:cNvPr id="13" name="TextBox 12"/>
          <p:cNvSpPr txBox="1"/>
          <p:nvPr/>
        </p:nvSpPr>
        <p:spPr>
          <a:xfrm>
            <a:off x="914400" y="4572000"/>
            <a:ext cx="822960" cy="256032"/>
          </a:xfrm>
          <a:prstGeom prst="rect">
            <a:avLst/>
          </a:prstGeom>
          <a:noFill/>
        </p:spPr>
        <p:txBody>
          <a:bodyPr wrap="square" lIns="0" rIns="0" tIns="0" bIns="0" anchor="t">
            <a:noAutofit/>
          </a:bodyPr>
          <a:lstStyle/>
          <a:p>
            <a:pPr algn="ctr">
              <a:lnSpc>
                <a:spcPct val="100000"/>
              </a:lnSpc>
              <a:spcBef>
                <a:spcPts val="0"/>
              </a:spcBef>
              <a:spcAft>
                <a:spcPts val="0"/>
              </a:spcAft>
            </a:pPr>
            <a:r>
              <a:rPr sz="1300" b="1" i="0">
                <a:solidFill>
                  <a:srgbClr val="6F7772"/>
                </a:solidFill>
                <a:latin typeface="Open Sans"/>
              </a:rPr>
              <a:t>melhor</a:t>
            </a:r>
          </a:p>
        </p:txBody>
      </p:sp>
      <p:sp>
        <p:nvSpPr>
          <p:cNvPr id="14" name="Rectangle 13"/>
          <p:cNvSpPr/>
          <p:nvPr/>
        </p:nvSpPr>
        <p:spPr>
          <a:xfrm>
            <a:off x="2793491" y="2560320"/>
            <a:ext cx="3104387" cy="822959"/>
          </a:xfrm>
          <a:prstGeom prst="rect">
            <a:avLst/>
          </a:prstGeom>
          <a:solidFill>
            <a:srgbClr val="FDEEE7"/>
          </a:solidFill>
          <a:ln>
            <a:noFill/>
          </a:ln>
        </p:spPr>
        <p:txBody>
          <a:bodyPr rtlCol="0" anchor="ctr"/>
          <a:lstStyle/>
          <a:p>
            <a:pPr algn="ctr"/>
          </a:p>
        </p:txBody>
      </p:sp>
      <p:cxnSp>
        <p:nvCxnSpPr>
          <p:cNvPr id="15" name="Connector 14"/>
          <p:cNvCxnSpPr/>
          <p:nvPr/>
        </p:nvCxnSpPr>
        <p:spPr>
          <a:xfrm>
            <a:off x="1684781" y="2651760"/>
            <a:ext cx="487833" cy="420624"/>
          </a:xfrm>
          <a:prstGeom prst="line">
            <a:avLst/>
          </a:prstGeom>
          <a:ln w="31750">
            <a:solidFill>
              <a:srgbClr val="EB6834"/>
            </a:solidFill>
          </a:ln>
        </p:spPr>
      </p:cxnSp>
      <p:cxnSp>
        <p:nvCxnSpPr>
          <p:cNvPr id="16" name="Connector 15"/>
          <p:cNvCxnSpPr/>
          <p:nvPr/>
        </p:nvCxnSpPr>
        <p:spPr>
          <a:xfrm>
            <a:off x="2172614" y="3072384"/>
            <a:ext cx="620877" cy="310896"/>
          </a:xfrm>
          <a:prstGeom prst="line">
            <a:avLst/>
          </a:prstGeom>
          <a:ln w="31750">
            <a:solidFill>
              <a:srgbClr val="EB6834"/>
            </a:solidFill>
          </a:ln>
        </p:spPr>
      </p:cxnSp>
      <p:cxnSp>
        <p:nvCxnSpPr>
          <p:cNvPr id="17" name="Connector 16"/>
          <p:cNvCxnSpPr/>
          <p:nvPr/>
        </p:nvCxnSpPr>
        <p:spPr>
          <a:xfrm>
            <a:off x="2793491" y="3383280"/>
            <a:ext cx="798272" cy="237744"/>
          </a:xfrm>
          <a:prstGeom prst="line">
            <a:avLst/>
          </a:prstGeom>
          <a:ln w="31750">
            <a:solidFill>
              <a:srgbClr val="EB6834"/>
            </a:solidFill>
          </a:ln>
        </p:spPr>
      </p:cxnSp>
      <p:cxnSp>
        <p:nvCxnSpPr>
          <p:cNvPr id="18" name="Connector 17"/>
          <p:cNvCxnSpPr/>
          <p:nvPr/>
        </p:nvCxnSpPr>
        <p:spPr>
          <a:xfrm>
            <a:off x="3591763" y="3621024"/>
            <a:ext cx="975664" cy="164591"/>
          </a:xfrm>
          <a:prstGeom prst="line">
            <a:avLst/>
          </a:prstGeom>
          <a:ln w="31750">
            <a:solidFill>
              <a:srgbClr val="EB6834"/>
            </a:solidFill>
          </a:ln>
        </p:spPr>
      </p:cxnSp>
      <p:cxnSp>
        <p:nvCxnSpPr>
          <p:cNvPr id="19" name="Connector 18"/>
          <p:cNvCxnSpPr/>
          <p:nvPr/>
        </p:nvCxnSpPr>
        <p:spPr>
          <a:xfrm>
            <a:off x="4567427" y="3785615"/>
            <a:ext cx="1020014" cy="109729"/>
          </a:xfrm>
          <a:prstGeom prst="line">
            <a:avLst/>
          </a:prstGeom>
          <a:ln w="31750">
            <a:solidFill>
              <a:srgbClr val="EB6834"/>
            </a:solidFill>
          </a:ln>
        </p:spPr>
      </p:cxnSp>
      <p:sp>
        <p:nvSpPr>
          <p:cNvPr id="20" name="Oval 19"/>
          <p:cNvSpPr/>
          <p:nvPr/>
        </p:nvSpPr>
        <p:spPr>
          <a:xfrm>
            <a:off x="2538374" y="2665476"/>
            <a:ext cx="155448" cy="155448"/>
          </a:xfrm>
          <a:prstGeom prst="ellipse">
            <a:avLst/>
          </a:prstGeom>
          <a:solidFill>
            <a:srgbClr val="AEB4B0"/>
          </a:solidFill>
          <a:ln>
            <a:noFill/>
          </a:ln>
        </p:spPr>
        <p:txBody>
          <a:bodyPr rtlCol="0" anchor="ctr"/>
          <a:lstStyle/>
          <a:p>
            <a:pPr algn="ctr"/>
          </a:p>
        </p:txBody>
      </p:sp>
      <p:sp>
        <p:nvSpPr>
          <p:cNvPr id="21" name="Oval 20"/>
          <p:cNvSpPr/>
          <p:nvPr/>
        </p:nvSpPr>
        <p:spPr>
          <a:xfrm>
            <a:off x="3824478" y="3104388"/>
            <a:ext cx="155448" cy="155448"/>
          </a:xfrm>
          <a:prstGeom prst="ellipse">
            <a:avLst/>
          </a:prstGeom>
          <a:solidFill>
            <a:srgbClr val="AEB4B0"/>
          </a:solidFill>
          <a:ln>
            <a:noFill/>
          </a:ln>
        </p:spPr>
        <p:txBody>
          <a:bodyPr rtlCol="0" anchor="ctr"/>
          <a:lstStyle/>
          <a:p>
            <a:pPr algn="ctr"/>
          </a:p>
        </p:txBody>
      </p:sp>
      <p:sp>
        <p:nvSpPr>
          <p:cNvPr id="22" name="Oval 21"/>
          <p:cNvSpPr/>
          <p:nvPr/>
        </p:nvSpPr>
        <p:spPr>
          <a:xfrm>
            <a:off x="5021884" y="3360420"/>
            <a:ext cx="155448" cy="155448"/>
          </a:xfrm>
          <a:prstGeom prst="ellipse">
            <a:avLst/>
          </a:prstGeom>
          <a:solidFill>
            <a:srgbClr val="AEB4B0"/>
          </a:solidFill>
          <a:ln>
            <a:noFill/>
          </a:ln>
        </p:spPr>
        <p:txBody>
          <a:bodyPr rtlCol="0" anchor="ctr"/>
          <a:lstStyle/>
          <a:p>
            <a:pPr algn="ctr"/>
          </a:p>
        </p:txBody>
      </p:sp>
      <p:sp>
        <p:nvSpPr>
          <p:cNvPr id="23" name="Oval 22"/>
          <p:cNvSpPr/>
          <p:nvPr/>
        </p:nvSpPr>
        <p:spPr>
          <a:xfrm>
            <a:off x="4401007" y="2738628"/>
            <a:ext cx="155448" cy="155448"/>
          </a:xfrm>
          <a:prstGeom prst="ellipse">
            <a:avLst/>
          </a:prstGeom>
          <a:solidFill>
            <a:srgbClr val="AEB4B0"/>
          </a:solidFill>
          <a:ln>
            <a:noFill/>
          </a:ln>
        </p:spPr>
        <p:txBody>
          <a:bodyPr rtlCol="0" anchor="ctr"/>
          <a:lstStyle/>
          <a:p>
            <a:pPr algn="ctr"/>
          </a:p>
        </p:txBody>
      </p:sp>
      <p:sp>
        <p:nvSpPr>
          <p:cNvPr id="24" name="Oval 23"/>
          <p:cNvSpPr/>
          <p:nvPr/>
        </p:nvSpPr>
        <p:spPr>
          <a:xfrm>
            <a:off x="5598413" y="3177540"/>
            <a:ext cx="155448" cy="155448"/>
          </a:xfrm>
          <a:prstGeom prst="ellipse">
            <a:avLst/>
          </a:prstGeom>
          <a:solidFill>
            <a:srgbClr val="AEB4B0"/>
          </a:solidFill>
          <a:ln>
            <a:noFill/>
          </a:ln>
        </p:spPr>
        <p:txBody>
          <a:bodyPr rtlCol="0" anchor="ctr"/>
          <a:lstStyle/>
          <a:p>
            <a:pPr algn="ctr"/>
          </a:p>
        </p:txBody>
      </p:sp>
      <p:sp>
        <p:nvSpPr>
          <p:cNvPr id="25" name="Oval 24"/>
          <p:cNvSpPr/>
          <p:nvPr/>
        </p:nvSpPr>
        <p:spPr>
          <a:xfrm>
            <a:off x="3247948" y="2884932"/>
            <a:ext cx="155448" cy="155448"/>
          </a:xfrm>
          <a:prstGeom prst="ellipse">
            <a:avLst/>
          </a:prstGeom>
          <a:solidFill>
            <a:srgbClr val="AEB4B0"/>
          </a:solidFill>
          <a:ln>
            <a:noFill/>
          </a:ln>
        </p:spPr>
        <p:txBody>
          <a:bodyPr rtlCol="0" anchor="ctr"/>
          <a:lstStyle/>
          <a:p>
            <a:pPr algn="ctr"/>
          </a:p>
        </p:txBody>
      </p:sp>
      <p:sp>
        <p:nvSpPr>
          <p:cNvPr id="26" name="Oval 25"/>
          <p:cNvSpPr/>
          <p:nvPr/>
        </p:nvSpPr>
        <p:spPr>
          <a:xfrm>
            <a:off x="1597913" y="2564892"/>
            <a:ext cx="173736" cy="173736"/>
          </a:xfrm>
          <a:prstGeom prst="ellipse">
            <a:avLst/>
          </a:prstGeom>
          <a:solidFill>
            <a:srgbClr val="EB6834"/>
          </a:solidFill>
          <a:ln>
            <a:noFill/>
          </a:ln>
        </p:spPr>
        <p:txBody>
          <a:bodyPr rtlCol="0" anchor="ctr"/>
          <a:lstStyle/>
          <a:p>
            <a:pPr algn="ctr"/>
          </a:p>
        </p:txBody>
      </p:sp>
      <p:sp>
        <p:nvSpPr>
          <p:cNvPr id="27" name="Oval 26"/>
          <p:cNvSpPr/>
          <p:nvPr/>
        </p:nvSpPr>
        <p:spPr>
          <a:xfrm>
            <a:off x="2085746" y="2985516"/>
            <a:ext cx="173736" cy="173736"/>
          </a:xfrm>
          <a:prstGeom prst="ellipse">
            <a:avLst/>
          </a:prstGeom>
          <a:solidFill>
            <a:srgbClr val="EB6834"/>
          </a:solidFill>
          <a:ln>
            <a:noFill/>
          </a:ln>
        </p:spPr>
        <p:txBody>
          <a:bodyPr rtlCol="0" anchor="ctr"/>
          <a:lstStyle/>
          <a:p>
            <a:pPr algn="ctr"/>
          </a:p>
        </p:txBody>
      </p:sp>
      <p:sp>
        <p:nvSpPr>
          <p:cNvPr id="28" name="Oval 27"/>
          <p:cNvSpPr/>
          <p:nvPr/>
        </p:nvSpPr>
        <p:spPr>
          <a:xfrm>
            <a:off x="2706623" y="3296412"/>
            <a:ext cx="173736" cy="173736"/>
          </a:xfrm>
          <a:prstGeom prst="ellipse">
            <a:avLst/>
          </a:prstGeom>
          <a:solidFill>
            <a:srgbClr val="EB6834"/>
          </a:solidFill>
          <a:ln>
            <a:noFill/>
          </a:ln>
        </p:spPr>
        <p:txBody>
          <a:bodyPr rtlCol="0" anchor="ctr"/>
          <a:lstStyle/>
          <a:p>
            <a:pPr algn="ctr"/>
          </a:p>
        </p:txBody>
      </p:sp>
      <p:sp>
        <p:nvSpPr>
          <p:cNvPr id="29" name="Oval 28"/>
          <p:cNvSpPr/>
          <p:nvPr/>
        </p:nvSpPr>
        <p:spPr>
          <a:xfrm>
            <a:off x="3504895" y="3534156"/>
            <a:ext cx="173736" cy="173736"/>
          </a:xfrm>
          <a:prstGeom prst="ellipse">
            <a:avLst/>
          </a:prstGeom>
          <a:solidFill>
            <a:srgbClr val="EB6834"/>
          </a:solidFill>
          <a:ln>
            <a:noFill/>
          </a:ln>
        </p:spPr>
        <p:txBody>
          <a:bodyPr rtlCol="0" anchor="ctr"/>
          <a:lstStyle/>
          <a:p>
            <a:pPr algn="ctr"/>
          </a:p>
        </p:txBody>
      </p:sp>
      <p:sp>
        <p:nvSpPr>
          <p:cNvPr id="30" name="Oval 29"/>
          <p:cNvSpPr/>
          <p:nvPr/>
        </p:nvSpPr>
        <p:spPr>
          <a:xfrm>
            <a:off x="4480559" y="3698748"/>
            <a:ext cx="173736" cy="173736"/>
          </a:xfrm>
          <a:prstGeom prst="ellipse">
            <a:avLst/>
          </a:prstGeom>
          <a:solidFill>
            <a:srgbClr val="EB6834"/>
          </a:solidFill>
          <a:ln>
            <a:noFill/>
          </a:ln>
        </p:spPr>
        <p:txBody>
          <a:bodyPr rtlCol="0" anchor="ctr"/>
          <a:lstStyle/>
          <a:p>
            <a:pPr algn="ctr"/>
          </a:p>
        </p:txBody>
      </p:sp>
      <p:sp>
        <p:nvSpPr>
          <p:cNvPr id="31" name="Oval 30"/>
          <p:cNvSpPr/>
          <p:nvPr/>
        </p:nvSpPr>
        <p:spPr>
          <a:xfrm>
            <a:off x="5500573" y="3808476"/>
            <a:ext cx="173736" cy="173736"/>
          </a:xfrm>
          <a:prstGeom prst="ellipse">
            <a:avLst/>
          </a:prstGeom>
          <a:solidFill>
            <a:srgbClr val="EB6834"/>
          </a:solidFill>
          <a:ln>
            <a:noFill/>
          </a:ln>
        </p:spPr>
        <p:txBody>
          <a:bodyPr rtlCol="0" anchor="ctr"/>
          <a:lstStyle/>
          <a:p>
            <a:pPr algn="ctr"/>
          </a:p>
        </p:txBody>
      </p:sp>
      <p:sp>
        <p:nvSpPr>
          <p:cNvPr id="32" name="TextBox 31"/>
          <p:cNvSpPr txBox="1"/>
          <p:nvPr/>
        </p:nvSpPr>
        <p:spPr>
          <a:xfrm>
            <a:off x="2409444" y="3401568"/>
            <a:ext cx="274320" cy="292608"/>
          </a:xfrm>
          <a:prstGeom prst="rect">
            <a:avLst/>
          </a:prstGeom>
          <a:noFill/>
        </p:spPr>
        <p:txBody>
          <a:bodyPr wrap="square" lIns="0" rIns="0" tIns="0" bIns="0" anchor="t">
            <a:noAutofit/>
          </a:bodyPr>
          <a:lstStyle/>
          <a:p>
            <a:pPr algn="r">
              <a:lnSpc>
                <a:spcPct val="100000"/>
              </a:lnSpc>
              <a:spcBef>
                <a:spcPts val="0"/>
              </a:spcBef>
              <a:spcAft>
                <a:spcPts val="0"/>
              </a:spcAft>
            </a:pPr>
            <a:r>
              <a:rPr sz="1600" b="1" i="0">
                <a:solidFill>
                  <a:srgbClr val="17201B"/>
                </a:solidFill>
                <a:latin typeface="Open Sans"/>
              </a:rPr>
              <a:t>A</a:t>
            </a:r>
          </a:p>
        </p:txBody>
      </p:sp>
      <p:sp>
        <p:nvSpPr>
          <p:cNvPr id="33" name="TextBox 32"/>
          <p:cNvSpPr txBox="1"/>
          <p:nvPr/>
        </p:nvSpPr>
        <p:spPr>
          <a:xfrm>
            <a:off x="4011930" y="2834640"/>
            <a:ext cx="274320" cy="292608"/>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17201B"/>
                </a:solidFill>
                <a:latin typeface="Open Sans"/>
              </a:rPr>
              <a:t>B</a:t>
            </a:r>
          </a:p>
        </p:txBody>
      </p:sp>
      <p:sp>
        <p:nvSpPr>
          <p:cNvPr id="34" name="TextBox 33"/>
          <p:cNvSpPr txBox="1"/>
          <p:nvPr/>
        </p:nvSpPr>
        <p:spPr>
          <a:xfrm>
            <a:off x="3059582" y="3749039"/>
            <a:ext cx="1188720" cy="292608"/>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EB6834"/>
                </a:solidFill>
                <a:latin typeface="Open Sans"/>
              </a:rPr>
              <a:t>fronteira</a:t>
            </a:r>
          </a:p>
        </p:txBody>
      </p:sp>
      <p:sp>
        <p:nvSpPr>
          <p:cNvPr id="35" name="TextBox 34"/>
          <p:cNvSpPr txBox="1"/>
          <p:nvPr/>
        </p:nvSpPr>
        <p:spPr>
          <a:xfrm>
            <a:off x="3987241" y="4041648"/>
            <a:ext cx="1691640" cy="475488"/>
          </a:xfrm>
          <a:prstGeom prst="rect">
            <a:avLst/>
          </a:prstGeom>
          <a:noFill/>
        </p:spPr>
        <p:txBody>
          <a:bodyPr wrap="square" lIns="0" rIns="0" tIns="0" bIns="0" anchor="t">
            <a:noAutofit/>
          </a:bodyPr>
          <a:lstStyle/>
          <a:p>
            <a:pPr algn="r">
              <a:lnSpc>
                <a:spcPct val="100000"/>
              </a:lnSpc>
              <a:spcBef>
                <a:spcPts val="0"/>
              </a:spcBef>
              <a:spcAft>
                <a:spcPts val="0"/>
              </a:spcAft>
            </a:pPr>
            <a:r>
              <a:rPr sz="1300" b="1" i="0">
                <a:solidFill>
                  <a:srgbClr val="17201B"/>
                </a:solidFill>
                <a:latin typeface="Open Sans"/>
              </a:rPr>
              <a:t>menor desvio:</a:t>
            </a:r>
          </a:p>
          <a:p>
            <a:pPr algn="r">
              <a:lnSpc>
                <a:spcPct val="100000"/>
              </a:lnSpc>
              <a:spcBef>
                <a:spcPts val="0"/>
              </a:spcBef>
              <a:spcAft>
                <a:spcPts val="0"/>
              </a:spcAft>
            </a:pPr>
            <a:r>
              <a:rPr sz="1300" b="1" i="0">
                <a:solidFill>
                  <a:srgbClr val="17201B"/>
                </a:solidFill>
                <a:latin typeface="Open Sans"/>
              </a:rPr>
              <a:t>ninguém o domina</a:t>
            </a:r>
          </a:p>
        </p:txBody>
      </p:sp>
      <p:sp>
        <p:nvSpPr>
          <p:cNvPr id="36" name="TextBox 35"/>
          <p:cNvSpPr txBox="1"/>
          <p:nvPr/>
        </p:nvSpPr>
        <p:spPr>
          <a:xfrm>
            <a:off x="868680" y="5148072"/>
            <a:ext cx="5394959" cy="640080"/>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7201B"/>
                </a:solidFill>
                <a:latin typeface="Open Sans"/>
              </a:rPr>
              <a:t>A domina B: </a:t>
            </a:r>
            <a:r>
              <a:rPr sz="1500" b="0" i="0">
                <a:solidFill>
                  <a:srgbClr val="4A524D"/>
                </a:solidFill>
                <a:latin typeface="Open Sans"/>
              </a:rPr>
              <a:t>não é pior em nenhum dos dois termos e é melhor em pelo menos um</a:t>
            </a:r>
          </a:p>
        </p:txBody>
      </p:sp>
      <p:sp>
        <p:nvSpPr>
          <p:cNvPr id="37" name="Rounded Rectangle 36"/>
          <p:cNvSpPr/>
          <p:nvPr/>
        </p:nvSpPr>
        <p:spPr>
          <a:xfrm>
            <a:off x="6812280" y="1709928"/>
            <a:ext cx="4828032" cy="1325880"/>
          </a:xfrm>
          <a:prstGeom prst="roundRect">
            <a:avLst>
              <a:gd name="adj" fmla="val 8275"/>
            </a:avLst>
          </a:prstGeom>
          <a:solidFill>
            <a:srgbClr val="E7F0FB"/>
          </a:solidFill>
          <a:ln>
            <a:noFill/>
          </a:ln>
        </p:spPr>
        <p:txBody>
          <a:bodyPr rtlCol="0" anchor="ctr"/>
          <a:lstStyle/>
          <a:p>
            <a:pPr algn="ctr"/>
          </a:p>
        </p:txBody>
      </p:sp>
      <p:sp>
        <p:nvSpPr>
          <p:cNvPr id="38" name="TextBox 37"/>
          <p:cNvSpPr txBox="1"/>
          <p:nvPr/>
        </p:nvSpPr>
        <p:spPr>
          <a:xfrm>
            <a:off x="7068312" y="1819656"/>
            <a:ext cx="4315968" cy="292608"/>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A78D6"/>
                </a:solidFill>
                <a:latin typeface="Open Sans"/>
              </a:rPr>
              <a:t>ESCALARIZAÇÃO</a:t>
            </a:r>
            <a:r>
              <a:rPr sz="1300" b="0" i="0">
                <a:solidFill>
                  <a:srgbClr val="6F7772"/>
                </a:solidFill>
                <a:latin typeface="Open Sans"/>
              </a:rPr>
              <a:t>  Deb, 2001</a:t>
            </a:r>
          </a:p>
        </p:txBody>
      </p:sp>
      <p:sp>
        <p:nvSpPr>
          <p:cNvPr id="39" name="TextBox 38"/>
          <p:cNvSpPr txBox="1"/>
          <p:nvPr/>
        </p:nvSpPr>
        <p:spPr>
          <a:xfrm>
            <a:off x="7068312" y="2157984"/>
            <a:ext cx="4315968" cy="82296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7201B"/>
                </a:solidFill>
                <a:latin typeface="Open Sans"/>
              </a:rPr>
              <a:t>soma com pesos: fixa de antemão o ponto do compromisso e não alcança regiões não convexas da fronteira</a:t>
            </a:r>
          </a:p>
        </p:txBody>
      </p:sp>
      <p:sp>
        <p:nvSpPr>
          <p:cNvPr id="40" name="Rounded Rectangle 39"/>
          <p:cNvSpPr/>
          <p:nvPr/>
        </p:nvSpPr>
        <p:spPr>
          <a:xfrm>
            <a:off x="6812280" y="3172968"/>
            <a:ext cx="4828032" cy="1600200"/>
          </a:xfrm>
          <a:prstGeom prst="roundRect">
            <a:avLst>
              <a:gd name="adj" fmla="val 6857"/>
            </a:avLst>
          </a:prstGeom>
          <a:solidFill>
            <a:srgbClr val="FDEEE7"/>
          </a:solidFill>
          <a:ln>
            <a:noFill/>
          </a:ln>
        </p:spPr>
        <p:txBody>
          <a:bodyPr rtlCol="0" anchor="ctr"/>
          <a:lstStyle/>
          <a:p>
            <a:pPr algn="ctr"/>
          </a:p>
        </p:txBody>
      </p:sp>
      <p:sp>
        <p:nvSpPr>
          <p:cNvPr id="41" name="TextBox 40"/>
          <p:cNvSpPr txBox="1"/>
          <p:nvPr/>
        </p:nvSpPr>
        <p:spPr>
          <a:xfrm>
            <a:off x="7068312" y="3264408"/>
            <a:ext cx="4315968" cy="347472"/>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EB6834"/>
                </a:solidFill>
                <a:latin typeface="Open Sans"/>
              </a:rPr>
              <a:t>NSGA-II</a:t>
            </a:r>
            <a:r>
              <a:rPr sz="1300" b="0" i="0">
                <a:solidFill>
                  <a:srgbClr val="6F7772"/>
                </a:solidFill>
                <a:latin typeface="Open Sans"/>
              </a:rPr>
              <a:t>  Deb et al., 2002</a:t>
            </a:r>
          </a:p>
        </p:txBody>
      </p:sp>
      <p:sp>
        <p:nvSpPr>
          <p:cNvPr id="42" name="TextBox 41"/>
          <p:cNvSpPr txBox="1"/>
          <p:nvPr/>
        </p:nvSpPr>
        <p:spPr>
          <a:xfrm>
            <a:off x="7068312" y="3657600"/>
            <a:ext cx="4315968" cy="1024128"/>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EB6834"/>
                </a:solidFill>
                <a:latin typeface="Open Sans"/>
              </a:rPr>
              <a:t>1  </a:t>
            </a:r>
            <a:r>
              <a:rPr sz="1500" b="0" i="0">
                <a:solidFill>
                  <a:srgbClr val="17201B"/>
                </a:solidFill>
                <a:latin typeface="Open Sans"/>
              </a:rPr>
              <a:t>ordena em frentes de não dominância</a:t>
            </a:r>
          </a:p>
          <a:p>
            <a:pPr algn="l">
              <a:lnSpc>
                <a:spcPct val="100000"/>
              </a:lnSpc>
              <a:spcBef>
                <a:spcPts val="400"/>
              </a:spcBef>
              <a:spcAft>
                <a:spcPts val="0"/>
              </a:spcAft>
            </a:pPr>
            <a:r>
              <a:rPr sz="1500" b="1" i="0">
                <a:solidFill>
                  <a:srgbClr val="EB6834"/>
                </a:solidFill>
                <a:latin typeface="Open Sans"/>
              </a:rPr>
              <a:t>2  </a:t>
            </a:r>
            <a:r>
              <a:rPr sz="1500" b="0" i="0">
                <a:solidFill>
                  <a:srgbClr val="17201B"/>
                </a:solidFill>
                <a:latin typeface="Open Sans"/>
              </a:rPr>
              <a:t>aglomeração: prefere os pontos isolados</a:t>
            </a:r>
          </a:p>
          <a:p>
            <a:pPr algn="l">
              <a:lnSpc>
                <a:spcPct val="100000"/>
              </a:lnSpc>
              <a:spcBef>
                <a:spcPts val="400"/>
              </a:spcBef>
              <a:spcAft>
                <a:spcPts val="0"/>
              </a:spcAft>
            </a:pPr>
            <a:r>
              <a:rPr sz="1500" b="1" i="0">
                <a:solidFill>
                  <a:srgbClr val="EB6834"/>
                </a:solidFill>
                <a:latin typeface="Open Sans"/>
              </a:rPr>
              <a:t>3  </a:t>
            </a:r>
            <a:r>
              <a:rPr sz="1500" b="0" i="0">
                <a:solidFill>
                  <a:srgbClr val="17201B"/>
                </a:solidFill>
                <a:latin typeface="Open Sans"/>
              </a:rPr>
              <a:t>elitismo: pais e filhos disputam juntos</a:t>
            </a:r>
          </a:p>
        </p:txBody>
      </p:sp>
      <p:sp>
        <p:nvSpPr>
          <p:cNvPr id="43" name="Rounded Rectangle 42"/>
          <p:cNvSpPr/>
          <p:nvPr/>
        </p:nvSpPr>
        <p:spPr>
          <a:xfrm>
            <a:off x="6812280" y="4910328"/>
            <a:ext cx="4828032" cy="1188720"/>
          </a:xfrm>
          <a:prstGeom prst="roundRect">
            <a:avLst>
              <a:gd name="adj" fmla="val 9230"/>
            </a:avLst>
          </a:prstGeom>
          <a:solidFill>
            <a:srgbClr val="E3F6EF"/>
          </a:solidFill>
          <a:ln>
            <a:noFill/>
          </a:ln>
        </p:spPr>
        <p:txBody>
          <a:bodyPr rtlCol="0" anchor="ctr"/>
          <a:lstStyle/>
          <a:p>
            <a:pPr algn="ctr"/>
          </a:p>
        </p:txBody>
      </p:sp>
      <p:sp>
        <p:nvSpPr>
          <p:cNvPr id="44" name="TextBox 43"/>
          <p:cNvSpPr txBox="1"/>
          <p:nvPr/>
        </p:nvSpPr>
        <p:spPr>
          <a:xfrm>
            <a:off x="7068312" y="5001768"/>
            <a:ext cx="4315968" cy="292608"/>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28A5F"/>
                </a:solidFill>
                <a:latin typeface="Open Sans"/>
              </a:rPr>
              <a:t>MULTIOBJETIVIZAÇÃO</a:t>
            </a:r>
            <a:r>
              <a:rPr sz="1300" b="0" i="0">
                <a:solidFill>
                  <a:srgbClr val="6F7772"/>
                </a:solidFill>
                <a:latin typeface="Open Sans"/>
              </a:rPr>
              <a:t>  Knowles et al., 2001</a:t>
            </a:r>
          </a:p>
        </p:txBody>
      </p:sp>
      <p:sp>
        <p:nvSpPr>
          <p:cNvPr id="45" name="TextBox 44"/>
          <p:cNvSpPr txBox="1"/>
          <p:nvPr/>
        </p:nvSpPr>
        <p:spPr>
          <a:xfrm>
            <a:off x="7068312" y="5340096"/>
            <a:ext cx="4315968" cy="566928"/>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7201B"/>
                </a:solidFill>
                <a:latin typeface="Open Sans"/>
              </a:rPr>
              <a:t>separar os termos de uma soma preserva diversidade: é a base do híbrido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1" i="0">
                <a:solidFill>
                  <a:srgbClr val="FFFFFF"/>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2F9E41"/>
                </a:solidFill>
                <a:latin typeface="Open Sans"/>
              </a:rPr>
              <a:t>QP1  </a:t>
            </a:r>
            <a:r>
              <a:rPr sz="2600" b="1" i="0">
                <a:solidFill>
                  <a:srgbClr val="17201B"/>
                </a:solidFill>
                <a:latin typeface="Open Sans"/>
              </a:rPr>
              <a:t>O AG escalar leva uma hierarquia ao equilíbrio</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14</a:t>
            </a:r>
          </a:p>
        </p:txBody>
      </p:sp>
      <p:pic>
        <p:nvPicPr>
          <p:cNvPr id="7" name="Matrizes de confronto" descr="matrizes.png"/>
          <p:cNvPicPr>
            <a:picLocks noChangeAspect="1"/>
          </p:cNvPicPr>
          <p:nvPr/>
        </p:nvPicPr>
        <p:blipFill>
          <a:blip r:embed="rId3"/>
          <a:stretch>
            <a:fillRect/>
          </a:stretch>
        </p:blipFill>
        <p:spPr>
          <a:xfrm>
            <a:off x="411480" y="1664208"/>
            <a:ext cx="6949440" cy="4160520"/>
          </a:xfrm>
          <a:prstGeom prst="rect">
            <a:avLst/>
          </a:prstGeom>
        </p:spPr>
      </p:pic>
      <p:sp>
        <p:nvSpPr>
          <p:cNvPr id="8" name="TextBox 7"/>
          <p:cNvSpPr txBox="1"/>
          <p:nvPr/>
        </p:nvSpPr>
        <p:spPr>
          <a:xfrm>
            <a:off x="548640" y="5852160"/>
            <a:ext cx="6675120" cy="32004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 de vitórias da linha contra a coluna</a:t>
            </a:r>
          </a:p>
        </p:txBody>
      </p:sp>
      <p:sp>
        <p:nvSpPr>
          <p:cNvPr id="9" name="TextBox 8"/>
          <p:cNvSpPr txBox="1"/>
          <p:nvPr/>
        </p:nvSpPr>
        <p:spPr>
          <a:xfrm>
            <a:off x="7726679" y="1709928"/>
            <a:ext cx="3913632" cy="329184"/>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4A524D"/>
                </a:solidFill>
                <a:latin typeface="Open Sans"/>
              </a:rPr>
              <a:t>desequilíbrio</a:t>
            </a:r>
          </a:p>
        </p:txBody>
      </p:sp>
      <p:sp>
        <p:nvSpPr>
          <p:cNvPr id="10" name="TextBox 9"/>
          <p:cNvSpPr txBox="1"/>
          <p:nvPr/>
        </p:nvSpPr>
        <p:spPr>
          <a:xfrm>
            <a:off x="7726679" y="2029967"/>
            <a:ext cx="1417320" cy="658368"/>
          </a:xfrm>
          <a:prstGeom prst="rect">
            <a:avLst/>
          </a:prstGeom>
          <a:noFill/>
        </p:spPr>
        <p:txBody>
          <a:bodyPr wrap="square" lIns="0" rIns="0" tIns="0" bIns="0" anchor="t">
            <a:noAutofit/>
          </a:bodyPr>
          <a:lstStyle/>
          <a:p>
            <a:pPr algn="l">
              <a:lnSpc>
                <a:spcPct val="100000"/>
              </a:lnSpc>
              <a:spcBef>
                <a:spcPts val="0"/>
              </a:spcBef>
              <a:spcAft>
                <a:spcPts val="0"/>
              </a:spcAft>
            </a:pPr>
            <a:r>
              <a:rPr sz="3600" b="1" i="0">
                <a:solidFill>
                  <a:srgbClr val="17201B"/>
                </a:solidFill>
                <a:latin typeface="Open Sans"/>
              </a:rPr>
              <a:t>1,28</a:t>
            </a:r>
          </a:p>
        </p:txBody>
      </p:sp>
      <p:cxnSp>
        <p:nvCxnSpPr>
          <p:cNvPr id="11" name="Connector 10"/>
          <p:cNvCxnSpPr/>
          <p:nvPr/>
        </p:nvCxnSpPr>
        <p:spPr>
          <a:xfrm>
            <a:off x="9144000" y="2395727"/>
            <a:ext cx="457200" cy="0"/>
          </a:xfrm>
          <a:prstGeom prst="line">
            <a:avLst/>
          </a:prstGeom>
          <a:ln w="25400">
            <a:solidFill>
              <a:srgbClr val="6F7772"/>
            </a:solidFill>
            <a:tailEnd type="triangle"/>
          </a:ln>
        </p:spPr>
      </p:cxnSp>
      <p:sp>
        <p:nvSpPr>
          <p:cNvPr id="12" name="TextBox 11"/>
          <p:cNvSpPr txBox="1"/>
          <p:nvPr/>
        </p:nvSpPr>
        <p:spPr>
          <a:xfrm>
            <a:off x="9738359" y="2029967"/>
            <a:ext cx="1901952" cy="658368"/>
          </a:xfrm>
          <a:prstGeom prst="rect">
            <a:avLst/>
          </a:prstGeom>
          <a:noFill/>
        </p:spPr>
        <p:txBody>
          <a:bodyPr wrap="square" lIns="0" rIns="0" tIns="0" bIns="0" anchor="t">
            <a:noAutofit/>
          </a:bodyPr>
          <a:lstStyle/>
          <a:p>
            <a:pPr algn="l">
              <a:lnSpc>
                <a:spcPct val="100000"/>
              </a:lnSpc>
              <a:spcBef>
                <a:spcPts val="0"/>
              </a:spcBef>
              <a:spcAft>
                <a:spcPts val="0"/>
              </a:spcAft>
            </a:pPr>
            <a:r>
              <a:rPr sz="3600" b="1" i="0">
                <a:solidFill>
                  <a:srgbClr val="2A78D6"/>
                </a:solidFill>
                <a:latin typeface="Open Sans"/>
              </a:rPr>
              <a:t>0,036</a:t>
            </a:r>
          </a:p>
        </p:txBody>
      </p:sp>
      <p:sp>
        <p:nvSpPr>
          <p:cNvPr id="13" name="TextBox 12"/>
          <p:cNvSpPr txBox="1"/>
          <p:nvPr/>
        </p:nvSpPr>
        <p:spPr>
          <a:xfrm>
            <a:off x="7726679" y="2670048"/>
            <a:ext cx="146304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canônico</a:t>
            </a:r>
          </a:p>
        </p:txBody>
      </p:sp>
      <p:sp>
        <p:nvSpPr>
          <p:cNvPr id="14" name="TextBox 13"/>
          <p:cNvSpPr txBox="1"/>
          <p:nvPr/>
        </p:nvSpPr>
        <p:spPr>
          <a:xfrm>
            <a:off x="9738359" y="2670048"/>
            <a:ext cx="1901952" cy="310896"/>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AG escalar</a:t>
            </a:r>
          </a:p>
        </p:txBody>
      </p:sp>
      <p:cxnSp>
        <p:nvCxnSpPr>
          <p:cNvPr id="15" name="Connector 14"/>
          <p:cNvCxnSpPr/>
          <p:nvPr/>
        </p:nvCxnSpPr>
        <p:spPr>
          <a:xfrm>
            <a:off x="7726679" y="3127248"/>
            <a:ext cx="3913633" cy="0"/>
          </a:xfrm>
          <a:prstGeom prst="line">
            <a:avLst/>
          </a:prstGeom>
          <a:ln w="15240">
            <a:solidFill>
              <a:srgbClr val="D5DAD7"/>
            </a:solidFill>
          </a:ln>
        </p:spPr>
      </p:cxnSp>
      <p:sp>
        <p:nvSpPr>
          <p:cNvPr id="16" name="TextBox 15"/>
          <p:cNvSpPr txBox="1"/>
          <p:nvPr/>
        </p:nvSpPr>
        <p:spPr>
          <a:xfrm>
            <a:off x="7726679" y="3236976"/>
            <a:ext cx="3913632" cy="658368"/>
          </a:xfrm>
          <a:prstGeom prst="rect">
            <a:avLst/>
          </a:prstGeom>
          <a:noFill/>
        </p:spPr>
        <p:txBody>
          <a:bodyPr wrap="square" lIns="0" rIns="0" tIns="0" bIns="0" anchor="t">
            <a:noAutofit/>
          </a:bodyPr>
          <a:lstStyle/>
          <a:p>
            <a:pPr algn="l">
              <a:lnSpc>
                <a:spcPct val="100000"/>
              </a:lnSpc>
              <a:spcBef>
                <a:spcPts val="0"/>
              </a:spcBef>
              <a:spcAft>
                <a:spcPts val="0"/>
              </a:spcAft>
            </a:pPr>
            <a:r>
              <a:rPr sz="3600" b="1" i="0">
                <a:solidFill>
                  <a:srgbClr val="2A78D6"/>
                </a:solidFill>
                <a:latin typeface="Open Sans"/>
              </a:rPr>
              <a:t>20/20</a:t>
            </a:r>
          </a:p>
        </p:txBody>
      </p:sp>
      <p:sp>
        <p:nvSpPr>
          <p:cNvPr id="17" name="TextBox 16"/>
          <p:cNvSpPr txBox="1"/>
          <p:nvPr/>
        </p:nvSpPr>
        <p:spPr>
          <a:xfrm>
            <a:off x="7726679" y="3886200"/>
            <a:ext cx="3913632" cy="347472"/>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execuções convergiram</a:t>
            </a:r>
          </a:p>
        </p:txBody>
      </p:sp>
      <p:sp>
        <p:nvSpPr>
          <p:cNvPr id="18" name="TextBox 17"/>
          <p:cNvSpPr txBox="1"/>
          <p:nvPr/>
        </p:nvSpPr>
        <p:spPr>
          <a:xfrm>
            <a:off x="7726679" y="4224528"/>
            <a:ext cx="3913632" cy="310896"/>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na geração 31, em média</a:t>
            </a:r>
          </a:p>
        </p:txBody>
      </p:sp>
      <p:cxnSp>
        <p:nvCxnSpPr>
          <p:cNvPr id="19" name="Connector 18"/>
          <p:cNvCxnSpPr/>
          <p:nvPr/>
        </p:nvCxnSpPr>
        <p:spPr>
          <a:xfrm>
            <a:off x="7726679" y="4663440"/>
            <a:ext cx="3913633" cy="0"/>
          </a:xfrm>
          <a:prstGeom prst="line">
            <a:avLst/>
          </a:prstGeom>
          <a:ln w="15240">
            <a:solidFill>
              <a:srgbClr val="D5DAD7"/>
            </a:solidFill>
          </a:ln>
        </p:spPr>
      </p:cxnSp>
      <p:sp>
        <p:nvSpPr>
          <p:cNvPr id="20" name="TextBox 19"/>
          <p:cNvSpPr txBox="1"/>
          <p:nvPr/>
        </p:nvSpPr>
        <p:spPr>
          <a:xfrm>
            <a:off x="7726679" y="4773168"/>
            <a:ext cx="3913632" cy="658368"/>
          </a:xfrm>
          <a:prstGeom prst="rect">
            <a:avLst/>
          </a:prstGeom>
          <a:noFill/>
        </p:spPr>
        <p:txBody>
          <a:bodyPr wrap="square" lIns="0" rIns="0" tIns="0" bIns="0" anchor="t">
            <a:noAutofit/>
          </a:bodyPr>
          <a:lstStyle/>
          <a:p>
            <a:pPr algn="l">
              <a:lnSpc>
                <a:spcPct val="100000"/>
              </a:lnSpc>
              <a:spcBef>
                <a:spcPts val="0"/>
              </a:spcBef>
              <a:spcAft>
                <a:spcPts val="0"/>
              </a:spcAft>
            </a:pPr>
            <a:r>
              <a:rPr sz="3600" b="1" i="0">
                <a:solidFill>
                  <a:srgbClr val="2A78D6"/>
                </a:solidFill>
                <a:latin typeface="Open Sans"/>
              </a:rPr>
              <a:t>16/20</a:t>
            </a:r>
          </a:p>
        </p:txBody>
      </p:sp>
      <p:sp>
        <p:nvSpPr>
          <p:cNvPr id="21" name="TextBox 20"/>
          <p:cNvSpPr txBox="1"/>
          <p:nvPr/>
        </p:nvSpPr>
        <p:spPr>
          <a:xfrm>
            <a:off x="7726679" y="5422392"/>
            <a:ext cx="3913632" cy="347472"/>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terminaram equilibradas</a:t>
            </a:r>
          </a:p>
        </p:txBody>
      </p:sp>
      <p:sp>
        <p:nvSpPr>
          <p:cNvPr id="22" name="TextBox 21"/>
          <p:cNvSpPr txBox="1"/>
          <p:nvPr/>
        </p:nvSpPr>
        <p:spPr>
          <a:xfrm>
            <a:off x="7726679" y="5760720"/>
            <a:ext cx="3913632" cy="310896"/>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personagens 40–60%, confrontos até 65%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1" i="0">
                <a:solidFill>
                  <a:srgbClr val="FFFFFF"/>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2F9E41"/>
                </a:solidFill>
                <a:latin typeface="Open Sans"/>
              </a:rPr>
              <a:t>QP1  </a:t>
            </a:r>
            <a:r>
              <a:rPr sz="2600" b="1" i="0">
                <a:solidFill>
                  <a:srgbClr val="17201B"/>
                </a:solidFill>
                <a:latin typeface="Open Sans"/>
              </a:rPr>
              <a:t>Fora do laço, o equilíbrio se repete, mas depende das regras</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15</a:t>
            </a:r>
          </a:p>
        </p:txBody>
      </p:sp>
      <p:sp>
        <p:nvSpPr>
          <p:cNvPr id="7" name="Rounded Rectangle 6"/>
          <p:cNvSpPr/>
          <p:nvPr/>
        </p:nvSpPr>
        <p:spPr>
          <a:xfrm>
            <a:off x="548640" y="1709928"/>
            <a:ext cx="4160520" cy="4389120"/>
          </a:xfrm>
          <a:prstGeom prst="roundRect">
            <a:avLst>
              <a:gd name="adj" fmla="val 2637"/>
            </a:avLst>
          </a:prstGeom>
          <a:solidFill>
            <a:srgbClr val="E7F0FB"/>
          </a:solidFill>
          <a:ln>
            <a:noFill/>
          </a:ln>
        </p:spPr>
        <p:txBody>
          <a:bodyPr rtlCol="0" anchor="ctr"/>
          <a:lstStyle/>
          <a:p>
            <a:pPr algn="ctr"/>
          </a:p>
        </p:txBody>
      </p:sp>
      <p:sp>
        <p:nvSpPr>
          <p:cNvPr id="8" name="TextBox 7"/>
          <p:cNvSpPr txBox="1"/>
          <p:nvPr/>
        </p:nvSpPr>
        <p:spPr>
          <a:xfrm>
            <a:off x="868680" y="1865376"/>
            <a:ext cx="365760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A78D6"/>
                </a:solidFill>
                <a:latin typeface="Open Sans"/>
              </a:rPr>
              <a:t>SORTEIOS INÉDITOS</a:t>
            </a:r>
          </a:p>
        </p:txBody>
      </p:sp>
      <p:sp>
        <p:nvSpPr>
          <p:cNvPr id="9" name="TextBox 8"/>
          <p:cNvSpPr txBox="1"/>
          <p:nvPr/>
        </p:nvSpPr>
        <p:spPr>
          <a:xfrm>
            <a:off x="868680" y="2231136"/>
            <a:ext cx="3657600" cy="731520"/>
          </a:xfrm>
          <a:prstGeom prst="rect">
            <a:avLst/>
          </a:prstGeom>
          <a:noFill/>
        </p:spPr>
        <p:txBody>
          <a:bodyPr wrap="square" lIns="0" rIns="0" tIns="0" bIns="0" anchor="t">
            <a:noAutofit/>
          </a:bodyPr>
          <a:lstStyle/>
          <a:p>
            <a:pPr algn="l">
              <a:lnSpc>
                <a:spcPct val="100000"/>
              </a:lnSpc>
              <a:spcBef>
                <a:spcPts val="0"/>
              </a:spcBef>
              <a:spcAft>
                <a:spcPts val="0"/>
              </a:spcAft>
            </a:pPr>
            <a:r>
              <a:rPr sz="4000" b="1" i="0">
                <a:solidFill>
                  <a:srgbClr val="2A78D6"/>
                </a:solidFill>
                <a:latin typeface="Open Sans"/>
              </a:rPr>
              <a:t>replica</a:t>
            </a:r>
          </a:p>
        </p:txBody>
      </p:sp>
      <p:sp>
        <p:nvSpPr>
          <p:cNvPr id="10" name="TextBox 9"/>
          <p:cNvSpPr txBox="1"/>
          <p:nvPr/>
        </p:nvSpPr>
        <p:spPr>
          <a:xfrm>
            <a:off x="868680" y="3035808"/>
            <a:ext cx="3566160" cy="118872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7201B"/>
                </a:solidFill>
                <a:latin typeface="Open Sans"/>
              </a:rPr>
              <a:t>5.000 lutas por par, regras do treino: todos os confrontos dentro da faixa</a:t>
            </a:r>
          </a:p>
        </p:txBody>
      </p:sp>
      <p:sp>
        <p:nvSpPr>
          <p:cNvPr id="11" name="TextBox 10"/>
          <p:cNvSpPr txBox="1"/>
          <p:nvPr/>
        </p:nvSpPr>
        <p:spPr>
          <a:xfrm>
            <a:off x="868680" y="4361688"/>
            <a:ext cx="3566160" cy="146304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4A524D"/>
                </a:solidFill>
                <a:latin typeface="Open Sans"/>
              </a:rPr>
              <a:t>o único dos 4 elencos testados que replica (AG escalar, dois pontos do NSGA-II e o canônico)</a:t>
            </a:r>
          </a:p>
        </p:txBody>
      </p:sp>
      <p:sp>
        <p:nvSpPr>
          <p:cNvPr id="12" name="TextBox 11"/>
          <p:cNvSpPr txBox="1"/>
          <p:nvPr/>
        </p:nvSpPr>
        <p:spPr>
          <a:xfrm>
            <a:off x="4983480" y="1737360"/>
            <a:ext cx="658368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UMA REGRA DO COMBATE ALTERADA POR VEZ</a:t>
            </a:r>
          </a:p>
        </p:txBody>
      </p:sp>
      <p:sp>
        <p:nvSpPr>
          <p:cNvPr id="13" name="TextBox 12"/>
          <p:cNvSpPr txBox="1"/>
          <p:nvPr/>
        </p:nvSpPr>
        <p:spPr>
          <a:xfrm>
            <a:off x="4983480" y="2167127"/>
            <a:ext cx="2103120" cy="749808"/>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17201B"/>
                </a:solidFill>
                <a:latin typeface="Open Sans"/>
              </a:rPr>
              <a:t>Distância inicial</a:t>
            </a:r>
          </a:p>
        </p:txBody>
      </p:sp>
      <p:sp>
        <p:nvSpPr>
          <p:cNvPr id="14" name="Rounded Rectangle 13"/>
          <p:cNvSpPr/>
          <p:nvPr/>
        </p:nvSpPr>
        <p:spPr>
          <a:xfrm>
            <a:off x="7159752" y="2167127"/>
            <a:ext cx="2194560" cy="749808"/>
          </a:xfrm>
          <a:prstGeom prst="roundRect">
            <a:avLst>
              <a:gd name="adj" fmla="val 14634"/>
            </a:avLst>
          </a:prstGeom>
          <a:solidFill>
            <a:srgbClr val="E6F3E8"/>
          </a:solidFill>
          <a:ln>
            <a:noFill/>
          </a:ln>
        </p:spPr>
        <p:txBody>
          <a:bodyPr rtlCol="0" anchor="ctr"/>
          <a:lstStyle/>
          <a:p>
            <a:pPr algn="ctr"/>
          </a:p>
        </p:txBody>
      </p:sp>
      <p:sp>
        <p:nvSpPr>
          <p:cNvPr id="15" name="TextBox 14"/>
          <p:cNvSpPr txBox="1"/>
          <p:nvPr/>
        </p:nvSpPr>
        <p:spPr>
          <a:xfrm>
            <a:off x="7324344" y="2167127"/>
            <a:ext cx="685800" cy="749808"/>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17201B"/>
                </a:solidFill>
                <a:latin typeface="Open Sans"/>
              </a:rPr>
              <a:t>40</a:t>
            </a:r>
          </a:p>
        </p:txBody>
      </p:sp>
      <p:sp>
        <p:nvSpPr>
          <p:cNvPr id="16" name="TextBox 15"/>
          <p:cNvSpPr txBox="1"/>
          <p:nvPr/>
        </p:nvSpPr>
        <p:spPr>
          <a:xfrm>
            <a:off x="8001000" y="2167127"/>
            <a:ext cx="1298448" cy="749808"/>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1F6E2E"/>
                </a:solidFill>
                <a:latin typeface="Open Sans"/>
              </a:rPr>
              <a:t>robusto</a:t>
            </a:r>
          </a:p>
        </p:txBody>
      </p:sp>
      <p:sp>
        <p:nvSpPr>
          <p:cNvPr id="17" name="Rounded Rectangle 16"/>
          <p:cNvSpPr/>
          <p:nvPr/>
        </p:nvSpPr>
        <p:spPr>
          <a:xfrm>
            <a:off x="9418320" y="2167127"/>
            <a:ext cx="2194560" cy="749808"/>
          </a:xfrm>
          <a:prstGeom prst="roundRect">
            <a:avLst>
              <a:gd name="adj" fmla="val 14634"/>
            </a:avLst>
          </a:prstGeom>
          <a:solidFill>
            <a:srgbClr val="E6F3E8"/>
          </a:solidFill>
          <a:ln>
            <a:noFill/>
          </a:ln>
        </p:spPr>
        <p:txBody>
          <a:bodyPr rtlCol="0" anchor="ctr"/>
          <a:lstStyle/>
          <a:p>
            <a:pPr algn="ctr"/>
          </a:p>
        </p:txBody>
      </p:sp>
      <p:sp>
        <p:nvSpPr>
          <p:cNvPr id="18" name="TextBox 17"/>
          <p:cNvSpPr txBox="1"/>
          <p:nvPr/>
        </p:nvSpPr>
        <p:spPr>
          <a:xfrm>
            <a:off x="9582912" y="2167127"/>
            <a:ext cx="685800" cy="749808"/>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17201B"/>
                </a:solidFill>
                <a:latin typeface="Open Sans"/>
              </a:rPr>
              <a:t>60</a:t>
            </a:r>
          </a:p>
        </p:txBody>
      </p:sp>
      <p:sp>
        <p:nvSpPr>
          <p:cNvPr id="19" name="TextBox 18"/>
          <p:cNvSpPr txBox="1"/>
          <p:nvPr/>
        </p:nvSpPr>
        <p:spPr>
          <a:xfrm>
            <a:off x="10259568" y="2167127"/>
            <a:ext cx="1298448" cy="749808"/>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1F6E2E"/>
                </a:solidFill>
                <a:latin typeface="Open Sans"/>
              </a:rPr>
              <a:t>robusto</a:t>
            </a:r>
          </a:p>
        </p:txBody>
      </p:sp>
      <p:sp>
        <p:nvSpPr>
          <p:cNvPr id="20" name="TextBox 19"/>
          <p:cNvSpPr txBox="1"/>
          <p:nvPr/>
        </p:nvSpPr>
        <p:spPr>
          <a:xfrm>
            <a:off x="4983480" y="3035808"/>
            <a:ext cx="2103120" cy="749808"/>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17201B"/>
                </a:solidFill>
                <a:latin typeface="Open Sans"/>
              </a:rPr>
              <a:t>Tamanho do campo</a:t>
            </a:r>
          </a:p>
        </p:txBody>
      </p:sp>
      <p:sp>
        <p:nvSpPr>
          <p:cNvPr id="21" name="Rounded Rectangle 20"/>
          <p:cNvSpPr/>
          <p:nvPr/>
        </p:nvSpPr>
        <p:spPr>
          <a:xfrm>
            <a:off x="7159752" y="3035808"/>
            <a:ext cx="2194560" cy="749808"/>
          </a:xfrm>
          <a:prstGeom prst="roundRect">
            <a:avLst>
              <a:gd name="adj" fmla="val 14634"/>
            </a:avLst>
          </a:prstGeom>
          <a:solidFill>
            <a:srgbClr val="FBE6E6"/>
          </a:solidFill>
          <a:ln>
            <a:noFill/>
          </a:ln>
        </p:spPr>
        <p:txBody>
          <a:bodyPr rtlCol="0" anchor="ctr"/>
          <a:lstStyle/>
          <a:p>
            <a:pPr algn="ctr"/>
          </a:p>
        </p:txBody>
      </p:sp>
      <p:sp>
        <p:nvSpPr>
          <p:cNvPr id="22" name="TextBox 21"/>
          <p:cNvSpPr txBox="1"/>
          <p:nvPr/>
        </p:nvSpPr>
        <p:spPr>
          <a:xfrm>
            <a:off x="7324344" y="3035808"/>
            <a:ext cx="685800" cy="749808"/>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17201B"/>
                </a:solidFill>
                <a:latin typeface="Open Sans"/>
              </a:rPr>
              <a:t>80</a:t>
            </a:r>
          </a:p>
        </p:txBody>
      </p:sp>
      <p:sp>
        <p:nvSpPr>
          <p:cNvPr id="23" name="TextBox 22"/>
          <p:cNvSpPr txBox="1"/>
          <p:nvPr/>
        </p:nvSpPr>
        <p:spPr>
          <a:xfrm>
            <a:off x="8001000" y="3035808"/>
            <a:ext cx="1298448" cy="749808"/>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B3312F"/>
                </a:solidFill>
                <a:latin typeface="Open Sans"/>
              </a:rPr>
              <a:t>frágil</a:t>
            </a:r>
          </a:p>
        </p:txBody>
      </p:sp>
      <p:sp>
        <p:nvSpPr>
          <p:cNvPr id="24" name="Rounded Rectangle 23"/>
          <p:cNvSpPr/>
          <p:nvPr/>
        </p:nvSpPr>
        <p:spPr>
          <a:xfrm>
            <a:off x="9418320" y="3035808"/>
            <a:ext cx="2194560" cy="749808"/>
          </a:xfrm>
          <a:prstGeom prst="roundRect">
            <a:avLst>
              <a:gd name="adj" fmla="val 14634"/>
            </a:avLst>
          </a:prstGeom>
          <a:solidFill>
            <a:srgbClr val="E6F3E8"/>
          </a:solidFill>
          <a:ln>
            <a:noFill/>
          </a:ln>
        </p:spPr>
        <p:txBody>
          <a:bodyPr rtlCol="0" anchor="ctr"/>
          <a:lstStyle/>
          <a:p>
            <a:pPr algn="ctr"/>
          </a:p>
        </p:txBody>
      </p:sp>
      <p:sp>
        <p:nvSpPr>
          <p:cNvPr id="25" name="TextBox 24"/>
          <p:cNvSpPr txBox="1"/>
          <p:nvPr/>
        </p:nvSpPr>
        <p:spPr>
          <a:xfrm>
            <a:off x="9582912" y="3035808"/>
            <a:ext cx="685800" cy="749808"/>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17201B"/>
                </a:solidFill>
                <a:latin typeface="Open Sans"/>
              </a:rPr>
              <a:t>120</a:t>
            </a:r>
          </a:p>
        </p:txBody>
      </p:sp>
      <p:sp>
        <p:nvSpPr>
          <p:cNvPr id="26" name="TextBox 25"/>
          <p:cNvSpPr txBox="1"/>
          <p:nvPr/>
        </p:nvSpPr>
        <p:spPr>
          <a:xfrm>
            <a:off x="10259568" y="3035808"/>
            <a:ext cx="1298448" cy="749808"/>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1F6E2E"/>
                </a:solidFill>
                <a:latin typeface="Open Sans"/>
              </a:rPr>
              <a:t>robusto</a:t>
            </a:r>
          </a:p>
        </p:txBody>
      </p:sp>
      <p:sp>
        <p:nvSpPr>
          <p:cNvPr id="27" name="TextBox 26"/>
          <p:cNvSpPr txBox="1"/>
          <p:nvPr/>
        </p:nvSpPr>
        <p:spPr>
          <a:xfrm>
            <a:off x="4983480" y="3904487"/>
            <a:ext cx="2103120" cy="749808"/>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17201B"/>
                </a:solidFill>
                <a:latin typeface="Open Sans"/>
              </a:rPr>
              <a:t>Persistência da intenção</a:t>
            </a:r>
          </a:p>
        </p:txBody>
      </p:sp>
      <p:sp>
        <p:nvSpPr>
          <p:cNvPr id="28" name="Rounded Rectangle 27"/>
          <p:cNvSpPr/>
          <p:nvPr/>
        </p:nvSpPr>
        <p:spPr>
          <a:xfrm>
            <a:off x="7159752" y="3904487"/>
            <a:ext cx="2194560" cy="749808"/>
          </a:xfrm>
          <a:prstGeom prst="roundRect">
            <a:avLst>
              <a:gd name="adj" fmla="val 14634"/>
            </a:avLst>
          </a:prstGeom>
          <a:solidFill>
            <a:srgbClr val="ECEEED"/>
          </a:solidFill>
          <a:ln>
            <a:noFill/>
          </a:ln>
        </p:spPr>
        <p:txBody>
          <a:bodyPr rtlCol="0" anchor="ctr"/>
          <a:lstStyle/>
          <a:p>
            <a:pPr algn="ctr"/>
          </a:p>
        </p:txBody>
      </p:sp>
      <p:sp>
        <p:nvSpPr>
          <p:cNvPr id="29" name="TextBox 28"/>
          <p:cNvSpPr txBox="1"/>
          <p:nvPr/>
        </p:nvSpPr>
        <p:spPr>
          <a:xfrm>
            <a:off x="7324344" y="3904487"/>
            <a:ext cx="685800" cy="749808"/>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17201B"/>
                </a:solidFill>
                <a:latin typeface="Open Sans"/>
              </a:rPr>
              <a:t>4</a:t>
            </a:r>
          </a:p>
        </p:txBody>
      </p:sp>
      <p:sp>
        <p:nvSpPr>
          <p:cNvPr id="30" name="TextBox 29"/>
          <p:cNvSpPr txBox="1"/>
          <p:nvPr/>
        </p:nvSpPr>
        <p:spPr>
          <a:xfrm>
            <a:off x="8001000" y="3904487"/>
            <a:ext cx="1298448" cy="749808"/>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4A524D"/>
                </a:solidFill>
                <a:latin typeface="Open Sans"/>
              </a:rPr>
              <a:t>inconclusivo</a:t>
            </a:r>
          </a:p>
        </p:txBody>
      </p:sp>
      <p:sp>
        <p:nvSpPr>
          <p:cNvPr id="31" name="Rounded Rectangle 30"/>
          <p:cNvSpPr/>
          <p:nvPr/>
        </p:nvSpPr>
        <p:spPr>
          <a:xfrm>
            <a:off x="9418320" y="3904487"/>
            <a:ext cx="2194560" cy="749808"/>
          </a:xfrm>
          <a:prstGeom prst="roundRect">
            <a:avLst>
              <a:gd name="adj" fmla="val 14634"/>
            </a:avLst>
          </a:prstGeom>
          <a:solidFill>
            <a:srgbClr val="FBE6E6"/>
          </a:solidFill>
          <a:ln>
            <a:noFill/>
          </a:ln>
        </p:spPr>
        <p:txBody>
          <a:bodyPr rtlCol="0" anchor="ctr"/>
          <a:lstStyle/>
          <a:p>
            <a:pPr algn="ctr"/>
          </a:p>
        </p:txBody>
      </p:sp>
      <p:sp>
        <p:nvSpPr>
          <p:cNvPr id="32" name="TextBox 31"/>
          <p:cNvSpPr txBox="1"/>
          <p:nvPr/>
        </p:nvSpPr>
        <p:spPr>
          <a:xfrm>
            <a:off x="9582912" y="3904487"/>
            <a:ext cx="685800" cy="749808"/>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17201B"/>
                </a:solidFill>
                <a:latin typeface="Open Sans"/>
              </a:rPr>
              <a:t>6</a:t>
            </a:r>
          </a:p>
        </p:txBody>
      </p:sp>
      <p:sp>
        <p:nvSpPr>
          <p:cNvPr id="33" name="TextBox 32"/>
          <p:cNvSpPr txBox="1"/>
          <p:nvPr/>
        </p:nvSpPr>
        <p:spPr>
          <a:xfrm>
            <a:off x="10259568" y="3904487"/>
            <a:ext cx="1298448" cy="749808"/>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B3312F"/>
                </a:solidFill>
                <a:latin typeface="Open Sans"/>
              </a:rPr>
              <a:t>frágil</a:t>
            </a:r>
          </a:p>
        </p:txBody>
      </p:sp>
      <p:sp>
        <p:nvSpPr>
          <p:cNvPr id="34" name="TextBox 33"/>
          <p:cNvSpPr txBox="1"/>
          <p:nvPr/>
        </p:nvSpPr>
        <p:spPr>
          <a:xfrm>
            <a:off x="4983480" y="4773168"/>
            <a:ext cx="2103120" cy="749808"/>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17201B"/>
                </a:solidFill>
                <a:latin typeface="Open Sans"/>
              </a:rPr>
              <a:t>Multiplicador da guarda</a:t>
            </a:r>
          </a:p>
        </p:txBody>
      </p:sp>
      <p:sp>
        <p:nvSpPr>
          <p:cNvPr id="35" name="Rounded Rectangle 34"/>
          <p:cNvSpPr/>
          <p:nvPr/>
        </p:nvSpPr>
        <p:spPr>
          <a:xfrm>
            <a:off x="7159752" y="4773168"/>
            <a:ext cx="2194560" cy="749808"/>
          </a:xfrm>
          <a:prstGeom prst="roundRect">
            <a:avLst>
              <a:gd name="adj" fmla="val 14634"/>
            </a:avLst>
          </a:prstGeom>
          <a:solidFill>
            <a:srgbClr val="ECEEED"/>
          </a:solidFill>
          <a:ln>
            <a:noFill/>
          </a:ln>
        </p:spPr>
        <p:txBody>
          <a:bodyPr rtlCol="0" anchor="ctr"/>
          <a:lstStyle/>
          <a:p>
            <a:pPr algn="ctr"/>
          </a:p>
        </p:txBody>
      </p:sp>
      <p:sp>
        <p:nvSpPr>
          <p:cNvPr id="36" name="TextBox 35"/>
          <p:cNvSpPr txBox="1"/>
          <p:nvPr/>
        </p:nvSpPr>
        <p:spPr>
          <a:xfrm>
            <a:off x="7324344" y="4773168"/>
            <a:ext cx="685800" cy="749808"/>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17201B"/>
                </a:solidFill>
                <a:latin typeface="Open Sans"/>
              </a:rPr>
              <a:t>0,55</a:t>
            </a:r>
          </a:p>
        </p:txBody>
      </p:sp>
      <p:sp>
        <p:nvSpPr>
          <p:cNvPr id="37" name="TextBox 36"/>
          <p:cNvSpPr txBox="1"/>
          <p:nvPr/>
        </p:nvSpPr>
        <p:spPr>
          <a:xfrm>
            <a:off x="8001000" y="4773168"/>
            <a:ext cx="1298448" cy="749808"/>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4A524D"/>
                </a:solidFill>
                <a:latin typeface="Open Sans"/>
              </a:rPr>
              <a:t>inconclusivo</a:t>
            </a:r>
          </a:p>
        </p:txBody>
      </p:sp>
      <p:sp>
        <p:nvSpPr>
          <p:cNvPr id="38" name="Rounded Rectangle 37"/>
          <p:cNvSpPr/>
          <p:nvPr/>
        </p:nvSpPr>
        <p:spPr>
          <a:xfrm>
            <a:off x="9418320" y="4773168"/>
            <a:ext cx="2194560" cy="749808"/>
          </a:xfrm>
          <a:prstGeom prst="roundRect">
            <a:avLst>
              <a:gd name="adj" fmla="val 14634"/>
            </a:avLst>
          </a:prstGeom>
          <a:solidFill>
            <a:srgbClr val="E6F3E8"/>
          </a:solidFill>
          <a:ln>
            <a:noFill/>
          </a:ln>
        </p:spPr>
        <p:txBody>
          <a:bodyPr rtlCol="0" anchor="ctr"/>
          <a:lstStyle/>
          <a:p>
            <a:pPr algn="ctr"/>
          </a:p>
        </p:txBody>
      </p:sp>
      <p:sp>
        <p:nvSpPr>
          <p:cNvPr id="39" name="TextBox 38"/>
          <p:cNvSpPr txBox="1"/>
          <p:nvPr/>
        </p:nvSpPr>
        <p:spPr>
          <a:xfrm>
            <a:off x="9582912" y="4773168"/>
            <a:ext cx="685800" cy="749808"/>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17201B"/>
                </a:solidFill>
                <a:latin typeface="Open Sans"/>
              </a:rPr>
              <a:t>0,65</a:t>
            </a:r>
          </a:p>
        </p:txBody>
      </p:sp>
      <p:sp>
        <p:nvSpPr>
          <p:cNvPr id="40" name="TextBox 39"/>
          <p:cNvSpPr txBox="1"/>
          <p:nvPr/>
        </p:nvSpPr>
        <p:spPr>
          <a:xfrm>
            <a:off x="10259568" y="4773168"/>
            <a:ext cx="1298448" cy="749808"/>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1F6E2E"/>
                </a:solidFill>
                <a:latin typeface="Open Sans"/>
              </a:rPr>
              <a:t>robusto</a:t>
            </a:r>
          </a:p>
        </p:txBody>
      </p:sp>
      <p:sp>
        <p:nvSpPr>
          <p:cNvPr id="41" name="TextBox 40"/>
          <p:cNvSpPr txBox="1"/>
          <p:nvPr/>
        </p:nvSpPr>
        <p:spPr>
          <a:xfrm>
            <a:off x="4983480" y="5705856"/>
            <a:ext cx="6656832" cy="3657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7201B"/>
                </a:solidFill>
                <a:latin typeface="Open Sans"/>
              </a:rPr>
              <a:t>4 robustas · 2 inconclusivas · 2 frágeis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1" i="0">
                <a:solidFill>
                  <a:srgbClr val="FFFFFF"/>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2F9E41"/>
                </a:solidFill>
                <a:latin typeface="Open Sans"/>
              </a:rPr>
              <a:t>QP2  </a:t>
            </a:r>
            <a:r>
              <a:rPr sz="2600" b="1" i="0">
                <a:solidFill>
                  <a:srgbClr val="17201B"/>
                </a:solidFill>
                <a:latin typeface="Open Sans"/>
              </a:rPr>
              <a:t>Sem o termo, a identidade cai ao nível do acaso</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16</a:t>
            </a:r>
          </a:p>
        </p:txBody>
      </p:sp>
      <p:sp>
        <p:nvSpPr>
          <p:cNvPr id="7" name="Rounded Rectangle 6"/>
          <p:cNvSpPr/>
          <p:nvPr/>
        </p:nvSpPr>
        <p:spPr>
          <a:xfrm>
            <a:off x="4709160" y="1709928"/>
            <a:ext cx="2194560" cy="566928"/>
          </a:xfrm>
          <a:prstGeom prst="roundRect">
            <a:avLst>
              <a:gd name="adj" fmla="val 19354"/>
            </a:avLst>
          </a:prstGeom>
          <a:solidFill>
            <a:srgbClr val="E7F0FB"/>
          </a:solidFill>
          <a:ln>
            <a:noFill/>
          </a:ln>
        </p:spPr>
        <p:txBody>
          <a:bodyPr rtlCol="0" anchor="ctr"/>
          <a:lstStyle/>
          <a:p>
            <a:pPr algn="ctr"/>
          </a:p>
        </p:txBody>
      </p:sp>
      <p:sp>
        <p:nvSpPr>
          <p:cNvPr id="8" name="TextBox 7"/>
          <p:cNvSpPr txBox="1"/>
          <p:nvPr/>
        </p:nvSpPr>
        <p:spPr>
          <a:xfrm>
            <a:off x="4709160" y="1709928"/>
            <a:ext cx="2194560" cy="566928"/>
          </a:xfrm>
          <a:prstGeom prst="rect">
            <a:avLst/>
          </a:prstGeom>
          <a:noFill/>
        </p:spPr>
        <p:txBody>
          <a:bodyPr wrap="square" lIns="0" rIns="0" tIns="0" bIns="0" anchor="ctr">
            <a:noAutofit/>
          </a:bodyPr>
          <a:lstStyle/>
          <a:p>
            <a:pPr algn="ctr">
              <a:lnSpc>
                <a:spcPct val="100000"/>
              </a:lnSpc>
              <a:spcBef>
                <a:spcPts val="0"/>
              </a:spcBef>
              <a:spcAft>
                <a:spcPts val="0"/>
              </a:spcAft>
            </a:pPr>
            <a:r>
              <a:rPr sz="1700" b="1" i="0">
                <a:solidFill>
                  <a:srgbClr val="2A78D6"/>
                </a:solidFill>
                <a:latin typeface="Open Sans"/>
              </a:rPr>
              <a:t>AG escalar</a:t>
            </a:r>
          </a:p>
        </p:txBody>
      </p:sp>
      <p:sp>
        <p:nvSpPr>
          <p:cNvPr id="9" name="Rounded Rectangle 8"/>
          <p:cNvSpPr/>
          <p:nvPr/>
        </p:nvSpPr>
        <p:spPr>
          <a:xfrm>
            <a:off x="7040880" y="1709928"/>
            <a:ext cx="2194560" cy="566928"/>
          </a:xfrm>
          <a:prstGeom prst="roundRect">
            <a:avLst>
              <a:gd name="adj" fmla="val 19354"/>
            </a:avLst>
          </a:prstGeom>
          <a:solidFill>
            <a:srgbClr val="ECECEA"/>
          </a:solidFill>
          <a:ln>
            <a:noFill/>
          </a:ln>
        </p:spPr>
        <p:txBody>
          <a:bodyPr rtlCol="0" anchor="ctr"/>
          <a:lstStyle/>
          <a:p>
            <a:pPr algn="ctr"/>
          </a:p>
        </p:txBody>
      </p:sp>
      <p:sp>
        <p:nvSpPr>
          <p:cNvPr id="10" name="TextBox 9"/>
          <p:cNvSpPr txBox="1"/>
          <p:nvPr/>
        </p:nvSpPr>
        <p:spPr>
          <a:xfrm>
            <a:off x="7040880" y="1709928"/>
            <a:ext cx="2194560" cy="566928"/>
          </a:xfrm>
          <a:prstGeom prst="rect">
            <a:avLst/>
          </a:prstGeom>
          <a:noFill/>
        </p:spPr>
        <p:txBody>
          <a:bodyPr wrap="square" lIns="0" rIns="0" tIns="0" bIns="0" anchor="ctr">
            <a:noAutofit/>
          </a:bodyPr>
          <a:lstStyle/>
          <a:p>
            <a:pPr algn="ctr">
              <a:lnSpc>
                <a:spcPct val="100000"/>
              </a:lnSpc>
              <a:spcBef>
                <a:spcPts val="0"/>
              </a:spcBef>
              <a:spcAft>
                <a:spcPts val="0"/>
              </a:spcAft>
            </a:pPr>
            <a:r>
              <a:rPr sz="1700" b="1" i="0">
                <a:solidFill>
                  <a:srgbClr val="52514E"/>
                </a:solidFill>
                <a:latin typeface="Open Sans"/>
              </a:rPr>
              <a:t>sem o termo (λ = 0)</a:t>
            </a:r>
          </a:p>
        </p:txBody>
      </p:sp>
      <p:sp>
        <p:nvSpPr>
          <p:cNvPr id="11" name="Rounded Rectangle 10"/>
          <p:cNvSpPr/>
          <p:nvPr/>
        </p:nvSpPr>
        <p:spPr>
          <a:xfrm>
            <a:off x="9372600" y="1709928"/>
            <a:ext cx="2194560" cy="566928"/>
          </a:xfrm>
          <a:prstGeom prst="roundRect">
            <a:avLst>
              <a:gd name="adj" fmla="val 19354"/>
            </a:avLst>
          </a:prstGeom>
          <a:solidFill>
            <a:srgbClr val="F3F3F1"/>
          </a:solidFill>
          <a:ln>
            <a:noFill/>
          </a:ln>
        </p:spPr>
        <p:txBody>
          <a:bodyPr rtlCol="0" anchor="ctr"/>
          <a:lstStyle/>
          <a:p>
            <a:pPr algn="ctr"/>
          </a:p>
        </p:txBody>
      </p:sp>
      <p:sp>
        <p:nvSpPr>
          <p:cNvPr id="12" name="TextBox 11"/>
          <p:cNvSpPr txBox="1"/>
          <p:nvPr/>
        </p:nvSpPr>
        <p:spPr>
          <a:xfrm>
            <a:off x="9372600" y="1709928"/>
            <a:ext cx="2194560" cy="566928"/>
          </a:xfrm>
          <a:prstGeom prst="rect">
            <a:avLst/>
          </a:prstGeom>
          <a:noFill/>
        </p:spPr>
        <p:txBody>
          <a:bodyPr wrap="square" lIns="0" rIns="0" tIns="0" bIns="0" anchor="ctr">
            <a:noAutofit/>
          </a:bodyPr>
          <a:lstStyle/>
          <a:p>
            <a:pPr algn="ctr">
              <a:lnSpc>
                <a:spcPct val="100000"/>
              </a:lnSpc>
              <a:spcBef>
                <a:spcPts val="0"/>
              </a:spcBef>
              <a:spcAft>
                <a:spcPts val="0"/>
              </a:spcAft>
            </a:pPr>
            <a:r>
              <a:rPr sz="1700" b="1" i="0">
                <a:solidFill>
                  <a:srgbClr val="8E8C86"/>
                </a:solidFill>
                <a:latin typeface="Open Sans"/>
              </a:rPr>
              <a:t>elencos sorteados</a:t>
            </a:r>
          </a:p>
        </p:txBody>
      </p:sp>
      <p:sp>
        <p:nvSpPr>
          <p:cNvPr id="13" name="TextBox 12"/>
          <p:cNvSpPr txBox="1"/>
          <p:nvPr/>
        </p:nvSpPr>
        <p:spPr>
          <a:xfrm>
            <a:off x="548640" y="1709928"/>
            <a:ext cx="3931920" cy="566928"/>
          </a:xfrm>
          <a:prstGeom prst="rect">
            <a:avLst/>
          </a:prstGeom>
          <a:noFill/>
        </p:spPr>
        <p:txBody>
          <a:bodyPr wrap="square" lIns="0" rIns="0" tIns="0" bIns="0" anchor="ctr">
            <a:noAutofit/>
          </a:bodyPr>
          <a:lstStyle/>
          <a:p>
            <a:pPr algn="l">
              <a:lnSpc>
                <a:spcPct val="100000"/>
              </a:lnSpc>
              <a:spcBef>
                <a:spcPts val="0"/>
              </a:spcBef>
              <a:spcAft>
                <a:spcPts val="0"/>
              </a:spcAft>
            </a:pPr>
            <a:r>
              <a:rPr sz="1500" b="0" i="0">
                <a:solidFill>
                  <a:srgbClr val="6F7772"/>
                </a:solidFill>
                <a:latin typeface="Open Sans"/>
              </a:rPr>
              <a:t>identidade: as 4 separam, p ≤ 0,0044</a:t>
            </a:r>
          </a:p>
        </p:txBody>
      </p:sp>
      <p:cxnSp>
        <p:nvCxnSpPr>
          <p:cNvPr id="14" name="Connector 13"/>
          <p:cNvCxnSpPr/>
          <p:nvPr/>
        </p:nvCxnSpPr>
        <p:spPr>
          <a:xfrm>
            <a:off x="548640" y="2395728"/>
            <a:ext cx="11091672" cy="0"/>
          </a:xfrm>
          <a:prstGeom prst="line">
            <a:avLst/>
          </a:prstGeom>
          <a:ln w="12700">
            <a:solidFill>
              <a:srgbClr val="D5DAD7"/>
            </a:solidFill>
          </a:ln>
        </p:spPr>
      </p:cxnSp>
      <p:sp>
        <p:nvSpPr>
          <p:cNvPr id="15" name="TextBox 14"/>
          <p:cNvSpPr txBox="1"/>
          <p:nvPr/>
        </p:nvSpPr>
        <p:spPr>
          <a:xfrm>
            <a:off x="548640" y="2441448"/>
            <a:ext cx="4023360" cy="384048"/>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Desvio do canônico</a:t>
            </a:r>
          </a:p>
        </p:txBody>
      </p:sp>
      <p:sp>
        <p:nvSpPr>
          <p:cNvPr id="16" name="TextBox 15"/>
          <p:cNvSpPr txBox="1"/>
          <p:nvPr/>
        </p:nvSpPr>
        <p:spPr>
          <a:xfrm>
            <a:off x="548640" y="2807208"/>
            <a:ext cx="402336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menor = mais fiel</a:t>
            </a:r>
          </a:p>
        </p:txBody>
      </p:sp>
      <p:sp>
        <p:nvSpPr>
          <p:cNvPr id="17" name="TextBox 16"/>
          <p:cNvSpPr txBox="1"/>
          <p:nvPr/>
        </p:nvSpPr>
        <p:spPr>
          <a:xfrm>
            <a:off x="4709160" y="2441448"/>
            <a:ext cx="2194560" cy="676656"/>
          </a:xfrm>
          <a:prstGeom prst="rect">
            <a:avLst/>
          </a:prstGeom>
          <a:noFill/>
        </p:spPr>
        <p:txBody>
          <a:bodyPr wrap="square" lIns="0" rIns="0" tIns="0" bIns="0" anchor="ctr">
            <a:noAutofit/>
          </a:bodyPr>
          <a:lstStyle/>
          <a:p>
            <a:pPr algn="ctr">
              <a:lnSpc>
                <a:spcPct val="100000"/>
              </a:lnSpc>
              <a:spcBef>
                <a:spcPts val="0"/>
              </a:spcBef>
              <a:spcAft>
                <a:spcPts val="0"/>
              </a:spcAft>
            </a:pPr>
            <a:r>
              <a:rPr sz="2800" b="1" i="0">
                <a:solidFill>
                  <a:srgbClr val="2A78D6"/>
                </a:solidFill>
                <a:latin typeface="Open Sans"/>
              </a:rPr>
              <a:t>0,25</a:t>
            </a:r>
          </a:p>
        </p:txBody>
      </p:sp>
      <p:sp>
        <p:nvSpPr>
          <p:cNvPr id="18" name="TextBox 17"/>
          <p:cNvSpPr txBox="1"/>
          <p:nvPr/>
        </p:nvSpPr>
        <p:spPr>
          <a:xfrm>
            <a:off x="7040880" y="2441448"/>
            <a:ext cx="2194560" cy="676656"/>
          </a:xfrm>
          <a:prstGeom prst="rect">
            <a:avLst/>
          </a:prstGeom>
          <a:noFill/>
        </p:spPr>
        <p:txBody>
          <a:bodyPr wrap="square" lIns="0" rIns="0" tIns="0" bIns="0" anchor="ctr">
            <a:noAutofit/>
          </a:bodyPr>
          <a:lstStyle/>
          <a:p>
            <a:pPr algn="ctr">
              <a:lnSpc>
                <a:spcPct val="100000"/>
              </a:lnSpc>
              <a:spcBef>
                <a:spcPts val="0"/>
              </a:spcBef>
              <a:spcAft>
                <a:spcPts val="0"/>
              </a:spcAft>
            </a:pPr>
            <a:r>
              <a:rPr sz="2800" b="1" i="0">
                <a:solidFill>
                  <a:srgbClr val="52514E"/>
                </a:solidFill>
                <a:latin typeface="Open Sans"/>
              </a:rPr>
              <a:t>0,41</a:t>
            </a:r>
          </a:p>
        </p:txBody>
      </p:sp>
      <p:sp>
        <p:nvSpPr>
          <p:cNvPr id="19" name="TextBox 18"/>
          <p:cNvSpPr txBox="1"/>
          <p:nvPr/>
        </p:nvSpPr>
        <p:spPr>
          <a:xfrm>
            <a:off x="9372600" y="2441448"/>
            <a:ext cx="2194560" cy="676656"/>
          </a:xfrm>
          <a:prstGeom prst="rect">
            <a:avLst/>
          </a:prstGeom>
          <a:noFill/>
        </p:spPr>
        <p:txBody>
          <a:bodyPr wrap="square" lIns="0" rIns="0" tIns="0" bIns="0" anchor="ctr">
            <a:noAutofit/>
          </a:bodyPr>
          <a:lstStyle/>
          <a:p>
            <a:pPr algn="ctr">
              <a:lnSpc>
                <a:spcPct val="100000"/>
              </a:lnSpc>
              <a:spcBef>
                <a:spcPts val="0"/>
              </a:spcBef>
              <a:spcAft>
                <a:spcPts val="0"/>
              </a:spcAft>
            </a:pPr>
            <a:r>
              <a:rPr sz="2800" b="1" i="0">
                <a:solidFill>
                  <a:srgbClr val="8E8C86"/>
                </a:solidFill>
                <a:latin typeface="Open Sans"/>
              </a:rPr>
              <a:t>0,42</a:t>
            </a:r>
          </a:p>
        </p:txBody>
      </p:sp>
      <p:cxnSp>
        <p:nvCxnSpPr>
          <p:cNvPr id="20" name="Connector 19"/>
          <p:cNvCxnSpPr/>
          <p:nvPr/>
        </p:nvCxnSpPr>
        <p:spPr>
          <a:xfrm>
            <a:off x="548640" y="3145536"/>
            <a:ext cx="11091672" cy="0"/>
          </a:xfrm>
          <a:prstGeom prst="line">
            <a:avLst/>
          </a:prstGeom>
          <a:ln w="12700">
            <a:solidFill>
              <a:srgbClr val="D5DAD7"/>
            </a:solidFill>
          </a:ln>
        </p:spPr>
      </p:cxnSp>
      <p:sp>
        <p:nvSpPr>
          <p:cNvPr id="21" name="TextBox 20"/>
          <p:cNvSpPr txBox="1"/>
          <p:nvPr/>
        </p:nvSpPr>
        <p:spPr>
          <a:xfrm>
            <a:off x="548640" y="3191256"/>
            <a:ext cx="4023360" cy="384048"/>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Asserções sobre os genes</a:t>
            </a:r>
          </a:p>
        </p:txBody>
      </p:sp>
      <p:sp>
        <p:nvSpPr>
          <p:cNvPr id="22" name="TextBox 21"/>
          <p:cNvSpPr txBox="1"/>
          <p:nvPr/>
        </p:nvSpPr>
        <p:spPr>
          <a:xfrm>
            <a:off x="548640" y="3557016"/>
            <a:ext cx="402336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de 18</a:t>
            </a:r>
          </a:p>
        </p:txBody>
      </p:sp>
      <p:sp>
        <p:nvSpPr>
          <p:cNvPr id="23" name="TextBox 22"/>
          <p:cNvSpPr txBox="1"/>
          <p:nvPr/>
        </p:nvSpPr>
        <p:spPr>
          <a:xfrm>
            <a:off x="4709160" y="3191256"/>
            <a:ext cx="2194560" cy="676656"/>
          </a:xfrm>
          <a:prstGeom prst="rect">
            <a:avLst/>
          </a:prstGeom>
          <a:noFill/>
        </p:spPr>
        <p:txBody>
          <a:bodyPr wrap="square" lIns="0" rIns="0" tIns="0" bIns="0" anchor="ctr">
            <a:noAutofit/>
          </a:bodyPr>
          <a:lstStyle/>
          <a:p>
            <a:pPr algn="ctr">
              <a:lnSpc>
                <a:spcPct val="100000"/>
              </a:lnSpc>
              <a:spcBef>
                <a:spcPts val="0"/>
              </a:spcBef>
              <a:spcAft>
                <a:spcPts val="0"/>
              </a:spcAft>
            </a:pPr>
            <a:r>
              <a:rPr sz="2800" b="1" i="0">
                <a:solidFill>
                  <a:srgbClr val="2A78D6"/>
                </a:solidFill>
                <a:latin typeface="Open Sans"/>
              </a:rPr>
              <a:t>11</a:t>
            </a:r>
          </a:p>
        </p:txBody>
      </p:sp>
      <p:sp>
        <p:nvSpPr>
          <p:cNvPr id="24" name="TextBox 23"/>
          <p:cNvSpPr txBox="1"/>
          <p:nvPr/>
        </p:nvSpPr>
        <p:spPr>
          <a:xfrm>
            <a:off x="7040880" y="3191256"/>
            <a:ext cx="2194560" cy="676656"/>
          </a:xfrm>
          <a:prstGeom prst="rect">
            <a:avLst/>
          </a:prstGeom>
          <a:noFill/>
        </p:spPr>
        <p:txBody>
          <a:bodyPr wrap="square" lIns="0" rIns="0" tIns="0" bIns="0" anchor="ctr">
            <a:noAutofit/>
          </a:bodyPr>
          <a:lstStyle/>
          <a:p>
            <a:pPr algn="ctr">
              <a:lnSpc>
                <a:spcPct val="100000"/>
              </a:lnSpc>
              <a:spcBef>
                <a:spcPts val="0"/>
              </a:spcBef>
              <a:spcAft>
                <a:spcPts val="0"/>
              </a:spcAft>
            </a:pPr>
            <a:r>
              <a:rPr sz="2800" b="1" i="0">
                <a:solidFill>
                  <a:srgbClr val="52514E"/>
                </a:solidFill>
                <a:latin typeface="Open Sans"/>
              </a:rPr>
              <a:t>6</a:t>
            </a:r>
          </a:p>
        </p:txBody>
      </p:sp>
      <p:sp>
        <p:nvSpPr>
          <p:cNvPr id="25" name="TextBox 24"/>
          <p:cNvSpPr txBox="1"/>
          <p:nvPr/>
        </p:nvSpPr>
        <p:spPr>
          <a:xfrm>
            <a:off x="9372600" y="3191256"/>
            <a:ext cx="2194560" cy="676656"/>
          </a:xfrm>
          <a:prstGeom prst="rect">
            <a:avLst/>
          </a:prstGeom>
          <a:noFill/>
        </p:spPr>
        <p:txBody>
          <a:bodyPr wrap="square" lIns="0" rIns="0" tIns="0" bIns="0" anchor="ctr">
            <a:noAutofit/>
          </a:bodyPr>
          <a:lstStyle/>
          <a:p>
            <a:pPr algn="ctr">
              <a:lnSpc>
                <a:spcPct val="100000"/>
              </a:lnSpc>
              <a:spcBef>
                <a:spcPts val="0"/>
              </a:spcBef>
              <a:spcAft>
                <a:spcPts val="0"/>
              </a:spcAft>
            </a:pPr>
            <a:r>
              <a:rPr sz="2800" b="1" i="0">
                <a:solidFill>
                  <a:srgbClr val="8E8C86"/>
                </a:solidFill>
                <a:latin typeface="Open Sans"/>
              </a:rPr>
              <a:t>5,4</a:t>
            </a:r>
          </a:p>
        </p:txBody>
      </p:sp>
      <p:cxnSp>
        <p:nvCxnSpPr>
          <p:cNvPr id="26" name="Connector 25"/>
          <p:cNvCxnSpPr/>
          <p:nvPr/>
        </p:nvCxnSpPr>
        <p:spPr>
          <a:xfrm>
            <a:off x="548640" y="3895344"/>
            <a:ext cx="11091672" cy="0"/>
          </a:xfrm>
          <a:prstGeom prst="line">
            <a:avLst/>
          </a:prstGeom>
          <a:ln w="12700">
            <a:solidFill>
              <a:srgbClr val="D5DAD7"/>
            </a:solidFill>
          </a:ln>
        </p:spPr>
      </p:cxnSp>
      <p:sp>
        <p:nvSpPr>
          <p:cNvPr id="27" name="TextBox 26"/>
          <p:cNvSpPr txBox="1"/>
          <p:nvPr/>
        </p:nvSpPr>
        <p:spPr>
          <a:xfrm>
            <a:off x="548640" y="3941064"/>
            <a:ext cx="4023360" cy="384048"/>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Asserções de comportamento</a:t>
            </a:r>
          </a:p>
        </p:txBody>
      </p:sp>
      <p:sp>
        <p:nvSpPr>
          <p:cNvPr id="28" name="TextBox 27"/>
          <p:cNvSpPr txBox="1"/>
          <p:nvPr/>
        </p:nvSpPr>
        <p:spPr>
          <a:xfrm>
            <a:off x="548640" y="4306824"/>
            <a:ext cx="402336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de 5</a:t>
            </a:r>
          </a:p>
        </p:txBody>
      </p:sp>
      <p:sp>
        <p:nvSpPr>
          <p:cNvPr id="29" name="TextBox 28"/>
          <p:cNvSpPr txBox="1"/>
          <p:nvPr/>
        </p:nvSpPr>
        <p:spPr>
          <a:xfrm>
            <a:off x="4709160" y="3941064"/>
            <a:ext cx="2194560" cy="676656"/>
          </a:xfrm>
          <a:prstGeom prst="rect">
            <a:avLst/>
          </a:prstGeom>
          <a:noFill/>
        </p:spPr>
        <p:txBody>
          <a:bodyPr wrap="square" lIns="0" rIns="0" tIns="0" bIns="0" anchor="ctr">
            <a:noAutofit/>
          </a:bodyPr>
          <a:lstStyle/>
          <a:p>
            <a:pPr algn="ctr">
              <a:lnSpc>
                <a:spcPct val="100000"/>
              </a:lnSpc>
              <a:spcBef>
                <a:spcPts val="0"/>
              </a:spcBef>
              <a:spcAft>
                <a:spcPts val="0"/>
              </a:spcAft>
            </a:pPr>
            <a:r>
              <a:rPr sz="2800" b="1" i="0">
                <a:solidFill>
                  <a:srgbClr val="2A78D6"/>
                </a:solidFill>
                <a:latin typeface="Open Sans"/>
              </a:rPr>
              <a:t>3</a:t>
            </a:r>
          </a:p>
        </p:txBody>
      </p:sp>
      <p:sp>
        <p:nvSpPr>
          <p:cNvPr id="30" name="TextBox 29"/>
          <p:cNvSpPr txBox="1"/>
          <p:nvPr/>
        </p:nvSpPr>
        <p:spPr>
          <a:xfrm>
            <a:off x="7040880" y="3941064"/>
            <a:ext cx="2194560" cy="676656"/>
          </a:xfrm>
          <a:prstGeom prst="rect">
            <a:avLst/>
          </a:prstGeom>
          <a:noFill/>
        </p:spPr>
        <p:txBody>
          <a:bodyPr wrap="square" lIns="0" rIns="0" tIns="0" bIns="0" anchor="ctr">
            <a:noAutofit/>
          </a:bodyPr>
          <a:lstStyle/>
          <a:p>
            <a:pPr algn="ctr">
              <a:lnSpc>
                <a:spcPct val="100000"/>
              </a:lnSpc>
              <a:spcBef>
                <a:spcPts val="0"/>
              </a:spcBef>
              <a:spcAft>
                <a:spcPts val="0"/>
              </a:spcAft>
            </a:pPr>
            <a:r>
              <a:rPr sz="2800" b="1" i="0">
                <a:solidFill>
                  <a:srgbClr val="52514E"/>
                </a:solidFill>
                <a:latin typeface="Open Sans"/>
              </a:rPr>
              <a:t>1</a:t>
            </a:r>
          </a:p>
        </p:txBody>
      </p:sp>
      <p:sp>
        <p:nvSpPr>
          <p:cNvPr id="31" name="TextBox 30"/>
          <p:cNvSpPr txBox="1"/>
          <p:nvPr/>
        </p:nvSpPr>
        <p:spPr>
          <a:xfrm>
            <a:off x="9372600" y="3941064"/>
            <a:ext cx="2194560" cy="676656"/>
          </a:xfrm>
          <a:prstGeom prst="rect">
            <a:avLst/>
          </a:prstGeom>
          <a:noFill/>
        </p:spPr>
        <p:txBody>
          <a:bodyPr wrap="square" lIns="0" rIns="0" tIns="0" bIns="0" anchor="ctr">
            <a:noAutofit/>
          </a:bodyPr>
          <a:lstStyle/>
          <a:p>
            <a:pPr algn="ctr">
              <a:lnSpc>
                <a:spcPct val="100000"/>
              </a:lnSpc>
              <a:spcBef>
                <a:spcPts val="0"/>
              </a:spcBef>
              <a:spcAft>
                <a:spcPts val="0"/>
              </a:spcAft>
            </a:pPr>
            <a:r>
              <a:rPr sz="2800" b="1" i="0">
                <a:solidFill>
                  <a:srgbClr val="8E8C86"/>
                </a:solidFill>
                <a:latin typeface="Open Sans"/>
              </a:rPr>
              <a:t>1,0</a:t>
            </a:r>
          </a:p>
        </p:txBody>
      </p:sp>
      <p:cxnSp>
        <p:nvCxnSpPr>
          <p:cNvPr id="32" name="Connector 31"/>
          <p:cNvCxnSpPr/>
          <p:nvPr/>
        </p:nvCxnSpPr>
        <p:spPr>
          <a:xfrm>
            <a:off x="548640" y="4645152"/>
            <a:ext cx="11091672" cy="0"/>
          </a:xfrm>
          <a:prstGeom prst="line">
            <a:avLst/>
          </a:prstGeom>
          <a:ln w="12700">
            <a:solidFill>
              <a:srgbClr val="D5DAD7"/>
            </a:solidFill>
          </a:ln>
        </p:spPr>
      </p:cxnSp>
      <p:sp>
        <p:nvSpPr>
          <p:cNvPr id="33" name="TextBox 32"/>
          <p:cNvSpPr txBox="1"/>
          <p:nvPr/>
        </p:nvSpPr>
        <p:spPr>
          <a:xfrm>
            <a:off x="548640" y="4690872"/>
            <a:ext cx="4023360" cy="384048"/>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Concordância τ</a:t>
            </a:r>
          </a:p>
        </p:txBody>
      </p:sp>
      <p:sp>
        <p:nvSpPr>
          <p:cNvPr id="34" name="TextBox 33"/>
          <p:cNvSpPr txBox="1"/>
          <p:nvPr/>
        </p:nvSpPr>
        <p:spPr>
          <a:xfrm>
            <a:off x="548640" y="5056632"/>
            <a:ext cx="402336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canônico = 1</a:t>
            </a:r>
          </a:p>
        </p:txBody>
      </p:sp>
      <p:sp>
        <p:nvSpPr>
          <p:cNvPr id="35" name="TextBox 34"/>
          <p:cNvSpPr txBox="1"/>
          <p:nvPr/>
        </p:nvSpPr>
        <p:spPr>
          <a:xfrm>
            <a:off x="4709160" y="4690872"/>
            <a:ext cx="2194560" cy="676656"/>
          </a:xfrm>
          <a:prstGeom prst="rect">
            <a:avLst/>
          </a:prstGeom>
          <a:noFill/>
        </p:spPr>
        <p:txBody>
          <a:bodyPr wrap="square" lIns="0" rIns="0" tIns="0" bIns="0" anchor="ctr">
            <a:noAutofit/>
          </a:bodyPr>
          <a:lstStyle/>
          <a:p>
            <a:pPr algn="ctr">
              <a:lnSpc>
                <a:spcPct val="100000"/>
              </a:lnSpc>
              <a:spcBef>
                <a:spcPts val="0"/>
              </a:spcBef>
              <a:spcAft>
                <a:spcPts val="0"/>
              </a:spcAft>
            </a:pPr>
            <a:r>
              <a:rPr sz="2800" b="1" i="0">
                <a:solidFill>
                  <a:srgbClr val="2A78D6"/>
                </a:solidFill>
                <a:latin typeface="Open Sans"/>
              </a:rPr>
              <a:t>0,28</a:t>
            </a:r>
          </a:p>
        </p:txBody>
      </p:sp>
      <p:sp>
        <p:nvSpPr>
          <p:cNvPr id="36" name="TextBox 35"/>
          <p:cNvSpPr txBox="1"/>
          <p:nvPr/>
        </p:nvSpPr>
        <p:spPr>
          <a:xfrm>
            <a:off x="7040880" y="4690872"/>
            <a:ext cx="2194560" cy="676656"/>
          </a:xfrm>
          <a:prstGeom prst="rect">
            <a:avLst/>
          </a:prstGeom>
          <a:noFill/>
        </p:spPr>
        <p:txBody>
          <a:bodyPr wrap="square" lIns="0" rIns="0" tIns="0" bIns="0" anchor="ctr">
            <a:noAutofit/>
          </a:bodyPr>
          <a:lstStyle/>
          <a:p>
            <a:pPr algn="ctr">
              <a:lnSpc>
                <a:spcPct val="100000"/>
              </a:lnSpc>
              <a:spcBef>
                <a:spcPts val="0"/>
              </a:spcBef>
              <a:spcAft>
                <a:spcPts val="0"/>
              </a:spcAft>
            </a:pPr>
            <a:r>
              <a:rPr sz="2800" b="1" i="0">
                <a:solidFill>
                  <a:srgbClr val="52514E"/>
                </a:solidFill>
                <a:latin typeface="Open Sans"/>
              </a:rPr>
              <a:t>−0,03</a:t>
            </a:r>
          </a:p>
        </p:txBody>
      </p:sp>
      <p:sp>
        <p:nvSpPr>
          <p:cNvPr id="37" name="TextBox 36"/>
          <p:cNvSpPr txBox="1"/>
          <p:nvPr/>
        </p:nvSpPr>
        <p:spPr>
          <a:xfrm>
            <a:off x="9372600" y="4690872"/>
            <a:ext cx="2194560" cy="676656"/>
          </a:xfrm>
          <a:prstGeom prst="rect">
            <a:avLst/>
          </a:prstGeom>
          <a:noFill/>
        </p:spPr>
        <p:txBody>
          <a:bodyPr wrap="square" lIns="0" rIns="0" tIns="0" bIns="0" anchor="ctr">
            <a:noAutofit/>
          </a:bodyPr>
          <a:lstStyle/>
          <a:p>
            <a:pPr algn="ctr">
              <a:lnSpc>
                <a:spcPct val="100000"/>
              </a:lnSpc>
              <a:spcBef>
                <a:spcPts val="0"/>
              </a:spcBef>
              <a:spcAft>
                <a:spcPts val="0"/>
              </a:spcAft>
            </a:pPr>
            <a:r>
              <a:rPr sz="2800" b="1" i="0">
                <a:solidFill>
                  <a:srgbClr val="8E8C86"/>
                </a:solidFill>
                <a:latin typeface="Open Sans"/>
              </a:rPr>
              <a:t>−0,02</a:t>
            </a:r>
          </a:p>
        </p:txBody>
      </p:sp>
      <p:sp>
        <p:nvSpPr>
          <p:cNvPr id="38" name="Rounded Rectangle 37"/>
          <p:cNvSpPr/>
          <p:nvPr/>
        </p:nvSpPr>
        <p:spPr>
          <a:xfrm>
            <a:off x="548640" y="5504688"/>
            <a:ext cx="11091672" cy="603504"/>
          </a:xfrm>
          <a:prstGeom prst="roundRect">
            <a:avLst>
              <a:gd name="adj" fmla="val 18181"/>
            </a:avLst>
          </a:prstGeom>
          <a:solidFill>
            <a:srgbClr val="F2F4F3"/>
          </a:solidFill>
          <a:ln>
            <a:noFill/>
          </a:ln>
        </p:spPr>
        <p:txBody>
          <a:bodyPr rtlCol="0" anchor="ctr"/>
          <a:lstStyle/>
          <a:p>
            <a:pPr algn="ctr"/>
          </a:p>
        </p:txBody>
      </p:sp>
      <p:sp>
        <p:nvSpPr>
          <p:cNvPr id="39" name="TextBox 38"/>
          <p:cNvSpPr txBox="1"/>
          <p:nvPr/>
        </p:nvSpPr>
        <p:spPr>
          <a:xfrm>
            <a:off x="822959" y="5504688"/>
            <a:ext cx="10543032" cy="603504"/>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17201B"/>
                </a:solidFill>
                <a:latin typeface="Open Sans"/>
              </a:rPr>
              <a:t>Equilíbrio:</a:t>
            </a:r>
            <a:r>
              <a:rPr sz="1700" b="0" i="0">
                <a:solidFill>
                  <a:srgbClr val="17201B"/>
                </a:solidFill>
                <a:latin typeface="Open Sans"/>
              </a:rPr>
              <a:t> 0,036 contra 0,043, diferença não significativa após Holm (p = 0,059)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1" i="0">
                <a:solidFill>
                  <a:srgbClr val="FFFFFF"/>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2F9E41"/>
                </a:solidFill>
                <a:latin typeface="Open Sans"/>
              </a:rPr>
              <a:t>QP2  </a:t>
            </a:r>
            <a:r>
              <a:rPr sz="2600" b="1" i="0">
                <a:solidFill>
                  <a:srgbClr val="17201B"/>
                </a:solidFill>
                <a:latin typeface="Open Sans"/>
              </a:rPr>
              <a:t>A política é o que mais se perde, e a busca mal a enxerga</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17</a:t>
            </a:r>
          </a:p>
        </p:txBody>
      </p:sp>
      <p:sp>
        <p:nvSpPr>
          <p:cNvPr id="7" name="Rounded Rectangle 6"/>
          <p:cNvSpPr/>
          <p:nvPr/>
        </p:nvSpPr>
        <p:spPr>
          <a:xfrm>
            <a:off x="548640" y="1709928"/>
            <a:ext cx="5440680" cy="4389120"/>
          </a:xfrm>
          <a:prstGeom prst="roundRect">
            <a:avLst>
              <a:gd name="adj" fmla="val 2500"/>
            </a:avLst>
          </a:prstGeom>
          <a:solidFill>
            <a:srgbClr val="F2F4F3"/>
          </a:solidFill>
          <a:ln>
            <a:noFill/>
          </a:ln>
        </p:spPr>
        <p:txBody>
          <a:bodyPr rtlCol="0" anchor="ctr"/>
          <a:lstStyle/>
          <a:p>
            <a:pPr algn="ctr"/>
          </a:p>
        </p:txBody>
      </p:sp>
      <p:sp>
        <p:nvSpPr>
          <p:cNvPr id="8" name="TextBox 7"/>
          <p:cNvSpPr txBox="1"/>
          <p:nvPr/>
        </p:nvSpPr>
        <p:spPr>
          <a:xfrm>
            <a:off x="841247" y="1847088"/>
            <a:ext cx="493776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RUSHDOWN: CHANCE DE AVANÇAR</a:t>
            </a:r>
          </a:p>
        </p:txBody>
      </p:sp>
      <p:sp>
        <p:nvSpPr>
          <p:cNvPr id="9" name="TextBox 8"/>
          <p:cNvSpPr txBox="1"/>
          <p:nvPr/>
        </p:nvSpPr>
        <p:spPr>
          <a:xfrm>
            <a:off x="841248" y="2286000"/>
            <a:ext cx="1600200" cy="384048"/>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7201B"/>
                </a:solidFill>
                <a:latin typeface="Open Sans"/>
              </a:rPr>
              <a:t>canônico</a:t>
            </a:r>
          </a:p>
        </p:txBody>
      </p:sp>
      <p:sp>
        <p:nvSpPr>
          <p:cNvPr id="10" name="Rounded Rectangle 9"/>
          <p:cNvSpPr/>
          <p:nvPr/>
        </p:nvSpPr>
        <p:spPr>
          <a:xfrm>
            <a:off x="2468880" y="2313432"/>
            <a:ext cx="2516428" cy="329184"/>
          </a:xfrm>
          <a:prstGeom prst="roundRect">
            <a:avLst>
              <a:gd name="adj" fmla="val 13888"/>
            </a:avLst>
          </a:prstGeom>
          <a:solidFill>
            <a:srgbClr val="17201B"/>
          </a:solidFill>
          <a:ln>
            <a:noFill/>
          </a:ln>
        </p:spPr>
        <p:txBody>
          <a:bodyPr rtlCol="0" anchor="ctr"/>
          <a:lstStyle/>
          <a:p>
            <a:pPr algn="ctr"/>
          </a:p>
        </p:txBody>
      </p:sp>
      <p:sp>
        <p:nvSpPr>
          <p:cNvPr id="11" name="TextBox 10"/>
          <p:cNvSpPr txBox="1"/>
          <p:nvPr/>
        </p:nvSpPr>
        <p:spPr>
          <a:xfrm>
            <a:off x="5076748" y="2286000"/>
            <a:ext cx="731520" cy="384048"/>
          </a:xfrm>
          <a:prstGeom prst="rect">
            <a:avLst/>
          </a:prstGeom>
          <a:noFill/>
        </p:spPr>
        <p:txBody>
          <a:bodyPr wrap="square" lIns="0" rIns="0" tIns="0" bIns="0" anchor="ctr">
            <a:noAutofit/>
          </a:bodyPr>
          <a:lstStyle/>
          <a:p>
            <a:pPr algn="l">
              <a:lnSpc>
                <a:spcPct val="100000"/>
              </a:lnSpc>
              <a:spcBef>
                <a:spcPts val="0"/>
              </a:spcBef>
              <a:spcAft>
                <a:spcPts val="0"/>
              </a:spcAft>
            </a:pPr>
            <a:r>
              <a:rPr sz="1600" b="1" i="0">
                <a:solidFill>
                  <a:srgbClr val="17201B"/>
                </a:solidFill>
                <a:latin typeface="Open Sans"/>
              </a:rPr>
              <a:t>86%</a:t>
            </a:r>
          </a:p>
        </p:txBody>
      </p:sp>
      <p:sp>
        <p:nvSpPr>
          <p:cNvPr id="12" name="TextBox 11"/>
          <p:cNvSpPr txBox="1"/>
          <p:nvPr/>
        </p:nvSpPr>
        <p:spPr>
          <a:xfrm>
            <a:off x="841248" y="2834640"/>
            <a:ext cx="1600200" cy="384048"/>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7201B"/>
                </a:solidFill>
                <a:latin typeface="Open Sans"/>
              </a:rPr>
              <a:t>NSGA-II</a:t>
            </a:r>
          </a:p>
        </p:txBody>
      </p:sp>
      <p:sp>
        <p:nvSpPr>
          <p:cNvPr id="13" name="Rounded Rectangle 12"/>
          <p:cNvSpPr/>
          <p:nvPr/>
        </p:nvSpPr>
        <p:spPr>
          <a:xfrm>
            <a:off x="2468880" y="2862072"/>
            <a:ext cx="1404518" cy="329184"/>
          </a:xfrm>
          <a:prstGeom prst="roundRect">
            <a:avLst>
              <a:gd name="adj" fmla="val 13888"/>
            </a:avLst>
          </a:prstGeom>
          <a:solidFill>
            <a:srgbClr val="EB6834"/>
          </a:solidFill>
          <a:ln>
            <a:noFill/>
          </a:ln>
        </p:spPr>
        <p:txBody>
          <a:bodyPr rtlCol="0" anchor="ctr"/>
          <a:lstStyle/>
          <a:p>
            <a:pPr algn="ctr"/>
          </a:p>
        </p:txBody>
      </p:sp>
      <p:sp>
        <p:nvSpPr>
          <p:cNvPr id="14" name="TextBox 13"/>
          <p:cNvSpPr txBox="1"/>
          <p:nvPr/>
        </p:nvSpPr>
        <p:spPr>
          <a:xfrm>
            <a:off x="3964838" y="2834640"/>
            <a:ext cx="731520" cy="384048"/>
          </a:xfrm>
          <a:prstGeom prst="rect">
            <a:avLst/>
          </a:prstGeom>
          <a:noFill/>
        </p:spPr>
        <p:txBody>
          <a:bodyPr wrap="square" lIns="0" rIns="0" tIns="0" bIns="0" anchor="ctr">
            <a:noAutofit/>
          </a:bodyPr>
          <a:lstStyle/>
          <a:p>
            <a:pPr algn="l">
              <a:lnSpc>
                <a:spcPct val="100000"/>
              </a:lnSpc>
              <a:spcBef>
                <a:spcPts val="0"/>
              </a:spcBef>
              <a:spcAft>
                <a:spcPts val="0"/>
              </a:spcAft>
            </a:pPr>
            <a:r>
              <a:rPr sz="1600" b="1" i="0">
                <a:solidFill>
                  <a:srgbClr val="17201B"/>
                </a:solidFill>
                <a:latin typeface="Open Sans"/>
              </a:rPr>
              <a:t>48%</a:t>
            </a:r>
          </a:p>
        </p:txBody>
      </p:sp>
      <p:sp>
        <p:nvSpPr>
          <p:cNvPr id="15" name="TextBox 14"/>
          <p:cNvSpPr txBox="1"/>
          <p:nvPr/>
        </p:nvSpPr>
        <p:spPr>
          <a:xfrm>
            <a:off x="841248" y="3383279"/>
            <a:ext cx="1600200" cy="384048"/>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7201B"/>
                </a:solidFill>
                <a:latin typeface="Open Sans"/>
              </a:rPr>
              <a:t>híbrido</a:t>
            </a:r>
          </a:p>
        </p:txBody>
      </p:sp>
      <p:sp>
        <p:nvSpPr>
          <p:cNvPr id="16" name="Rounded Rectangle 15"/>
          <p:cNvSpPr/>
          <p:nvPr/>
        </p:nvSpPr>
        <p:spPr>
          <a:xfrm>
            <a:off x="2468880" y="3410711"/>
            <a:ext cx="1375257" cy="329184"/>
          </a:xfrm>
          <a:prstGeom prst="roundRect">
            <a:avLst>
              <a:gd name="adj" fmla="val 13888"/>
            </a:avLst>
          </a:prstGeom>
          <a:solidFill>
            <a:srgbClr val="1BAF7A"/>
          </a:solidFill>
          <a:ln>
            <a:noFill/>
          </a:ln>
        </p:spPr>
        <p:txBody>
          <a:bodyPr rtlCol="0" anchor="ctr"/>
          <a:lstStyle/>
          <a:p>
            <a:pPr algn="ctr"/>
          </a:p>
        </p:txBody>
      </p:sp>
      <p:sp>
        <p:nvSpPr>
          <p:cNvPr id="17" name="TextBox 16"/>
          <p:cNvSpPr txBox="1"/>
          <p:nvPr/>
        </p:nvSpPr>
        <p:spPr>
          <a:xfrm>
            <a:off x="3935577" y="3383279"/>
            <a:ext cx="731520" cy="384048"/>
          </a:xfrm>
          <a:prstGeom prst="rect">
            <a:avLst/>
          </a:prstGeom>
          <a:noFill/>
        </p:spPr>
        <p:txBody>
          <a:bodyPr wrap="square" lIns="0" rIns="0" tIns="0" bIns="0" anchor="ctr">
            <a:noAutofit/>
          </a:bodyPr>
          <a:lstStyle/>
          <a:p>
            <a:pPr algn="l">
              <a:lnSpc>
                <a:spcPct val="100000"/>
              </a:lnSpc>
              <a:spcBef>
                <a:spcPts val="0"/>
              </a:spcBef>
              <a:spcAft>
                <a:spcPts val="0"/>
              </a:spcAft>
            </a:pPr>
            <a:r>
              <a:rPr sz="1600" b="1" i="0">
                <a:solidFill>
                  <a:srgbClr val="17201B"/>
                </a:solidFill>
                <a:latin typeface="Open Sans"/>
              </a:rPr>
              <a:t>47%</a:t>
            </a:r>
          </a:p>
        </p:txBody>
      </p:sp>
      <p:sp>
        <p:nvSpPr>
          <p:cNvPr id="18" name="TextBox 17"/>
          <p:cNvSpPr txBox="1"/>
          <p:nvPr/>
        </p:nvSpPr>
        <p:spPr>
          <a:xfrm>
            <a:off x="841248" y="3931920"/>
            <a:ext cx="1600200" cy="384048"/>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7201B"/>
                </a:solidFill>
                <a:latin typeface="Open Sans"/>
              </a:rPr>
              <a:t>AG escalar</a:t>
            </a:r>
          </a:p>
        </p:txBody>
      </p:sp>
      <p:sp>
        <p:nvSpPr>
          <p:cNvPr id="19" name="Rounded Rectangle 18"/>
          <p:cNvSpPr/>
          <p:nvPr/>
        </p:nvSpPr>
        <p:spPr>
          <a:xfrm>
            <a:off x="2468880" y="3959352"/>
            <a:ext cx="1141171" cy="329184"/>
          </a:xfrm>
          <a:prstGeom prst="roundRect">
            <a:avLst>
              <a:gd name="adj" fmla="val 13888"/>
            </a:avLst>
          </a:prstGeom>
          <a:solidFill>
            <a:srgbClr val="2A78D6"/>
          </a:solidFill>
          <a:ln>
            <a:noFill/>
          </a:ln>
        </p:spPr>
        <p:txBody>
          <a:bodyPr rtlCol="0" anchor="ctr"/>
          <a:lstStyle/>
          <a:p>
            <a:pPr algn="ctr"/>
          </a:p>
        </p:txBody>
      </p:sp>
      <p:sp>
        <p:nvSpPr>
          <p:cNvPr id="20" name="TextBox 19"/>
          <p:cNvSpPr txBox="1"/>
          <p:nvPr/>
        </p:nvSpPr>
        <p:spPr>
          <a:xfrm>
            <a:off x="3701491" y="3931920"/>
            <a:ext cx="731520" cy="384048"/>
          </a:xfrm>
          <a:prstGeom prst="rect">
            <a:avLst/>
          </a:prstGeom>
          <a:noFill/>
        </p:spPr>
        <p:txBody>
          <a:bodyPr wrap="square" lIns="0" rIns="0" tIns="0" bIns="0" anchor="ctr">
            <a:noAutofit/>
          </a:bodyPr>
          <a:lstStyle/>
          <a:p>
            <a:pPr algn="l">
              <a:lnSpc>
                <a:spcPct val="100000"/>
              </a:lnSpc>
              <a:spcBef>
                <a:spcPts val="0"/>
              </a:spcBef>
              <a:spcAft>
                <a:spcPts val="0"/>
              </a:spcAft>
            </a:pPr>
            <a:r>
              <a:rPr sz="1600" b="1" i="0">
                <a:solidFill>
                  <a:srgbClr val="17201B"/>
                </a:solidFill>
                <a:latin typeface="Open Sans"/>
              </a:rPr>
              <a:t>39%</a:t>
            </a:r>
          </a:p>
        </p:txBody>
      </p:sp>
      <p:sp>
        <p:nvSpPr>
          <p:cNvPr id="21" name="TextBox 20"/>
          <p:cNvSpPr txBox="1"/>
          <p:nvPr/>
        </p:nvSpPr>
        <p:spPr>
          <a:xfrm>
            <a:off x="841248" y="4480560"/>
            <a:ext cx="1600200" cy="384048"/>
          </a:xfrm>
          <a:prstGeom prst="rect">
            <a:avLst/>
          </a:prstGeom>
          <a:noFill/>
        </p:spPr>
        <p:txBody>
          <a:bodyPr wrap="square" lIns="0" rIns="0" tIns="0" bIns="0" anchor="ctr">
            <a:noAutofit/>
          </a:bodyPr>
          <a:lstStyle/>
          <a:p>
            <a:pPr algn="l">
              <a:lnSpc>
                <a:spcPct val="100000"/>
              </a:lnSpc>
              <a:spcBef>
                <a:spcPts val="0"/>
              </a:spcBef>
              <a:spcAft>
                <a:spcPts val="0"/>
              </a:spcAft>
            </a:pPr>
            <a:r>
              <a:rPr sz="1600" b="0" i="0">
                <a:solidFill>
                  <a:srgbClr val="17201B"/>
                </a:solidFill>
                <a:latin typeface="Open Sans"/>
              </a:rPr>
              <a:t>sem o termo</a:t>
            </a:r>
          </a:p>
        </p:txBody>
      </p:sp>
      <p:sp>
        <p:nvSpPr>
          <p:cNvPr id="22" name="Rounded Rectangle 21"/>
          <p:cNvSpPr/>
          <p:nvPr/>
        </p:nvSpPr>
        <p:spPr>
          <a:xfrm>
            <a:off x="2468880" y="4507992"/>
            <a:ext cx="1024127" cy="329184"/>
          </a:xfrm>
          <a:prstGeom prst="roundRect">
            <a:avLst>
              <a:gd name="adj" fmla="val 13888"/>
            </a:avLst>
          </a:prstGeom>
          <a:solidFill>
            <a:srgbClr val="52514E"/>
          </a:solidFill>
          <a:ln>
            <a:noFill/>
          </a:ln>
        </p:spPr>
        <p:txBody>
          <a:bodyPr rtlCol="0" anchor="ctr"/>
          <a:lstStyle/>
          <a:p>
            <a:pPr algn="ctr"/>
          </a:p>
        </p:txBody>
      </p:sp>
      <p:sp>
        <p:nvSpPr>
          <p:cNvPr id="23" name="TextBox 22"/>
          <p:cNvSpPr txBox="1"/>
          <p:nvPr/>
        </p:nvSpPr>
        <p:spPr>
          <a:xfrm>
            <a:off x="3584448" y="4480560"/>
            <a:ext cx="731520" cy="384048"/>
          </a:xfrm>
          <a:prstGeom prst="rect">
            <a:avLst/>
          </a:prstGeom>
          <a:noFill/>
        </p:spPr>
        <p:txBody>
          <a:bodyPr wrap="square" lIns="0" rIns="0" tIns="0" bIns="0" anchor="ctr">
            <a:noAutofit/>
          </a:bodyPr>
          <a:lstStyle/>
          <a:p>
            <a:pPr algn="l">
              <a:lnSpc>
                <a:spcPct val="100000"/>
              </a:lnSpc>
              <a:spcBef>
                <a:spcPts val="0"/>
              </a:spcBef>
              <a:spcAft>
                <a:spcPts val="0"/>
              </a:spcAft>
            </a:pPr>
            <a:r>
              <a:rPr sz="1600" b="1" i="0">
                <a:solidFill>
                  <a:srgbClr val="17201B"/>
                </a:solidFill>
                <a:latin typeface="Open Sans"/>
              </a:rPr>
              <a:t>35%</a:t>
            </a:r>
          </a:p>
        </p:txBody>
      </p:sp>
      <p:sp>
        <p:nvSpPr>
          <p:cNvPr id="24" name="TextBox 23"/>
          <p:cNvSpPr txBox="1"/>
          <p:nvPr/>
        </p:nvSpPr>
        <p:spPr>
          <a:xfrm>
            <a:off x="841248" y="5184648"/>
            <a:ext cx="4937760" cy="73152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4A524D"/>
                </a:solidFill>
                <a:latin typeface="Open Sans"/>
              </a:rPr>
              <a:t>os cinco personagens convergem para uma política parecida</a:t>
            </a:r>
          </a:p>
        </p:txBody>
      </p:sp>
      <p:sp>
        <p:nvSpPr>
          <p:cNvPr id="25" name="Rounded Rectangle 24"/>
          <p:cNvSpPr/>
          <p:nvPr/>
        </p:nvSpPr>
        <p:spPr>
          <a:xfrm>
            <a:off x="6199632" y="1709928"/>
            <a:ext cx="5440680" cy="4389120"/>
          </a:xfrm>
          <a:prstGeom prst="roundRect">
            <a:avLst>
              <a:gd name="adj" fmla="val 2500"/>
            </a:avLst>
          </a:prstGeom>
          <a:solidFill>
            <a:srgbClr val="F2F4F3"/>
          </a:solidFill>
          <a:ln>
            <a:noFill/>
          </a:ln>
        </p:spPr>
        <p:txBody>
          <a:bodyPr rtlCol="0" anchor="ctr"/>
          <a:lstStyle/>
          <a:p>
            <a:pPr algn="ctr"/>
          </a:p>
        </p:txBody>
      </p:sp>
      <p:sp>
        <p:nvSpPr>
          <p:cNvPr id="26" name="TextBox 25"/>
          <p:cNvSpPr txBox="1"/>
          <p:nvPr/>
        </p:nvSpPr>
        <p:spPr>
          <a:xfrm>
            <a:off x="6492240" y="1847088"/>
            <a:ext cx="493776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EFEITO DOS PESOS NA VITÓRIA</a:t>
            </a:r>
          </a:p>
        </p:txBody>
      </p:sp>
      <p:sp>
        <p:nvSpPr>
          <p:cNvPr id="27" name="Rounded Rectangle 26"/>
          <p:cNvSpPr/>
          <p:nvPr/>
        </p:nvSpPr>
        <p:spPr>
          <a:xfrm>
            <a:off x="6519672" y="2286000"/>
            <a:ext cx="237744" cy="237744"/>
          </a:xfrm>
          <a:prstGeom prst="roundRect">
            <a:avLst>
              <a:gd name="adj" fmla="val 19230"/>
            </a:avLst>
          </a:prstGeom>
          <a:solidFill>
            <a:srgbClr val="B3BAB6"/>
          </a:solidFill>
          <a:ln>
            <a:noFill/>
          </a:ln>
        </p:spPr>
        <p:txBody>
          <a:bodyPr rtlCol="0" anchor="ctr"/>
          <a:lstStyle/>
          <a:p>
            <a:pPr algn="ctr"/>
          </a:p>
        </p:txBody>
      </p:sp>
      <p:sp>
        <p:nvSpPr>
          <p:cNvPr id="28" name="TextBox 27"/>
          <p:cNvSpPr txBox="1"/>
          <p:nvPr/>
        </p:nvSpPr>
        <p:spPr>
          <a:xfrm>
            <a:off x="6858000" y="2231136"/>
            <a:ext cx="2011680" cy="32918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7201B"/>
                </a:solidFill>
                <a:latin typeface="Open Sans"/>
              </a:rPr>
              <a:t>passo atual</a:t>
            </a:r>
          </a:p>
        </p:txBody>
      </p:sp>
      <p:sp>
        <p:nvSpPr>
          <p:cNvPr id="29" name="Rounded Rectangle 28"/>
          <p:cNvSpPr/>
          <p:nvPr/>
        </p:nvSpPr>
        <p:spPr>
          <a:xfrm>
            <a:off x="8805672" y="2286000"/>
            <a:ext cx="237744" cy="237744"/>
          </a:xfrm>
          <a:prstGeom prst="roundRect">
            <a:avLst>
              <a:gd name="adj" fmla="val 19230"/>
            </a:avLst>
          </a:prstGeom>
          <a:solidFill>
            <a:srgbClr val="2F9E41"/>
          </a:solidFill>
          <a:ln>
            <a:noFill/>
          </a:ln>
        </p:spPr>
        <p:txBody>
          <a:bodyPr rtlCol="0" anchor="ctr"/>
          <a:lstStyle/>
          <a:p>
            <a:pPr algn="ctr"/>
          </a:p>
        </p:txBody>
      </p:sp>
      <p:sp>
        <p:nvSpPr>
          <p:cNvPr id="30" name="TextBox 29"/>
          <p:cNvSpPr txBox="1"/>
          <p:nvPr/>
        </p:nvSpPr>
        <p:spPr>
          <a:xfrm>
            <a:off x="9144000" y="2231136"/>
            <a:ext cx="2377440" cy="32918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7201B"/>
                </a:solidFill>
                <a:latin typeface="Open Sans"/>
              </a:rPr>
              <a:t>passo dos atributos</a:t>
            </a:r>
          </a:p>
        </p:txBody>
      </p:sp>
      <p:sp>
        <p:nvSpPr>
          <p:cNvPr id="31" name="TextBox 30"/>
          <p:cNvSpPr txBox="1"/>
          <p:nvPr/>
        </p:nvSpPr>
        <p:spPr>
          <a:xfrm>
            <a:off x="6492240" y="2779776"/>
            <a:ext cx="1188720" cy="603504"/>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17201B"/>
                </a:solidFill>
                <a:latin typeface="Open Sans"/>
              </a:rPr>
              <a:t>FRENTE</a:t>
            </a:r>
          </a:p>
        </p:txBody>
      </p:sp>
      <p:sp>
        <p:nvSpPr>
          <p:cNvPr id="32" name="Rounded Rectangle 31"/>
          <p:cNvSpPr/>
          <p:nvPr/>
        </p:nvSpPr>
        <p:spPr>
          <a:xfrm>
            <a:off x="7708392" y="2779776"/>
            <a:ext cx="562356" cy="274320"/>
          </a:xfrm>
          <a:prstGeom prst="roundRect">
            <a:avLst>
              <a:gd name="adj" fmla="val 13333"/>
            </a:avLst>
          </a:prstGeom>
          <a:solidFill>
            <a:srgbClr val="B3BAB6"/>
          </a:solidFill>
          <a:ln>
            <a:noFill/>
          </a:ln>
        </p:spPr>
        <p:txBody>
          <a:bodyPr rtlCol="0" anchor="ctr"/>
          <a:lstStyle/>
          <a:p>
            <a:pPr algn="ctr"/>
          </a:p>
        </p:txBody>
      </p:sp>
      <p:sp>
        <p:nvSpPr>
          <p:cNvPr id="33" name="TextBox 32"/>
          <p:cNvSpPr txBox="1"/>
          <p:nvPr/>
        </p:nvSpPr>
        <p:spPr>
          <a:xfrm>
            <a:off x="8455913" y="2752344"/>
            <a:ext cx="640080" cy="329184"/>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4A524D"/>
                </a:solidFill>
                <a:latin typeface="Open Sans"/>
              </a:rPr>
              <a:t>3,0</a:t>
            </a:r>
          </a:p>
        </p:txBody>
      </p:sp>
      <p:sp>
        <p:nvSpPr>
          <p:cNvPr id="34" name="Rounded Rectangle 33"/>
          <p:cNvSpPr/>
          <p:nvPr/>
        </p:nvSpPr>
        <p:spPr>
          <a:xfrm>
            <a:off x="7708392" y="3108960"/>
            <a:ext cx="2680563" cy="274320"/>
          </a:xfrm>
          <a:prstGeom prst="roundRect">
            <a:avLst>
              <a:gd name="adj" fmla="val 13333"/>
            </a:avLst>
          </a:prstGeom>
          <a:solidFill>
            <a:srgbClr val="2F9E41"/>
          </a:solidFill>
          <a:ln>
            <a:noFill/>
          </a:ln>
        </p:spPr>
        <p:txBody>
          <a:bodyPr rtlCol="0" anchor="ctr"/>
          <a:lstStyle/>
          <a:p>
            <a:pPr algn="ctr"/>
          </a:p>
        </p:txBody>
      </p:sp>
      <p:sp>
        <p:nvSpPr>
          <p:cNvPr id="35" name="TextBox 34"/>
          <p:cNvSpPr txBox="1"/>
          <p:nvPr/>
        </p:nvSpPr>
        <p:spPr>
          <a:xfrm>
            <a:off x="10462107" y="3081528"/>
            <a:ext cx="731520" cy="329184"/>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17201B"/>
                </a:solidFill>
                <a:latin typeface="Open Sans"/>
              </a:rPr>
              <a:t>14,3</a:t>
            </a:r>
          </a:p>
        </p:txBody>
      </p:sp>
      <p:sp>
        <p:nvSpPr>
          <p:cNvPr id="36" name="TextBox 35"/>
          <p:cNvSpPr txBox="1"/>
          <p:nvPr/>
        </p:nvSpPr>
        <p:spPr>
          <a:xfrm>
            <a:off x="6492240" y="3566160"/>
            <a:ext cx="1188720" cy="603504"/>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17201B"/>
                </a:solidFill>
                <a:latin typeface="Open Sans"/>
              </a:rPr>
              <a:t>RECUAR</a:t>
            </a:r>
          </a:p>
        </p:txBody>
      </p:sp>
      <p:sp>
        <p:nvSpPr>
          <p:cNvPr id="37" name="Rounded Rectangle 36"/>
          <p:cNvSpPr/>
          <p:nvPr/>
        </p:nvSpPr>
        <p:spPr>
          <a:xfrm>
            <a:off x="7708392" y="3566160"/>
            <a:ext cx="899769" cy="274320"/>
          </a:xfrm>
          <a:prstGeom prst="roundRect">
            <a:avLst>
              <a:gd name="adj" fmla="val 13333"/>
            </a:avLst>
          </a:prstGeom>
          <a:solidFill>
            <a:srgbClr val="B3BAB6"/>
          </a:solidFill>
          <a:ln>
            <a:noFill/>
          </a:ln>
        </p:spPr>
        <p:txBody>
          <a:bodyPr rtlCol="0" anchor="ctr"/>
          <a:lstStyle/>
          <a:p>
            <a:pPr algn="ctr"/>
          </a:p>
        </p:txBody>
      </p:sp>
      <p:sp>
        <p:nvSpPr>
          <p:cNvPr id="38" name="TextBox 37"/>
          <p:cNvSpPr txBox="1"/>
          <p:nvPr/>
        </p:nvSpPr>
        <p:spPr>
          <a:xfrm>
            <a:off x="8699601" y="3538727"/>
            <a:ext cx="640080" cy="329184"/>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4A524D"/>
                </a:solidFill>
                <a:latin typeface="Open Sans"/>
              </a:rPr>
              <a:t>4,8</a:t>
            </a:r>
          </a:p>
        </p:txBody>
      </p:sp>
      <p:sp>
        <p:nvSpPr>
          <p:cNvPr id="39" name="Rounded Rectangle 38"/>
          <p:cNvSpPr/>
          <p:nvPr/>
        </p:nvSpPr>
        <p:spPr>
          <a:xfrm>
            <a:off x="7708392" y="3895344"/>
            <a:ext cx="3092958" cy="274320"/>
          </a:xfrm>
          <a:prstGeom prst="roundRect">
            <a:avLst>
              <a:gd name="adj" fmla="val 13333"/>
            </a:avLst>
          </a:prstGeom>
          <a:solidFill>
            <a:srgbClr val="2F9E41"/>
          </a:solidFill>
          <a:ln>
            <a:noFill/>
          </a:ln>
        </p:spPr>
        <p:txBody>
          <a:bodyPr rtlCol="0" anchor="ctr"/>
          <a:lstStyle/>
          <a:p>
            <a:pPr algn="ctr"/>
          </a:p>
        </p:txBody>
      </p:sp>
      <p:sp>
        <p:nvSpPr>
          <p:cNvPr id="40" name="TextBox 39"/>
          <p:cNvSpPr txBox="1"/>
          <p:nvPr/>
        </p:nvSpPr>
        <p:spPr>
          <a:xfrm>
            <a:off x="10874502" y="3867912"/>
            <a:ext cx="731520" cy="329184"/>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17201B"/>
                </a:solidFill>
                <a:latin typeface="Open Sans"/>
              </a:rPr>
              <a:t>16,5</a:t>
            </a:r>
          </a:p>
        </p:txBody>
      </p:sp>
      <p:sp>
        <p:nvSpPr>
          <p:cNvPr id="41" name="TextBox 40"/>
          <p:cNvSpPr txBox="1"/>
          <p:nvPr/>
        </p:nvSpPr>
        <p:spPr>
          <a:xfrm>
            <a:off x="6492240" y="4352544"/>
            <a:ext cx="1188720" cy="603504"/>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17201B"/>
                </a:solidFill>
                <a:latin typeface="Open Sans"/>
              </a:rPr>
              <a:t>GUARDA</a:t>
            </a:r>
          </a:p>
        </p:txBody>
      </p:sp>
      <p:sp>
        <p:nvSpPr>
          <p:cNvPr id="42" name="Rounded Rectangle 41"/>
          <p:cNvSpPr/>
          <p:nvPr/>
        </p:nvSpPr>
        <p:spPr>
          <a:xfrm>
            <a:off x="7708392" y="4352544"/>
            <a:ext cx="543610" cy="274320"/>
          </a:xfrm>
          <a:prstGeom prst="roundRect">
            <a:avLst>
              <a:gd name="adj" fmla="val 13333"/>
            </a:avLst>
          </a:prstGeom>
          <a:solidFill>
            <a:srgbClr val="B3BAB6"/>
          </a:solidFill>
          <a:ln>
            <a:noFill/>
          </a:ln>
        </p:spPr>
        <p:txBody>
          <a:bodyPr rtlCol="0" anchor="ctr"/>
          <a:lstStyle/>
          <a:p>
            <a:pPr algn="ctr"/>
          </a:p>
        </p:txBody>
      </p:sp>
      <p:sp>
        <p:nvSpPr>
          <p:cNvPr id="43" name="TextBox 42"/>
          <p:cNvSpPr txBox="1"/>
          <p:nvPr/>
        </p:nvSpPr>
        <p:spPr>
          <a:xfrm>
            <a:off x="8455913" y="4325112"/>
            <a:ext cx="640080" cy="329184"/>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4A524D"/>
                </a:solidFill>
                <a:latin typeface="Open Sans"/>
              </a:rPr>
              <a:t>2,9</a:t>
            </a:r>
          </a:p>
        </p:txBody>
      </p:sp>
      <p:sp>
        <p:nvSpPr>
          <p:cNvPr id="44" name="Rounded Rectangle 43"/>
          <p:cNvSpPr/>
          <p:nvPr/>
        </p:nvSpPr>
        <p:spPr>
          <a:xfrm>
            <a:off x="7708392" y="4681728"/>
            <a:ext cx="2324404" cy="274320"/>
          </a:xfrm>
          <a:prstGeom prst="roundRect">
            <a:avLst>
              <a:gd name="adj" fmla="val 13333"/>
            </a:avLst>
          </a:prstGeom>
          <a:solidFill>
            <a:srgbClr val="2F9E41"/>
          </a:solidFill>
          <a:ln>
            <a:noFill/>
          </a:ln>
        </p:spPr>
        <p:txBody>
          <a:bodyPr rtlCol="0" anchor="ctr"/>
          <a:lstStyle/>
          <a:p>
            <a:pPr algn="ctr"/>
          </a:p>
        </p:txBody>
      </p:sp>
      <p:sp>
        <p:nvSpPr>
          <p:cNvPr id="45" name="TextBox 44"/>
          <p:cNvSpPr txBox="1"/>
          <p:nvPr/>
        </p:nvSpPr>
        <p:spPr>
          <a:xfrm>
            <a:off x="10105948" y="4654296"/>
            <a:ext cx="731520" cy="329184"/>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17201B"/>
                </a:solidFill>
                <a:latin typeface="Open Sans"/>
              </a:rPr>
              <a:t>12,4</a:t>
            </a:r>
          </a:p>
        </p:txBody>
      </p:sp>
      <p:cxnSp>
        <p:nvCxnSpPr>
          <p:cNvPr id="46" name="Connector 45"/>
          <p:cNvCxnSpPr/>
          <p:nvPr/>
        </p:nvCxnSpPr>
        <p:spPr>
          <a:xfrm>
            <a:off x="8364473" y="2670048"/>
            <a:ext cx="0" cy="2514600"/>
          </a:xfrm>
          <a:prstGeom prst="line">
            <a:avLst/>
          </a:prstGeom>
          <a:ln w="19050">
            <a:solidFill>
              <a:srgbClr val="B3312F"/>
            </a:solidFill>
            <a:prstDash val="dash"/>
          </a:ln>
        </p:spPr>
      </p:cxnSp>
      <p:sp>
        <p:nvSpPr>
          <p:cNvPr id="47" name="TextBox 46"/>
          <p:cNvSpPr txBox="1"/>
          <p:nvPr/>
        </p:nvSpPr>
        <p:spPr>
          <a:xfrm>
            <a:off x="7815833" y="5193792"/>
            <a:ext cx="1097280" cy="310896"/>
          </a:xfrm>
          <a:prstGeom prst="rect">
            <a:avLst/>
          </a:prstGeom>
          <a:noFill/>
        </p:spPr>
        <p:txBody>
          <a:bodyPr wrap="square" lIns="0" rIns="0" tIns="0" bIns="0" anchor="t">
            <a:noAutofit/>
          </a:bodyPr>
          <a:lstStyle/>
          <a:p>
            <a:pPr algn="ctr">
              <a:lnSpc>
                <a:spcPct val="100000"/>
              </a:lnSpc>
              <a:spcBef>
                <a:spcPts val="0"/>
              </a:spcBef>
              <a:spcAft>
                <a:spcPts val="0"/>
              </a:spcAft>
            </a:pPr>
            <a:r>
              <a:rPr sz="1500" b="1" i="0">
                <a:solidFill>
                  <a:srgbClr val="B3312F"/>
                </a:solidFill>
                <a:latin typeface="Open Sans"/>
              </a:rPr>
              <a:t>ruído</a:t>
            </a:r>
          </a:p>
        </p:txBody>
      </p:sp>
      <p:sp>
        <p:nvSpPr>
          <p:cNvPr id="48" name="TextBox 47"/>
          <p:cNvSpPr txBox="1"/>
          <p:nvPr/>
        </p:nvSpPr>
        <p:spPr>
          <a:xfrm>
            <a:off x="6492240" y="5522976"/>
            <a:ext cx="4937760" cy="32918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pontos percentuais; mutação dos pesos 4× menor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1" i="0">
                <a:solidFill>
                  <a:srgbClr val="FFFFFF"/>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2F9E41"/>
                </a:solidFill>
                <a:latin typeface="Open Sans"/>
              </a:rPr>
              <a:t>QP3  </a:t>
            </a:r>
            <a:r>
              <a:rPr sz="2600" b="1" i="0">
                <a:solidFill>
                  <a:srgbClr val="17201B"/>
                </a:solidFill>
                <a:latin typeface="Open Sans"/>
              </a:rPr>
              <a:t>Nenhum domina, mas o AG escalar não atinge o seu ótimo</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18</a:t>
            </a:r>
          </a:p>
        </p:txBody>
      </p:sp>
      <p:pic>
        <p:nvPicPr>
          <p:cNvPr id="7" name="Fronteira de Pareto" descr="fronteira.png"/>
          <p:cNvPicPr>
            <a:picLocks noChangeAspect="1"/>
          </p:cNvPicPr>
          <p:nvPr/>
        </p:nvPicPr>
        <p:blipFill>
          <a:blip r:embed="rId3"/>
          <a:stretch>
            <a:fillRect/>
          </a:stretch>
        </p:blipFill>
        <p:spPr>
          <a:xfrm>
            <a:off x="411480" y="1664208"/>
            <a:ext cx="7406640" cy="4343400"/>
          </a:xfrm>
          <a:prstGeom prst="rect">
            <a:avLst/>
          </a:prstGeom>
        </p:spPr>
      </p:pic>
      <p:sp>
        <p:nvSpPr>
          <p:cNvPr id="8" name="TextBox 7"/>
          <p:cNvSpPr txBox="1"/>
          <p:nvPr/>
        </p:nvSpPr>
        <p:spPr>
          <a:xfrm>
            <a:off x="8092440" y="1709928"/>
            <a:ext cx="3547872" cy="384048"/>
          </a:xfrm>
          <a:prstGeom prst="rect">
            <a:avLst/>
          </a:prstGeom>
          <a:noFill/>
        </p:spPr>
        <p:txBody>
          <a:bodyPr wrap="square" lIns="0" rIns="0" tIns="0" bIns="0" anchor="t">
            <a:noAutofit/>
          </a:bodyPr>
          <a:lstStyle/>
          <a:p>
            <a:pPr algn="l">
              <a:lnSpc>
                <a:spcPct val="100000"/>
              </a:lnSpc>
              <a:spcBef>
                <a:spcPts val="0"/>
              </a:spcBef>
              <a:spcAft>
                <a:spcPts val="0"/>
              </a:spcAft>
            </a:pPr>
            <a:r>
              <a:rPr sz="1900" b="1" i="0">
                <a:solidFill>
                  <a:srgbClr val="EB6834"/>
                </a:solidFill>
                <a:latin typeface="Open Sans"/>
              </a:rPr>
              <a:t>NSGA-II</a:t>
            </a:r>
          </a:p>
        </p:txBody>
      </p:sp>
      <p:sp>
        <p:nvSpPr>
          <p:cNvPr id="9" name="TextBox 8"/>
          <p:cNvSpPr txBox="1"/>
          <p:nvPr/>
        </p:nvSpPr>
        <p:spPr>
          <a:xfrm>
            <a:off x="8092440" y="2093976"/>
            <a:ext cx="3547872" cy="100584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mais identidade (τ = 0,54), mas 2,8 counters por elenco e 0/20 equilibrados</a:t>
            </a:r>
          </a:p>
        </p:txBody>
      </p:sp>
      <p:sp>
        <p:nvSpPr>
          <p:cNvPr id="10" name="TextBox 9"/>
          <p:cNvSpPr txBox="1"/>
          <p:nvPr/>
        </p:nvSpPr>
        <p:spPr>
          <a:xfrm>
            <a:off x="8092440" y="3218688"/>
            <a:ext cx="3547872" cy="384048"/>
          </a:xfrm>
          <a:prstGeom prst="rect">
            <a:avLst/>
          </a:prstGeom>
          <a:noFill/>
        </p:spPr>
        <p:txBody>
          <a:bodyPr wrap="square" lIns="0" rIns="0" tIns="0" bIns="0" anchor="t">
            <a:noAutofit/>
          </a:bodyPr>
          <a:lstStyle/>
          <a:p>
            <a:pPr algn="l">
              <a:lnSpc>
                <a:spcPct val="100000"/>
              </a:lnSpc>
              <a:spcBef>
                <a:spcPts val="0"/>
              </a:spcBef>
              <a:spcAft>
                <a:spcPts val="0"/>
              </a:spcAft>
            </a:pPr>
            <a:r>
              <a:rPr sz="1900" b="1" i="0">
                <a:solidFill>
                  <a:srgbClr val="2A78D6"/>
                </a:solidFill>
                <a:latin typeface="Open Sans"/>
              </a:rPr>
              <a:t>AG escalar</a:t>
            </a:r>
          </a:p>
        </p:txBody>
      </p:sp>
      <p:sp>
        <p:nvSpPr>
          <p:cNvPr id="11" name="TextBox 10"/>
          <p:cNvSpPr txBox="1"/>
          <p:nvPr/>
        </p:nvSpPr>
        <p:spPr>
          <a:xfrm>
            <a:off x="8092440" y="3602736"/>
            <a:ext cx="3547872" cy="73152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além da ponta de equilíbrio da fronteira em 19/20</a:t>
            </a:r>
          </a:p>
        </p:txBody>
      </p:sp>
      <p:sp>
        <p:nvSpPr>
          <p:cNvPr id="12" name="Rounded Rectangle 11"/>
          <p:cNvSpPr/>
          <p:nvPr/>
        </p:nvSpPr>
        <p:spPr>
          <a:xfrm>
            <a:off x="7955279" y="4480560"/>
            <a:ext cx="3685032" cy="1572768"/>
          </a:xfrm>
          <a:prstGeom prst="roundRect">
            <a:avLst>
              <a:gd name="adj" fmla="val 6976"/>
            </a:avLst>
          </a:prstGeom>
          <a:solidFill>
            <a:srgbClr val="F2F4F3"/>
          </a:solidFill>
          <a:ln>
            <a:noFill/>
          </a:ln>
        </p:spPr>
        <p:txBody>
          <a:bodyPr rtlCol="0" anchor="ctr"/>
          <a:lstStyle/>
          <a:p>
            <a:pPr algn="ctr"/>
          </a:p>
        </p:txBody>
      </p:sp>
      <p:sp>
        <p:nvSpPr>
          <p:cNvPr id="13" name="TextBox 12"/>
          <p:cNvSpPr txBox="1"/>
          <p:nvPr/>
        </p:nvSpPr>
        <p:spPr>
          <a:xfrm>
            <a:off x="8183879" y="4590288"/>
            <a:ext cx="3273552" cy="137160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Na soma que o AG escalar otimiza, a fronteira tem um ponto melhor em </a:t>
            </a:r>
            <a:r>
              <a:rPr sz="1600" b="1" i="0">
                <a:solidFill>
                  <a:srgbClr val="17201B"/>
                </a:solidFill>
                <a:latin typeface="Open Sans"/>
              </a:rPr>
              <a:t>20 de 20</a:t>
            </a:r>
            <a:r>
              <a:rPr sz="1600" b="0" i="0">
                <a:solidFill>
                  <a:srgbClr val="17201B"/>
                </a:solidFill>
                <a:latin typeface="Open Sans"/>
              </a:rPr>
              <a:t> sementes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1" i="0">
                <a:solidFill>
                  <a:srgbClr val="FFFFFF"/>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2F9E41"/>
                </a:solidFill>
                <a:latin typeface="Open Sans"/>
              </a:rPr>
              <a:t>QP3  </a:t>
            </a:r>
            <a:r>
              <a:rPr sz="2600" b="1" i="0">
                <a:solidFill>
                  <a:srgbClr val="17201B"/>
                </a:solidFill>
                <a:latin typeface="Open Sans"/>
              </a:rPr>
              <a:t>Por quê? A soma escalar perde identidade em dois estágios</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19</a:t>
            </a:r>
          </a:p>
        </p:txBody>
      </p:sp>
      <p:pic>
        <p:nvPicPr>
          <p:cNvPr id="7" name="Mecanismo" descr="mecanismo.png"/>
          <p:cNvPicPr>
            <a:picLocks noChangeAspect="1"/>
          </p:cNvPicPr>
          <p:nvPr/>
        </p:nvPicPr>
        <p:blipFill>
          <a:blip r:embed="rId3"/>
          <a:stretch>
            <a:fillRect/>
          </a:stretch>
        </p:blipFill>
        <p:spPr>
          <a:xfrm>
            <a:off x="411480" y="1664208"/>
            <a:ext cx="6766560" cy="4343400"/>
          </a:xfrm>
          <a:prstGeom prst="rect">
            <a:avLst/>
          </a:prstGeom>
        </p:spPr>
      </p:pic>
      <p:sp>
        <p:nvSpPr>
          <p:cNvPr id="8" name="TextBox 7"/>
          <p:cNvSpPr txBox="1"/>
          <p:nvPr/>
        </p:nvSpPr>
        <p:spPr>
          <a:xfrm>
            <a:off x="548640" y="6035040"/>
            <a:ext cx="6583680" cy="310896"/>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6F7772"/>
                </a:solidFill>
                <a:latin typeface="Open Sans"/>
              </a:rPr>
              <a:t>execução de semente 42 (réplica instrumentada)</a:t>
            </a:r>
          </a:p>
        </p:txBody>
      </p:sp>
      <p:sp>
        <p:nvSpPr>
          <p:cNvPr id="9" name="Rounded Rectangle 8"/>
          <p:cNvSpPr/>
          <p:nvPr/>
        </p:nvSpPr>
        <p:spPr>
          <a:xfrm>
            <a:off x="7452360" y="1709928"/>
            <a:ext cx="4187952" cy="2103120"/>
          </a:xfrm>
          <a:prstGeom prst="roundRect">
            <a:avLst>
              <a:gd name="adj" fmla="val 5217"/>
            </a:avLst>
          </a:prstGeom>
          <a:solidFill>
            <a:srgbClr val="FCE8E8"/>
          </a:solidFill>
          <a:ln>
            <a:noFill/>
          </a:ln>
        </p:spPr>
        <p:txBody>
          <a:bodyPr rtlCol="0" anchor="ctr"/>
          <a:lstStyle/>
          <a:p>
            <a:pPr algn="ctr"/>
          </a:p>
        </p:txBody>
      </p:sp>
      <p:sp>
        <p:nvSpPr>
          <p:cNvPr id="10" name="TextBox 9"/>
          <p:cNvSpPr txBox="1"/>
          <p:nvPr/>
        </p:nvSpPr>
        <p:spPr>
          <a:xfrm>
            <a:off x="7726680" y="1828800"/>
            <a:ext cx="3730752" cy="420624"/>
          </a:xfrm>
          <a:prstGeom prst="rect">
            <a:avLst/>
          </a:prstGeom>
          <a:noFill/>
        </p:spPr>
        <p:txBody>
          <a:bodyPr wrap="square" lIns="0" rIns="0" tIns="0" bIns="0" anchor="t">
            <a:noAutofit/>
          </a:bodyPr>
          <a:lstStyle/>
          <a:p>
            <a:pPr algn="l">
              <a:lnSpc>
                <a:spcPct val="100000"/>
              </a:lnSpc>
              <a:spcBef>
                <a:spcPts val="0"/>
              </a:spcBef>
              <a:spcAft>
                <a:spcPts val="0"/>
              </a:spcAft>
            </a:pPr>
            <a:r>
              <a:rPr sz="2000" b="1" i="0">
                <a:solidFill>
                  <a:srgbClr val="B3312F"/>
                </a:solidFill>
                <a:latin typeface="Open Sans"/>
              </a:rPr>
              <a:t>1  </a:t>
            </a:r>
            <a:r>
              <a:rPr sz="2000" b="1" i="0">
                <a:solidFill>
                  <a:srgbClr val="17201B"/>
                </a:solidFill>
                <a:latin typeface="Open Sans"/>
              </a:rPr>
              <a:t>No início</a:t>
            </a:r>
          </a:p>
        </p:txBody>
      </p:sp>
      <p:sp>
        <p:nvSpPr>
          <p:cNvPr id="11" name="TextBox 10"/>
          <p:cNvSpPr txBox="1"/>
          <p:nvPr/>
        </p:nvSpPr>
        <p:spPr>
          <a:xfrm>
            <a:off x="7726680" y="2286000"/>
            <a:ext cx="3685032" cy="96012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a soma premia as grandes diferenças de equilíbrio e descarta os elencos próximos do canônico</a:t>
            </a:r>
          </a:p>
        </p:txBody>
      </p:sp>
      <p:sp>
        <p:nvSpPr>
          <p:cNvPr id="12" name="TextBox 11"/>
          <p:cNvSpPr txBox="1"/>
          <p:nvPr/>
        </p:nvSpPr>
        <p:spPr>
          <a:xfrm>
            <a:off x="7726680" y="3310127"/>
            <a:ext cx="3685032" cy="365760"/>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B3312F"/>
                </a:solidFill>
                <a:latin typeface="Open Sans"/>
              </a:rPr>
              <a:t>o canônico sai na geração 3</a:t>
            </a:r>
          </a:p>
        </p:txBody>
      </p:sp>
      <p:sp>
        <p:nvSpPr>
          <p:cNvPr id="13" name="Rounded Rectangle 12"/>
          <p:cNvSpPr/>
          <p:nvPr/>
        </p:nvSpPr>
        <p:spPr>
          <a:xfrm>
            <a:off x="7452360" y="3950208"/>
            <a:ext cx="4187952" cy="2103120"/>
          </a:xfrm>
          <a:prstGeom prst="roundRect">
            <a:avLst>
              <a:gd name="adj" fmla="val 5217"/>
            </a:avLst>
          </a:prstGeom>
          <a:solidFill>
            <a:srgbClr val="EEF1F0"/>
          </a:solidFill>
          <a:ln>
            <a:noFill/>
          </a:ln>
        </p:spPr>
        <p:txBody>
          <a:bodyPr rtlCol="0" anchor="ctr"/>
          <a:lstStyle/>
          <a:p>
            <a:pPr algn="ctr"/>
          </a:p>
        </p:txBody>
      </p:sp>
      <p:sp>
        <p:nvSpPr>
          <p:cNvPr id="14" name="TextBox 13"/>
          <p:cNvSpPr txBox="1"/>
          <p:nvPr/>
        </p:nvSpPr>
        <p:spPr>
          <a:xfrm>
            <a:off x="7726680" y="4069080"/>
            <a:ext cx="3730752" cy="420624"/>
          </a:xfrm>
          <a:prstGeom prst="rect">
            <a:avLst/>
          </a:prstGeom>
          <a:noFill/>
        </p:spPr>
        <p:txBody>
          <a:bodyPr wrap="square" lIns="0" rIns="0" tIns="0" bIns="0" anchor="t">
            <a:noAutofit/>
          </a:bodyPr>
          <a:lstStyle/>
          <a:p>
            <a:pPr algn="l">
              <a:lnSpc>
                <a:spcPct val="100000"/>
              </a:lnSpc>
              <a:spcBef>
                <a:spcPts val="0"/>
              </a:spcBef>
              <a:spcAft>
                <a:spcPts val="0"/>
              </a:spcAft>
            </a:pPr>
            <a:r>
              <a:rPr sz="2000" b="1" i="0">
                <a:solidFill>
                  <a:srgbClr val="4A524D"/>
                </a:solidFill>
                <a:latin typeface="Open Sans"/>
              </a:rPr>
              <a:t>2  </a:t>
            </a:r>
            <a:r>
              <a:rPr sz="2000" b="1" i="0">
                <a:solidFill>
                  <a:srgbClr val="17201B"/>
                </a:solidFill>
                <a:latin typeface="Open Sans"/>
              </a:rPr>
              <a:t>Depois do equilíbrio</a:t>
            </a:r>
          </a:p>
        </p:txBody>
      </p:sp>
      <p:sp>
        <p:nvSpPr>
          <p:cNvPr id="15" name="TextBox 14"/>
          <p:cNvSpPr txBox="1"/>
          <p:nvPr/>
        </p:nvSpPr>
        <p:spPr>
          <a:xfrm>
            <a:off x="7726680" y="4526280"/>
            <a:ext cx="3685032" cy="96012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o desvio é exato; o desequilíbrio, sorteado, tem ruído ~60× o ganho de identidade por geração</a:t>
            </a:r>
          </a:p>
        </p:txBody>
      </p:sp>
      <p:sp>
        <p:nvSpPr>
          <p:cNvPr id="16" name="TextBox 15"/>
          <p:cNvSpPr txBox="1"/>
          <p:nvPr/>
        </p:nvSpPr>
        <p:spPr>
          <a:xfrm>
            <a:off x="7726680" y="5550408"/>
            <a:ext cx="3685032" cy="365760"/>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17201B"/>
                </a:solidFill>
                <a:latin typeface="Open Sans"/>
              </a:rPr>
              <a:t>a seleção passa a premiar sorte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1" i="0">
                <a:solidFill>
                  <a:srgbClr val="FFFFFF"/>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2F9E41"/>
                </a:solidFill>
                <a:latin typeface="Open Sans"/>
              </a:rPr>
              <a:t>QP3  </a:t>
            </a:r>
            <a:r>
              <a:rPr sz="2600" b="1" i="0">
                <a:solidFill>
                  <a:srgbClr val="17201B"/>
                </a:solidFill>
                <a:latin typeface="Open Sans"/>
              </a:rPr>
              <a:t>O híbrido une a identidade do NSGA-II ao equilíbrio do AG</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20</a:t>
            </a:r>
          </a:p>
        </p:txBody>
      </p:sp>
      <p:sp>
        <p:nvSpPr>
          <p:cNvPr id="7" name="Rounded Rectangle 6"/>
          <p:cNvSpPr/>
          <p:nvPr/>
        </p:nvSpPr>
        <p:spPr>
          <a:xfrm>
            <a:off x="7086600" y="1709928"/>
            <a:ext cx="2194560" cy="4041648"/>
          </a:xfrm>
          <a:prstGeom prst="roundRect">
            <a:avLst>
              <a:gd name="adj" fmla="val 5000"/>
            </a:avLst>
          </a:prstGeom>
          <a:solidFill>
            <a:srgbClr val="E3F6EF"/>
          </a:solidFill>
          <a:ln>
            <a:noFill/>
          </a:ln>
        </p:spPr>
        <p:txBody>
          <a:bodyPr rtlCol="0" anchor="ctr"/>
          <a:lstStyle/>
          <a:p>
            <a:pPr algn="ctr"/>
          </a:p>
        </p:txBody>
      </p:sp>
      <p:sp>
        <p:nvSpPr>
          <p:cNvPr id="8" name="TextBox 7"/>
          <p:cNvSpPr txBox="1"/>
          <p:nvPr/>
        </p:nvSpPr>
        <p:spPr>
          <a:xfrm>
            <a:off x="4800600" y="1773936"/>
            <a:ext cx="2194560" cy="457200"/>
          </a:xfrm>
          <a:prstGeom prst="rect">
            <a:avLst/>
          </a:prstGeom>
          <a:noFill/>
        </p:spPr>
        <p:txBody>
          <a:bodyPr wrap="square" lIns="0" rIns="0" tIns="0" bIns="0" anchor="ctr">
            <a:noAutofit/>
          </a:bodyPr>
          <a:lstStyle/>
          <a:p>
            <a:pPr algn="ctr">
              <a:lnSpc>
                <a:spcPct val="100000"/>
              </a:lnSpc>
              <a:spcBef>
                <a:spcPts val="0"/>
              </a:spcBef>
              <a:spcAft>
                <a:spcPts val="0"/>
              </a:spcAft>
            </a:pPr>
            <a:r>
              <a:rPr sz="2000" b="1" i="0">
                <a:solidFill>
                  <a:srgbClr val="2A78D6"/>
                </a:solidFill>
                <a:latin typeface="Open Sans"/>
              </a:rPr>
              <a:t>AG escalar</a:t>
            </a:r>
          </a:p>
        </p:txBody>
      </p:sp>
      <p:sp>
        <p:nvSpPr>
          <p:cNvPr id="9" name="TextBox 8"/>
          <p:cNvSpPr txBox="1"/>
          <p:nvPr/>
        </p:nvSpPr>
        <p:spPr>
          <a:xfrm>
            <a:off x="7086600" y="1773936"/>
            <a:ext cx="2194560" cy="457200"/>
          </a:xfrm>
          <a:prstGeom prst="rect">
            <a:avLst/>
          </a:prstGeom>
          <a:noFill/>
        </p:spPr>
        <p:txBody>
          <a:bodyPr wrap="square" lIns="0" rIns="0" tIns="0" bIns="0" anchor="ctr">
            <a:noAutofit/>
          </a:bodyPr>
          <a:lstStyle/>
          <a:p>
            <a:pPr algn="ctr">
              <a:lnSpc>
                <a:spcPct val="100000"/>
              </a:lnSpc>
              <a:spcBef>
                <a:spcPts val="0"/>
              </a:spcBef>
              <a:spcAft>
                <a:spcPts val="0"/>
              </a:spcAft>
            </a:pPr>
            <a:r>
              <a:rPr sz="2000" b="1" i="0">
                <a:solidFill>
                  <a:srgbClr val="128A5F"/>
                </a:solidFill>
                <a:latin typeface="Open Sans"/>
              </a:rPr>
              <a:t>Híbrido</a:t>
            </a:r>
          </a:p>
        </p:txBody>
      </p:sp>
      <p:sp>
        <p:nvSpPr>
          <p:cNvPr id="10" name="TextBox 9"/>
          <p:cNvSpPr txBox="1"/>
          <p:nvPr/>
        </p:nvSpPr>
        <p:spPr>
          <a:xfrm>
            <a:off x="9372600" y="1773936"/>
            <a:ext cx="2194560" cy="457200"/>
          </a:xfrm>
          <a:prstGeom prst="rect">
            <a:avLst/>
          </a:prstGeom>
          <a:noFill/>
        </p:spPr>
        <p:txBody>
          <a:bodyPr wrap="square" lIns="0" rIns="0" tIns="0" bIns="0" anchor="ctr">
            <a:noAutofit/>
          </a:bodyPr>
          <a:lstStyle/>
          <a:p>
            <a:pPr algn="ctr">
              <a:lnSpc>
                <a:spcPct val="100000"/>
              </a:lnSpc>
              <a:spcBef>
                <a:spcPts val="0"/>
              </a:spcBef>
              <a:spcAft>
                <a:spcPts val="0"/>
              </a:spcAft>
            </a:pPr>
            <a:r>
              <a:rPr sz="2000" b="1" i="0">
                <a:solidFill>
                  <a:srgbClr val="EB6834"/>
                </a:solidFill>
                <a:latin typeface="Open Sans"/>
              </a:rPr>
              <a:t>NSGA-II</a:t>
            </a:r>
          </a:p>
        </p:txBody>
      </p:sp>
      <p:cxnSp>
        <p:nvCxnSpPr>
          <p:cNvPr id="11" name="Connector 10"/>
          <p:cNvCxnSpPr/>
          <p:nvPr/>
        </p:nvCxnSpPr>
        <p:spPr>
          <a:xfrm>
            <a:off x="548640" y="2286000"/>
            <a:ext cx="11091672" cy="0"/>
          </a:xfrm>
          <a:prstGeom prst="line">
            <a:avLst/>
          </a:prstGeom>
          <a:ln w="12700">
            <a:solidFill>
              <a:srgbClr val="D5DAD7"/>
            </a:solidFill>
          </a:ln>
        </p:spPr>
      </p:cxnSp>
      <p:sp>
        <p:nvSpPr>
          <p:cNvPr id="12" name="TextBox 11"/>
          <p:cNvSpPr txBox="1"/>
          <p:nvPr/>
        </p:nvSpPr>
        <p:spPr>
          <a:xfrm>
            <a:off x="548640" y="2322576"/>
            <a:ext cx="4114800" cy="36576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Elencos equilibrados</a:t>
            </a:r>
          </a:p>
        </p:txBody>
      </p:sp>
      <p:sp>
        <p:nvSpPr>
          <p:cNvPr id="13" name="TextBox 12"/>
          <p:cNvSpPr txBox="1"/>
          <p:nvPr/>
        </p:nvSpPr>
        <p:spPr>
          <a:xfrm>
            <a:off x="548640" y="2670048"/>
            <a:ext cx="4114800" cy="292608"/>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6F7772"/>
                </a:solidFill>
                <a:latin typeface="Open Sans"/>
              </a:rPr>
              <a:t>de 20</a:t>
            </a:r>
          </a:p>
        </p:txBody>
      </p:sp>
      <p:sp>
        <p:nvSpPr>
          <p:cNvPr id="14" name="TextBox 13"/>
          <p:cNvSpPr txBox="1"/>
          <p:nvPr/>
        </p:nvSpPr>
        <p:spPr>
          <a:xfrm>
            <a:off x="4800600" y="23225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2A78D6"/>
                </a:solidFill>
                <a:latin typeface="Open Sans"/>
              </a:rPr>
              <a:t>16</a:t>
            </a:r>
          </a:p>
        </p:txBody>
      </p:sp>
      <p:sp>
        <p:nvSpPr>
          <p:cNvPr id="15" name="TextBox 14"/>
          <p:cNvSpPr txBox="1"/>
          <p:nvPr/>
        </p:nvSpPr>
        <p:spPr>
          <a:xfrm>
            <a:off x="7086600" y="23225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128A5F"/>
                </a:solidFill>
                <a:latin typeface="Open Sans"/>
              </a:rPr>
              <a:t>16</a:t>
            </a:r>
          </a:p>
        </p:txBody>
      </p:sp>
      <p:sp>
        <p:nvSpPr>
          <p:cNvPr id="16" name="TextBox 15"/>
          <p:cNvSpPr txBox="1"/>
          <p:nvPr/>
        </p:nvSpPr>
        <p:spPr>
          <a:xfrm>
            <a:off x="9372600" y="23225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EB6834"/>
                </a:solidFill>
                <a:latin typeface="Open Sans"/>
              </a:rPr>
              <a:t>0</a:t>
            </a:r>
          </a:p>
        </p:txBody>
      </p:sp>
      <p:cxnSp>
        <p:nvCxnSpPr>
          <p:cNvPr id="17" name="Connector 16"/>
          <p:cNvCxnSpPr/>
          <p:nvPr/>
        </p:nvCxnSpPr>
        <p:spPr>
          <a:xfrm>
            <a:off x="548640" y="2971800"/>
            <a:ext cx="11091672" cy="0"/>
          </a:xfrm>
          <a:prstGeom prst="line">
            <a:avLst/>
          </a:prstGeom>
          <a:ln w="12700">
            <a:solidFill>
              <a:srgbClr val="D5DAD7"/>
            </a:solidFill>
          </a:ln>
        </p:spPr>
      </p:cxnSp>
      <p:sp>
        <p:nvSpPr>
          <p:cNvPr id="18" name="TextBox 17"/>
          <p:cNvSpPr txBox="1"/>
          <p:nvPr/>
        </p:nvSpPr>
        <p:spPr>
          <a:xfrm>
            <a:off x="548640" y="3008376"/>
            <a:ext cx="4114800" cy="36576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Counters por elenco</a:t>
            </a:r>
          </a:p>
        </p:txBody>
      </p:sp>
      <p:sp>
        <p:nvSpPr>
          <p:cNvPr id="19" name="TextBox 18"/>
          <p:cNvSpPr txBox="1"/>
          <p:nvPr/>
        </p:nvSpPr>
        <p:spPr>
          <a:xfrm>
            <a:off x="548640" y="3355848"/>
            <a:ext cx="4114800" cy="292608"/>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6F7772"/>
                </a:solidFill>
                <a:latin typeface="Open Sans"/>
              </a:rPr>
              <a:t>média</a:t>
            </a:r>
          </a:p>
        </p:txBody>
      </p:sp>
      <p:sp>
        <p:nvSpPr>
          <p:cNvPr id="20" name="TextBox 19"/>
          <p:cNvSpPr txBox="1"/>
          <p:nvPr/>
        </p:nvSpPr>
        <p:spPr>
          <a:xfrm>
            <a:off x="4800600" y="30083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2A78D6"/>
                </a:solidFill>
                <a:latin typeface="Open Sans"/>
              </a:rPr>
              <a:t>0,20</a:t>
            </a:r>
          </a:p>
        </p:txBody>
      </p:sp>
      <p:sp>
        <p:nvSpPr>
          <p:cNvPr id="21" name="TextBox 20"/>
          <p:cNvSpPr txBox="1"/>
          <p:nvPr/>
        </p:nvSpPr>
        <p:spPr>
          <a:xfrm>
            <a:off x="7086600" y="30083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128A5F"/>
                </a:solidFill>
                <a:latin typeface="Open Sans"/>
              </a:rPr>
              <a:t>0,25</a:t>
            </a:r>
          </a:p>
        </p:txBody>
      </p:sp>
      <p:sp>
        <p:nvSpPr>
          <p:cNvPr id="22" name="TextBox 21"/>
          <p:cNvSpPr txBox="1"/>
          <p:nvPr/>
        </p:nvSpPr>
        <p:spPr>
          <a:xfrm>
            <a:off x="9372600" y="30083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EB6834"/>
                </a:solidFill>
                <a:latin typeface="Open Sans"/>
              </a:rPr>
              <a:t>2,80</a:t>
            </a:r>
          </a:p>
        </p:txBody>
      </p:sp>
      <p:cxnSp>
        <p:nvCxnSpPr>
          <p:cNvPr id="23" name="Connector 22"/>
          <p:cNvCxnSpPr/>
          <p:nvPr/>
        </p:nvCxnSpPr>
        <p:spPr>
          <a:xfrm>
            <a:off x="548640" y="3657600"/>
            <a:ext cx="11091672" cy="0"/>
          </a:xfrm>
          <a:prstGeom prst="line">
            <a:avLst/>
          </a:prstGeom>
          <a:ln w="12700">
            <a:solidFill>
              <a:srgbClr val="D5DAD7"/>
            </a:solidFill>
          </a:ln>
        </p:spPr>
      </p:cxnSp>
      <p:sp>
        <p:nvSpPr>
          <p:cNvPr id="24" name="TextBox 23"/>
          <p:cNvSpPr txBox="1"/>
          <p:nvPr/>
        </p:nvSpPr>
        <p:spPr>
          <a:xfrm>
            <a:off x="548640" y="3694176"/>
            <a:ext cx="4114800" cy="36576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Desvio do canônico</a:t>
            </a:r>
          </a:p>
        </p:txBody>
      </p:sp>
      <p:sp>
        <p:nvSpPr>
          <p:cNvPr id="25" name="TextBox 24"/>
          <p:cNvSpPr txBox="1"/>
          <p:nvPr/>
        </p:nvSpPr>
        <p:spPr>
          <a:xfrm>
            <a:off x="548640" y="4041648"/>
            <a:ext cx="4114800" cy="292608"/>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6F7772"/>
                </a:solidFill>
                <a:latin typeface="Open Sans"/>
              </a:rPr>
              <a:t>menor = mais fiel</a:t>
            </a:r>
          </a:p>
        </p:txBody>
      </p:sp>
      <p:sp>
        <p:nvSpPr>
          <p:cNvPr id="26" name="TextBox 25"/>
          <p:cNvSpPr txBox="1"/>
          <p:nvPr/>
        </p:nvSpPr>
        <p:spPr>
          <a:xfrm>
            <a:off x="4800600" y="36941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2A78D6"/>
                </a:solidFill>
                <a:latin typeface="Open Sans"/>
              </a:rPr>
              <a:t>0,25</a:t>
            </a:r>
          </a:p>
        </p:txBody>
      </p:sp>
      <p:sp>
        <p:nvSpPr>
          <p:cNvPr id="27" name="TextBox 26"/>
          <p:cNvSpPr txBox="1"/>
          <p:nvPr/>
        </p:nvSpPr>
        <p:spPr>
          <a:xfrm>
            <a:off x="7086600" y="36941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128A5F"/>
                </a:solidFill>
                <a:latin typeface="Open Sans"/>
              </a:rPr>
              <a:t>0,17</a:t>
            </a:r>
          </a:p>
        </p:txBody>
      </p:sp>
      <p:sp>
        <p:nvSpPr>
          <p:cNvPr id="28" name="TextBox 27"/>
          <p:cNvSpPr txBox="1"/>
          <p:nvPr/>
        </p:nvSpPr>
        <p:spPr>
          <a:xfrm>
            <a:off x="9372600" y="36941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EB6834"/>
                </a:solidFill>
                <a:latin typeface="Open Sans"/>
              </a:rPr>
              <a:t>0,14</a:t>
            </a:r>
          </a:p>
        </p:txBody>
      </p:sp>
      <p:cxnSp>
        <p:nvCxnSpPr>
          <p:cNvPr id="29" name="Connector 28"/>
          <p:cNvCxnSpPr/>
          <p:nvPr/>
        </p:nvCxnSpPr>
        <p:spPr>
          <a:xfrm>
            <a:off x="548640" y="4343400"/>
            <a:ext cx="11091672" cy="0"/>
          </a:xfrm>
          <a:prstGeom prst="line">
            <a:avLst/>
          </a:prstGeom>
          <a:ln w="12700">
            <a:solidFill>
              <a:srgbClr val="D5DAD7"/>
            </a:solidFill>
          </a:ln>
        </p:spPr>
      </p:cxnSp>
      <p:sp>
        <p:nvSpPr>
          <p:cNvPr id="30" name="TextBox 29"/>
          <p:cNvSpPr txBox="1"/>
          <p:nvPr/>
        </p:nvSpPr>
        <p:spPr>
          <a:xfrm>
            <a:off x="548640" y="4379976"/>
            <a:ext cx="4114800" cy="36576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Concordância τ</a:t>
            </a:r>
          </a:p>
        </p:txBody>
      </p:sp>
      <p:sp>
        <p:nvSpPr>
          <p:cNvPr id="31" name="TextBox 30"/>
          <p:cNvSpPr txBox="1"/>
          <p:nvPr/>
        </p:nvSpPr>
        <p:spPr>
          <a:xfrm>
            <a:off x="548640" y="4727448"/>
            <a:ext cx="4114800" cy="292608"/>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6F7772"/>
                </a:solidFill>
                <a:latin typeface="Open Sans"/>
              </a:rPr>
              <a:t>canônico = 1</a:t>
            </a:r>
          </a:p>
        </p:txBody>
      </p:sp>
      <p:sp>
        <p:nvSpPr>
          <p:cNvPr id="32" name="TextBox 31"/>
          <p:cNvSpPr txBox="1"/>
          <p:nvPr/>
        </p:nvSpPr>
        <p:spPr>
          <a:xfrm>
            <a:off x="4800600" y="43799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2A78D6"/>
                </a:solidFill>
                <a:latin typeface="Open Sans"/>
              </a:rPr>
              <a:t>0,28</a:t>
            </a:r>
          </a:p>
        </p:txBody>
      </p:sp>
      <p:sp>
        <p:nvSpPr>
          <p:cNvPr id="33" name="TextBox 32"/>
          <p:cNvSpPr txBox="1"/>
          <p:nvPr/>
        </p:nvSpPr>
        <p:spPr>
          <a:xfrm>
            <a:off x="7086600" y="43799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128A5F"/>
                </a:solidFill>
                <a:latin typeface="Open Sans"/>
              </a:rPr>
              <a:t>0,52</a:t>
            </a:r>
          </a:p>
        </p:txBody>
      </p:sp>
      <p:sp>
        <p:nvSpPr>
          <p:cNvPr id="34" name="TextBox 33"/>
          <p:cNvSpPr txBox="1"/>
          <p:nvPr/>
        </p:nvSpPr>
        <p:spPr>
          <a:xfrm>
            <a:off x="9372600" y="43799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EB6834"/>
                </a:solidFill>
                <a:latin typeface="Open Sans"/>
              </a:rPr>
              <a:t>0,54</a:t>
            </a:r>
          </a:p>
        </p:txBody>
      </p:sp>
      <p:cxnSp>
        <p:nvCxnSpPr>
          <p:cNvPr id="35" name="Connector 34"/>
          <p:cNvCxnSpPr/>
          <p:nvPr/>
        </p:nvCxnSpPr>
        <p:spPr>
          <a:xfrm>
            <a:off x="548640" y="5029200"/>
            <a:ext cx="11091672" cy="0"/>
          </a:xfrm>
          <a:prstGeom prst="line">
            <a:avLst/>
          </a:prstGeom>
          <a:ln w="12700">
            <a:solidFill>
              <a:srgbClr val="D5DAD7"/>
            </a:solidFill>
          </a:ln>
        </p:spPr>
      </p:cxnSp>
      <p:sp>
        <p:nvSpPr>
          <p:cNvPr id="36" name="TextBox 35"/>
          <p:cNvSpPr txBox="1"/>
          <p:nvPr/>
        </p:nvSpPr>
        <p:spPr>
          <a:xfrm>
            <a:off x="548640" y="5065776"/>
            <a:ext cx="4114800" cy="36576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7201B"/>
                </a:solidFill>
                <a:latin typeface="Open Sans"/>
              </a:rPr>
              <a:t>Convergência</a:t>
            </a:r>
          </a:p>
        </p:txBody>
      </p:sp>
      <p:sp>
        <p:nvSpPr>
          <p:cNvPr id="37" name="TextBox 36"/>
          <p:cNvSpPr txBox="1"/>
          <p:nvPr/>
        </p:nvSpPr>
        <p:spPr>
          <a:xfrm>
            <a:off x="548640" y="5413248"/>
            <a:ext cx="4114800" cy="292608"/>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6F7772"/>
                </a:solidFill>
                <a:latin typeface="Open Sans"/>
              </a:rPr>
              <a:t>geração média</a:t>
            </a:r>
          </a:p>
        </p:txBody>
      </p:sp>
      <p:sp>
        <p:nvSpPr>
          <p:cNvPr id="38" name="TextBox 37"/>
          <p:cNvSpPr txBox="1"/>
          <p:nvPr/>
        </p:nvSpPr>
        <p:spPr>
          <a:xfrm>
            <a:off x="4800600" y="50657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2A78D6"/>
                </a:solidFill>
                <a:latin typeface="Open Sans"/>
              </a:rPr>
              <a:t>31</a:t>
            </a:r>
          </a:p>
        </p:txBody>
      </p:sp>
      <p:sp>
        <p:nvSpPr>
          <p:cNvPr id="39" name="TextBox 38"/>
          <p:cNvSpPr txBox="1"/>
          <p:nvPr/>
        </p:nvSpPr>
        <p:spPr>
          <a:xfrm>
            <a:off x="7086600" y="50657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128A5F"/>
                </a:solidFill>
                <a:latin typeface="Open Sans"/>
              </a:rPr>
              <a:t>98</a:t>
            </a:r>
          </a:p>
        </p:txBody>
      </p:sp>
      <p:sp>
        <p:nvSpPr>
          <p:cNvPr id="40" name="TextBox 39"/>
          <p:cNvSpPr txBox="1"/>
          <p:nvPr/>
        </p:nvSpPr>
        <p:spPr>
          <a:xfrm>
            <a:off x="9372600" y="5065776"/>
            <a:ext cx="2194560" cy="64008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EB6834"/>
                </a:solidFill>
                <a:latin typeface="Open Sans"/>
              </a:rPr>
              <a:t>—</a:t>
            </a:r>
          </a:p>
        </p:txBody>
      </p:sp>
      <p:sp>
        <p:nvSpPr>
          <p:cNvPr id="41" name="TextBox 40"/>
          <p:cNvSpPr txBox="1"/>
          <p:nvPr/>
        </p:nvSpPr>
        <p:spPr>
          <a:xfrm>
            <a:off x="548640" y="5824728"/>
            <a:ext cx="11091672" cy="347472"/>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Mesmo orçamento · identidade: p ≤ 0,0058 após Holm · equilíbrio: sem diferença (p = 1,00)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1" i="0">
                <a:solidFill>
                  <a:srgbClr val="FFFFFF"/>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Sim: é possível equilibrar sem destruir as identidades</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21</a:t>
            </a:r>
          </a:p>
        </p:txBody>
      </p:sp>
      <p:sp>
        <p:nvSpPr>
          <p:cNvPr id="7" name="Rounded Rectangle 6"/>
          <p:cNvSpPr/>
          <p:nvPr/>
        </p:nvSpPr>
        <p:spPr>
          <a:xfrm>
            <a:off x="548640" y="1709928"/>
            <a:ext cx="11091672" cy="914400"/>
          </a:xfrm>
          <a:prstGeom prst="roundRect">
            <a:avLst>
              <a:gd name="adj" fmla="val 12000"/>
            </a:avLst>
          </a:prstGeom>
          <a:solidFill>
            <a:srgbClr val="F2F4F3"/>
          </a:solidFill>
          <a:ln>
            <a:noFill/>
          </a:ln>
        </p:spPr>
        <p:txBody>
          <a:bodyPr rtlCol="0" anchor="ctr"/>
          <a:lstStyle/>
          <a:p>
            <a:pPr algn="ctr"/>
          </a:p>
        </p:txBody>
      </p:sp>
      <p:sp>
        <p:nvSpPr>
          <p:cNvPr id="8" name="TextBox 7"/>
          <p:cNvSpPr txBox="1"/>
          <p:nvPr/>
        </p:nvSpPr>
        <p:spPr>
          <a:xfrm>
            <a:off x="822959" y="1709928"/>
            <a:ext cx="2834640" cy="914400"/>
          </a:xfrm>
          <a:prstGeom prst="rect">
            <a:avLst/>
          </a:prstGeom>
          <a:noFill/>
        </p:spPr>
        <p:txBody>
          <a:bodyPr wrap="square" lIns="0" rIns="0" tIns="0" bIns="0" anchor="ctr">
            <a:noAutofit/>
          </a:bodyPr>
          <a:lstStyle/>
          <a:p>
            <a:pPr algn="l">
              <a:lnSpc>
                <a:spcPct val="100000"/>
              </a:lnSpc>
              <a:spcBef>
                <a:spcPts val="0"/>
              </a:spcBef>
              <a:spcAft>
                <a:spcPts val="0"/>
              </a:spcAft>
            </a:pPr>
            <a:r>
              <a:rPr sz="1600" b="1" i="0">
                <a:solidFill>
                  <a:srgbClr val="2F9E41"/>
                </a:solidFill>
                <a:latin typeface="Open Sans"/>
              </a:rPr>
              <a:t>QP1  </a:t>
            </a:r>
            <a:r>
              <a:rPr sz="1900" b="1" i="0">
                <a:solidFill>
                  <a:srgbClr val="17201B"/>
                </a:solidFill>
                <a:latin typeface="Open Sans"/>
              </a:rPr>
              <a:t>Equilíbrio</a:t>
            </a:r>
          </a:p>
        </p:txBody>
      </p:sp>
      <p:sp>
        <p:nvSpPr>
          <p:cNvPr id="9" name="TextBox 8"/>
          <p:cNvSpPr txBox="1"/>
          <p:nvPr/>
        </p:nvSpPr>
        <p:spPr>
          <a:xfrm>
            <a:off x="3429000" y="1709928"/>
            <a:ext cx="8001000" cy="914400"/>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17201B"/>
                </a:solidFill>
                <a:latin typeface="Open Sans"/>
              </a:rPr>
              <a:t>Sim.</a:t>
            </a:r>
            <a:r>
              <a:rPr sz="1700" b="0" i="0">
                <a:solidFill>
                  <a:srgbClr val="17201B"/>
                </a:solidFill>
                <a:latin typeface="Open Sans"/>
              </a:rPr>
              <a:t> Converge em 20 de 20 execuções, perto da simetria, e replica fora do laço; sensível a 2 de 8 regras.</a:t>
            </a:r>
          </a:p>
        </p:txBody>
      </p:sp>
      <p:sp>
        <p:nvSpPr>
          <p:cNvPr id="10" name="Rounded Rectangle 9"/>
          <p:cNvSpPr/>
          <p:nvPr/>
        </p:nvSpPr>
        <p:spPr>
          <a:xfrm>
            <a:off x="548640" y="2734056"/>
            <a:ext cx="11091672" cy="914400"/>
          </a:xfrm>
          <a:prstGeom prst="roundRect">
            <a:avLst>
              <a:gd name="adj" fmla="val 12000"/>
            </a:avLst>
          </a:prstGeom>
          <a:solidFill>
            <a:srgbClr val="F2F4F3"/>
          </a:solidFill>
          <a:ln>
            <a:noFill/>
          </a:ln>
        </p:spPr>
        <p:txBody>
          <a:bodyPr rtlCol="0" anchor="ctr"/>
          <a:lstStyle/>
          <a:p>
            <a:pPr algn="ctr"/>
          </a:p>
        </p:txBody>
      </p:sp>
      <p:sp>
        <p:nvSpPr>
          <p:cNvPr id="11" name="TextBox 10"/>
          <p:cNvSpPr txBox="1"/>
          <p:nvPr/>
        </p:nvSpPr>
        <p:spPr>
          <a:xfrm>
            <a:off x="822959" y="2734056"/>
            <a:ext cx="2834640" cy="914400"/>
          </a:xfrm>
          <a:prstGeom prst="rect">
            <a:avLst/>
          </a:prstGeom>
          <a:noFill/>
        </p:spPr>
        <p:txBody>
          <a:bodyPr wrap="square" lIns="0" rIns="0" tIns="0" bIns="0" anchor="ctr">
            <a:noAutofit/>
          </a:bodyPr>
          <a:lstStyle/>
          <a:p>
            <a:pPr algn="l">
              <a:lnSpc>
                <a:spcPct val="100000"/>
              </a:lnSpc>
              <a:spcBef>
                <a:spcPts val="0"/>
              </a:spcBef>
              <a:spcAft>
                <a:spcPts val="0"/>
              </a:spcAft>
            </a:pPr>
            <a:r>
              <a:rPr sz="1600" b="1" i="0">
                <a:solidFill>
                  <a:srgbClr val="2F9E41"/>
                </a:solidFill>
                <a:latin typeface="Open Sans"/>
              </a:rPr>
              <a:t>QP2  </a:t>
            </a:r>
            <a:r>
              <a:rPr sz="1900" b="1" i="0">
                <a:solidFill>
                  <a:srgbClr val="17201B"/>
                </a:solidFill>
                <a:latin typeface="Open Sans"/>
              </a:rPr>
              <a:t>Identidade</a:t>
            </a:r>
          </a:p>
        </p:txBody>
      </p:sp>
      <p:sp>
        <p:nvSpPr>
          <p:cNvPr id="12" name="TextBox 11"/>
          <p:cNvSpPr txBox="1"/>
          <p:nvPr/>
        </p:nvSpPr>
        <p:spPr>
          <a:xfrm>
            <a:off x="3429000" y="2734056"/>
            <a:ext cx="8001000" cy="914400"/>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17201B"/>
                </a:solidFill>
                <a:latin typeface="Open Sans"/>
              </a:rPr>
              <a:t>Em parte, e graças ao termo.</a:t>
            </a:r>
            <a:r>
              <a:rPr sz="1700" b="0" i="0">
                <a:solidFill>
                  <a:srgbClr val="17201B"/>
                </a:solidFill>
                <a:latin typeface="Open Sans"/>
              </a:rPr>
              <a:t> Sem ele, cai ao nível do acaso; a política é o que mais se perde.</a:t>
            </a:r>
          </a:p>
        </p:txBody>
      </p:sp>
      <p:sp>
        <p:nvSpPr>
          <p:cNvPr id="13" name="Rounded Rectangle 12"/>
          <p:cNvSpPr/>
          <p:nvPr/>
        </p:nvSpPr>
        <p:spPr>
          <a:xfrm>
            <a:off x="548640" y="3758184"/>
            <a:ext cx="11091672" cy="914400"/>
          </a:xfrm>
          <a:prstGeom prst="roundRect">
            <a:avLst>
              <a:gd name="adj" fmla="val 12000"/>
            </a:avLst>
          </a:prstGeom>
          <a:solidFill>
            <a:srgbClr val="F2F4F3"/>
          </a:solidFill>
          <a:ln>
            <a:noFill/>
          </a:ln>
        </p:spPr>
        <p:txBody>
          <a:bodyPr rtlCol="0" anchor="ctr"/>
          <a:lstStyle/>
          <a:p>
            <a:pPr algn="ctr"/>
          </a:p>
        </p:txBody>
      </p:sp>
      <p:sp>
        <p:nvSpPr>
          <p:cNvPr id="14" name="TextBox 13"/>
          <p:cNvSpPr txBox="1"/>
          <p:nvPr/>
        </p:nvSpPr>
        <p:spPr>
          <a:xfrm>
            <a:off x="822959" y="3758184"/>
            <a:ext cx="2834640" cy="914400"/>
          </a:xfrm>
          <a:prstGeom prst="rect">
            <a:avLst/>
          </a:prstGeom>
          <a:noFill/>
        </p:spPr>
        <p:txBody>
          <a:bodyPr wrap="square" lIns="0" rIns="0" tIns="0" bIns="0" anchor="ctr">
            <a:noAutofit/>
          </a:bodyPr>
          <a:lstStyle/>
          <a:p>
            <a:pPr algn="l">
              <a:lnSpc>
                <a:spcPct val="100000"/>
              </a:lnSpc>
              <a:spcBef>
                <a:spcPts val="0"/>
              </a:spcBef>
              <a:spcAft>
                <a:spcPts val="0"/>
              </a:spcAft>
            </a:pPr>
            <a:r>
              <a:rPr sz="1600" b="1" i="0">
                <a:solidFill>
                  <a:srgbClr val="2F9E41"/>
                </a:solidFill>
                <a:latin typeface="Open Sans"/>
              </a:rPr>
              <a:t>QP3  </a:t>
            </a:r>
            <a:r>
              <a:rPr sz="1900" b="1" i="0">
                <a:solidFill>
                  <a:srgbClr val="17201B"/>
                </a:solidFill>
                <a:latin typeface="Open Sans"/>
              </a:rPr>
              <a:t>Compromisso</a:t>
            </a:r>
          </a:p>
        </p:txBody>
      </p:sp>
      <p:sp>
        <p:nvSpPr>
          <p:cNvPr id="15" name="TextBox 14"/>
          <p:cNvSpPr txBox="1"/>
          <p:nvPr/>
        </p:nvSpPr>
        <p:spPr>
          <a:xfrm>
            <a:off x="3429000" y="3758184"/>
            <a:ext cx="8001000" cy="914400"/>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17201B"/>
                </a:solidFill>
                <a:latin typeface="Open Sans"/>
              </a:rPr>
              <a:t>Real, mas menor do que o AG escalar sugere.</a:t>
            </a:r>
            <a:r>
              <a:rPr sz="1700" b="0" i="0">
                <a:solidFill>
                  <a:srgbClr val="17201B"/>
                </a:solidFill>
                <a:latin typeface="Open Sans"/>
              </a:rPr>
              <a:t> O híbrido recupera identidade sem custo de equilíbrio.</a:t>
            </a:r>
          </a:p>
        </p:txBody>
      </p:sp>
      <p:sp>
        <p:nvSpPr>
          <p:cNvPr id="16" name="Rounded Rectangle 15"/>
          <p:cNvSpPr/>
          <p:nvPr/>
        </p:nvSpPr>
        <p:spPr>
          <a:xfrm>
            <a:off x="548640" y="4910328"/>
            <a:ext cx="11091672" cy="1188720"/>
          </a:xfrm>
          <a:prstGeom prst="roundRect">
            <a:avLst>
              <a:gd name="adj" fmla="val 9230"/>
            </a:avLst>
          </a:prstGeom>
          <a:solidFill>
            <a:srgbClr val="1F6E2E"/>
          </a:solidFill>
          <a:ln>
            <a:noFill/>
          </a:ln>
        </p:spPr>
        <p:txBody>
          <a:bodyPr rtlCol="0" anchor="ctr"/>
          <a:lstStyle/>
          <a:p>
            <a:pPr algn="ctr"/>
          </a:p>
        </p:txBody>
      </p:sp>
      <p:sp>
        <p:nvSpPr>
          <p:cNvPr id="17" name="TextBox 16"/>
          <p:cNvSpPr txBox="1"/>
          <p:nvPr/>
        </p:nvSpPr>
        <p:spPr>
          <a:xfrm>
            <a:off x="914400" y="4910328"/>
            <a:ext cx="10360152" cy="1188720"/>
          </a:xfrm>
          <a:prstGeom prst="rect">
            <a:avLst/>
          </a:prstGeom>
          <a:noFill/>
        </p:spPr>
        <p:txBody>
          <a:bodyPr wrap="square" lIns="0" rIns="0" tIns="0" bIns="0" anchor="ctr">
            <a:noAutofit/>
          </a:bodyPr>
          <a:lstStyle/>
          <a:p>
            <a:pPr algn="l">
              <a:lnSpc>
                <a:spcPct val="100000"/>
              </a:lnSpc>
              <a:spcBef>
                <a:spcPts val="0"/>
              </a:spcBef>
              <a:spcAft>
                <a:spcPts val="0"/>
              </a:spcAft>
            </a:pPr>
            <a:r>
              <a:rPr sz="2000" b="0" i="0">
                <a:solidFill>
                  <a:srgbClr val="FFFFFF"/>
                </a:solidFill>
                <a:latin typeface="Open Sans"/>
              </a:rPr>
              <a:t>Preservar identidade exige </a:t>
            </a:r>
            <a:r>
              <a:rPr sz="2000" b="1" i="0">
                <a:solidFill>
                  <a:srgbClr val="FFFFFF"/>
                </a:solidFill>
                <a:latin typeface="Open Sans"/>
              </a:rPr>
              <a:t>pressão explícita por identidade</a:t>
            </a:r>
            <a:r>
              <a:rPr sz="2000" b="0" i="0">
                <a:solidFill>
                  <a:srgbClr val="FFFFFF"/>
                </a:solidFill>
                <a:latin typeface="Open Sans"/>
              </a:rPr>
              <a:t> e uma busca que </a:t>
            </a:r>
            <a:r>
              <a:rPr sz="2000" b="1" i="0">
                <a:solidFill>
                  <a:srgbClr val="FFFFFF"/>
                </a:solidFill>
                <a:latin typeface="Open Sans"/>
              </a:rPr>
              <a:t>mantenha a diversidade sob avaliação ruidosa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1" i="0">
                <a:solidFill>
                  <a:srgbClr val="FFFFFF"/>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O modelo ainda é simples; os próximos passos saem dos achados</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23</a:t>
            </a:r>
          </a:p>
        </p:txBody>
      </p:sp>
      <p:sp>
        <p:nvSpPr>
          <p:cNvPr id="7" name="Rounded Rectangle 6"/>
          <p:cNvSpPr/>
          <p:nvPr/>
        </p:nvSpPr>
        <p:spPr>
          <a:xfrm>
            <a:off x="548640" y="1709928"/>
            <a:ext cx="5440680" cy="4389120"/>
          </a:xfrm>
          <a:prstGeom prst="roundRect">
            <a:avLst>
              <a:gd name="adj" fmla="val 2500"/>
            </a:avLst>
          </a:prstGeom>
          <a:solidFill>
            <a:srgbClr val="F2F4F3"/>
          </a:solidFill>
          <a:ln>
            <a:noFill/>
          </a:ln>
        </p:spPr>
        <p:txBody>
          <a:bodyPr rtlCol="0" anchor="ctr"/>
          <a:lstStyle/>
          <a:p>
            <a:pPr algn="ctr"/>
          </a:p>
        </p:txBody>
      </p:sp>
      <p:sp>
        <p:nvSpPr>
          <p:cNvPr id="8" name="TextBox 7"/>
          <p:cNvSpPr txBox="1"/>
          <p:nvPr/>
        </p:nvSpPr>
        <p:spPr>
          <a:xfrm>
            <a:off x="841247" y="1847088"/>
            <a:ext cx="484632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6F7772"/>
                </a:solidFill>
                <a:latin typeface="Open Sans"/>
              </a:rPr>
              <a:t>LIMITES</a:t>
            </a:r>
          </a:p>
        </p:txBody>
      </p:sp>
      <p:sp>
        <p:nvSpPr>
          <p:cNvPr id="9" name="Rounded Rectangle 8"/>
          <p:cNvSpPr/>
          <p:nvPr/>
        </p:nvSpPr>
        <p:spPr>
          <a:xfrm>
            <a:off x="868680" y="2414016"/>
            <a:ext cx="182880" cy="182880"/>
          </a:xfrm>
          <a:prstGeom prst="roundRect">
            <a:avLst>
              <a:gd name="adj" fmla="val 20000"/>
            </a:avLst>
          </a:prstGeom>
          <a:solidFill>
            <a:srgbClr val="6F7772"/>
          </a:solidFill>
          <a:ln>
            <a:noFill/>
          </a:ln>
        </p:spPr>
        <p:txBody>
          <a:bodyPr rtlCol="0" anchor="ctr"/>
          <a:lstStyle/>
          <a:p>
            <a:pPr algn="ctr"/>
          </a:p>
        </p:txBody>
      </p:sp>
      <p:sp>
        <p:nvSpPr>
          <p:cNvPr id="10" name="TextBox 9"/>
          <p:cNvSpPr txBox="1"/>
          <p:nvPr/>
        </p:nvSpPr>
        <p:spPr>
          <a:xfrm>
            <a:off x="1234440" y="2322576"/>
            <a:ext cx="4526280" cy="8229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7201B"/>
                </a:solidFill>
                <a:latin typeface="Open Sans"/>
              </a:rPr>
              <a:t>Combate abstrato: sem animações, combos ou janelas de punição</a:t>
            </a:r>
          </a:p>
        </p:txBody>
      </p:sp>
      <p:sp>
        <p:nvSpPr>
          <p:cNvPr id="11" name="Rounded Rectangle 10"/>
          <p:cNvSpPr/>
          <p:nvPr/>
        </p:nvSpPr>
        <p:spPr>
          <a:xfrm>
            <a:off x="868680" y="3310128"/>
            <a:ext cx="182880" cy="182880"/>
          </a:xfrm>
          <a:prstGeom prst="roundRect">
            <a:avLst>
              <a:gd name="adj" fmla="val 20000"/>
            </a:avLst>
          </a:prstGeom>
          <a:solidFill>
            <a:srgbClr val="6F7772"/>
          </a:solidFill>
          <a:ln>
            <a:noFill/>
          </a:ln>
        </p:spPr>
        <p:txBody>
          <a:bodyPr rtlCol="0" anchor="ctr"/>
          <a:lstStyle/>
          <a:p>
            <a:pPr algn="ctr"/>
          </a:p>
        </p:txBody>
      </p:sp>
      <p:sp>
        <p:nvSpPr>
          <p:cNvPr id="12" name="TextBox 11"/>
          <p:cNvSpPr txBox="1"/>
          <p:nvPr/>
        </p:nvSpPr>
        <p:spPr>
          <a:xfrm>
            <a:off x="1234440" y="3218688"/>
            <a:ext cx="4526280" cy="8229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7201B"/>
                </a:solidFill>
                <a:latin typeface="Open Sans"/>
              </a:rPr>
              <a:t>O ciclo de vantagens proposto não se realiza nem no canônico, que é uma hierarquia</a:t>
            </a:r>
          </a:p>
        </p:txBody>
      </p:sp>
      <p:sp>
        <p:nvSpPr>
          <p:cNvPr id="13" name="Rounded Rectangle 12"/>
          <p:cNvSpPr/>
          <p:nvPr/>
        </p:nvSpPr>
        <p:spPr>
          <a:xfrm>
            <a:off x="868680" y="4206240"/>
            <a:ext cx="182880" cy="182880"/>
          </a:xfrm>
          <a:prstGeom prst="roundRect">
            <a:avLst>
              <a:gd name="adj" fmla="val 20000"/>
            </a:avLst>
          </a:prstGeom>
          <a:solidFill>
            <a:srgbClr val="6F7772"/>
          </a:solidFill>
          <a:ln>
            <a:noFill/>
          </a:ln>
        </p:spPr>
        <p:txBody>
          <a:bodyPr rtlCol="0" anchor="ctr"/>
          <a:lstStyle/>
          <a:p>
            <a:pPr algn="ctr"/>
          </a:p>
        </p:txBody>
      </p:sp>
      <p:sp>
        <p:nvSpPr>
          <p:cNvPr id="14" name="TextBox 13"/>
          <p:cNvSpPr txBox="1"/>
          <p:nvPr/>
        </p:nvSpPr>
        <p:spPr>
          <a:xfrm>
            <a:off x="1234440" y="4114800"/>
            <a:ext cx="4526280" cy="8229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7201B"/>
                </a:solidFill>
                <a:latin typeface="Open Sans"/>
              </a:rPr>
              <a:t>Política fixa: nenhum oponente tenta explorar o elenco evoluído</a:t>
            </a:r>
          </a:p>
        </p:txBody>
      </p:sp>
      <p:sp>
        <p:nvSpPr>
          <p:cNvPr id="15" name="Rounded Rectangle 14"/>
          <p:cNvSpPr/>
          <p:nvPr/>
        </p:nvSpPr>
        <p:spPr>
          <a:xfrm>
            <a:off x="6199632" y="1709928"/>
            <a:ext cx="5440680" cy="4389120"/>
          </a:xfrm>
          <a:prstGeom prst="roundRect">
            <a:avLst>
              <a:gd name="adj" fmla="val 2500"/>
            </a:avLst>
          </a:prstGeom>
          <a:solidFill>
            <a:srgbClr val="F2F4F3"/>
          </a:solidFill>
          <a:ln>
            <a:noFill/>
          </a:ln>
        </p:spPr>
        <p:txBody>
          <a:bodyPr rtlCol="0" anchor="ctr"/>
          <a:lstStyle/>
          <a:p>
            <a:pPr algn="ctr"/>
          </a:p>
        </p:txBody>
      </p:sp>
      <p:sp>
        <p:nvSpPr>
          <p:cNvPr id="16" name="TextBox 15"/>
          <p:cNvSpPr txBox="1"/>
          <p:nvPr/>
        </p:nvSpPr>
        <p:spPr>
          <a:xfrm>
            <a:off x="6492240" y="1847088"/>
            <a:ext cx="484632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PRÓXIMOS PASSOS</a:t>
            </a:r>
          </a:p>
        </p:txBody>
      </p:sp>
      <p:sp>
        <p:nvSpPr>
          <p:cNvPr id="17" name="Rounded Rectangle 16"/>
          <p:cNvSpPr/>
          <p:nvPr/>
        </p:nvSpPr>
        <p:spPr>
          <a:xfrm>
            <a:off x="6519672" y="2414016"/>
            <a:ext cx="182880" cy="182880"/>
          </a:xfrm>
          <a:prstGeom prst="roundRect">
            <a:avLst>
              <a:gd name="adj" fmla="val 20000"/>
            </a:avLst>
          </a:prstGeom>
          <a:solidFill>
            <a:srgbClr val="2F9E41"/>
          </a:solidFill>
          <a:ln>
            <a:noFill/>
          </a:ln>
        </p:spPr>
        <p:txBody>
          <a:bodyPr rtlCol="0" anchor="ctr"/>
          <a:lstStyle/>
          <a:p>
            <a:pPr algn="ctr"/>
          </a:p>
        </p:txBody>
      </p:sp>
      <p:sp>
        <p:nvSpPr>
          <p:cNvPr id="18" name="TextBox 17"/>
          <p:cNvSpPr txBox="1"/>
          <p:nvPr/>
        </p:nvSpPr>
        <p:spPr>
          <a:xfrm>
            <a:off x="6885432" y="2322576"/>
            <a:ext cx="4526280" cy="8229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7201B"/>
                </a:solidFill>
                <a:latin typeface="Open Sans"/>
              </a:rPr>
              <a:t>Passo de mutação da política calibrado contra o ruído</a:t>
            </a:r>
          </a:p>
        </p:txBody>
      </p:sp>
      <p:sp>
        <p:nvSpPr>
          <p:cNvPr id="19" name="Rounded Rectangle 18"/>
          <p:cNvSpPr/>
          <p:nvPr/>
        </p:nvSpPr>
        <p:spPr>
          <a:xfrm>
            <a:off x="6519672" y="3310128"/>
            <a:ext cx="182880" cy="182880"/>
          </a:xfrm>
          <a:prstGeom prst="roundRect">
            <a:avLst>
              <a:gd name="adj" fmla="val 20000"/>
            </a:avLst>
          </a:prstGeom>
          <a:solidFill>
            <a:srgbClr val="2F9E41"/>
          </a:solidFill>
          <a:ln>
            <a:noFill/>
          </a:ln>
        </p:spPr>
        <p:txBody>
          <a:bodyPr rtlCol="0" anchor="ctr"/>
          <a:lstStyle/>
          <a:p>
            <a:pPr algn="ctr"/>
          </a:p>
        </p:txBody>
      </p:sp>
      <p:sp>
        <p:nvSpPr>
          <p:cNvPr id="20" name="TextBox 19"/>
          <p:cNvSpPr txBox="1"/>
          <p:nvPr/>
        </p:nvSpPr>
        <p:spPr>
          <a:xfrm>
            <a:off x="6885432" y="3218688"/>
            <a:ext cx="4526280" cy="8229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7201B"/>
                </a:solidFill>
                <a:latin typeface="Open Sans"/>
              </a:rPr>
              <a:t>Políticas que dependam do estado da luta</a:t>
            </a:r>
          </a:p>
        </p:txBody>
      </p:sp>
      <p:sp>
        <p:nvSpPr>
          <p:cNvPr id="21" name="Rounded Rectangle 20"/>
          <p:cNvSpPr/>
          <p:nvPr/>
        </p:nvSpPr>
        <p:spPr>
          <a:xfrm>
            <a:off x="6519672" y="4206240"/>
            <a:ext cx="182880" cy="182880"/>
          </a:xfrm>
          <a:prstGeom prst="roundRect">
            <a:avLst>
              <a:gd name="adj" fmla="val 20000"/>
            </a:avLst>
          </a:prstGeom>
          <a:solidFill>
            <a:srgbClr val="2F9E41"/>
          </a:solidFill>
          <a:ln>
            <a:noFill/>
          </a:ln>
        </p:spPr>
        <p:txBody>
          <a:bodyPr rtlCol="0" anchor="ctr"/>
          <a:lstStyle/>
          <a:p>
            <a:pPr algn="ctr"/>
          </a:p>
        </p:txBody>
      </p:sp>
      <p:sp>
        <p:nvSpPr>
          <p:cNvPr id="22" name="TextBox 21"/>
          <p:cNvSpPr txBox="1"/>
          <p:nvPr/>
        </p:nvSpPr>
        <p:spPr>
          <a:xfrm>
            <a:off x="6885432" y="4114800"/>
            <a:ext cx="4526280" cy="8229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7201B"/>
                </a:solidFill>
                <a:latin typeface="Open Sans"/>
              </a:rPr>
              <a:t>Oponentes que se adaptam ao elenco (coevolução)</a:t>
            </a:r>
          </a:p>
        </p:txBody>
      </p:sp>
      <p:sp>
        <p:nvSpPr>
          <p:cNvPr id="23" name="Rounded Rectangle 22"/>
          <p:cNvSpPr/>
          <p:nvPr/>
        </p:nvSpPr>
        <p:spPr>
          <a:xfrm>
            <a:off x="6519672" y="5102352"/>
            <a:ext cx="182880" cy="182880"/>
          </a:xfrm>
          <a:prstGeom prst="roundRect">
            <a:avLst>
              <a:gd name="adj" fmla="val 20000"/>
            </a:avLst>
          </a:prstGeom>
          <a:solidFill>
            <a:srgbClr val="2F9E41"/>
          </a:solidFill>
          <a:ln>
            <a:noFill/>
          </a:ln>
        </p:spPr>
        <p:txBody>
          <a:bodyPr rtlCol="0" anchor="ctr"/>
          <a:lstStyle/>
          <a:p>
            <a:pPr algn="ctr"/>
          </a:p>
        </p:txBody>
      </p:sp>
      <p:sp>
        <p:nvSpPr>
          <p:cNvPr id="24" name="TextBox 23"/>
          <p:cNvSpPr txBox="1"/>
          <p:nvPr/>
        </p:nvSpPr>
        <p:spPr>
          <a:xfrm>
            <a:off x="6885432" y="5010912"/>
            <a:ext cx="4526280" cy="82296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7201B"/>
                </a:solidFill>
                <a:latin typeface="Open Sans"/>
              </a:rPr>
              <a:t>Calibrar o híbrido no orçamento completo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480560" cy="6858000"/>
          </a:xfrm>
          <a:prstGeom prst="rect">
            <a:avLst/>
          </a:prstGeom>
          <a:solidFill>
            <a:srgbClr val="2F9E41"/>
          </a:solidFill>
          <a:ln>
            <a:noFill/>
          </a:ln>
        </p:spPr>
        <p:txBody>
          <a:bodyPr rtlCol="0" anchor="ctr"/>
          <a:lstStyle/>
          <a:p>
            <a:pPr algn="ctr"/>
          </a:p>
        </p:txBody>
      </p:sp>
      <p:pic>
        <p:nvPicPr>
          <p:cNvPr id="3" name="Picture 2" descr="logo_branco.png"/>
          <p:cNvPicPr>
            <a:picLocks noChangeAspect="1"/>
          </p:cNvPicPr>
          <p:nvPr/>
        </p:nvPicPr>
        <p:blipFill>
          <a:blip r:embed="rId2"/>
          <a:stretch>
            <a:fillRect/>
          </a:stretch>
        </p:blipFill>
        <p:spPr>
          <a:xfrm>
            <a:off x="502920" y="566928"/>
            <a:ext cx="2743200" cy="658368"/>
          </a:xfrm>
          <a:prstGeom prst="rect">
            <a:avLst/>
          </a:prstGeom>
        </p:spPr>
      </p:pic>
      <p:sp>
        <p:nvSpPr>
          <p:cNvPr id="4" name="Rounded Rectangle 3"/>
          <p:cNvSpPr/>
          <p:nvPr/>
        </p:nvSpPr>
        <p:spPr>
          <a:xfrm>
            <a:off x="548640" y="4160520"/>
            <a:ext cx="228600" cy="228600"/>
          </a:xfrm>
          <a:prstGeom prst="roundRect">
            <a:avLst>
              <a:gd name="adj" fmla="val 22000"/>
            </a:avLst>
          </a:prstGeom>
          <a:solidFill>
            <a:srgbClr val="FFFFFF"/>
          </a:solidFill>
          <a:ln>
            <a:noFill/>
          </a:ln>
        </p:spPr>
        <p:txBody>
          <a:bodyPr rtlCol="0" anchor="ctr"/>
          <a:lstStyle/>
          <a:p>
            <a:pPr algn="ctr"/>
          </a:p>
        </p:txBody>
      </p:sp>
      <p:sp>
        <p:nvSpPr>
          <p:cNvPr id="5" name="Rounded Rectangle 4"/>
          <p:cNvSpPr/>
          <p:nvPr/>
        </p:nvSpPr>
        <p:spPr>
          <a:xfrm>
            <a:off x="854964" y="4160520"/>
            <a:ext cx="228600" cy="228600"/>
          </a:xfrm>
          <a:prstGeom prst="roundRect">
            <a:avLst>
              <a:gd name="adj" fmla="val 22000"/>
            </a:avLst>
          </a:prstGeom>
          <a:solidFill>
            <a:srgbClr val="FFFFFF"/>
          </a:solidFill>
          <a:ln>
            <a:noFill/>
          </a:ln>
        </p:spPr>
        <p:txBody>
          <a:bodyPr rtlCol="0" anchor="ctr"/>
          <a:lstStyle/>
          <a:p>
            <a:pPr algn="ctr"/>
          </a:p>
        </p:txBody>
      </p:sp>
      <p:sp>
        <p:nvSpPr>
          <p:cNvPr id="6" name="Rounded Rectangle 5"/>
          <p:cNvSpPr/>
          <p:nvPr/>
        </p:nvSpPr>
        <p:spPr>
          <a:xfrm>
            <a:off x="1161288" y="4160520"/>
            <a:ext cx="228600" cy="228600"/>
          </a:xfrm>
          <a:prstGeom prst="roundRect">
            <a:avLst>
              <a:gd name="adj" fmla="val 22000"/>
            </a:avLst>
          </a:prstGeom>
          <a:solidFill>
            <a:srgbClr val="FFFFFF"/>
          </a:solidFill>
          <a:ln>
            <a:noFill/>
          </a:ln>
        </p:spPr>
        <p:txBody>
          <a:bodyPr rtlCol="0" anchor="ctr"/>
          <a:lstStyle/>
          <a:p>
            <a:pPr algn="ctr"/>
          </a:p>
        </p:txBody>
      </p:sp>
      <p:sp>
        <p:nvSpPr>
          <p:cNvPr id="7" name="Rounded Rectangle 6"/>
          <p:cNvSpPr/>
          <p:nvPr/>
        </p:nvSpPr>
        <p:spPr>
          <a:xfrm>
            <a:off x="1467612" y="4160520"/>
            <a:ext cx="228600" cy="228600"/>
          </a:xfrm>
          <a:prstGeom prst="roundRect">
            <a:avLst>
              <a:gd name="adj" fmla="val 22000"/>
            </a:avLst>
          </a:prstGeom>
          <a:solidFill>
            <a:srgbClr val="FFFFFF"/>
          </a:solidFill>
          <a:ln>
            <a:noFill/>
          </a:ln>
        </p:spPr>
        <p:txBody>
          <a:bodyPr rtlCol="0" anchor="ctr"/>
          <a:lstStyle/>
          <a:p>
            <a:pPr algn="ctr"/>
          </a:p>
        </p:txBody>
      </p:sp>
      <p:sp>
        <p:nvSpPr>
          <p:cNvPr id="8" name="Rounded Rectangle 7"/>
          <p:cNvSpPr/>
          <p:nvPr/>
        </p:nvSpPr>
        <p:spPr>
          <a:xfrm>
            <a:off x="1773936" y="4160520"/>
            <a:ext cx="228600" cy="228600"/>
          </a:xfrm>
          <a:prstGeom prst="roundRect">
            <a:avLst>
              <a:gd name="adj" fmla="val 22000"/>
            </a:avLst>
          </a:prstGeom>
          <a:solidFill>
            <a:srgbClr val="FFFFFF"/>
          </a:solidFill>
          <a:ln>
            <a:noFill/>
          </a:ln>
        </p:spPr>
        <p:txBody>
          <a:bodyPr rtlCol="0" anchor="ctr"/>
          <a:lstStyle/>
          <a:p>
            <a:pPr algn="ctr"/>
          </a:p>
        </p:txBody>
      </p:sp>
      <p:sp>
        <p:nvSpPr>
          <p:cNvPr id="9" name="Rounded Rectangle 8"/>
          <p:cNvSpPr/>
          <p:nvPr/>
        </p:nvSpPr>
        <p:spPr>
          <a:xfrm>
            <a:off x="2080260" y="4160520"/>
            <a:ext cx="228600" cy="228600"/>
          </a:xfrm>
          <a:prstGeom prst="roundRect">
            <a:avLst>
              <a:gd name="adj" fmla="val 22000"/>
            </a:avLst>
          </a:prstGeom>
          <a:solidFill>
            <a:srgbClr val="FFFFFF"/>
          </a:solidFill>
          <a:ln>
            <a:noFill/>
          </a:ln>
        </p:spPr>
        <p:txBody>
          <a:bodyPr rtlCol="0" anchor="ctr"/>
          <a:lstStyle/>
          <a:p>
            <a:pPr algn="ctr"/>
          </a:p>
        </p:txBody>
      </p:sp>
      <p:sp>
        <p:nvSpPr>
          <p:cNvPr id="10" name="Rounded Rectangle 9"/>
          <p:cNvSpPr/>
          <p:nvPr/>
        </p:nvSpPr>
        <p:spPr>
          <a:xfrm>
            <a:off x="2386584" y="4160520"/>
            <a:ext cx="228600" cy="228600"/>
          </a:xfrm>
          <a:prstGeom prst="roundRect">
            <a:avLst>
              <a:gd name="adj" fmla="val 22000"/>
            </a:avLst>
          </a:prstGeom>
          <a:solidFill>
            <a:srgbClr val="FFFFFF"/>
          </a:solidFill>
          <a:ln>
            <a:noFill/>
          </a:ln>
        </p:spPr>
        <p:txBody>
          <a:bodyPr rtlCol="0" anchor="ctr"/>
          <a:lstStyle/>
          <a:p>
            <a:pPr algn="ctr"/>
          </a:p>
        </p:txBody>
      </p:sp>
      <p:sp>
        <p:nvSpPr>
          <p:cNvPr id="11" name="Rounded Rectangle 10"/>
          <p:cNvSpPr/>
          <p:nvPr/>
        </p:nvSpPr>
        <p:spPr>
          <a:xfrm>
            <a:off x="2692908" y="4160520"/>
            <a:ext cx="228600" cy="228600"/>
          </a:xfrm>
          <a:prstGeom prst="roundRect">
            <a:avLst>
              <a:gd name="adj" fmla="val 22000"/>
            </a:avLst>
          </a:prstGeom>
          <a:solidFill>
            <a:srgbClr val="FFFFFF"/>
          </a:solidFill>
          <a:ln>
            <a:noFill/>
          </a:ln>
        </p:spPr>
        <p:txBody>
          <a:bodyPr rtlCol="0" anchor="ctr"/>
          <a:lstStyle/>
          <a:p>
            <a:pPr algn="ctr"/>
          </a:p>
        </p:txBody>
      </p:sp>
      <p:sp>
        <p:nvSpPr>
          <p:cNvPr id="12" name="Rounded Rectangle 11"/>
          <p:cNvSpPr/>
          <p:nvPr/>
        </p:nvSpPr>
        <p:spPr>
          <a:xfrm>
            <a:off x="2999232" y="4160520"/>
            <a:ext cx="228600" cy="228600"/>
          </a:xfrm>
          <a:prstGeom prst="roundRect">
            <a:avLst>
              <a:gd name="adj" fmla="val 22000"/>
            </a:avLst>
          </a:prstGeom>
          <a:solidFill>
            <a:srgbClr val="BFE5C7"/>
          </a:solidFill>
          <a:ln>
            <a:noFill/>
          </a:ln>
        </p:spPr>
        <p:txBody>
          <a:bodyPr rtlCol="0" anchor="ctr"/>
          <a:lstStyle/>
          <a:p>
            <a:pPr algn="ctr"/>
          </a:p>
        </p:txBody>
      </p:sp>
      <p:sp>
        <p:nvSpPr>
          <p:cNvPr id="13" name="Rounded Rectangle 12"/>
          <p:cNvSpPr/>
          <p:nvPr/>
        </p:nvSpPr>
        <p:spPr>
          <a:xfrm>
            <a:off x="3305556" y="4160520"/>
            <a:ext cx="228600" cy="228600"/>
          </a:xfrm>
          <a:prstGeom prst="roundRect">
            <a:avLst>
              <a:gd name="adj" fmla="val 22000"/>
            </a:avLst>
          </a:prstGeom>
          <a:solidFill>
            <a:srgbClr val="BFE5C7"/>
          </a:solidFill>
          <a:ln>
            <a:noFill/>
          </a:ln>
        </p:spPr>
        <p:txBody>
          <a:bodyPr rtlCol="0" anchor="ctr"/>
          <a:lstStyle/>
          <a:p>
            <a:pPr algn="ctr"/>
          </a:p>
        </p:txBody>
      </p:sp>
      <p:sp>
        <p:nvSpPr>
          <p:cNvPr id="14" name="Rounded Rectangle 13"/>
          <p:cNvSpPr/>
          <p:nvPr/>
        </p:nvSpPr>
        <p:spPr>
          <a:xfrm>
            <a:off x="3611880" y="4160520"/>
            <a:ext cx="228600" cy="228600"/>
          </a:xfrm>
          <a:prstGeom prst="roundRect">
            <a:avLst>
              <a:gd name="adj" fmla="val 22000"/>
            </a:avLst>
          </a:prstGeom>
          <a:solidFill>
            <a:srgbClr val="BFE5C7"/>
          </a:solidFill>
          <a:ln>
            <a:noFill/>
          </a:ln>
        </p:spPr>
        <p:txBody>
          <a:bodyPr rtlCol="0" anchor="ctr"/>
          <a:lstStyle/>
          <a:p>
            <a:pPr algn="ctr"/>
          </a:p>
        </p:txBody>
      </p:sp>
      <p:sp>
        <p:nvSpPr>
          <p:cNvPr id="15" name="Rounded Rectangle 14"/>
          <p:cNvSpPr/>
          <p:nvPr/>
        </p:nvSpPr>
        <p:spPr>
          <a:xfrm>
            <a:off x="548640" y="4466844"/>
            <a:ext cx="228600" cy="228600"/>
          </a:xfrm>
          <a:prstGeom prst="roundRect">
            <a:avLst>
              <a:gd name="adj" fmla="val 22000"/>
            </a:avLst>
          </a:prstGeom>
          <a:solidFill>
            <a:srgbClr val="FFFFFF"/>
          </a:solidFill>
          <a:ln>
            <a:noFill/>
          </a:ln>
        </p:spPr>
        <p:txBody>
          <a:bodyPr rtlCol="0" anchor="ctr"/>
          <a:lstStyle/>
          <a:p>
            <a:pPr algn="ctr"/>
          </a:p>
        </p:txBody>
      </p:sp>
      <p:sp>
        <p:nvSpPr>
          <p:cNvPr id="16" name="Rounded Rectangle 15"/>
          <p:cNvSpPr/>
          <p:nvPr/>
        </p:nvSpPr>
        <p:spPr>
          <a:xfrm>
            <a:off x="854964" y="4466844"/>
            <a:ext cx="228600" cy="228600"/>
          </a:xfrm>
          <a:prstGeom prst="roundRect">
            <a:avLst>
              <a:gd name="adj" fmla="val 22000"/>
            </a:avLst>
          </a:prstGeom>
          <a:solidFill>
            <a:srgbClr val="FFFFFF"/>
          </a:solidFill>
          <a:ln>
            <a:noFill/>
          </a:ln>
        </p:spPr>
        <p:txBody>
          <a:bodyPr rtlCol="0" anchor="ctr"/>
          <a:lstStyle/>
          <a:p>
            <a:pPr algn="ctr"/>
          </a:p>
        </p:txBody>
      </p:sp>
      <p:sp>
        <p:nvSpPr>
          <p:cNvPr id="17" name="Rounded Rectangle 16"/>
          <p:cNvSpPr/>
          <p:nvPr/>
        </p:nvSpPr>
        <p:spPr>
          <a:xfrm>
            <a:off x="1161288" y="4466844"/>
            <a:ext cx="228600" cy="228600"/>
          </a:xfrm>
          <a:prstGeom prst="roundRect">
            <a:avLst>
              <a:gd name="adj" fmla="val 22000"/>
            </a:avLst>
          </a:prstGeom>
          <a:solidFill>
            <a:srgbClr val="FFFFFF"/>
          </a:solidFill>
          <a:ln>
            <a:noFill/>
          </a:ln>
        </p:spPr>
        <p:txBody>
          <a:bodyPr rtlCol="0" anchor="ctr"/>
          <a:lstStyle/>
          <a:p>
            <a:pPr algn="ctr"/>
          </a:p>
        </p:txBody>
      </p:sp>
      <p:sp>
        <p:nvSpPr>
          <p:cNvPr id="18" name="Rounded Rectangle 17"/>
          <p:cNvSpPr/>
          <p:nvPr/>
        </p:nvSpPr>
        <p:spPr>
          <a:xfrm>
            <a:off x="1467612" y="4466844"/>
            <a:ext cx="228600" cy="228600"/>
          </a:xfrm>
          <a:prstGeom prst="roundRect">
            <a:avLst>
              <a:gd name="adj" fmla="val 22000"/>
            </a:avLst>
          </a:prstGeom>
          <a:solidFill>
            <a:srgbClr val="FFFFFF"/>
          </a:solidFill>
          <a:ln>
            <a:noFill/>
          </a:ln>
        </p:spPr>
        <p:txBody>
          <a:bodyPr rtlCol="0" anchor="ctr"/>
          <a:lstStyle/>
          <a:p>
            <a:pPr algn="ctr"/>
          </a:p>
        </p:txBody>
      </p:sp>
      <p:sp>
        <p:nvSpPr>
          <p:cNvPr id="19" name="Rounded Rectangle 18"/>
          <p:cNvSpPr/>
          <p:nvPr/>
        </p:nvSpPr>
        <p:spPr>
          <a:xfrm>
            <a:off x="1773936" y="4466844"/>
            <a:ext cx="228600" cy="228600"/>
          </a:xfrm>
          <a:prstGeom prst="roundRect">
            <a:avLst>
              <a:gd name="adj" fmla="val 22000"/>
            </a:avLst>
          </a:prstGeom>
          <a:solidFill>
            <a:srgbClr val="FFFFFF"/>
          </a:solidFill>
          <a:ln>
            <a:noFill/>
          </a:ln>
        </p:spPr>
        <p:txBody>
          <a:bodyPr rtlCol="0" anchor="ctr"/>
          <a:lstStyle/>
          <a:p>
            <a:pPr algn="ctr"/>
          </a:p>
        </p:txBody>
      </p:sp>
      <p:sp>
        <p:nvSpPr>
          <p:cNvPr id="20" name="Rounded Rectangle 19"/>
          <p:cNvSpPr/>
          <p:nvPr/>
        </p:nvSpPr>
        <p:spPr>
          <a:xfrm>
            <a:off x="2080260" y="4466844"/>
            <a:ext cx="228600" cy="228600"/>
          </a:xfrm>
          <a:prstGeom prst="roundRect">
            <a:avLst>
              <a:gd name="adj" fmla="val 22000"/>
            </a:avLst>
          </a:prstGeom>
          <a:solidFill>
            <a:srgbClr val="FFFFFF"/>
          </a:solidFill>
          <a:ln>
            <a:noFill/>
          </a:ln>
        </p:spPr>
        <p:txBody>
          <a:bodyPr rtlCol="0" anchor="ctr"/>
          <a:lstStyle/>
          <a:p>
            <a:pPr algn="ctr"/>
          </a:p>
        </p:txBody>
      </p:sp>
      <p:sp>
        <p:nvSpPr>
          <p:cNvPr id="21" name="Rounded Rectangle 20"/>
          <p:cNvSpPr/>
          <p:nvPr/>
        </p:nvSpPr>
        <p:spPr>
          <a:xfrm>
            <a:off x="2386584" y="4466844"/>
            <a:ext cx="228600" cy="228600"/>
          </a:xfrm>
          <a:prstGeom prst="roundRect">
            <a:avLst>
              <a:gd name="adj" fmla="val 22000"/>
            </a:avLst>
          </a:prstGeom>
          <a:solidFill>
            <a:srgbClr val="FFFFFF"/>
          </a:solidFill>
          <a:ln>
            <a:noFill/>
          </a:ln>
        </p:spPr>
        <p:txBody>
          <a:bodyPr rtlCol="0" anchor="ctr"/>
          <a:lstStyle/>
          <a:p>
            <a:pPr algn="ctr"/>
          </a:p>
        </p:txBody>
      </p:sp>
      <p:sp>
        <p:nvSpPr>
          <p:cNvPr id="22" name="Rounded Rectangle 21"/>
          <p:cNvSpPr/>
          <p:nvPr/>
        </p:nvSpPr>
        <p:spPr>
          <a:xfrm>
            <a:off x="2692908" y="4466844"/>
            <a:ext cx="228600" cy="228600"/>
          </a:xfrm>
          <a:prstGeom prst="roundRect">
            <a:avLst>
              <a:gd name="adj" fmla="val 22000"/>
            </a:avLst>
          </a:prstGeom>
          <a:solidFill>
            <a:srgbClr val="FFFFFF"/>
          </a:solidFill>
          <a:ln>
            <a:noFill/>
          </a:ln>
        </p:spPr>
        <p:txBody>
          <a:bodyPr rtlCol="0" anchor="ctr"/>
          <a:lstStyle/>
          <a:p>
            <a:pPr algn="ctr"/>
          </a:p>
        </p:txBody>
      </p:sp>
      <p:sp>
        <p:nvSpPr>
          <p:cNvPr id="23" name="Rounded Rectangle 22"/>
          <p:cNvSpPr/>
          <p:nvPr/>
        </p:nvSpPr>
        <p:spPr>
          <a:xfrm>
            <a:off x="2999232" y="4466844"/>
            <a:ext cx="228600" cy="228600"/>
          </a:xfrm>
          <a:prstGeom prst="roundRect">
            <a:avLst>
              <a:gd name="adj" fmla="val 22000"/>
            </a:avLst>
          </a:prstGeom>
          <a:solidFill>
            <a:srgbClr val="BFE5C7"/>
          </a:solidFill>
          <a:ln>
            <a:noFill/>
          </a:ln>
        </p:spPr>
        <p:txBody>
          <a:bodyPr rtlCol="0" anchor="ctr"/>
          <a:lstStyle/>
          <a:p>
            <a:pPr algn="ctr"/>
          </a:p>
        </p:txBody>
      </p:sp>
      <p:sp>
        <p:nvSpPr>
          <p:cNvPr id="24" name="Rounded Rectangle 23"/>
          <p:cNvSpPr/>
          <p:nvPr/>
        </p:nvSpPr>
        <p:spPr>
          <a:xfrm>
            <a:off x="3305556" y="4466844"/>
            <a:ext cx="228600" cy="228600"/>
          </a:xfrm>
          <a:prstGeom prst="roundRect">
            <a:avLst>
              <a:gd name="adj" fmla="val 22000"/>
            </a:avLst>
          </a:prstGeom>
          <a:solidFill>
            <a:srgbClr val="BFE5C7"/>
          </a:solidFill>
          <a:ln>
            <a:noFill/>
          </a:ln>
        </p:spPr>
        <p:txBody>
          <a:bodyPr rtlCol="0" anchor="ctr"/>
          <a:lstStyle/>
          <a:p>
            <a:pPr algn="ctr"/>
          </a:p>
        </p:txBody>
      </p:sp>
      <p:sp>
        <p:nvSpPr>
          <p:cNvPr id="25" name="Rounded Rectangle 24"/>
          <p:cNvSpPr/>
          <p:nvPr/>
        </p:nvSpPr>
        <p:spPr>
          <a:xfrm>
            <a:off x="3611880" y="4466844"/>
            <a:ext cx="228600" cy="228600"/>
          </a:xfrm>
          <a:prstGeom prst="roundRect">
            <a:avLst>
              <a:gd name="adj" fmla="val 22000"/>
            </a:avLst>
          </a:prstGeom>
          <a:solidFill>
            <a:srgbClr val="BFE5C7"/>
          </a:solidFill>
          <a:ln>
            <a:noFill/>
          </a:ln>
        </p:spPr>
        <p:txBody>
          <a:bodyPr rtlCol="0" anchor="ctr"/>
          <a:lstStyle/>
          <a:p>
            <a:pPr algn="ctr"/>
          </a:p>
        </p:txBody>
      </p:sp>
      <p:sp>
        <p:nvSpPr>
          <p:cNvPr id="26" name="Rounded Rectangle 25"/>
          <p:cNvSpPr/>
          <p:nvPr/>
        </p:nvSpPr>
        <p:spPr>
          <a:xfrm>
            <a:off x="548640" y="4773168"/>
            <a:ext cx="228600" cy="228600"/>
          </a:xfrm>
          <a:prstGeom prst="roundRect">
            <a:avLst>
              <a:gd name="adj" fmla="val 22000"/>
            </a:avLst>
          </a:prstGeom>
          <a:solidFill>
            <a:srgbClr val="FFFFFF"/>
          </a:solidFill>
          <a:ln>
            <a:noFill/>
          </a:ln>
        </p:spPr>
        <p:txBody>
          <a:bodyPr rtlCol="0" anchor="ctr"/>
          <a:lstStyle/>
          <a:p>
            <a:pPr algn="ctr"/>
          </a:p>
        </p:txBody>
      </p:sp>
      <p:sp>
        <p:nvSpPr>
          <p:cNvPr id="27" name="Rounded Rectangle 26"/>
          <p:cNvSpPr/>
          <p:nvPr/>
        </p:nvSpPr>
        <p:spPr>
          <a:xfrm>
            <a:off x="854964" y="4773168"/>
            <a:ext cx="228600" cy="228600"/>
          </a:xfrm>
          <a:prstGeom prst="roundRect">
            <a:avLst>
              <a:gd name="adj" fmla="val 22000"/>
            </a:avLst>
          </a:prstGeom>
          <a:solidFill>
            <a:srgbClr val="FFFFFF"/>
          </a:solidFill>
          <a:ln>
            <a:noFill/>
          </a:ln>
        </p:spPr>
        <p:txBody>
          <a:bodyPr rtlCol="0" anchor="ctr"/>
          <a:lstStyle/>
          <a:p>
            <a:pPr algn="ctr"/>
          </a:p>
        </p:txBody>
      </p:sp>
      <p:sp>
        <p:nvSpPr>
          <p:cNvPr id="28" name="Rounded Rectangle 27"/>
          <p:cNvSpPr/>
          <p:nvPr/>
        </p:nvSpPr>
        <p:spPr>
          <a:xfrm>
            <a:off x="1161288" y="4773168"/>
            <a:ext cx="228600" cy="228600"/>
          </a:xfrm>
          <a:prstGeom prst="roundRect">
            <a:avLst>
              <a:gd name="adj" fmla="val 22000"/>
            </a:avLst>
          </a:prstGeom>
          <a:solidFill>
            <a:srgbClr val="FFFFFF"/>
          </a:solidFill>
          <a:ln>
            <a:noFill/>
          </a:ln>
        </p:spPr>
        <p:txBody>
          <a:bodyPr rtlCol="0" anchor="ctr"/>
          <a:lstStyle/>
          <a:p>
            <a:pPr algn="ctr"/>
          </a:p>
        </p:txBody>
      </p:sp>
      <p:sp>
        <p:nvSpPr>
          <p:cNvPr id="29" name="Rounded Rectangle 28"/>
          <p:cNvSpPr/>
          <p:nvPr/>
        </p:nvSpPr>
        <p:spPr>
          <a:xfrm>
            <a:off x="1467612" y="4773168"/>
            <a:ext cx="228600" cy="228600"/>
          </a:xfrm>
          <a:prstGeom prst="roundRect">
            <a:avLst>
              <a:gd name="adj" fmla="val 22000"/>
            </a:avLst>
          </a:prstGeom>
          <a:solidFill>
            <a:srgbClr val="FFFFFF"/>
          </a:solidFill>
          <a:ln>
            <a:noFill/>
          </a:ln>
        </p:spPr>
        <p:txBody>
          <a:bodyPr rtlCol="0" anchor="ctr"/>
          <a:lstStyle/>
          <a:p>
            <a:pPr algn="ctr"/>
          </a:p>
        </p:txBody>
      </p:sp>
      <p:sp>
        <p:nvSpPr>
          <p:cNvPr id="30" name="Rounded Rectangle 29"/>
          <p:cNvSpPr/>
          <p:nvPr/>
        </p:nvSpPr>
        <p:spPr>
          <a:xfrm>
            <a:off x="1773936" y="4773168"/>
            <a:ext cx="228600" cy="228600"/>
          </a:xfrm>
          <a:prstGeom prst="roundRect">
            <a:avLst>
              <a:gd name="adj" fmla="val 22000"/>
            </a:avLst>
          </a:prstGeom>
          <a:solidFill>
            <a:srgbClr val="FFFFFF"/>
          </a:solidFill>
          <a:ln>
            <a:noFill/>
          </a:ln>
        </p:spPr>
        <p:txBody>
          <a:bodyPr rtlCol="0" anchor="ctr"/>
          <a:lstStyle/>
          <a:p>
            <a:pPr algn="ctr"/>
          </a:p>
        </p:txBody>
      </p:sp>
      <p:sp>
        <p:nvSpPr>
          <p:cNvPr id="31" name="Rounded Rectangle 30"/>
          <p:cNvSpPr/>
          <p:nvPr/>
        </p:nvSpPr>
        <p:spPr>
          <a:xfrm>
            <a:off x="2080260" y="4773168"/>
            <a:ext cx="228600" cy="228600"/>
          </a:xfrm>
          <a:prstGeom prst="roundRect">
            <a:avLst>
              <a:gd name="adj" fmla="val 22000"/>
            </a:avLst>
          </a:prstGeom>
          <a:solidFill>
            <a:srgbClr val="FFFFFF"/>
          </a:solidFill>
          <a:ln>
            <a:noFill/>
          </a:ln>
        </p:spPr>
        <p:txBody>
          <a:bodyPr rtlCol="0" anchor="ctr"/>
          <a:lstStyle/>
          <a:p>
            <a:pPr algn="ctr"/>
          </a:p>
        </p:txBody>
      </p:sp>
      <p:sp>
        <p:nvSpPr>
          <p:cNvPr id="32" name="Rounded Rectangle 31"/>
          <p:cNvSpPr/>
          <p:nvPr/>
        </p:nvSpPr>
        <p:spPr>
          <a:xfrm>
            <a:off x="2386584" y="4773168"/>
            <a:ext cx="228600" cy="228600"/>
          </a:xfrm>
          <a:prstGeom prst="roundRect">
            <a:avLst>
              <a:gd name="adj" fmla="val 22000"/>
            </a:avLst>
          </a:prstGeom>
          <a:solidFill>
            <a:srgbClr val="FFFFFF"/>
          </a:solidFill>
          <a:ln>
            <a:noFill/>
          </a:ln>
        </p:spPr>
        <p:txBody>
          <a:bodyPr rtlCol="0" anchor="ctr"/>
          <a:lstStyle/>
          <a:p>
            <a:pPr algn="ctr"/>
          </a:p>
        </p:txBody>
      </p:sp>
      <p:sp>
        <p:nvSpPr>
          <p:cNvPr id="33" name="Rounded Rectangle 32"/>
          <p:cNvSpPr/>
          <p:nvPr/>
        </p:nvSpPr>
        <p:spPr>
          <a:xfrm>
            <a:off x="2692908" y="4773168"/>
            <a:ext cx="228600" cy="228600"/>
          </a:xfrm>
          <a:prstGeom prst="roundRect">
            <a:avLst>
              <a:gd name="adj" fmla="val 22000"/>
            </a:avLst>
          </a:prstGeom>
          <a:solidFill>
            <a:srgbClr val="FFFFFF"/>
          </a:solidFill>
          <a:ln>
            <a:noFill/>
          </a:ln>
        </p:spPr>
        <p:txBody>
          <a:bodyPr rtlCol="0" anchor="ctr"/>
          <a:lstStyle/>
          <a:p>
            <a:pPr algn="ctr"/>
          </a:p>
        </p:txBody>
      </p:sp>
      <p:sp>
        <p:nvSpPr>
          <p:cNvPr id="34" name="Rounded Rectangle 33"/>
          <p:cNvSpPr/>
          <p:nvPr/>
        </p:nvSpPr>
        <p:spPr>
          <a:xfrm>
            <a:off x="2999232" y="4773168"/>
            <a:ext cx="228600" cy="228600"/>
          </a:xfrm>
          <a:prstGeom prst="roundRect">
            <a:avLst>
              <a:gd name="adj" fmla="val 22000"/>
            </a:avLst>
          </a:prstGeom>
          <a:solidFill>
            <a:srgbClr val="BFE5C7"/>
          </a:solidFill>
          <a:ln>
            <a:noFill/>
          </a:ln>
        </p:spPr>
        <p:txBody>
          <a:bodyPr rtlCol="0" anchor="ctr"/>
          <a:lstStyle/>
          <a:p>
            <a:pPr algn="ctr"/>
          </a:p>
        </p:txBody>
      </p:sp>
      <p:sp>
        <p:nvSpPr>
          <p:cNvPr id="35" name="Rounded Rectangle 34"/>
          <p:cNvSpPr/>
          <p:nvPr/>
        </p:nvSpPr>
        <p:spPr>
          <a:xfrm>
            <a:off x="3305556" y="4773168"/>
            <a:ext cx="228600" cy="228600"/>
          </a:xfrm>
          <a:prstGeom prst="roundRect">
            <a:avLst>
              <a:gd name="adj" fmla="val 22000"/>
            </a:avLst>
          </a:prstGeom>
          <a:solidFill>
            <a:srgbClr val="BFE5C7"/>
          </a:solidFill>
          <a:ln>
            <a:noFill/>
          </a:ln>
        </p:spPr>
        <p:txBody>
          <a:bodyPr rtlCol="0" anchor="ctr"/>
          <a:lstStyle/>
          <a:p>
            <a:pPr algn="ctr"/>
          </a:p>
        </p:txBody>
      </p:sp>
      <p:sp>
        <p:nvSpPr>
          <p:cNvPr id="36" name="Rounded Rectangle 35"/>
          <p:cNvSpPr/>
          <p:nvPr/>
        </p:nvSpPr>
        <p:spPr>
          <a:xfrm>
            <a:off x="3611880" y="4773168"/>
            <a:ext cx="228600" cy="228600"/>
          </a:xfrm>
          <a:prstGeom prst="roundRect">
            <a:avLst>
              <a:gd name="adj" fmla="val 22000"/>
            </a:avLst>
          </a:prstGeom>
          <a:solidFill>
            <a:srgbClr val="BFE5C7"/>
          </a:solidFill>
          <a:ln>
            <a:noFill/>
          </a:ln>
        </p:spPr>
        <p:txBody>
          <a:bodyPr rtlCol="0" anchor="ctr"/>
          <a:lstStyle/>
          <a:p>
            <a:pPr algn="ctr"/>
          </a:p>
        </p:txBody>
      </p:sp>
      <p:sp>
        <p:nvSpPr>
          <p:cNvPr id="37" name="Rounded Rectangle 36"/>
          <p:cNvSpPr/>
          <p:nvPr/>
        </p:nvSpPr>
        <p:spPr>
          <a:xfrm>
            <a:off x="548640" y="5079492"/>
            <a:ext cx="228600" cy="228600"/>
          </a:xfrm>
          <a:prstGeom prst="roundRect">
            <a:avLst>
              <a:gd name="adj" fmla="val 22000"/>
            </a:avLst>
          </a:prstGeom>
          <a:solidFill>
            <a:srgbClr val="FFFFFF"/>
          </a:solidFill>
          <a:ln>
            <a:noFill/>
          </a:ln>
        </p:spPr>
        <p:txBody>
          <a:bodyPr rtlCol="0" anchor="ctr"/>
          <a:lstStyle/>
          <a:p>
            <a:pPr algn="ctr"/>
          </a:p>
        </p:txBody>
      </p:sp>
      <p:sp>
        <p:nvSpPr>
          <p:cNvPr id="38" name="Rounded Rectangle 37"/>
          <p:cNvSpPr/>
          <p:nvPr/>
        </p:nvSpPr>
        <p:spPr>
          <a:xfrm>
            <a:off x="854964" y="5079492"/>
            <a:ext cx="228600" cy="228600"/>
          </a:xfrm>
          <a:prstGeom prst="roundRect">
            <a:avLst>
              <a:gd name="adj" fmla="val 22000"/>
            </a:avLst>
          </a:prstGeom>
          <a:solidFill>
            <a:srgbClr val="FFFFFF"/>
          </a:solidFill>
          <a:ln>
            <a:noFill/>
          </a:ln>
        </p:spPr>
        <p:txBody>
          <a:bodyPr rtlCol="0" anchor="ctr"/>
          <a:lstStyle/>
          <a:p>
            <a:pPr algn="ctr"/>
          </a:p>
        </p:txBody>
      </p:sp>
      <p:sp>
        <p:nvSpPr>
          <p:cNvPr id="39" name="Rounded Rectangle 38"/>
          <p:cNvSpPr/>
          <p:nvPr/>
        </p:nvSpPr>
        <p:spPr>
          <a:xfrm>
            <a:off x="1161288" y="5079492"/>
            <a:ext cx="228600" cy="228600"/>
          </a:xfrm>
          <a:prstGeom prst="roundRect">
            <a:avLst>
              <a:gd name="adj" fmla="val 22000"/>
            </a:avLst>
          </a:prstGeom>
          <a:solidFill>
            <a:srgbClr val="FFFFFF"/>
          </a:solidFill>
          <a:ln>
            <a:noFill/>
          </a:ln>
        </p:spPr>
        <p:txBody>
          <a:bodyPr rtlCol="0" anchor="ctr"/>
          <a:lstStyle/>
          <a:p>
            <a:pPr algn="ctr"/>
          </a:p>
        </p:txBody>
      </p:sp>
      <p:sp>
        <p:nvSpPr>
          <p:cNvPr id="40" name="Rounded Rectangle 39"/>
          <p:cNvSpPr/>
          <p:nvPr/>
        </p:nvSpPr>
        <p:spPr>
          <a:xfrm>
            <a:off x="1467612" y="5079492"/>
            <a:ext cx="228600" cy="228600"/>
          </a:xfrm>
          <a:prstGeom prst="roundRect">
            <a:avLst>
              <a:gd name="adj" fmla="val 22000"/>
            </a:avLst>
          </a:prstGeom>
          <a:solidFill>
            <a:srgbClr val="FFFFFF"/>
          </a:solidFill>
          <a:ln>
            <a:noFill/>
          </a:ln>
        </p:spPr>
        <p:txBody>
          <a:bodyPr rtlCol="0" anchor="ctr"/>
          <a:lstStyle/>
          <a:p>
            <a:pPr algn="ctr"/>
          </a:p>
        </p:txBody>
      </p:sp>
      <p:sp>
        <p:nvSpPr>
          <p:cNvPr id="41" name="Rounded Rectangle 40"/>
          <p:cNvSpPr/>
          <p:nvPr/>
        </p:nvSpPr>
        <p:spPr>
          <a:xfrm>
            <a:off x="1773936" y="5079492"/>
            <a:ext cx="228600" cy="228600"/>
          </a:xfrm>
          <a:prstGeom prst="roundRect">
            <a:avLst>
              <a:gd name="adj" fmla="val 22000"/>
            </a:avLst>
          </a:prstGeom>
          <a:solidFill>
            <a:srgbClr val="FFFFFF"/>
          </a:solidFill>
          <a:ln>
            <a:noFill/>
          </a:ln>
        </p:spPr>
        <p:txBody>
          <a:bodyPr rtlCol="0" anchor="ctr"/>
          <a:lstStyle/>
          <a:p>
            <a:pPr algn="ctr"/>
          </a:p>
        </p:txBody>
      </p:sp>
      <p:sp>
        <p:nvSpPr>
          <p:cNvPr id="42" name="Rounded Rectangle 41"/>
          <p:cNvSpPr/>
          <p:nvPr/>
        </p:nvSpPr>
        <p:spPr>
          <a:xfrm>
            <a:off x="2080260" y="5079492"/>
            <a:ext cx="228600" cy="228600"/>
          </a:xfrm>
          <a:prstGeom prst="roundRect">
            <a:avLst>
              <a:gd name="adj" fmla="val 22000"/>
            </a:avLst>
          </a:prstGeom>
          <a:solidFill>
            <a:srgbClr val="FFFFFF"/>
          </a:solidFill>
          <a:ln>
            <a:noFill/>
          </a:ln>
        </p:spPr>
        <p:txBody>
          <a:bodyPr rtlCol="0" anchor="ctr"/>
          <a:lstStyle/>
          <a:p>
            <a:pPr algn="ctr"/>
          </a:p>
        </p:txBody>
      </p:sp>
      <p:sp>
        <p:nvSpPr>
          <p:cNvPr id="43" name="Rounded Rectangle 42"/>
          <p:cNvSpPr/>
          <p:nvPr/>
        </p:nvSpPr>
        <p:spPr>
          <a:xfrm>
            <a:off x="2386584" y="5079492"/>
            <a:ext cx="228600" cy="228600"/>
          </a:xfrm>
          <a:prstGeom prst="roundRect">
            <a:avLst>
              <a:gd name="adj" fmla="val 22000"/>
            </a:avLst>
          </a:prstGeom>
          <a:solidFill>
            <a:srgbClr val="FFFFFF"/>
          </a:solidFill>
          <a:ln>
            <a:noFill/>
          </a:ln>
        </p:spPr>
        <p:txBody>
          <a:bodyPr rtlCol="0" anchor="ctr"/>
          <a:lstStyle/>
          <a:p>
            <a:pPr algn="ctr"/>
          </a:p>
        </p:txBody>
      </p:sp>
      <p:sp>
        <p:nvSpPr>
          <p:cNvPr id="44" name="Rounded Rectangle 43"/>
          <p:cNvSpPr/>
          <p:nvPr/>
        </p:nvSpPr>
        <p:spPr>
          <a:xfrm>
            <a:off x="2692908" y="5079492"/>
            <a:ext cx="228600" cy="228600"/>
          </a:xfrm>
          <a:prstGeom prst="roundRect">
            <a:avLst>
              <a:gd name="adj" fmla="val 22000"/>
            </a:avLst>
          </a:prstGeom>
          <a:solidFill>
            <a:srgbClr val="FFFFFF"/>
          </a:solidFill>
          <a:ln>
            <a:noFill/>
          </a:ln>
        </p:spPr>
        <p:txBody>
          <a:bodyPr rtlCol="0" anchor="ctr"/>
          <a:lstStyle/>
          <a:p>
            <a:pPr algn="ctr"/>
          </a:p>
        </p:txBody>
      </p:sp>
      <p:sp>
        <p:nvSpPr>
          <p:cNvPr id="45" name="Rounded Rectangle 44"/>
          <p:cNvSpPr/>
          <p:nvPr/>
        </p:nvSpPr>
        <p:spPr>
          <a:xfrm>
            <a:off x="2999232" y="5079492"/>
            <a:ext cx="228600" cy="228600"/>
          </a:xfrm>
          <a:prstGeom prst="roundRect">
            <a:avLst>
              <a:gd name="adj" fmla="val 22000"/>
            </a:avLst>
          </a:prstGeom>
          <a:solidFill>
            <a:srgbClr val="BFE5C7"/>
          </a:solidFill>
          <a:ln>
            <a:noFill/>
          </a:ln>
        </p:spPr>
        <p:txBody>
          <a:bodyPr rtlCol="0" anchor="ctr"/>
          <a:lstStyle/>
          <a:p>
            <a:pPr algn="ctr"/>
          </a:p>
        </p:txBody>
      </p:sp>
      <p:sp>
        <p:nvSpPr>
          <p:cNvPr id="46" name="Rounded Rectangle 45"/>
          <p:cNvSpPr/>
          <p:nvPr/>
        </p:nvSpPr>
        <p:spPr>
          <a:xfrm>
            <a:off x="3305556" y="5079492"/>
            <a:ext cx="228600" cy="228600"/>
          </a:xfrm>
          <a:prstGeom prst="roundRect">
            <a:avLst>
              <a:gd name="adj" fmla="val 22000"/>
            </a:avLst>
          </a:prstGeom>
          <a:solidFill>
            <a:srgbClr val="BFE5C7"/>
          </a:solidFill>
          <a:ln>
            <a:noFill/>
          </a:ln>
        </p:spPr>
        <p:txBody>
          <a:bodyPr rtlCol="0" anchor="ctr"/>
          <a:lstStyle/>
          <a:p>
            <a:pPr algn="ctr"/>
          </a:p>
        </p:txBody>
      </p:sp>
      <p:sp>
        <p:nvSpPr>
          <p:cNvPr id="47" name="Rounded Rectangle 46"/>
          <p:cNvSpPr/>
          <p:nvPr/>
        </p:nvSpPr>
        <p:spPr>
          <a:xfrm>
            <a:off x="3611880" y="5079492"/>
            <a:ext cx="228600" cy="228600"/>
          </a:xfrm>
          <a:prstGeom prst="roundRect">
            <a:avLst>
              <a:gd name="adj" fmla="val 22000"/>
            </a:avLst>
          </a:prstGeom>
          <a:solidFill>
            <a:srgbClr val="BFE5C7"/>
          </a:solidFill>
          <a:ln>
            <a:noFill/>
          </a:ln>
        </p:spPr>
        <p:txBody>
          <a:bodyPr rtlCol="0" anchor="ctr"/>
          <a:lstStyle/>
          <a:p>
            <a:pPr algn="ctr"/>
          </a:p>
        </p:txBody>
      </p:sp>
      <p:sp>
        <p:nvSpPr>
          <p:cNvPr id="48" name="Rounded Rectangle 47"/>
          <p:cNvSpPr/>
          <p:nvPr/>
        </p:nvSpPr>
        <p:spPr>
          <a:xfrm>
            <a:off x="548640" y="5385816"/>
            <a:ext cx="228600" cy="228600"/>
          </a:xfrm>
          <a:prstGeom prst="roundRect">
            <a:avLst>
              <a:gd name="adj" fmla="val 22000"/>
            </a:avLst>
          </a:prstGeom>
          <a:solidFill>
            <a:srgbClr val="FFFFFF"/>
          </a:solidFill>
          <a:ln>
            <a:noFill/>
          </a:ln>
        </p:spPr>
        <p:txBody>
          <a:bodyPr rtlCol="0" anchor="ctr"/>
          <a:lstStyle/>
          <a:p>
            <a:pPr algn="ctr"/>
          </a:p>
        </p:txBody>
      </p:sp>
      <p:sp>
        <p:nvSpPr>
          <p:cNvPr id="49" name="Rounded Rectangle 48"/>
          <p:cNvSpPr/>
          <p:nvPr/>
        </p:nvSpPr>
        <p:spPr>
          <a:xfrm>
            <a:off x="854964" y="5385816"/>
            <a:ext cx="228600" cy="228600"/>
          </a:xfrm>
          <a:prstGeom prst="roundRect">
            <a:avLst>
              <a:gd name="adj" fmla="val 22000"/>
            </a:avLst>
          </a:prstGeom>
          <a:solidFill>
            <a:srgbClr val="FFFFFF"/>
          </a:solidFill>
          <a:ln>
            <a:noFill/>
          </a:ln>
        </p:spPr>
        <p:txBody>
          <a:bodyPr rtlCol="0" anchor="ctr"/>
          <a:lstStyle/>
          <a:p>
            <a:pPr algn="ctr"/>
          </a:p>
        </p:txBody>
      </p:sp>
      <p:sp>
        <p:nvSpPr>
          <p:cNvPr id="50" name="Rounded Rectangle 49"/>
          <p:cNvSpPr/>
          <p:nvPr/>
        </p:nvSpPr>
        <p:spPr>
          <a:xfrm>
            <a:off x="1161288" y="5385816"/>
            <a:ext cx="228600" cy="228600"/>
          </a:xfrm>
          <a:prstGeom prst="roundRect">
            <a:avLst>
              <a:gd name="adj" fmla="val 22000"/>
            </a:avLst>
          </a:prstGeom>
          <a:solidFill>
            <a:srgbClr val="FFFFFF"/>
          </a:solidFill>
          <a:ln>
            <a:noFill/>
          </a:ln>
        </p:spPr>
        <p:txBody>
          <a:bodyPr rtlCol="0" anchor="ctr"/>
          <a:lstStyle/>
          <a:p>
            <a:pPr algn="ctr"/>
          </a:p>
        </p:txBody>
      </p:sp>
      <p:sp>
        <p:nvSpPr>
          <p:cNvPr id="51" name="Rounded Rectangle 50"/>
          <p:cNvSpPr/>
          <p:nvPr/>
        </p:nvSpPr>
        <p:spPr>
          <a:xfrm>
            <a:off x="1467612" y="5385816"/>
            <a:ext cx="228600" cy="228600"/>
          </a:xfrm>
          <a:prstGeom prst="roundRect">
            <a:avLst>
              <a:gd name="adj" fmla="val 22000"/>
            </a:avLst>
          </a:prstGeom>
          <a:solidFill>
            <a:srgbClr val="FFFFFF"/>
          </a:solidFill>
          <a:ln>
            <a:noFill/>
          </a:ln>
        </p:spPr>
        <p:txBody>
          <a:bodyPr rtlCol="0" anchor="ctr"/>
          <a:lstStyle/>
          <a:p>
            <a:pPr algn="ctr"/>
          </a:p>
        </p:txBody>
      </p:sp>
      <p:sp>
        <p:nvSpPr>
          <p:cNvPr id="52" name="Rounded Rectangle 51"/>
          <p:cNvSpPr/>
          <p:nvPr/>
        </p:nvSpPr>
        <p:spPr>
          <a:xfrm>
            <a:off x="1773936" y="5385816"/>
            <a:ext cx="228600" cy="228600"/>
          </a:xfrm>
          <a:prstGeom prst="roundRect">
            <a:avLst>
              <a:gd name="adj" fmla="val 22000"/>
            </a:avLst>
          </a:prstGeom>
          <a:solidFill>
            <a:srgbClr val="FFFFFF"/>
          </a:solidFill>
          <a:ln>
            <a:noFill/>
          </a:ln>
        </p:spPr>
        <p:txBody>
          <a:bodyPr rtlCol="0" anchor="ctr"/>
          <a:lstStyle/>
          <a:p>
            <a:pPr algn="ctr"/>
          </a:p>
        </p:txBody>
      </p:sp>
      <p:sp>
        <p:nvSpPr>
          <p:cNvPr id="53" name="Rounded Rectangle 52"/>
          <p:cNvSpPr/>
          <p:nvPr/>
        </p:nvSpPr>
        <p:spPr>
          <a:xfrm>
            <a:off x="2080260" y="5385816"/>
            <a:ext cx="228600" cy="228600"/>
          </a:xfrm>
          <a:prstGeom prst="roundRect">
            <a:avLst>
              <a:gd name="adj" fmla="val 22000"/>
            </a:avLst>
          </a:prstGeom>
          <a:solidFill>
            <a:srgbClr val="FFFFFF"/>
          </a:solidFill>
          <a:ln>
            <a:noFill/>
          </a:ln>
        </p:spPr>
        <p:txBody>
          <a:bodyPr rtlCol="0" anchor="ctr"/>
          <a:lstStyle/>
          <a:p>
            <a:pPr algn="ctr"/>
          </a:p>
        </p:txBody>
      </p:sp>
      <p:sp>
        <p:nvSpPr>
          <p:cNvPr id="54" name="Rounded Rectangle 53"/>
          <p:cNvSpPr/>
          <p:nvPr/>
        </p:nvSpPr>
        <p:spPr>
          <a:xfrm>
            <a:off x="2386584" y="5385816"/>
            <a:ext cx="228600" cy="228600"/>
          </a:xfrm>
          <a:prstGeom prst="roundRect">
            <a:avLst>
              <a:gd name="adj" fmla="val 22000"/>
            </a:avLst>
          </a:prstGeom>
          <a:solidFill>
            <a:srgbClr val="FFFFFF"/>
          </a:solidFill>
          <a:ln>
            <a:noFill/>
          </a:ln>
        </p:spPr>
        <p:txBody>
          <a:bodyPr rtlCol="0" anchor="ctr"/>
          <a:lstStyle/>
          <a:p>
            <a:pPr algn="ctr"/>
          </a:p>
        </p:txBody>
      </p:sp>
      <p:sp>
        <p:nvSpPr>
          <p:cNvPr id="55" name="Rounded Rectangle 54"/>
          <p:cNvSpPr/>
          <p:nvPr/>
        </p:nvSpPr>
        <p:spPr>
          <a:xfrm>
            <a:off x="2692908" y="5385816"/>
            <a:ext cx="228600" cy="228600"/>
          </a:xfrm>
          <a:prstGeom prst="roundRect">
            <a:avLst>
              <a:gd name="adj" fmla="val 22000"/>
            </a:avLst>
          </a:prstGeom>
          <a:solidFill>
            <a:srgbClr val="FFFFFF"/>
          </a:solidFill>
          <a:ln>
            <a:noFill/>
          </a:ln>
        </p:spPr>
        <p:txBody>
          <a:bodyPr rtlCol="0" anchor="ctr"/>
          <a:lstStyle/>
          <a:p>
            <a:pPr algn="ctr"/>
          </a:p>
        </p:txBody>
      </p:sp>
      <p:sp>
        <p:nvSpPr>
          <p:cNvPr id="56" name="Rounded Rectangle 55"/>
          <p:cNvSpPr/>
          <p:nvPr/>
        </p:nvSpPr>
        <p:spPr>
          <a:xfrm>
            <a:off x="2999232" y="5385816"/>
            <a:ext cx="228600" cy="228600"/>
          </a:xfrm>
          <a:prstGeom prst="roundRect">
            <a:avLst>
              <a:gd name="adj" fmla="val 22000"/>
            </a:avLst>
          </a:prstGeom>
          <a:solidFill>
            <a:srgbClr val="BFE5C7"/>
          </a:solidFill>
          <a:ln>
            <a:noFill/>
          </a:ln>
        </p:spPr>
        <p:txBody>
          <a:bodyPr rtlCol="0" anchor="ctr"/>
          <a:lstStyle/>
          <a:p>
            <a:pPr algn="ctr"/>
          </a:p>
        </p:txBody>
      </p:sp>
      <p:sp>
        <p:nvSpPr>
          <p:cNvPr id="57" name="Rounded Rectangle 56"/>
          <p:cNvSpPr/>
          <p:nvPr/>
        </p:nvSpPr>
        <p:spPr>
          <a:xfrm>
            <a:off x="3305556" y="5385816"/>
            <a:ext cx="228600" cy="228600"/>
          </a:xfrm>
          <a:prstGeom prst="roundRect">
            <a:avLst>
              <a:gd name="adj" fmla="val 22000"/>
            </a:avLst>
          </a:prstGeom>
          <a:solidFill>
            <a:srgbClr val="BFE5C7"/>
          </a:solidFill>
          <a:ln>
            <a:noFill/>
          </a:ln>
        </p:spPr>
        <p:txBody>
          <a:bodyPr rtlCol="0" anchor="ctr"/>
          <a:lstStyle/>
          <a:p>
            <a:pPr algn="ctr"/>
          </a:p>
        </p:txBody>
      </p:sp>
      <p:sp>
        <p:nvSpPr>
          <p:cNvPr id="58" name="Rounded Rectangle 57"/>
          <p:cNvSpPr/>
          <p:nvPr/>
        </p:nvSpPr>
        <p:spPr>
          <a:xfrm>
            <a:off x="3611880" y="5385816"/>
            <a:ext cx="228600" cy="228600"/>
          </a:xfrm>
          <a:prstGeom prst="roundRect">
            <a:avLst>
              <a:gd name="adj" fmla="val 22000"/>
            </a:avLst>
          </a:prstGeom>
          <a:solidFill>
            <a:srgbClr val="BFE5C7"/>
          </a:solidFill>
          <a:ln>
            <a:noFill/>
          </a:ln>
        </p:spPr>
        <p:txBody>
          <a:bodyPr rtlCol="0" anchor="ctr"/>
          <a:lstStyle/>
          <a:p>
            <a:pPr algn="ctr"/>
          </a:p>
        </p:txBody>
      </p:sp>
      <p:sp>
        <p:nvSpPr>
          <p:cNvPr id="59" name="TextBox 58"/>
          <p:cNvSpPr txBox="1"/>
          <p:nvPr/>
        </p:nvSpPr>
        <p:spPr>
          <a:xfrm>
            <a:off x="5074920" y="1188720"/>
            <a:ext cx="6583680" cy="822960"/>
          </a:xfrm>
          <a:prstGeom prst="rect">
            <a:avLst/>
          </a:prstGeom>
          <a:noFill/>
        </p:spPr>
        <p:txBody>
          <a:bodyPr wrap="square" lIns="0" rIns="0" tIns="0" bIns="0" anchor="t">
            <a:noAutofit/>
          </a:bodyPr>
          <a:lstStyle/>
          <a:p>
            <a:pPr algn="l">
              <a:lnSpc>
                <a:spcPct val="100000"/>
              </a:lnSpc>
              <a:spcBef>
                <a:spcPts val="0"/>
              </a:spcBef>
              <a:spcAft>
                <a:spcPts val="0"/>
              </a:spcAft>
            </a:pPr>
            <a:r>
              <a:rPr sz="4400" b="1" i="0">
                <a:solidFill>
                  <a:srgbClr val="17201B"/>
                </a:solidFill>
                <a:latin typeface="Open Sans"/>
              </a:rPr>
              <a:t>Obrigado!</a:t>
            </a:r>
          </a:p>
        </p:txBody>
      </p:sp>
      <p:sp>
        <p:nvSpPr>
          <p:cNvPr id="60" name="TextBox 59"/>
          <p:cNvSpPr txBox="1"/>
          <p:nvPr/>
        </p:nvSpPr>
        <p:spPr>
          <a:xfrm>
            <a:off x="5074920" y="2057400"/>
            <a:ext cx="6583680" cy="548640"/>
          </a:xfrm>
          <a:prstGeom prst="rect">
            <a:avLst/>
          </a:prstGeom>
          <a:noFill/>
        </p:spPr>
        <p:txBody>
          <a:bodyPr wrap="square" lIns="0" rIns="0" tIns="0" bIns="0" anchor="t">
            <a:noAutofit/>
          </a:bodyPr>
          <a:lstStyle/>
          <a:p>
            <a:pPr algn="l">
              <a:lnSpc>
                <a:spcPct val="100000"/>
              </a:lnSpc>
              <a:spcBef>
                <a:spcPts val="0"/>
              </a:spcBef>
              <a:spcAft>
                <a:spcPts val="0"/>
              </a:spcAft>
            </a:pPr>
            <a:r>
              <a:rPr sz="2200" b="0" i="0">
                <a:solidFill>
                  <a:srgbClr val="4A524D"/>
                </a:solidFill>
                <a:latin typeface="Open Sans"/>
              </a:rPr>
              <a:t>Perguntas e comentários são bem-vindos</a:t>
            </a:r>
          </a:p>
        </p:txBody>
      </p:sp>
      <p:pic>
        <p:nvPicPr>
          <p:cNvPr id="61" name="QR code do repositório" descr="qr.png"/>
          <p:cNvPicPr>
            <a:picLocks noChangeAspect="1"/>
          </p:cNvPicPr>
          <p:nvPr/>
        </p:nvPicPr>
        <p:blipFill>
          <a:blip r:embed="rId3"/>
          <a:stretch>
            <a:fillRect/>
          </a:stretch>
        </p:blipFill>
        <p:spPr>
          <a:xfrm>
            <a:off x="5074920" y="3017520"/>
            <a:ext cx="2103120" cy="2103120"/>
          </a:xfrm>
          <a:prstGeom prst="rect">
            <a:avLst/>
          </a:prstGeom>
        </p:spPr>
      </p:pic>
      <p:sp>
        <p:nvSpPr>
          <p:cNvPr id="62" name="TextBox 61"/>
          <p:cNvSpPr txBox="1"/>
          <p:nvPr/>
        </p:nvSpPr>
        <p:spPr>
          <a:xfrm>
            <a:off x="7452360" y="3429000"/>
            <a:ext cx="4206240" cy="411480"/>
          </a:xfrm>
          <a:prstGeom prst="rect">
            <a:avLst/>
          </a:prstGeom>
          <a:noFill/>
        </p:spPr>
        <p:txBody>
          <a:bodyPr wrap="square" lIns="0" rIns="0" tIns="0" bIns="0" anchor="t">
            <a:noAutofit/>
          </a:bodyPr>
          <a:lstStyle/>
          <a:p>
            <a:pPr algn="l">
              <a:lnSpc>
                <a:spcPct val="100000"/>
              </a:lnSpc>
              <a:spcBef>
                <a:spcPts val="0"/>
              </a:spcBef>
              <a:spcAft>
                <a:spcPts val="0"/>
              </a:spcAft>
            </a:pPr>
            <a:r>
              <a:rPr sz="1900" b="1" i="0">
                <a:solidFill>
                  <a:srgbClr val="17201B"/>
                </a:solidFill>
                <a:latin typeface="Open Sans"/>
              </a:rPr>
              <a:t>Código aberto</a:t>
            </a:r>
          </a:p>
        </p:txBody>
      </p:sp>
      <p:sp>
        <p:nvSpPr>
          <p:cNvPr id="63" name="TextBox 62"/>
          <p:cNvSpPr txBox="1"/>
          <p:nvPr/>
        </p:nvSpPr>
        <p:spPr>
          <a:xfrm>
            <a:off x="7452360" y="3858768"/>
            <a:ext cx="4206240" cy="731520"/>
          </a:xfrm>
          <a:prstGeom prst="rect">
            <a:avLst/>
          </a:prstGeom>
          <a:noFill/>
        </p:spPr>
        <p:txBody>
          <a:bodyPr wrap="square" lIns="0" rIns="0" tIns="0" bIns="0" anchor="t">
            <a:noAutofit/>
          </a:bodyPr>
          <a:lstStyle/>
          <a:p>
            <a:pPr algn="l">
              <a:lnSpc>
                <a:spcPct val="100000"/>
              </a:lnSpc>
              <a:spcBef>
                <a:spcPts val="0"/>
              </a:spcBef>
              <a:spcAft>
                <a:spcPts val="0"/>
              </a:spcAft>
            </a:pPr>
            <a:r>
              <a:rPr sz="1700" b="0" i="0">
                <a:solidFill>
                  <a:srgbClr val="1F6E2E"/>
                </a:solidFill>
                <a:latin typeface="Open Sans"/>
              </a:rPr>
              <a:t>github.com/M-Gimenes/Simulation</a:t>
            </a:r>
          </a:p>
        </p:txBody>
      </p:sp>
      <p:sp>
        <p:nvSpPr>
          <p:cNvPr id="64" name="TextBox 63"/>
          <p:cNvSpPr txBox="1"/>
          <p:nvPr/>
        </p:nvSpPr>
        <p:spPr>
          <a:xfrm>
            <a:off x="5074920" y="5852160"/>
            <a:ext cx="6583680" cy="41148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Matheus Gimenes de Souza · Ifes Cachoeiro de Itapemirim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4572000" y="0"/>
            <a:ext cx="7159752"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Reserva</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O ciclo proposto não se realiza, nem no canônico</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R1</a:t>
            </a:r>
          </a:p>
        </p:txBody>
      </p:sp>
      <p:graphicFrame>
        <p:nvGraphicFramePr>
          <p:cNvPr id="7" name="Tabela"/>
          <p:cNvGraphicFramePr>
            <a:graphicFrameLocks noGrp="1"/>
          </p:cNvGraphicFramePr>
          <p:nvPr/>
        </p:nvGraphicFramePr>
        <p:xfrm>
          <a:off x="548640" y="1709928"/>
          <a:ext cx="11091672" cy="3017520"/>
        </p:xfrm>
        <a:graphic>
          <a:graphicData uri="http://schemas.openxmlformats.org/drawingml/2006/table">
            <a:tbl>
              <a:tblPr>
                <a:tableStyleId>{5C22544A-7EE6-4342-B048-85BDC9FD1C3A}</a:tableStyleId>
              </a:tblPr>
              <a:tblGrid>
                <a:gridCol w="3108960"/>
                <a:gridCol w="2651760"/>
                <a:gridCol w="2651760"/>
                <a:gridCol w="2679192"/>
              </a:tblGrid>
              <a:tr h="502920">
                <a:tc>
                  <a:txBody>
                    <a:bodyPr wrap="square"/>
                    <a:lstStyle/>
                    <a:p>
                      <a:pPr algn="l">
                        <a:lnSpc>
                          <a:spcPct val="100000"/>
                        </a:lnSpc>
                        <a:spcBef>
                          <a:spcPts val="0"/>
                        </a:spcBef>
                        <a:spcAft>
                          <a:spcPts val="0"/>
                        </a:spcAft>
                      </a:pPr>
                      <a:r>
                        <a:rPr sz="1600" b="1" i="0">
                          <a:solidFill>
                            <a:srgbClr val="FFFFFF"/>
                          </a:solidFill>
                          <a:latin typeface="Open Sans"/>
                        </a:rPr>
                        <a:t>Grupo</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Arestas decididas (de 10)</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Mantidas, das decididas</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Tríades circulares (de 5)</a:t>
                      </a:r>
                    </a:p>
                  </a:txBody>
                  <a:tcPr marL="73152" marR="73152" marT="27432" marB="27432" anchor="ctr">
                    <a:solidFill>
                      <a:srgbClr val="1F6E2E"/>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Canônico</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6/10 (60%)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1,00</a:t>
                      </a:r>
                    </a:p>
                  </a:txBody>
                  <a:tcPr marL="73152" marR="73152" marT="27432" marB="27432" anchor="ctr">
                    <a:solidFill>
                      <a:srgbClr val="F2F4F3"/>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AG escalar (20)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9,30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105/186 (56,5%)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3,71</a:t>
                      </a:r>
                    </a:p>
                  </a:txBody>
                  <a:tcPr marL="73152" marR="73152" marT="27432" marB="27432" anchor="ctr">
                    <a:solidFill>
                      <a:srgbClr val="FFFFFF"/>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NSGA-II (20)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9,85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98/197 (49,7%)</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4,17</a:t>
                      </a:r>
                    </a:p>
                  </a:txBody>
                  <a:tcPr marL="73152" marR="73152" marT="27432" marB="27432" anchor="ctr">
                    <a:solidFill>
                      <a:srgbClr val="F2F4F3"/>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Aleatórios (30)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10,00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149/300 (49,7%)</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0,40</a:t>
                      </a:r>
                    </a:p>
                  </a:txBody>
                  <a:tcPr marL="73152" marR="73152" marT="27432" marB="27432" anchor="ctr">
                    <a:solidFill>
                      <a:srgbClr val="FFFFFF"/>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Espelhos (5)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1,00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3/5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2,59</a:t>
                      </a:r>
                    </a:p>
                  </a:txBody>
                  <a:tcPr marL="73152" marR="73152" marT="27432" marB="27432" anchor="ctr">
                    <a:solidFill>
                      <a:srgbClr val="F2F4F3"/>
                    </a:solidFill>
                  </a:tcPr>
                </a:tc>
              </a:tr>
            </a:tbl>
          </a:graphicData>
        </a:graphic>
      </p:graphicFrame>
      <p:sp>
        <p:nvSpPr>
          <p:cNvPr id="8" name="TextBox 7"/>
          <p:cNvSpPr txBox="1"/>
          <p:nvPr/>
        </p:nvSpPr>
        <p:spPr>
          <a:xfrm>
            <a:off x="548640" y="4910328"/>
            <a:ext cx="11091672" cy="137160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16.000 lutas por par; aresta decidida: |WR − 0,5| &gt; 2σ. AG escalar contra o acaso: p = 0,091 (binomial). O canônico quebra 4 arestas por inversão completa: Rushdown vence todos, Turtle perde para todos. Ciclo proposto: Rushdown &gt; Zoner, Combo Master; Zoner &gt; Grappler, Turtle; Grappler &gt; Rushdown, Turtle; Combo Master &gt; Grappler, Zoner; Turtle &gt; Rushdown, Combo Master.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4572000" y="0"/>
            <a:ext cx="7159752"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Reserva</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As duas penalidades da aptidão</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R2</a:t>
            </a:r>
          </a:p>
        </p:txBody>
      </p:sp>
      <p:sp>
        <p:nvSpPr>
          <p:cNvPr id="7" name="TextBox 6"/>
          <p:cNvSpPr txBox="1"/>
          <p:nvPr/>
        </p:nvSpPr>
        <p:spPr>
          <a:xfrm>
            <a:off x="548640" y="1819656"/>
            <a:ext cx="2103120" cy="41148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CD191E"/>
                </a:solidFill>
                <a:latin typeface="Open Sans"/>
              </a:rPr>
              <a:t>Desequilíbrio</a:t>
            </a:r>
          </a:p>
        </p:txBody>
      </p:sp>
      <p:sp>
        <p:nvSpPr>
          <p:cNvPr id="8" name="TextBox 7"/>
          <p:cNvSpPr txBox="1"/>
          <p:nvPr/>
        </p:nvSpPr>
        <p:spPr>
          <a:xfrm>
            <a:off x="2743200" y="1819656"/>
            <a:ext cx="8897112" cy="411480"/>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CD191E"/>
                </a:solidFill>
                <a:latin typeface="Open Sans"/>
              </a:rPr>
              <a:t>P_dom = 1,0 · global + 0,5 · counter + 0,5 · decisividade   (de 0 a 2)</a:t>
            </a:r>
          </a:p>
        </p:txBody>
      </p:sp>
      <p:sp>
        <p:nvSpPr>
          <p:cNvPr id="9" name="TextBox 8"/>
          <p:cNvSpPr txBox="1"/>
          <p:nvPr/>
        </p:nvSpPr>
        <p:spPr>
          <a:xfrm>
            <a:off x="2743200" y="2276856"/>
            <a:ext cx="8897112" cy="41148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global: raiz da média dos quadrados, nos 5 personagens, de |WR_global − 0,5| / 0,5</a:t>
            </a:r>
          </a:p>
        </p:txBody>
      </p:sp>
      <p:sp>
        <p:nvSpPr>
          <p:cNvPr id="10" name="TextBox 9"/>
          <p:cNvSpPr txBox="1"/>
          <p:nvPr/>
        </p:nvSpPr>
        <p:spPr>
          <a:xfrm>
            <a:off x="2743200" y="2734056"/>
            <a:ext cx="8897112" cy="41148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counter: nos 10 pares, o excesso de |WR_par − 0,5| acima de 0,15 (faixa de 35% a 65%)</a:t>
            </a:r>
          </a:p>
        </p:txBody>
      </p:sp>
      <p:sp>
        <p:nvSpPr>
          <p:cNvPr id="11" name="TextBox 10"/>
          <p:cNvSpPr txBox="1"/>
          <p:nvPr/>
        </p:nvSpPr>
        <p:spPr>
          <a:xfrm>
            <a:off x="2743200" y="3191256"/>
            <a:ext cx="8897112" cy="41148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decisividade: nos 10 pares, D = média de |s − 0,5| por luta, penalizada fora de [0,02; 0,20]</a:t>
            </a:r>
          </a:p>
        </p:txBody>
      </p:sp>
      <p:sp>
        <p:nvSpPr>
          <p:cNvPr id="12" name="TextBox 11"/>
          <p:cNvSpPr txBox="1"/>
          <p:nvPr/>
        </p:nvSpPr>
        <p:spPr>
          <a:xfrm>
            <a:off x="548640" y="3758184"/>
            <a:ext cx="2103120" cy="41148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6E4BB8"/>
                </a:solidFill>
                <a:latin typeface="Open Sans"/>
              </a:rPr>
              <a:t>Desvio</a:t>
            </a:r>
          </a:p>
        </p:txBody>
      </p:sp>
      <p:sp>
        <p:nvSpPr>
          <p:cNvPr id="13" name="TextBox 12"/>
          <p:cNvSpPr txBox="1"/>
          <p:nvPr/>
        </p:nvSpPr>
        <p:spPr>
          <a:xfrm>
            <a:off x="2743200" y="3758184"/>
            <a:ext cx="8897112" cy="411480"/>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6E4BB8"/>
                </a:solidFill>
                <a:latin typeface="Open Sans"/>
              </a:rPr>
              <a:t>P_drift = média, nos 5 personagens, de √( Σ w·d² / Σ w )</a:t>
            </a:r>
          </a:p>
        </p:txBody>
      </p:sp>
      <p:sp>
        <p:nvSpPr>
          <p:cNvPr id="14" name="TextBox 13"/>
          <p:cNvSpPr txBox="1"/>
          <p:nvPr/>
        </p:nvSpPr>
        <p:spPr>
          <a:xfrm>
            <a:off x="2743200" y="4215384"/>
            <a:ext cx="8897112" cy="41148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d = (gene − canônico) / amplitude do gene; w = 3 nos genes definidores, 1 nos demais</a:t>
            </a:r>
          </a:p>
        </p:txBody>
      </p:sp>
      <p:sp>
        <p:nvSpPr>
          <p:cNvPr id="15" name="TextBox 14"/>
          <p:cNvSpPr txBox="1"/>
          <p:nvPr/>
        </p:nvSpPr>
        <p:spPr>
          <a:xfrm>
            <a:off x="548640" y="4782312"/>
            <a:ext cx="2103120" cy="41148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F6E2E"/>
                </a:solidFill>
                <a:latin typeface="Open Sans"/>
              </a:rPr>
              <a:t>Aptidão</a:t>
            </a:r>
          </a:p>
        </p:txBody>
      </p:sp>
      <p:sp>
        <p:nvSpPr>
          <p:cNvPr id="16" name="TextBox 15"/>
          <p:cNvSpPr txBox="1"/>
          <p:nvPr/>
        </p:nvSpPr>
        <p:spPr>
          <a:xfrm>
            <a:off x="2743200" y="4782312"/>
            <a:ext cx="8897112" cy="411480"/>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1F6E2E"/>
                </a:solidFill>
                <a:latin typeface="Open Sans"/>
              </a:rPr>
              <a:t>AG escalar: F = −(1,0 · P_drift + 1,0 · P_dom)    NSGA-II: minimiza (P_dom, P_drift)</a:t>
            </a:r>
          </a:p>
        </p:txBody>
      </p:sp>
      <p:sp>
        <p:nvSpPr>
          <p:cNvPr id="17" name="TextBox 16"/>
          <p:cNvSpPr txBox="1"/>
          <p:nvPr/>
        </p:nvSpPr>
        <p:spPr>
          <a:xfrm>
            <a:off x="2743200" y="5239512"/>
            <a:ext cx="8897112" cy="41148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λ = 1: joelho da varredura (equilíbrio estável até 1,0; piora a partir de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4572000" y="0"/>
            <a:ext cx="7159752"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Reserva</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Perfis canônicos: a premissa (genes definidores em negrito)</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R3</a:t>
            </a:r>
          </a:p>
        </p:txBody>
      </p:sp>
      <p:graphicFrame>
        <p:nvGraphicFramePr>
          <p:cNvPr id="7" name="Tabela"/>
          <p:cNvGraphicFramePr>
            <a:graphicFrameLocks noGrp="1"/>
          </p:cNvGraphicFramePr>
          <p:nvPr/>
        </p:nvGraphicFramePr>
        <p:xfrm>
          <a:off x="548640" y="1709928"/>
          <a:ext cx="11090751" cy="3072384"/>
        </p:xfrm>
        <a:graphic>
          <a:graphicData uri="http://schemas.openxmlformats.org/drawingml/2006/table">
            <a:tbl>
              <a:tblPr>
                <a:tableStyleId>{5C22544A-7EE6-4342-B048-85BDC9FD1C3A}</a:tableStyleId>
              </a:tblPr>
              <a:tblGrid>
                <a:gridCol w="1947672"/>
                <a:gridCol w="831189"/>
                <a:gridCol w="831189"/>
                <a:gridCol w="831189"/>
                <a:gridCol w="831189"/>
                <a:gridCol w="831189"/>
                <a:gridCol w="831189"/>
                <a:gridCol w="831189"/>
                <a:gridCol w="831189"/>
                <a:gridCol w="831189"/>
                <a:gridCol w="831189"/>
                <a:gridCol w="831189"/>
              </a:tblGrid>
              <a:tr h="512064">
                <a:tc>
                  <a:txBody>
                    <a:bodyPr wrap="square"/>
                    <a:lstStyle/>
                    <a:p>
                      <a:pPr algn="l">
                        <a:lnSpc>
                          <a:spcPct val="100000"/>
                        </a:lnSpc>
                        <a:spcBef>
                          <a:spcPts val="0"/>
                        </a:spcBef>
                        <a:spcAft>
                          <a:spcPts val="0"/>
                        </a:spcAft>
                      </a:pPr>
                      <a:r>
                        <a:rPr sz="1200" b="1" i="0">
                          <a:solidFill>
                            <a:srgbClr val="FFFFFF"/>
                          </a:solidFill>
                          <a:latin typeface="Open Sans"/>
                        </a:rPr>
                        <a:t>Arquétipo</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200" b="1" i="0">
                          <a:solidFill>
                            <a:srgbClr val="FFFFFF"/>
                          </a:solidFill>
                          <a:latin typeface="Open Sans"/>
                        </a:rPr>
                        <a:t>vida</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200" b="1" i="0">
                          <a:solidFill>
                            <a:srgbClr val="FFFFFF"/>
                          </a:solidFill>
                          <a:latin typeface="Open Sans"/>
                        </a:rPr>
                        <a:t>dano</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200" b="1" i="0">
                          <a:solidFill>
                            <a:srgbClr val="FFFFFF"/>
                          </a:solidFill>
                          <a:latin typeface="Open Sans"/>
                        </a:rPr>
                        <a:t>interv.</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200" b="1" i="0">
                          <a:solidFill>
                            <a:srgbClr val="FFFFFF"/>
                          </a:solidFill>
                          <a:latin typeface="Open Sans"/>
                        </a:rPr>
                        <a:t>alcance</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200" b="1" i="0">
                          <a:solidFill>
                            <a:srgbClr val="FFFFFF"/>
                          </a:solidFill>
                          <a:latin typeface="Open Sans"/>
                        </a:rPr>
                        <a:t>veloc.</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200" b="1" i="0">
                          <a:solidFill>
                            <a:srgbClr val="FFFFFF"/>
                          </a:solidFill>
                          <a:latin typeface="Open Sans"/>
                        </a:rPr>
                        <a:t>atord.</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200" b="1" i="0">
                          <a:solidFill>
                            <a:srgbClr val="FFFFFF"/>
                          </a:solidFill>
                          <a:latin typeface="Open Sans"/>
                        </a:rPr>
                        <a:t>repuls.</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200" b="1" i="0">
                          <a:solidFill>
                            <a:srgbClr val="FFFFFF"/>
                          </a:solidFill>
                          <a:latin typeface="Open Sans"/>
                        </a:rPr>
                        <a:t>agarrão</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200" b="1" i="0">
                          <a:solidFill>
                            <a:srgbClr val="FFFFFF"/>
                          </a:solidFill>
                          <a:latin typeface="Open Sans"/>
                        </a:rPr>
                        <a:t>FRENTE</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200" b="1" i="0">
                          <a:solidFill>
                            <a:srgbClr val="FFFFFF"/>
                          </a:solidFill>
                          <a:latin typeface="Open Sans"/>
                        </a:rPr>
                        <a:t>RECUAR</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200" b="1" i="0">
                          <a:solidFill>
                            <a:srgbClr val="FFFFFF"/>
                          </a:solidFill>
                          <a:latin typeface="Open Sans"/>
                        </a:rPr>
                        <a:t>GUARDA</a:t>
                      </a:r>
                    </a:p>
                  </a:txBody>
                  <a:tcPr marL="73152" marR="73152" marT="27432" marB="27432" anchor="ctr">
                    <a:solidFill>
                      <a:srgbClr val="1F6E2E"/>
                    </a:solidFill>
                  </a:tcPr>
                </a:tc>
              </a:tr>
              <a:tr h="512064">
                <a:tc>
                  <a:txBody>
                    <a:bodyPr wrap="square"/>
                    <a:lstStyle/>
                    <a:p>
                      <a:pPr algn="l">
                        <a:lnSpc>
                          <a:spcPct val="100000"/>
                        </a:lnSpc>
                        <a:spcBef>
                          <a:spcPts val="0"/>
                        </a:spcBef>
                        <a:spcAft>
                          <a:spcPts val="0"/>
                        </a:spcAft>
                      </a:pPr>
                      <a:r>
                        <a:rPr sz="1200" b="1" i="0">
                          <a:solidFill>
                            <a:srgbClr val="17201B"/>
                          </a:solidFill>
                          <a:latin typeface="Open Sans"/>
                        </a:rPr>
                        <a:t>Zoner</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300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20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4</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1" i="0">
                          <a:solidFill>
                            <a:srgbClr val="17201B"/>
                          </a:solidFill>
                          <a:latin typeface="Open Sans"/>
                        </a:rPr>
                        <a:t>18</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2,5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0,10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1" i="0">
                          <a:solidFill>
                            <a:srgbClr val="17201B"/>
                          </a:solidFill>
                          <a:latin typeface="Open Sans"/>
                        </a:rPr>
                        <a:t>2,0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0,05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0,30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1" i="0">
                          <a:solidFill>
                            <a:srgbClr val="17201B"/>
                          </a:solidFill>
                          <a:latin typeface="Open Sans"/>
                        </a:rPr>
                        <a:t>0,60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0,20</a:t>
                      </a:r>
                    </a:p>
                  </a:txBody>
                  <a:tcPr marL="73152" marR="73152" marT="27432" marB="27432" anchor="ctr">
                    <a:solidFill>
                      <a:srgbClr val="F2F4F3"/>
                    </a:solidFill>
                  </a:tcPr>
                </a:tc>
              </a:tr>
              <a:tr h="512064">
                <a:tc>
                  <a:txBody>
                    <a:bodyPr wrap="square"/>
                    <a:lstStyle/>
                    <a:p>
                      <a:pPr algn="l">
                        <a:lnSpc>
                          <a:spcPct val="100000"/>
                        </a:lnSpc>
                        <a:spcBef>
                          <a:spcPts val="0"/>
                        </a:spcBef>
                        <a:spcAft>
                          <a:spcPts val="0"/>
                        </a:spcAft>
                      </a:pPr>
                      <a:r>
                        <a:rPr sz="1200" b="1" i="0">
                          <a:solidFill>
                            <a:srgbClr val="17201B"/>
                          </a:solidFill>
                          <a:latin typeface="Open Sans"/>
                        </a:rPr>
                        <a:t>Rushdown</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320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16</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1" i="0">
                          <a:solidFill>
                            <a:srgbClr val="17201B"/>
                          </a:solidFill>
                          <a:latin typeface="Open Sans"/>
                        </a:rPr>
                        <a:t>1</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10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1" i="0">
                          <a:solidFill>
                            <a:srgbClr val="17201B"/>
                          </a:solidFill>
                          <a:latin typeface="Open Sans"/>
                        </a:rPr>
                        <a:t>5,0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0,10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1,0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0,20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1" i="0">
                          <a:solidFill>
                            <a:srgbClr val="17201B"/>
                          </a:solidFill>
                          <a:latin typeface="Open Sans"/>
                        </a:rPr>
                        <a:t>0,90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0,05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0,10</a:t>
                      </a:r>
                    </a:p>
                  </a:txBody>
                  <a:tcPr marL="73152" marR="73152" marT="27432" marB="27432" anchor="ctr">
                    <a:solidFill>
                      <a:srgbClr val="FFFFFF"/>
                    </a:solidFill>
                  </a:tcPr>
                </a:tc>
              </a:tr>
              <a:tr h="512064">
                <a:tc>
                  <a:txBody>
                    <a:bodyPr wrap="square"/>
                    <a:lstStyle/>
                    <a:p>
                      <a:pPr algn="l">
                        <a:lnSpc>
                          <a:spcPct val="100000"/>
                        </a:lnSpc>
                        <a:spcBef>
                          <a:spcPts val="0"/>
                        </a:spcBef>
                        <a:spcAft>
                          <a:spcPts val="0"/>
                        </a:spcAft>
                      </a:pPr>
                      <a:r>
                        <a:rPr sz="1200" b="1" i="0">
                          <a:solidFill>
                            <a:srgbClr val="17201B"/>
                          </a:solidFill>
                          <a:latin typeface="Open Sans"/>
                        </a:rPr>
                        <a:t>Combo Master</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350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18</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3</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10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3,0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1" i="0">
                          <a:solidFill>
                            <a:srgbClr val="17201B"/>
                          </a:solidFill>
                          <a:latin typeface="Open Sans"/>
                        </a:rPr>
                        <a:t>0,55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0,5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0,30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0,70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0,05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0,20</a:t>
                      </a:r>
                    </a:p>
                  </a:txBody>
                  <a:tcPr marL="73152" marR="73152" marT="27432" marB="27432" anchor="ctr">
                    <a:solidFill>
                      <a:srgbClr val="F2F4F3"/>
                    </a:solidFill>
                  </a:tcPr>
                </a:tc>
              </a:tr>
              <a:tr h="512064">
                <a:tc>
                  <a:txBody>
                    <a:bodyPr wrap="square"/>
                    <a:lstStyle/>
                    <a:p>
                      <a:pPr algn="l">
                        <a:lnSpc>
                          <a:spcPct val="100000"/>
                        </a:lnSpc>
                        <a:spcBef>
                          <a:spcPts val="0"/>
                        </a:spcBef>
                        <a:spcAft>
                          <a:spcPts val="0"/>
                        </a:spcAft>
                      </a:pPr>
                      <a:r>
                        <a:rPr sz="1200" b="1" i="0">
                          <a:solidFill>
                            <a:srgbClr val="17201B"/>
                          </a:solidFill>
                          <a:latin typeface="Open Sans"/>
                        </a:rPr>
                        <a:t>Grappler</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400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1" i="0">
                          <a:solidFill>
                            <a:srgbClr val="17201B"/>
                          </a:solidFill>
                          <a:latin typeface="Open Sans"/>
                        </a:rPr>
                        <a:t>27</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4</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8</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2,0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0,30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0,5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1" i="0">
                          <a:solidFill>
                            <a:srgbClr val="17201B"/>
                          </a:solidFill>
                          <a:latin typeface="Open Sans"/>
                        </a:rPr>
                        <a:t>0,90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0,70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0,10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200" b="0" i="0">
                          <a:solidFill>
                            <a:srgbClr val="17201B"/>
                          </a:solidFill>
                          <a:latin typeface="Open Sans"/>
                        </a:rPr>
                        <a:t>0,40</a:t>
                      </a:r>
                    </a:p>
                  </a:txBody>
                  <a:tcPr marL="73152" marR="73152" marT="27432" marB="27432" anchor="ctr">
                    <a:solidFill>
                      <a:srgbClr val="FFFFFF"/>
                    </a:solidFill>
                  </a:tcPr>
                </a:tc>
              </a:tr>
              <a:tr h="512064">
                <a:tc>
                  <a:txBody>
                    <a:bodyPr wrap="square"/>
                    <a:lstStyle/>
                    <a:p>
                      <a:pPr algn="l">
                        <a:lnSpc>
                          <a:spcPct val="100000"/>
                        </a:lnSpc>
                        <a:spcBef>
                          <a:spcPts val="0"/>
                        </a:spcBef>
                        <a:spcAft>
                          <a:spcPts val="0"/>
                        </a:spcAft>
                      </a:pPr>
                      <a:r>
                        <a:rPr sz="1200" b="1" i="0">
                          <a:solidFill>
                            <a:srgbClr val="17201B"/>
                          </a:solidFill>
                          <a:latin typeface="Open Sans"/>
                        </a:rPr>
                        <a:t>Turtle</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1" i="0">
                          <a:solidFill>
                            <a:srgbClr val="17201B"/>
                          </a:solidFill>
                          <a:latin typeface="Open Sans"/>
                        </a:rPr>
                        <a:t>450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15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1" i="0">
                          <a:solidFill>
                            <a:srgbClr val="17201B"/>
                          </a:solidFill>
                          <a:latin typeface="Open Sans"/>
                        </a:rPr>
                        <a:t>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13</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1" i="0">
                          <a:solidFill>
                            <a:srgbClr val="17201B"/>
                          </a:solidFill>
                          <a:latin typeface="Open Sans"/>
                        </a:rPr>
                        <a:t>1,5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0,20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1,0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0,15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0,20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0" i="0">
                          <a:solidFill>
                            <a:srgbClr val="17201B"/>
                          </a:solidFill>
                          <a:latin typeface="Open Sans"/>
                        </a:rPr>
                        <a:t>0,40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200" b="1" i="0">
                          <a:solidFill>
                            <a:srgbClr val="17201B"/>
                          </a:solidFill>
                          <a:latin typeface="Open Sans"/>
                        </a:rPr>
                        <a:t>0,70</a:t>
                      </a:r>
                    </a:p>
                  </a:txBody>
                  <a:tcPr marL="73152" marR="73152" marT="27432" marB="27432" anchor="ctr">
                    <a:solidFill>
                      <a:srgbClr val="F2F4F3"/>
                    </a:solidFill>
                  </a:tcPr>
                </a:tc>
              </a:tr>
            </a:tbl>
          </a:graphicData>
        </a:graphic>
      </p:graphicFrame>
      <p:sp>
        <p:nvSpPr>
          <p:cNvPr id="8" name="TextBox 7"/>
          <p:cNvSpPr txBox="1"/>
          <p:nvPr/>
        </p:nvSpPr>
        <p:spPr>
          <a:xfrm>
            <a:off x="548640" y="4965192"/>
            <a:ext cx="11091672" cy="137160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Limites: vida 250–450, dano 15–30, intervalo 1–5, alcance 5–20, velocidade 1–5, atordoamento 0–0,6, repulsão 0–3, agarrão 0–1, pesos 0–1. Canônico: 23/23 asserções.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4572000" y="0"/>
            <a:ext cx="7159752"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Reserva</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Validação externa dos elencos de semente 42</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R4</a:t>
            </a:r>
          </a:p>
        </p:txBody>
      </p:sp>
      <p:graphicFrame>
        <p:nvGraphicFramePr>
          <p:cNvPr id="7" name="Tabela"/>
          <p:cNvGraphicFramePr>
            <a:graphicFrameLocks noGrp="1"/>
          </p:cNvGraphicFramePr>
          <p:nvPr/>
        </p:nvGraphicFramePr>
        <p:xfrm>
          <a:off x="548640" y="1709928"/>
          <a:ext cx="11091672" cy="3931920"/>
        </p:xfrm>
        <a:graphic>
          <a:graphicData uri="http://schemas.openxmlformats.org/drawingml/2006/table">
            <a:tbl>
              <a:tblPr>
                <a:tableStyleId>{5C22544A-7EE6-4342-B048-85BDC9FD1C3A}</a:tableStyleId>
              </a:tblPr>
              <a:tblGrid>
                <a:gridCol w="3776472"/>
                <a:gridCol w="1828800"/>
                <a:gridCol w="1828800"/>
                <a:gridCol w="1828800"/>
                <a:gridCol w="1828800"/>
              </a:tblGrid>
              <a:tr h="393192">
                <a:tc>
                  <a:txBody>
                    <a:bodyPr wrap="square"/>
                    <a:lstStyle/>
                    <a:p>
                      <a:pPr algn="l">
                        <a:lnSpc>
                          <a:spcPct val="100000"/>
                        </a:lnSpc>
                        <a:spcBef>
                          <a:spcPts val="0"/>
                        </a:spcBef>
                        <a:spcAft>
                          <a:spcPts val="0"/>
                        </a:spcAft>
                      </a:pPr>
                      <a:r>
                        <a:rPr sz="1500" b="1" i="0">
                          <a:solidFill>
                            <a:srgbClr val="FFFFFF"/>
                          </a:solidFill>
                          <a:latin typeface="Open Sans"/>
                        </a:rPr>
                        <a:t>Condição</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500" b="1" i="0">
                          <a:solidFill>
                            <a:srgbClr val="FFFFFF"/>
                          </a:solidFill>
                          <a:latin typeface="Open Sans"/>
                        </a:rPr>
                        <a:t>AG escalar</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500" b="1" i="0">
                          <a:solidFill>
                            <a:srgbClr val="FFFFFF"/>
                          </a:solidFill>
                          <a:latin typeface="Open Sans"/>
                        </a:rPr>
                        <a:t>NSGA-II s.o.</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500" b="1" i="0">
                          <a:solidFill>
                            <a:srgbClr val="FFFFFF"/>
                          </a:solidFill>
                          <a:latin typeface="Open Sans"/>
                        </a:rPr>
                        <a:t>NSGA-II joelho</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500" b="1" i="0">
                          <a:solidFill>
                            <a:srgbClr val="FFFFFF"/>
                          </a:solidFill>
                          <a:latin typeface="Open Sans"/>
                        </a:rPr>
                        <a:t>Canônico</a:t>
                      </a:r>
                    </a:p>
                  </a:txBody>
                  <a:tcPr marL="73152" marR="73152" marT="27432" marB="27432" anchor="ctr">
                    <a:solidFill>
                      <a:srgbClr val="1F6E2E"/>
                    </a:solidFill>
                  </a:tcPr>
                </a:tc>
              </a:tr>
              <a:tr h="393192">
                <a:tc>
                  <a:txBody>
                    <a:bodyPr wrap="square"/>
                    <a:lstStyle/>
                    <a:p>
                      <a:pPr algn="l">
                        <a:lnSpc>
                          <a:spcPct val="100000"/>
                        </a:lnSpc>
                        <a:spcBef>
                          <a:spcPts val="0"/>
                        </a:spcBef>
                        <a:spcAft>
                          <a:spcPts val="0"/>
                        </a:spcAft>
                      </a:pPr>
                      <a:r>
                        <a:rPr sz="1500" b="1" i="0">
                          <a:solidFill>
                            <a:srgbClr val="17201B"/>
                          </a:solidFill>
                          <a:latin typeface="Open Sans"/>
                        </a:rPr>
                        <a:t>Replicação (regras do treino)</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R  0,033</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0,051</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0,400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1,277</a:t>
                      </a:r>
                    </a:p>
                  </a:txBody>
                  <a:tcPr marL="73152" marR="73152" marT="27432" marB="27432" anchor="ctr">
                    <a:solidFill>
                      <a:srgbClr val="F2F4F3"/>
                    </a:solidFill>
                  </a:tcPr>
                </a:tc>
              </a:tr>
              <a:tr h="393192">
                <a:tc>
                  <a:txBody>
                    <a:bodyPr wrap="square"/>
                    <a:lstStyle/>
                    <a:p>
                      <a:pPr algn="l">
                        <a:lnSpc>
                          <a:spcPct val="100000"/>
                        </a:lnSpc>
                        <a:spcBef>
                          <a:spcPts val="0"/>
                        </a:spcBef>
                        <a:spcAft>
                          <a:spcPts val="0"/>
                        </a:spcAft>
                      </a:pPr>
                      <a:r>
                        <a:rPr sz="1500" b="1" i="0">
                          <a:solidFill>
                            <a:srgbClr val="17201B"/>
                          </a:solidFill>
                          <a:latin typeface="Open Sans"/>
                        </a:rPr>
                        <a:t>Distância inicial 40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R  0,025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F  0,068</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F  0,394</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F  1,277</a:t>
                      </a:r>
                    </a:p>
                  </a:txBody>
                  <a:tcPr marL="73152" marR="73152" marT="27432" marB="27432" anchor="ctr">
                    <a:solidFill>
                      <a:srgbClr val="FFFFFF"/>
                    </a:solidFill>
                  </a:tcPr>
                </a:tc>
              </a:tr>
              <a:tr h="393192">
                <a:tc>
                  <a:txBody>
                    <a:bodyPr wrap="square"/>
                    <a:lstStyle/>
                    <a:p>
                      <a:pPr algn="l">
                        <a:lnSpc>
                          <a:spcPct val="100000"/>
                        </a:lnSpc>
                        <a:spcBef>
                          <a:spcPts val="0"/>
                        </a:spcBef>
                        <a:spcAft>
                          <a:spcPts val="0"/>
                        </a:spcAft>
                      </a:pPr>
                      <a:r>
                        <a:rPr sz="1500" b="1" i="0">
                          <a:solidFill>
                            <a:srgbClr val="17201B"/>
                          </a:solidFill>
                          <a:latin typeface="Open Sans"/>
                        </a:rPr>
                        <a:t>Distância inicial 60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R  0,040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0,045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0,396</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1,278</a:t>
                      </a:r>
                    </a:p>
                  </a:txBody>
                  <a:tcPr marL="73152" marR="73152" marT="27432" marB="27432" anchor="ctr">
                    <a:solidFill>
                      <a:srgbClr val="F2F4F3"/>
                    </a:solidFill>
                  </a:tcPr>
                </a:tc>
              </a:tr>
              <a:tr h="393192">
                <a:tc>
                  <a:txBody>
                    <a:bodyPr wrap="square"/>
                    <a:lstStyle/>
                    <a:p>
                      <a:pPr algn="l">
                        <a:lnSpc>
                          <a:spcPct val="100000"/>
                        </a:lnSpc>
                        <a:spcBef>
                          <a:spcPts val="0"/>
                        </a:spcBef>
                        <a:spcAft>
                          <a:spcPts val="0"/>
                        </a:spcAft>
                      </a:pPr>
                      <a:r>
                        <a:rPr sz="1500" b="1" i="0">
                          <a:solidFill>
                            <a:srgbClr val="17201B"/>
                          </a:solidFill>
                          <a:latin typeface="Open Sans"/>
                        </a:rPr>
                        <a:t>Campo 80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F  0,087</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F  0,143</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F  0,470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F  1,297</a:t>
                      </a:r>
                    </a:p>
                  </a:txBody>
                  <a:tcPr marL="73152" marR="73152" marT="27432" marB="27432" anchor="ctr">
                    <a:solidFill>
                      <a:srgbClr val="FFFFFF"/>
                    </a:solidFill>
                  </a:tcPr>
                </a:tc>
              </a:tr>
              <a:tr h="393192">
                <a:tc>
                  <a:txBody>
                    <a:bodyPr wrap="square"/>
                    <a:lstStyle/>
                    <a:p>
                      <a:pPr algn="l">
                        <a:lnSpc>
                          <a:spcPct val="100000"/>
                        </a:lnSpc>
                        <a:spcBef>
                          <a:spcPts val="0"/>
                        </a:spcBef>
                        <a:spcAft>
                          <a:spcPts val="0"/>
                        </a:spcAft>
                      </a:pPr>
                      <a:r>
                        <a:rPr sz="1500" b="1" i="0">
                          <a:solidFill>
                            <a:srgbClr val="17201B"/>
                          </a:solidFill>
                          <a:latin typeface="Open Sans"/>
                        </a:rPr>
                        <a:t>Campo 120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R  0,033</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0,160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0,407</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1,272</a:t>
                      </a:r>
                    </a:p>
                  </a:txBody>
                  <a:tcPr marL="73152" marR="73152" marT="27432" marB="27432" anchor="ctr">
                    <a:solidFill>
                      <a:srgbClr val="F2F4F3"/>
                    </a:solidFill>
                  </a:tcPr>
                </a:tc>
              </a:tr>
              <a:tr h="393192">
                <a:tc>
                  <a:txBody>
                    <a:bodyPr wrap="square"/>
                    <a:lstStyle/>
                    <a:p>
                      <a:pPr algn="l">
                        <a:lnSpc>
                          <a:spcPct val="100000"/>
                        </a:lnSpc>
                        <a:spcBef>
                          <a:spcPts val="0"/>
                        </a:spcBef>
                        <a:spcAft>
                          <a:spcPts val="0"/>
                        </a:spcAft>
                      </a:pPr>
                      <a:r>
                        <a:rPr sz="1500" b="1" i="0">
                          <a:solidFill>
                            <a:srgbClr val="17201B"/>
                          </a:solidFill>
                          <a:latin typeface="Open Sans"/>
                        </a:rPr>
                        <a:t>Persistência 4</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I  0,110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F  0,273</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F  0,440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F  1,283</a:t>
                      </a:r>
                    </a:p>
                  </a:txBody>
                  <a:tcPr marL="73152" marR="73152" marT="27432" marB="27432" anchor="ctr">
                    <a:solidFill>
                      <a:srgbClr val="FFFFFF"/>
                    </a:solidFill>
                  </a:tcPr>
                </a:tc>
              </a:tr>
              <a:tr h="393192">
                <a:tc>
                  <a:txBody>
                    <a:bodyPr wrap="square"/>
                    <a:lstStyle/>
                    <a:p>
                      <a:pPr algn="l">
                        <a:lnSpc>
                          <a:spcPct val="100000"/>
                        </a:lnSpc>
                        <a:spcBef>
                          <a:spcPts val="0"/>
                        </a:spcBef>
                        <a:spcAft>
                          <a:spcPts val="0"/>
                        </a:spcAft>
                      </a:pPr>
                      <a:r>
                        <a:rPr sz="1500" b="1" i="0">
                          <a:solidFill>
                            <a:srgbClr val="17201B"/>
                          </a:solidFill>
                          <a:latin typeface="Open Sans"/>
                        </a:rPr>
                        <a:t>Persistência 6</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0,153</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0,230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0,441</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1,271</a:t>
                      </a:r>
                    </a:p>
                  </a:txBody>
                  <a:tcPr marL="73152" marR="73152" marT="27432" marB="27432" anchor="ctr">
                    <a:solidFill>
                      <a:srgbClr val="F2F4F3"/>
                    </a:solidFill>
                  </a:tcPr>
                </a:tc>
              </a:tr>
              <a:tr h="393192">
                <a:tc>
                  <a:txBody>
                    <a:bodyPr wrap="square"/>
                    <a:lstStyle/>
                    <a:p>
                      <a:pPr algn="l">
                        <a:lnSpc>
                          <a:spcPct val="100000"/>
                        </a:lnSpc>
                        <a:spcBef>
                          <a:spcPts val="0"/>
                        </a:spcBef>
                        <a:spcAft>
                          <a:spcPts val="0"/>
                        </a:spcAft>
                      </a:pPr>
                      <a:r>
                        <a:rPr sz="1500" b="1" i="0">
                          <a:solidFill>
                            <a:srgbClr val="17201B"/>
                          </a:solidFill>
                          <a:latin typeface="Open Sans"/>
                        </a:rPr>
                        <a:t>Guarda 0,55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I  0,075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F  0,108</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F  0,397</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F  1,277</a:t>
                      </a:r>
                    </a:p>
                  </a:txBody>
                  <a:tcPr marL="73152" marR="73152" marT="27432" marB="27432" anchor="ctr">
                    <a:solidFill>
                      <a:srgbClr val="FFFFFF"/>
                    </a:solidFill>
                  </a:tcPr>
                </a:tc>
              </a:tr>
              <a:tr h="393192">
                <a:tc>
                  <a:txBody>
                    <a:bodyPr wrap="square"/>
                    <a:lstStyle/>
                    <a:p>
                      <a:pPr algn="l">
                        <a:lnSpc>
                          <a:spcPct val="100000"/>
                        </a:lnSpc>
                        <a:spcBef>
                          <a:spcPts val="0"/>
                        </a:spcBef>
                        <a:spcAft>
                          <a:spcPts val="0"/>
                        </a:spcAft>
                      </a:pPr>
                      <a:r>
                        <a:rPr sz="1500" b="1" i="0">
                          <a:solidFill>
                            <a:srgbClr val="17201B"/>
                          </a:solidFill>
                          <a:latin typeface="Open Sans"/>
                        </a:rPr>
                        <a:t>Guarda 0,65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R  0,061</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0,063</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0,444</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F  1,278</a:t>
                      </a:r>
                    </a:p>
                  </a:txBody>
                  <a:tcPr marL="73152" marR="73152" marT="27432" marB="27432" anchor="ctr">
                    <a:solidFill>
                      <a:srgbClr val="F2F4F3"/>
                    </a:solidFill>
                  </a:tcPr>
                </a:tc>
              </a:tr>
            </a:tbl>
          </a:graphicData>
        </a:graphic>
      </p:graphicFrame>
      <p:sp>
        <p:nvSpPr>
          <p:cNvPr id="8" name="TextBox 7"/>
          <p:cNvSpPr txBox="1"/>
          <p:nvPr/>
        </p:nvSpPr>
        <p:spPr>
          <a:xfrm>
            <a:off x="548640" y="5824728"/>
            <a:ext cx="11091672" cy="137160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R robusto, I inconclusivo, F frágil (IC de Wilson 95% contra a faixa); o número é o desequilíbrio na condição.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4572000" y="0"/>
            <a:ext cx="7159752"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Reserva</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As seis métricas da família de testes, por braço</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R5</a:t>
            </a:r>
          </a:p>
        </p:txBody>
      </p:sp>
      <p:pic>
        <p:nvPicPr>
          <p:cNvPr id="7" name="Picture 6" descr="metricas.png"/>
          <p:cNvPicPr>
            <a:picLocks noChangeAspect="1"/>
          </p:cNvPicPr>
          <p:nvPr/>
        </p:nvPicPr>
        <p:blipFill>
          <a:blip r:embed="rId3"/>
          <a:stretch>
            <a:fillRect/>
          </a:stretch>
        </p:blipFill>
        <p:spPr>
          <a:xfrm>
            <a:off x="548640" y="1664208"/>
            <a:ext cx="11064240" cy="4434840"/>
          </a:xfrm>
          <a:prstGeom prst="rect">
            <a:avLst/>
          </a:prstGeom>
        </p:spPr>
      </p:pic>
      <p:sp>
        <p:nvSpPr>
          <p:cNvPr id="8" name="TextBox 7"/>
          <p:cNvSpPr txBox="1"/>
          <p:nvPr/>
        </p:nvSpPr>
        <p:spPr>
          <a:xfrm>
            <a:off x="548640" y="6144768"/>
            <a:ext cx="11091672" cy="292608"/>
          </a:xfrm>
          <a:prstGeom prst="rect">
            <a:avLst/>
          </a:prstGeom>
          <a:noFill/>
        </p:spPr>
        <p:txBody>
          <a:bodyPr wrap="square" lIns="0" rIns="0" tIns="0" bIns="0" anchor="t">
            <a:noAutofit/>
          </a:bodyPr>
          <a:lstStyle/>
          <a:p>
            <a:pPr algn="l">
              <a:lnSpc>
                <a:spcPct val="100000"/>
              </a:lnSpc>
              <a:spcBef>
                <a:spcPts val="0"/>
              </a:spcBef>
              <a:spcAft>
                <a:spcPts val="0"/>
              </a:spcAft>
            </a:pPr>
            <a:r>
              <a:rPr sz="1300" b="0" i="0">
                <a:solidFill>
                  <a:srgbClr val="6F7772"/>
                </a:solidFill>
                <a:latin typeface="Open Sans"/>
              </a:rPr>
              <a:t>Pontos: execuções; barra: mediana; tracejado: espelhos em desequilíbrio, elencos sorteados nas métricas de identidade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4572000" y="0"/>
            <a:ext cx="7159752"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Reserva</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Convergência: medianas das 20 execuções</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R6</a:t>
            </a:r>
          </a:p>
        </p:txBody>
      </p:sp>
      <p:pic>
        <p:nvPicPr>
          <p:cNvPr id="7" name="Picture 6" descr="convergencia.png"/>
          <p:cNvPicPr>
            <a:picLocks noChangeAspect="1"/>
          </p:cNvPicPr>
          <p:nvPr/>
        </p:nvPicPr>
        <p:blipFill>
          <a:blip r:embed="rId3"/>
          <a:stretch>
            <a:fillRect/>
          </a:stretch>
        </p:blipFill>
        <p:spPr>
          <a:xfrm>
            <a:off x="548640" y="1755648"/>
            <a:ext cx="11064240" cy="420624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4572000" y="0"/>
            <a:ext cx="7159752"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Reserva</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Sensibilidade: o quanto cada gene move a taxa de vitória</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R7</a:t>
            </a:r>
          </a:p>
        </p:txBody>
      </p:sp>
      <p:pic>
        <p:nvPicPr>
          <p:cNvPr id="7" name="Picture 6" descr="sensibilidade.png"/>
          <p:cNvPicPr>
            <a:picLocks noChangeAspect="1"/>
          </p:cNvPicPr>
          <p:nvPr/>
        </p:nvPicPr>
        <p:blipFill>
          <a:blip r:embed="rId3"/>
          <a:stretch>
            <a:fillRect/>
          </a:stretch>
        </p:blipFill>
        <p:spPr>
          <a:xfrm>
            <a:off x="548640" y="1709928"/>
            <a:ext cx="9601200" cy="4343400"/>
          </a:xfrm>
          <a:prstGeom prst="rect">
            <a:avLst/>
          </a:prstGeom>
        </p:spPr>
      </p:pic>
      <p:sp>
        <p:nvSpPr>
          <p:cNvPr id="8" name="TextBox 7"/>
          <p:cNvSpPr txBox="1"/>
          <p:nvPr/>
        </p:nvSpPr>
        <p:spPr>
          <a:xfrm>
            <a:off x="10287000" y="2029967"/>
            <a:ext cx="1353312" cy="3200400"/>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6F7772"/>
                </a:solidFill>
                <a:latin typeface="Open Sans"/>
              </a:rPr>
              <a:t>janela de 2 desvios de mutação; elenco do AG escalar, semente 42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4572000" y="0"/>
            <a:ext cx="7159752"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Reserva</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Uma régua grosseira gerou uma diferença que não se sustentou</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R8</a:t>
            </a:r>
          </a:p>
        </p:txBody>
      </p:sp>
      <p:sp>
        <p:nvSpPr>
          <p:cNvPr id="7" name="Rounded Rectangle 6"/>
          <p:cNvSpPr/>
          <p:nvPr/>
        </p:nvSpPr>
        <p:spPr>
          <a:xfrm>
            <a:off x="548640" y="1755648"/>
            <a:ext cx="5422392" cy="2926080"/>
          </a:xfrm>
          <a:prstGeom prst="roundRect">
            <a:avLst>
              <a:gd name="adj" fmla="val 3750"/>
            </a:avLst>
          </a:prstGeom>
          <a:solidFill>
            <a:srgbClr val="F2F4F3"/>
          </a:solidFill>
          <a:ln>
            <a:noFill/>
          </a:ln>
        </p:spPr>
        <p:txBody>
          <a:bodyPr rtlCol="0" anchor="ctr"/>
          <a:lstStyle/>
          <a:p>
            <a:pPr algn="ctr"/>
          </a:p>
        </p:txBody>
      </p:sp>
      <p:sp>
        <p:nvSpPr>
          <p:cNvPr id="8" name="TextBox 7"/>
          <p:cNvSpPr txBox="1"/>
          <p:nvPr/>
        </p:nvSpPr>
        <p:spPr>
          <a:xfrm>
            <a:off x="868680" y="1938527"/>
            <a:ext cx="4754880" cy="411480"/>
          </a:xfrm>
          <a:prstGeom prst="rect">
            <a:avLst/>
          </a:prstGeom>
          <a:noFill/>
        </p:spPr>
        <p:txBody>
          <a:bodyPr wrap="square" lIns="0" rIns="0" tIns="0" bIns="0" anchor="t">
            <a:noAutofit/>
          </a:bodyPr>
          <a:lstStyle/>
          <a:p>
            <a:pPr algn="l">
              <a:lnSpc>
                <a:spcPct val="100000"/>
              </a:lnSpc>
              <a:spcBef>
                <a:spcPts val="0"/>
              </a:spcBef>
              <a:spcAft>
                <a:spcPts val="0"/>
              </a:spcAft>
            </a:pPr>
            <a:r>
              <a:rPr sz="2000" b="1" i="0">
                <a:solidFill>
                  <a:srgbClr val="17201B"/>
                </a:solidFill>
                <a:latin typeface="Open Sans"/>
              </a:rPr>
              <a:t>200 lutas por par</a:t>
            </a:r>
          </a:p>
        </p:txBody>
      </p:sp>
      <p:sp>
        <p:nvSpPr>
          <p:cNvPr id="9" name="TextBox 8"/>
          <p:cNvSpPr txBox="1"/>
          <p:nvPr/>
        </p:nvSpPr>
        <p:spPr>
          <a:xfrm>
            <a:off x="868680" y="2532888"/>
            <a:ext cx="4754880" cy="731520"/>
          </a:xfrm>
          <a:prstGeom prst="rect">
            <a:avLst/>
          </a:prstGeom>
          <a:noFill/>
        </p:spPr>
        <p:txBody>
          <a:bodyPr wrap="square" lIns="0" rIns="0" tIns="0" bIns="0" anchor="t">
            <a:noAutofit/>
          </a:bodyPr>
          <a:lstStyle/>
          <a:p>
            <a:pPr algn="l">
              <a:lnSpc>
                <a:spcPct val="100000"/>
              </a:lnSpc>
              <a:spcBef>
                <a:spcPts val="0"/>
              </a:spcBef>
              <a:spcAft>
                <a:spcPts val="0"/>
              </a:spcAft>
            </a:pPr>
            <a:r>
              <a:rPr sz="3400" b="1" i="0">
                <a:solidFill>
                  <a:srgbClr val="2A78D6"/>
                </a:solidFill>
                <a:latin typeface="Open Sans"/>
              </a:rPr>
              <a:t>0,0399</a:t>
            </a:r>
            <a:r>
              <a:rPr sz="1600" b="0" i="0">
                <a:solidFill>
                  <a:srgbClr val="4A524D"/>
                </a:solidFill>
                <a:latin typeface="Open Sans"/>
              </a:rPr>
              <a:t>  AG escalar</a:t>
            </a:r>
          </a:p>
        </p:txBody>
      </p:sp>
      <p:sp>
        <p:nvSpPr>
          <p:cNvPr id="10" name="TextBox 9"/>
          <p:cNvSpPr txBox="1"/>
          <p:nvPr/>
        </p:nvSpPr>
        <p:spPr>
          <a:xfrm>
            <a:off x="868680" y="3264408"/>
            <a:ext cx="4754880" cy="731520"/>
          </a:xfrm>
          <a:prstGeom prst="rect">
            <a:avLst/>
          </a:prstGeom>
          <a:noFill/>
        </p:spPr>
        <p:txBody>
          <a:bodyPr wrap="square" lIns="0" rIns="0" tIns="0" bIns="0" anchor="t">
            <a:noAutofit/>
          </a:bodyPr>
          <a:lstStyle/>
          <a:p>
            <a:pPr algn="l">
              <a:lnSpc>
                <a:spcPct val="100000"/>
              </a:lnSpc>
              <a:spcBef>
                <a:spcPts val="0"/>
              </a:spcBef>
              <a:spcAft>
                <a:spcPts val="0"/>
              </a:spcAft>
            </a:pPr>
            <a:r>
              <a:rPr sz="3400" b="1" i="0">
                <a:solidFill>
                  <a:srgbClr val="52514E"/>
                </a:solidFill>
                <a:latin typeface="Open Sans"/>
              </a:rPr>
              <a:t>0,0534</a:t>
            </a:r>
            <a:r>
              <a:rPr sz="1600" b="0" i="0">
                <a:solidFill>
                  <a:srgbClr val="4A524D"/>
                </a:solidFill>
                <a:latin typeface="Open Sans"/>
              </a:rPr>
              <a:t>  sem o termo</a:t>
            </a:r>
          </a:p>
        </p:txBody>
      </p:sp>
      <p:sp>
        <p:nvSpPr>
          <p:cNvPr id="11" name="TextBox 10"/>
          <p:cNvSpPr txBox="1"/>
          <p:nvPr/>
        </p:nvSpPr>
        <p:spPr>
          <a:xfrm>
            <a:off x="868680" y="4041648"/>
            <a:ext cx="4754880" cy="41148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B3312F"/>
                </a:solidFill>
                <a:latin typeface="Open Sans"/>
              </a:rPr>
              <a:t>p Holm = 0,038</a:t>
            </a:r>
          </a:p>
        </p:txBody>
      </p:sp>
      <p:sp>
        <p:nvSpPr>
          <p:cNvPr id="12" name="Rounded Rectangle 11"/>
          <p:cNvSpPr/>
          <p:nvPr/>
        </p:nvSpPr>
        <p:spPr>
          <a:xfrm>
            <a:off x="6217920" y="1755648"/>
            <a:ext cx="5422392" cy="2926080"/>
          </a:xfrm>
          <a:prstGeom prst="roundRect">
            <a:avLst>
              <a:gd name="adj" fmla="val 3750"/>
            </a:avLst>
          </a:prstGeom>
          <a:solidFill>
            <a:srgbClr val="F2F4F3"/>
          </a:solidFill>
          <a:ln>
            <a:noFill/>
          </a:ln>
        </p:spPr>
        <p:txBody>
          <a:bodyPr rtlCol="0" anchor="ctr"/>
          <a:lstStyle/>
          <a:p>
            <a:pPr algn="ctr"/>
          </a:p>
        </p:txBody>
      </p:sp>
      <p:sp>
        <p:nvSpPr>
          <p:cNvPr id="13" name="TextBox 12"/>
          <p:cNvSpPr txBox="1"/>
          <p:nvPr/>
        </p:nvSpPr>
        <p:spPr>
          <a:xfrm>
            <a:off x="6537959" y="1938527"/>
            <a:ext cx="4754880" cy="411480"/>
          </a:xfrm>
          <a:prstGeom prst="rect">
            <a:avLst/>
          </a:prstGeom>
          <a:noFill/>
        </p:spPr>
        <p:txBody>
          <a:bodyPr wrap="square" lIns="0" rIns="0" tIns="0" bIns="0" anchor="t">
            <a:noAutofit/>
          </a:bodyPr>
          <a:lstStyle/>
          <a:p>
            <a:pPr algn="l">
              <a:lnSpc>
                <a:spcPct val="100000"/>
              </a:lnSpc>
              <a:spcBef>
                <a:spcPts val="0"/>
              </a:spcBef>
              <a:spcAft>
                <a:spcPts val="0"/>
              </a:spcAft>
            </a:pPr>
            <a:r>
              <a:rPr sz="2000" b="1" i="0">
                <a:solidFill>
                  <a:srgbClr val="17201B"/>
                </a:solidFill>
                <a:latin typeface="Open Sans"/>
              </a:rPr>
              <a:t>1.000 lutas por par</a:t>
            </a:r>
          </a:p>
        </p:txBody>
      </p:sp>
      <p:sp>
        <p:nvSpPr>
          <p:cNvPr id="14" name="TextBox 13"/>
          <p:cNvSpPr txBox="1"/>
          <p:nvPr/>
        </p:nvSpPr>
        <p:spPr>
          <a:xfrm>
            <a:off x="6537959" y="2532888"/>
            <a:ext cx="4754880" cy="731520"/>
          </a:xfrm>
          <a:prstGeom prst="rect">
            <a:avLst/>
          </a:prstGeom>
          <a:noFill/>
        </p:spPr>
        <p:txBody>
          <a:bodyPr wrap="square" lIns="0" rIns="0" tIns="0" bIns="0" anchor="t">
            <a:noAutofit/>
          </a:bodyPr>
          <a:lstStyle/>
          <a:p>
            <a:pPr algn="l">
              <a:lnSpc>
                <a:spcPct val="100000"/>
              </a:lnSpc>
              <a:spcBef>
                <a:spcPts val="0"/>
              </a:spcBef>
              <a:spcAft>
                <a:spcPts val="0"/>
              </a:spcAft>
            </a:pPr>
            <a:r>
              <a:rPr sz="3400" b="1" i="0">
                <a:solidFill>
                  <a:srgbClr val="2A78D6"/>
                </a:solidFill>
                <a:latin typeface="Open Sans"/>
              </a:rPr>
              <a:t>0,0355</a:t>
            </a:r>
            <a:r>
              <a:rPr sz="1600" b="0" i="0">
                <a:solidFill>
                  <a:srgbClr val="4A524D"/>
                </a:solidFill>
                <a:latin typeface="Open Sans"/>
              </a:rPr>
              <a:t>  AG escalar</a:t>
            </a:r>
          </a:p>
        </p:txBody>
      </p:sp>
      <p:sp>
        <p:nvSpPr>
          <p:cNvPr id="15" name="TextBox 14"/>
          <p:cNvSpPr txBox="1"/>
          <p:nvPr/>
        </p:nvSpPr>
        <p:spPr>
          <a:xfrm>
            <a:off x="6537959" y="3264408"/>
            <a:ext cx="4754880" cy="731520"/>
          </a:xfrm>
          <a:prstGeom prst="rect">
            <a:avLst/>
          </a:prstGeom>
          <a:noFill/>
        </p:spPr>
        <p:txBody>
          <a:bodyPr wrap="square" lIns="0" rIns="0" tIns="0" bIns="0" anchor="t">
            <a:noAutofit/>
          </a:bodyPr>
          <a:lstStyle/>
          <a:p>
            <a:pPr algn="l">
              <a:lnSpc>
                <a:spcPct val="100000"/>
              </a:lnSpc>
              <a:spcBef>
                <a:spcPts val="0"/>
              </a:spcBef>
              <a:spcAft>
                <a:spcPts val="0"/>
              </a:spcAft>
            </a:pPr>
            <a:r>
              <a:rPr sz="3400" b="1" i="0">
                <a:solidFill>
                  <a:srgbClr val="52514E"/>
                </a:solidFill>
                <a:latin typeface="Open Sans"/>
              </a:rPr>
              <a:t>0,0432</a:t>
            </a:r>
            <a:r>
              <a:rPr sz="1600" b="0" i="0">
                <a:solidFill>
                  <a:srgbClr val="4A524D"/>
                </a:solidFill>
                <a:latin typeface="Open Sans"/>
              </a:rPr>
              <a:t>  sem o termo</a:t>
            </a:r>
          </a:p>
        </p:txBody>
      </p:sp>
      <p:sp>
        <p:nvSpPr>
          <p:cNvPr id="16" name="TextBox 15"/>
          <p:cNvSpPr txBox="1"/>
          <p:nvPr/>
        </p:nvSpPr>
        <p:spPr>
          <a:xfrm>
            <a:off x="6537959" y="4041648"/>
            <a:ext cx="4754880" cy="41148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F6E2E"/>
                </a:solidFill>
                <a:latin typeface="Open Sans"/>
              </a:rPr>
              <a:t>p Holm = 0,059</a:t>
            </a:r>
          </a:p>
        </p:txBody>
      </p:sp>
      <p:sp>
        <p:nvSpPr>
          <p:cNvPr id="17" name="TextBox 16"/>
          <p:cNvSpPr txBox="1"/>
          <p:nvPr/>
        </p:nvSpPr>
        <p:spPr>
          <a:xfrm>
            <a:off x="548640" y="4956048"/>
            <a:ext cx="11091672" cy="109728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4A524D"/>
                </a:solidFill>
                <a:latin typeface="Open Sans"/>
              </a:rPr>
              <a:t>Os mesmos elencos, idênticos gene a gene, e o mesmo efeito (Â₁₂ = 0,30). O erro de medição a 200 lutas era da ordem da diferença entre os braços. Sobreviveu a afirmação mais estreita: a identidade não custou equilíbrio mensurável.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4572000" y="0"/>
            <a:ext cx="7159752"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Reserva</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Modelos nulos: o piso de cada métrica</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R9</a:t>
            </a:r>
          </a:p>
        </p:txBody>
      </p:sp>
      <p:graphicFrame>
        <p:nvGraphicFramePr>
          <p:cNvPr id="7" name="Tabela"/>
          <p:cNvGraphicFramePr>
            <a:graphicFrameLocks noGrp="1"/>
          </p:cNvGraphicFramePr>
          <p:nvPr/>
        </p:nvGraphicFramePr>
        <p:xfrm>
          <a:off x="548640" y="1709928"/>
          <a:ext cx="11091672" cy="2514600"/>
        </p:xfrm>
        <a:graphic>
          <a:graphicData uri="http://schemas.openxmlformats.org/drawingml/2006/table">
            <a:tbl>
              <a:tblPr>
                <a:tableStyleId>{5C22544A-7EE6-4342-B048-85BDC9FD1C3A}</a:tableStyleId>
              </a:tblPr>
              <a:tblGrid>
                <a:gridCol w="3291840"/>
                <a:gridCol w="1234440"/>
                <a:gridCol w="1234440"/>
                <a:gridCol w="1417320"/>
                <a:gridCol w="1600200"/>
                <a:gridCol w="1051560"/>
                <a:gridCol w="1261872"/>
              </a:tblGrid>
              <a:tr h="502920">
                <a:tc>
                  <a:txBody>
                    <a:bodyPr wrap="square"/>
                    <a:lstStyle/>
                    <a:p>
                      <a:pPr algn="l">
                        <a:lnSpc>
                          <a:spcPct val="100000"/>
                        </a:lnSpc>
                        <a:spcBef>
                          <a:spcPts val="0"/>
                        </a:spcBef>
                        <a:spcAft>
                          <a:spcPts val="0"/>
                        </a:spcAft>
                      </a:pPr>
                      <a:r>
                        <a:rPr sz="1600" b="1" i="0">
                          <a:solidFill>
                            <a:srgbClr val="FFFFFF"/>
                          </a:solidFill>
                          <a:latin typeface="Open Sans"/>
                        </a:rPr>
                        <a:t>Elenco</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Deseq.</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Desvio</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Genes</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Comport.</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τ</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Difer.</a:t>
                      </a:r>
                    </a:p>
                  </a:txBody>
                  <a:tcPr marL="73152" marR="73152" marT="27432" marB="27432" anchor="ctr">
                    <a:solidFill>
                      <a:srgbClr val="1F6E2E"/>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Canônico</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1,28</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18</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1,35</a:t>
                      </a:r>
                    </a:p>
                  </a:txBody>
                  <a:tcPr marL="73152" marR="73152" marT="27432" marB="27432" anchor="ctr">
                    <a:solidFill>
                      <a:srgbClr val="F2F4F3"/>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Espelhos (média de 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0,033</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0,377</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2,6</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0,6</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−0,18</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a:t>
                      </a:r>
                    </a:p>
                  </a:txBody>
                  <a:tcPr marL="73152" marR="73152" marT="27432" marB="27432" anchor="ctr">
                    <a:solidFill>
                      <a:srgbClr val="FFFFFF"/>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Aleatórios (média de 30)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1,33</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0,415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5,4</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−0,02</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1,20</a:t>
                      </a:r>
                    </a:p>
                  </a:txBody>
                  <a:tcPr marL="73152" marR="73152" marT="27432" marB="27432" anchor="ctr">
                    <a:solidFill>
                      <a:srgbClr val="F2F4F3"/>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Aleatórios (melhor)</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1,05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0,327</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9</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3</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0,32</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a:t>
                      </a:r>
                    </a:p>
                  </a:txBody>
                  <a:tcPr marL="73152" marR="73152" marT="27432" marB="27432" anchor="ctr">
                    <a:solidFill>
                      <a:srgbClr val="FFFFFF"/>
                    </a:solidFill>
                  </a:tcPr>
                </a:tc>
              </a:tr>
            </a:tbl>
          </a:graphicData>
        </a:graphic>
      </p:graphicFrame>
      <p:sp>
        <p:nvSpPr>
          <p:cNvPr id="8" name="TextBox 7"/>
          <p:cNvSpPr txBox="1"/>
          <p:nvPr/>
        </p:nvSpPr>
        <p:spPr>
          <a:xfrm>
            <a:off x="548640" y="4407408"/>
            <a:ext cx="11091672" cy="137160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O espelho é a solução trivial do equilíbrio. Termo global dos espelhos: 0,014 (ruído puro); AG escalar: 0,032, perto da simetria sem alcançá-la.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4572000" y="0"/>
            <a:ext cx="7159752"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Reserva</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AG escalar contra NSGA-II e híbrido</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R10</a:t>
            </a:r>
          </a:p>
        </p:txBody>
      </p:sp>
      <p:graphicFrame>
        <p:nvGraphicFramePr>
          <p:cNvPr id="7" name="Tabela"/>
          <p:cNvGraphicFramePr>
            <a:graphicFrameLocks noGrp="1"/>
          </p:cNvGraphicFramePr>
          <p:nvPr/>
        </p:nvGraphicFramePr>
        <p:xfrm>
          <a:off x="548640" y="1709928"/>
          <a:ext cx="11091672" cy="3200400"/>
        </p:xfrm>
        <a:graphic>
          <a:graphicData uri="http://schemas.openxmlformats.org/drawingml/2006/table">
            <a:tbl>
              <a:tblPr>
                <a:tableStyleId>{5C22544A-7EE6-4342-B048-85BDC9FD1C3A}</a:tableStyleId>
              </a:tblPr>
              <a:tblGrid>
                <a:gridCol w="2496312"/>
                <a:gridCol w="1143000"/>
                <a:gridCol w="1463040"/>
                <a:gridCol w="1325880"/>
                <a:gridCol w="960120"/>
                <a:gridCol w="1234440"/>
                <a:gridCol w="1325880"/>
                <a:gridCol w="1143000"/>
              </a:tblGrid>
              <a:tr h="457200">
                <a:tc>
                  <a:txBody>
                    <a:bodyPr wrap="square"/>
                    <a:lstStyle/>
                    <a:p>
                      <a:pPr algn="l">
                        <a:lnSpc>
                          <a:spcPct val="100000"/>
                        </a:lnSpc>
                        <a:spcBef>
                          <a:spcPts val="0"/>
                        </a:spcBef>
                        <a:spcAft>
                          <a:spcPts val="0"/>
                        </a:spcAft>
                      </a:pPr>
                      <a:r>
                        <a:rPr sz="1500" b="1" i="0">
                          <a:solidFill>
                            <a:srgbClr val="FFFFFF"/>
                          </a:solidFill>
                          <a:latin typeface="Open Sans"/>
                        </a:rPr>
                        <a:t>Métrica</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500" b="1" i="0">
                          <a:solidFill>
                            <a:srgbClr val="FFFFFF"/>
                          </a:solidFill>
                          <a:latin typeface="Open Sans"/>
                        </a:rPr>
                        <a:t>AG</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500" b="1" i="0">
                          <a:solidFill>
                            <a:srgbClr val="FFFFFF"/>
                          </a:solidFill>
                          <a:latin typeface="Open Sans"/>
                        </a:rPr>
                        <a:t>NSGA-II s.o.</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500" b="1" i="0">
                          <a:solidFill>
                            <a:srgbClr val="FFFFFF"/>
                          </a:solidFill>
                          <a:latin typeface="Open Sans"/>
                        </a:rPr>
                        <a:t>p</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500" b="1" i="0">
                          <a:solidFill>
                            <a:srgbClr val="FFFFFF"/>
                          </a:solidFill>
                          <a:latin typeface="Open Sans"/>
                        </a:rPr>
                        <a:t>Â₁₂</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500" b="1" i="0">
                          <a:solidFill>
                            <a:srgbClr val="FFFFFF"/>
                          </a:solidFill>
                          <a:latin typeface="Open Sans"/>
                        </a:rPr>
                        <a:t>Híbrido</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500" b="1" i="0">
                          <a:solidFill>
                            <a:srgbClr val="FFFFFF"/>
                          </a:solidFill>
                          <a:latin typeface="Open Sans"/>
                        </a:rPr>
                        <a:t>p</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500" b="1" i="0">
                          <a:solidFill>
                            <a:srgbClr val="FFFFFF"/>
                          </a:solidFill>
                          <a:latin typeface="Open Sans"/>
                        </a:rPr>
                        <a:t>Â₁₂</a:t>
                      </a:r>
                    </a:p>
                  </a:txBody>
                  <a:tcPr marL="73152" marR="73152" marT="27432" marB="27432" anchor="ctr">
                    <a:solidFill>
                      <a:srgbClr val="1F6E2E"/>
                    </a:solidFill>
                  </a:tcPr>
                </a:tc>
              </a:tr>
              <a:tr h="457200">
                <a:tc>
                  <a:txBody>
                    <a:bodyPr wrap="square"/>
                    <a:lstStyle/>
                    <a:p>
                      <a:pPr algn="l">
                        <a:lnSpc>
                          <a:spcPct val="100000"/>
                        </a:lnSpc>
                        <a:spcBef>
                          <a:spcPts val="0"/>
                        </a:spcBef>
                        <a:spcAft>
                          <a:spcPts val="0"/>
                        </a:spcAft>
                      </a:pPr>
                      <a:r>
                        <a:rPr sz="1500" b="1" i="0">
                          <a:solidFill>
                            <a:srgbClr val="17201B"/>
                          </a:solidFill>
                          <a:latin typeface="Open Sans"/>
                        </a:rPr>
                        <a:t>Desequilíbrio</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0,0355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0,0759</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&lt; 0,001</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0,07</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0,0287</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1,00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0,51</a:t>
                      </a:r>
                    </a:p>
                  </a:txBody>
                  <a:tcPr marL="73152" marR="73152" marT="27432" marB="27432" anchor="ctr">
                    <a:solidFill>
                      <a:srgbClr val="F2F4F3"/>
                    </a:solidFill>
                  </a:tcPr>
                </a:tc>
              </a:tr>
              <a:tr h="457200">
                <a:tc>
                  <a:txBody>
                    <a:bodyPr wrap="square"/>
                    <a:lstStyle/>
                    <a:p>
                      <a:pPr algn="l">
                        <a:lnSpc>
                          <a:spcPct val="100000"/>
                        </a:lnSpc>
                        <a:spcBef>
                          <a:spcPts val="0"/>
                        </a:spcBef>
                        <a:spcAft>
                          <a:spcPts val="0"/>
                        </a:spcAft>
                      </a:pPr>
                      <a:r>
                        <a:rPr sz="1500" b="1" i="0">
                          <a:solidFill>
                            <a:srgbClr val="17201B"/>
                          </a:solidFill>
                          <a:latin typeface="Open Sans"/>
                        </a:rPr>
                        <a:t>Hard counters</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3</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&lt; 0,001</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0,03</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1,00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0,49</a:t>
                      </a:r>
                    </a:p>
                  </a:txBody>
                  <a:tcPr marL="73152" marR="73152" marT="27432" marB="27432" anchor="ctr">
                    <a:solidFill>
                      <a:srgbClr val="FFFFFF"/>
                    </a:solidFill>
                  </a:tcPr>
                </a:tc>
              </a:tr>
              <a:tr h="457200">
                <a:tc>
                  <a:txBody>
                    <a:bodyPr wrap="square"/>
                    <a:lstStyle/>
                    <a:p>
                      <a:pPr algn="l">
                        <a:lnSpc>
                          <a:spcPct val="100000"/>
                        </a:lnSpc>
                        <a:spcBef>
                          <a:spcPts val="0"/>
                        </a:spcBef>
                        <a:spcAft>
                          <a:spcPts val="0"/>
                        </a:spcAft>
                      </a:pPr>
                      <a:r>
                        <a:rPr sz="1500" b="1" i="0">
                          <a:solidFill>
                            <a:srgbClr val="17201B"/>
                          </a:solidFill>
                          <a:latin typeface="Open Sans"/>
                        </a:rPr>
                        <a:t>Desvio</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0,2473</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0,1445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&lt; 0,001</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1,00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0,1663</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&lt; 0,001</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0,97</a:t>
                      </a:r>
                    </a:p>
                  </a:txBody>
                  <a:tcPr marL="73152" marR="73152" marT="27432" marB="27432" anchor="ctr">
                    <a:solidFill>
                      <a:srgbClr val="F2F4F3"/>
                    </a:solidFill>
                  </a:tcPr>
                </a:tc>
              </a:tr>
              <a:tr h="457200">
                <a:tc>
                  <a:txBody>
                    <a:bodyPr wrap="square"/>
                    <a:lstStyle/>
                    <a:p>
                      <a:pPr algn="l">
                        <a:lnSpc>
                          <a:spcPct val="100000"/>
                        </a:lnSpc>
                        <a:spcBef>
                          <a:spcPts val="0"/>
                        </a:spcBef>
                        <a:spcAft>
                          <a:spcPts val="0"/>
                        </a:spcAft>
                      </a:pPr>
                      <a:r>
                        <a:rPr sz="1500" b="1" i="0">
                          <a:solidFill>
                            <a:srgbClr val="17201B"/>
                          </a:solidFill>
                          <a:latin typeface="Open Sans"/>
                        </a:rPr>
                        <a:t>Genes (de 18)</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11</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15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&lt; 0,001</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0,05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15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0,0026</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0,12</a:t>
                      </a:r>
                    </a:p>
                  </a:txBody>
                  <a:tcPr marL="73152" marR="73152" marT="27432" marB="27432" anchor="ctr">
                    <a:solidFill>
                      <a:srgbClr val="FFFFFF"/>
                    </a:solidFill>
                  </a:tcPr>
                </a:tc>
              </a:tr>
              <a:tr h="457200">
                <a:tc>
                  <a:txBody>
                    <a:bodyPr wrap="square"/>
                    <a:lstStyle/>
                    <a:p>
                      <a:pPr algn="l">
                        <a:lnSpc>
                          <a:spcPct val="100000"/>
                        </a:lnSpc>
                        <a:spcBef>
                          <a:spcPts val="0"/>
                        </a:spcBef>
                        <a:spcAft>
                          <a:spcPts val="0"/>
                        </a:spcAft>
                      </a:pPr>
                      <a:r>
                        <a:rPr sz="1500" b="1" i="0">
                          <a:solidFill>
                            <a:srgbClr val="17201B"/>
                          </a:solidFill>
                          <a:latin typeface="Open Sans"/>
                        </a:rPr>
                        <a:t>Comport. (de 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3</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4</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0,0027</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0,24</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4</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0,0058</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0,24</a:t>
                      </a:r>
                    </a:p>
                  </a:txBody>
                  <a:tcPr marL="73152" marR="73152" marT="27432" marB="27432" anchor="ctr">
                    <a:solidFill>
                      <a:srgbClr val="F2F4F3"/>
                    </a:solidFill>
                  </a:tcPr>
                </a:tc>
              </a:tr>
              <a:tr h="457200">
                <a:tc>
                  <a:txBody>
                    <a:bodyPr wrap="square"/>
                    <a:lstStyle/>
                    <a:p>
                      <a:pPr algn="l">
                        <a:lnSpc>
                          <a:spcPct val="100000"/>
                        </a:lnSpc>
                        <a:spcBef>
                          <a:spcPts val="0"/>
                        </a:spcBef>
                        <a:spcAft>
                          <a:spcPts val="0"/>
                        </a:spcAft>
                      </a:pPr>
                      <a:r>
                        <a:rPr sz="1500" b="1" i="0">
                          <a:solidFill>
                            <a:srgbClr val="17201B"/>
                          </a:solidFill>
                          <a:latin typeface="Open Sans"/>
                        </a:rPr>
                        <a:t>Concordância τ</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0,28</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0,54</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&lt; 0,001</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0,09</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0,52</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&lt; 0,001</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0,15</a:t>
                      </a:r>
                    </a:p>
                  </a:txBody>
                  <a:tcPr marL="73152" marR="73152" marT="27432" marB="27432" anchor="ctr">
                    <a:solidFill>
                      <a:srgbClr val="FFFFFF"/>
                    </a:solidFill>
                  </a:tcPr>
                </a:tc>
              </a:tr>
            </a:tbl>
          </a:graphicData>
        </a:graphic>
      </p:graphicFrame>
      <p:sp>
        <p:nvSpPr>
          <p:cNvPr id="8" name="TextBox 7"/>
          <p:cNvSpPr txBox="1"/>
          <p:nvPr/>
        </p:nvSpPr>
        <p:spPr>
          <a:xfrm>
            <a:off x="548640" y="5093208"/>
            <a:ext cx="11091672" cy="137160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Wilcoxon pareado (mesmas sementes 42–61). Contra o best_dominance do NSGA-II: as seis mantêm direção e significância. Personagens em banda: 5/5 em todos, sai da família.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4572000" y="0"/>
            <a:ext cx="7159752"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Reserva</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Representantes das fronteiras do NSGA-II</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R11</a:t>
            </a:r>
          </a:p>
        </p:txBody>
      </p:sp>
      <p:graphicFrame>
        <p:nvGraphicFramePr>
          <p:cNvPr id="7" name="Tabela"/>
          <p:cNvGraphicFramePr>
            <a:graphicFrameLocks noGrp="1"/>
          </p:cNvGraphicFramePr>
          <p:nvPr/>
        </p:nvGraphicFramePr>
        <p:xfrm>
          <a:off x="548640" y="1709928"/>
          <a:ext cx="11091672" cy="3017520"/>
        </p:xfrm>
        <a:graphic>
          <a:graphicData uri="http://schemas.openxmlformats.org/drawingml/2006/table">
            <a:tbl>
              <a:tblPr>
                <a:tableStyleId>{5C22544A-7EE6-4342-B048-85BDC9FD1C3A}</a:tableStyleId>
              </a:tblPr>
              <a:tblGrid>
                <a:gridCol w="2679192"/>
                <a:gridCol w="1188720"/>
                <a:gridCol w="1188720"/>
                <a:gridCol w="1188720"/>
                <a:gridCol w="1188720"/>
                <a:gridCol w="1188720"/>
                <a:gridCol w="1188720"/>
                <a:gridCol w="1280160"/>
              </a:tblGrid>
              <a:tr h="502920">
                <a:tc>
                  <a:txBody>
                    <a:bodyPr wrap="square"/>
                    <a:lstStyle/>
                    <a:p>
                      <a:pPr algn="l">
                        <a:lnSpc>
                          <a:spcPct val="100000"/>
                        </a:lnSpc>
                        <a:spcBef>
                          <a:spcPts val="0"/>
                        </a:spcBef>
                        <a:spcAft>
                          <a:spcPts val="0"/>
                        </a:spcAft>
                      </a:pPr>
                      <a:r>
                        <a:rPr sz="1600" b="1" i="0">
                          <a:solidFill>
                            <a:srgbClr val="FFFFFF"/>
                          </a:solidFill>
                          <a:latin typeface="Open Sans"/>
                        </a:rPr>
                        <a:t>Representante</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Deseq.</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Desvio</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Counters</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Equil.</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Genes</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Comport.</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600" b="1" i="0">
                          <a:solidFill>
                            <a:srgbClr val="FFFFFF"/>
                          </a:solidFill>
                          <a:latin typeface="Open Sans"/>
                        </a:rPr>
                        <a:t>τ</a:t>
                      </a:r>
                    </a:p>
                  </a:txBody>
                  <a:tcPr marL="73152" marR="73152" marT="27432" marB="27432" anchor="ctr">
                    <a:solidFill>
                      <a:srgbClr val="1F6E2E"/>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best_drift</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1,056</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0,059</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8,45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0/20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18</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0,80</a:t>
                      </a:r>
                    </a:p>
                  </a:txBody>
                  <a:tcPr marL="73152" marR="73152" marT="27432" marB="27432" anchor="ctr">
                    <a:solidFill>
                      <a:srgbClr val="F2F4F3"/>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knee_point</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0,405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0,087</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6,85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0/20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17</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0,70</a:t>
                      </a:r>
                    </a:p>
                  </a:txBody>
                  <a:tcPr marL="73152" marR="73152" marT="27432" marB="27432" anchor="ctr">
                    <a:solidFill>
                      <a:srgbClr val="FFFFFF"/>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ideal_point</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0,396</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0,087</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7,25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0/20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17,5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0,71</a:t>
                      </a:r>
                    </a:p>
                  </a:txBody>
                  <a:tcPr marL="73152" marR="73152" marT="27432" marB="27432" anchor="ctr">
                    <a:solidFill>
                      <a:srgbClr val="F2F4F3"/>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scalar_optimum</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0,076</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0,145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2,80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0/20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15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4</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600" b="0" i="0">
                          <a:solidFill>
                            <a:srgbClr val="17201B"/>
                          </a:solidFill>
                          <a:latin typeface="Open Sans"/>
                        </a:rPr>
                        <a:t>0,54</a:t>
                      </a:r>
                    </a:p>
                  </a:txBody>
                  <a:tcPr marL="73152" marR="73152" marT="27432" marB="27432" anchor="ctr">
                    <a:solidFill>
                      <a:srgbClr val="FFFFFF"/>
                    </a:solidFill>
                  </a:tcPr>
                </a:tc>
              </a:tr>
              <a:tr h="502920">
                <a:tc>
                  <a:txBody>
                    <a:bodyPr wrap="square"/>
                    <a:lstStyle/>
                    <a:p>
                      <a:pPr algn="l">
                        <a:lnSpc>
                          <a:spcPct val="100000"/>
                        </a:lnSpc>
                        <a:spcBef>
                          <a:spcPts val="0"/>
                        </a:spcBef>
                        <a:spcAft>
                          <a:spcPts val="0"/>
                        </a:spcAft>
                      </a:pPr>
                      <a:r>
                        <a:rPr sz="1600" b="1" i="0">
                          <a:solidFill>
                            <a:srgbClr val="17201B"/>
                          </a:solidFill>
                          <a:latin typeface="Open Sans"/>
                        </a:rPr>
                        <a:t>best_dominance</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0,055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0,166</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2,05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4/20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15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4</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600" b="0" i="0">
                          <a:solidFill>
                            <a:srgbClr val="17201B"/>
                          </a:solidFill>
                          <a:latin typeface="Open Sans"/>
                        </a:rPr>
                        <a:t>0,51</a:t>
                      </a:r>
                    </a:p>
                  </a:txBody>
                  <a:tcPr marL="73152" marR="73152" marT="27432" marB="27432" anchor="ctr">
                    <a:solidFill>
                      <a:srgbClr val="F2F4F3"/>
                    </a:solidFill>
                  </a:tcPr>
                </a:tc>
              </a:tr>
            </a:tbl>
          </a:graphicData>
        </a:graphic>
      </p:graphicFrame>
      <p:sp>
        <p:nvSpPr>
          <p:cNvPr id="8" name="TextBox 7"/>
          <p:cNvSpPr txBox="1"/>
          <p:nvPr/>
        </p:nvSpPr>
        <p:spPr>
          <a:xfrm>
            <a:off x="548640" y="4910328"/>
            <a:ext cx="11091672" cy="137160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6F7772"/>
                </a:solidFill>
                <a:latin typeface="Open Sans"/>
              </a:rPr>
              <a:t>Hipervolume 0,395 ± 0,011 (referência 1,3; 0,4); 53 pontos por fronteira, em média. Na soma desequilíbrio + desvio, a fronteira tem ponto melhor que o AG em 20/20 sementes (no laço) e em 18/20 (reavaliado).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4572000" y="0"/>
            <a:ext cx="7159752"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Reserva</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Parâmetros e o que sustenta cada valor</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R12</a:t>
            </a:r>
          </a:p>
        </p:txBody>
      </p:sp>
      <p:graphicFrame>
        <p:nvGraphicFramePr>
          <p:cNvPr id="7" name="Tabela"/>
          <p:cNvGraphicFramePr>
            <a:graphicFrameLocks noGrp="1"/>
          </p:cNvGraphicFramePr>
          <p:nvPr/>
        </p:nvGraphicFramePr>
        <p:xfrm>
          <a:off x="548640" y="1709928"/>
          <a:ext cx="11091672" cy="4425696"/>
        </p:xfrm>
        <a:graphic>
          <a:graphicData uri="http://schemas.openxmlformats.org/drawingml/2006/table">
            <a:tbl>
              <a:tblPr>
                <a:tableStyleId>{5C22544A-7EE6-4342-B048-85BDC9FD1C3A}</a:tableStyleId>
              </a:tblPr>
              <a:tblGrid>
                <a:gridCol w="4206240"/>
                <a:gridCol w="2377440"/>
                <a:gridCol w="4507992"/>
              </a:tblGrid>
              <a:tr h="402336">
                <a:tc>
                  <a:txBody>
                    <a:bodyPr wrap="square"/>
                    <a:lstStyle/>
                    <a:p>
                      <a:pPr algn="l">
                        <a:lnSpc>
                          <a:spcPct val="100000"/>
                        </a:lnSpc>
                        <a:spcBef>
                          <a:spcPts val="0"/>
                        </a:spcBef>
                        <a:spcAft>
                          <a:spcPts val="0"/>
                        </a:spcAft>
                      </a:pPr>
                      <a:r>
                        <a:rPr sz="1500" b="1" i="0">
                          <a:solidFill>
                            <a:srgbClr val="FFFFFF"/>
                          </a:solidFill>
                          <a:latin typeface="Open Sans"/>
                        </a:rPr>
                        <a:t>Parâmetro</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500" b="1" i="0">
                          <a:solidFill>
                            <a:srgbClr val="FFFFFF"/>
                          </a:solidFill>
                          <a:latin typeface="Open Sans"/>
                        </a:rPr>
                        <a:t>Valor</a:t>
                      </a:r>
                    </a:p>
                  </a:txBody>
                  <a:tcPr marL="73152" marR="73152" marT="27432" marB="27432" anchor="ctr">
                    <a:solidFill>
                      <a:srgbClr val="1F6E2E"/>
                    </a:solidFill>
                  </a:tcPr>
                </a:tc>
                <a:tc>
                  <a:txBody>
                    <a:bodyPr wrap="square"/>
                    <a:lstStyle/>
                    <a:p>
                      <a:pPr algn="ctr">
                        <a:lnSpc>
                          <a:spcPct val="100000"/>
                        </a:lnSpc>
                        <a:spcBef>
                          <a:spcPts val="0"/>
                        </a:spcBef>
                        <a:spcAft>
                          <a:spcPts val="0"/>
                        </a:spcAft>
                      </a:pPr>
                      <a:r>
                        <a:rPr sz="1500" b="1" i="0">
                          <a:solidFill>
                            <a:srgbClr val="FFFFFF"/>
                          </a:solidFill>
                          <a:latin typeface="Open Sans"/>
                        </a:rPr>
                        <a:t>Sustentação</a:t>
                      </a:r>
                    </a:p>
                  </a:txBody>
                  <a:tcPr marL="73152" marR="73152" marT="27432" marB="27432" anchor="ctr">
                    <a:solidFill>
                      <a:srgbClr val="1F6E2E"/>
                    </a:solidFill>
                  </a:tcPr>
                </a:tc>
              </a:tr>
              <a:tr h="402336">
                <a:tc>
                  <a:txBody>
                    <a:bodyPr wrap="square"/>
                    <a:lstStyle/>
                    <a:p>
                      <a:pPr algn="l">
                        <a:lnSpc>
                          <a:spcPct val="100000"/>
                        </a:lnSpc>
                        <a:spcBef>
                          <a:spcPts val="0"/>
                        </a:spcBef>
                        <a:spcAft>
                          <a:spcPts val="0"/>
                        </a:spcAft>
                      </a:pPr>
                      <a:r>
                        <a:rPr sz="1500" b="1" i="0">
                          <a:solidFill>
                            <a:srgbClr val="17201B"/>
                          </a:solidFill>
                          <a:latin typeface="Open Sans"/>
                        </a:rPr>
                        <a:t>Lutas por par na busca</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150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medido</a:t>
                      </a:r>
                    </a:p>
                  </a:txBody>
                  <a:tcPr marL="73152" marR="73152" marT="27432" marB="27432" anchor="ctr">
                    <a:solidFill>
                      <a:srgbClr val="F2F4F3"/>
                    </a:solidFill>
                  </a:tcPr>
                </a:tc>
              </a:tr>
              <a:tr h="402336">
                <a:tc>
                  <a:txBody>
                    <a:bodyPr wrap="square"/>
                    <a:lstStyle/>
                    <a:p>
                      <a:pPr algn="l">
                        <a:lnSpc>
                          <a:spcPct val="100000"/>
                        </a:lnSpc>
                        <a:spcBef>
                          <a:spcPts val="0"/>
                        </a:spcBef>
                        <a:spcAft>
                          <a:spcPts val="0"/>
                        </a:spcAft>
                      </a:pPr>
                      <a:r>
                        <a:rPr sz="1500" b="1" i="0">
                          <a:solidFill>
                            <a:srgbClr val="17201B"/>
                          </a:solidFill>
                          <a:latin typeface="Open Sans"/>
                        </a:rPr>
                        <a:t>Razão λ_drift / λ_dom</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1</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medido (joelho da varredura)</a:t>
                      </a:r>
                    </a:p>
                  </a:txBody>
                  <a:tcPr marL="73152" marR="73152" marT="27432" marB="27432" anchor="ctr">
                    <a:solidFill>
                      <a:srgbClr val="FFFFFF"/>
                    </a:solidFill>
                  </a:tcPr>
                </a:tc>
              </a:tr>
              <a:tr h="402336">
                <a:tc>
                  <a:txBody>
                    <a:bodyPr wrap="square"/>
                    <a:lstStyle/>
                    <a:p>
                      <a:pPr algn="l">
                        <a:lnSpc>
                          <a:spcPct val="100000"/>
                        </a:lnSpc>
                        <a:spcBef>
                          <a:spcPts val="0"/>
                        </a:spcBef>
                        <a:spcAft>
                          <a:spcPts val="0"/>
                        </a:spcAft>
                      </a:pPr>
                      <a:r>
                        <a:rPr sz="1500" b="1" i="0">
                          <a:solidFill>
                            <a:srgbClr val="17201B"/>
                          </a:solidFill>
                          <a:latin typeface="Open Sans"/>
                        </a:rPr>
                        <a:t>Pesos do desequilíbrio</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1 / 0,5 / 0,5</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medido, projeto</a:t>
                      </a:r>
                    </a:p>
                  </a:txBody>
                  <a:tcPr marL="73152" marR="73152" marT="27432" marB="27432" anchor="ctr">
                    <a:solidFill>
                      <a:srgbClr val="F2F4F3"/>
                    </a:solidFill>
                  </a:tcPr>
                </a:tc>
              </a:tr>
              <a:tr h="402336">
                <a:tc>
                  <a:txBody>
                    <a:bodyPr wrap="square"/>
                    <a:lstStyle/>
                    <a:p>
                      <a:pPr algn="l">
                        <a:lnSpc>
                          <a:spcPct val="100000"/>
                        </a:lnSpc>
                        <a:spcBef>
                          <a:spcPts val="0"/>
                        </a:spcBef>
                        <a:spcAft>
                          <a:spcPts val="0"/>
                        </a:spcAft>
                      </a:pPr>
                      <a:r>
                        <a:rPr sz="1500" b="1" i="0">
                          <a:solidFill>
                            <a:srgbClr val="17201B"/>
                          </a:solidFill>
                          <a:latin typeface="Open Sans"/>
                        </a:rPr>
                        <a:t>Tolerância de hard counter</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0,15 (65%)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domínio (grade 6-4 / 7-3), medido</a:t>
                      </a:r>
                    </a:p>
                  </a:txBody>
                  <a:tcPr marL="73152" marR="73152" marT="27432" marB="27432" anchor="ctr">
                    <a:solidFill>
                      <a:srgbClr val="FFFFFF"/>
                    </a:solidFill>
                  </a:tcPr>
                </a:tc>
              </a:tr>
              <a:tr h="402336">
                <a:tc>
                  <a:txBody>
                    <a:bodyPr wrap="square"/>
                    <a:lstStyle/>
                    <a:p>
                      <a:pPr algn="l">
                        <a:lnSpc>
                          <a:spcPct val="100000"/>
                        </a:lnSpc>
                        <a:spcBef>
                          <a:spcPts val="0"/>
                        </a:spcBef>
                        <a:spcAft>
                          <a:spcPts val="0"/>
                        </a:spcAft>
                      </a:pPr>
                      <a:r>
                        <a:rPr sz="1500" b="1" i="0">
                          <a:solidFill>
                            <a:srgbClr val="17201B"/>
                          </a:solidFill>
                          <a:latin typeface="Open Sans"/>
                        </a:rPr>
                        <a:t>Peso dos genes definidores</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3</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medido</a:t>
                      </a:r>
                    </a:p>
                  </a:txBody>
                  <a:tcPr marL="73152" marR="73152" marT="27432" marB="27432" anchor="ctr">
                    <a:solidFill>
                      <a:srgbClr val="F2F4F3"/>
                    </a:solidFill>
                  </a:tcPr>
                </a:tc>
              </a:tr>
              <a:tr h="402336">
                <a:tc>
                  <a:txBody>
                    <a:bodyPr wrap="square"/>
                    <a:lstStyle/>
                    <a:p>
                      <a:pPr algn="l">
                        <a:lnSpc>
                          <a:spcPct val="100000"/>
                        </a:lnSpc>
                        <a:spcBef>
                          <a:spcPts val="0"/>
                        </a:spcBef>
                        <a:spcAft>
                          <a:spcPts val="0"/>
                        </a:spcAft>
                      </a:pPr>
                      <a:r>
                        <a:rPr sz="1500" b="1" i="0">
                          <a:solidFill>
                            <a:srgbClr val="17201B"/>
                          </a:solidFill>
                          <a:latin typeface="Open Sans"/>
                        </a:rPr>
                        <a:t>População × gerações</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300 × 150</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projeto (convergiu entre 13 e 56)</a:t>
                      </a:r>
                    </a:p>
                  </a:txBody>
                  <a:tcPr marL="73152" marR="73152" marT="27432" marB="27432" anchor="ctr">
                    <a:solidFill>
                      <a:srgbClr val="FFFFFF"/>
                    </a:solidFill>
                  </a:tcPr>
                </a:tc>
              </a:tr>
              <a:tr h="402336">
                <a:tc>
                  <a:txBody>
                    <a:bodyPr wrap="square"/>
                    <a:lstStyle/>
                    <a:p>
                      <a:pPr algn="l">
                        <a:lnSpc>
                          <a:spcPct val="100000"/>
                        </a:lnSpc>
                        <a:spcBef>
                          <a:spcPts val="0"/>
                        </a:spcBef>
                        <a:spcAft>
                          <a:spcPts val="0"/>
                        </a:spcAft>
                      </a:pPr>
                      <a:r>
                        <a:rPr sz="1500" b="1" i="0">
                          <a:solidFill>
                            <a:srgbClr val="17201B"/>
                          </a:solidFill>
                          <a:latin typeface="Open Sans"/>
                        </a:rPr>
                        <a:t>Torneio / elitismo</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3 / 10%</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medido (nenhum braço os domina)</a:t>
                      </a:r>
                    </a:p>
                  </a:txBody>
                  <a:tcPr marL="73152" marR="73152" marT="27432" marB="27432" anchor="ctr">
                    <a:solidFill>
                      <a:srgbClr val="F2F4F3"/>
                    </a:solidFill>
                  </a:tcPr>
                </a:tc>
              </a:tr>
              <a:tr h="402336">
                <a:tc>
                  <a:txBody>
                    <a:bodyPr wrap="square"/>
                    <a:lstStyle/>
                    <a:p>
                      <a:pPr algn="l">
                        <a:lnSpc>
                          <a:spcPct val="100000"/>
                        </a:lnSpc>
                        <a:spcBef>
                          <a:spcPts val="0"/>
                        </a:spcBef>
                        <a:spcAft>
                          <a:spcPts val="0"/>
                        </a:spcAft>
                      </a:pPr>
                      <a:r>
                        <a:rPr sz="1500" b="1" i="0">
                          <a:solidFill>
                            <a:srgbClr val="17201B"/>
                          </a:solidFill>
                          <a:latin typeface="Open Sans"/>
                        </a:rPr>
                        <a:t>Mutação: taxa; desvio atributos; pesos</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0,05; 10%; 2,5%</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projeto</a:t>
                      </a:r>
                    </a:p>
                  </a:txBody>
                  <a:tcPr marL="73152" marR="73152" marT="27432" marB="27432" anchor="ctr">
                    <a:solidFill>
                      <a:srgbClr val="FFFFFF"/>
                    </a:solidFill>
                  </a:tcPr>
                </a:tc>
              </a:tr>
              <a:tr h="402336">
                <a:tc>
                  <a:txBody>
                    <a:bodyPr wrap="square"/>
                    <a:lstStyle/>
                    <a:p>
                      <a:pPr algn="l">
                        <a:lnSpc>
                          <a:spcPct val="100000"/>
                        </a:lnSpc>
                        <a:spcBef>
                          <a:spcPts val="0"/>
                        </a:spcBef>
                        <a:spcAft>
                          <a:spcPts val="0"/>
                        </a:spcAft>
                      </a:pPr>
                      <a:r>
                        <a:rPr sz="1500" b="1" i="0">
                          <a:solidFill>
                            <a:srgbClr val="17201B"/>
                          </a:solidFill>
                          <a:latin typeface="Open Sans"/>
                        </a:rPr>
                        <a:t>Persistência da intenção</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5 sub-ticks</a:t>
                      </a:r>
                    </a:p>
                  </a:txBody>
                  <a:tcPr marL="73152" marR="73152" marT="27432" marB="27432" anchor="ctr">
                    <a:solidFill>
                      <a:srgbClr val="F2F4F3"/>
                    </a:solidFill>
                  </a:tcPr>
                </a:tc>
                <a:tc>
                  <a:txBody>
                    <a:bodyPr wrap="square"/>
                    <a:lstStyle/>
                    <a:p>
                      <a:pPr algn="ctr">
                        <a:lnSpc>
                          <a:spcPct val="100000"/>
                        </a:lnSpc>
                        <a:spcBef>
                          <a:spcPts val="0"/>
                        </a:spcBef>
                        <a:spcAft>
                          <a:spcPts val="0"/>
                        </a:spcAft>
                      </a:pPr>
                      <a:r>
                        <a:rPr sz="1500" b="0" i="0">
                          <a:solidFill>
                            <a:srgbClr val="17201B"/>
                          </a:solidFill>
                          <a:latin typeface="Open Sans"/>
                        </a:rPr>
                        <a:t>coerência, medido</a:t>
                      </a:r>
                    </a:p>
                  </a:txBody>
                  <a:tcPr marL="73152" marR="73152" marT="27432" marB="27432" anchor="ctr">
                    <a:solidFill>
                      <a:srgbClr val="F2F4F3"/>
                    </a:solidFill>
                  </a:tcPr>
                </a:tc>
              </a:tr>
              <a:tr h="402336">
                <a:tc>
                  <a:txBody>
                    <a:bodyPr wrap="square"/>
                    <a:lstStyle/>
                    <a:p>
                      <a:pPr algn="l">
                        <a:lnSpc>
                          <a:spcPct val="100000"/>
                        </a:lnSpc>
                        <a:spcBef>
                          <a:spcPts val="0"/>
                        </a:spcBef>
                        <a:spcAft>
                          <a:spcPts val="0"/>
                        </a:spcAft>
                      </a:pPr>
                      <a:r>
                        <a:rPr sz="1500" b="1" i="0">
                          <a:solidFill>
                            <a:srgbClr val="17201B"/>
                          </a:solidFill>
                          <a:latin typeface="Open Sans"/>
                        </a:rPr>
                        <a:t>Divisão do híbrido</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0,5; fronteira</a:t>
                      </a:r>
                    </a:p>
                  </a:txBody>
                  <a:tcPr marL="73152" marR="73152" marT="27432" marB="27432" anchor="ctr">
                    <a:solidFill>
                      <a:srgbClr val="FFFFFF"/>
                    </a:solidFill>
                  </a:tcPr>
                </a:tc>
                <a:tc>
                  <a:txBody>
                    <a:bodyPr wrap="square"/>
                    <a:lstStyle/>
                    <a:p>
                      <a:pPr algn="ctr">
                        <a:lnSpc>
                          <a:spcPct val="100000"/>
                        </a:lnSpc>
                        <a:spcBef>
                          <a:spcPts val="0"/>
                        </a:spcBef>
                        <a:spcAft>
                          <a:spcPts val="0"/>
                        </a:spcAft>
                      </a:pPr>
                      <a:r>
                        <a:rPr sz="1500" b="0" i="0">
                          <a:solidFill>
                            <a:srgbClr val="17201B"/>
                          </a:solidFill>
                          <a:latin typeface="Open Sans"/>
                        </a:rPr>
                        <a:t>projeto (desempate por simplicidade)</a:t>
                      </a:r>
                    </a:p>
                  </a:txBody>
                  <a:tcPr marL="73152" marR="73152" marT="27432" marB="27432"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4572000" y="0"/>
            <a:ext cx="7159752"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Reserva</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O modelo de combate, em detalhe</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R13</a:t>
            </a:r>
          </a:p>
        </p:txBody>
      </p:sp>
      <p:sp>
        <p:nvSpPr>
          <p:cNvPr id="7" name="TextBox 6"/>
          <p:cNvSpPr txBox="1"/>
          <p:nvPr/>
        </p:nvSpPr>
        <p:spPr>
          <a:xfrm>
            <a:off x="548640" y="1755648"/>
            <a:ext cx="1828800" cy="64008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F6E2E"/>
                </a:solidFill>
                <a:latin typeface="Open Sans"/>
              </a:rPr>
              <a:t>Tempo</a:t>
            </a:r>
          </a:p>
        </p:txBody>
      </p:sp>
      <p:sp>
        <p:nvSpPr>
          <p:cNvPr id="8" name="TextBox 7"/>
          <p:cNvSpPr txBox="1"/>
          <p:nvPr/>
        </p:nvSpPr>
        <p:spPr>
          <a:xfrm>
            <a:off x="2468880" y="1755648"/>
            <a:ext cx="9171432" cy="64008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tick de 5 sub-ticks; campo de 100, distância inicial 50; 100% das lutas acabam em nocaute</a:t>
            </a:r>
          </a:p>
        </p:txBody>
      </p:sp>
      <p:sp>
        <p:nvSpPr>
          <p:cNvPr id="9" name="TextBox 8"/>
          <p:cNvSpPr txBox="1"/>
          <p:nvPr/>
        </p:nvSpPr>
        <p:spPr>
          <a:xfrm>
            <a:off x="548640" y="2441448"/>
            <a:ext cx="1828800" cy="64008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F6E2E"/>
                </a:solidFill>
                <a:latin typeface="Open Sans"/>
              </a:rPr>
              <a:t>Intenção</a:t>
            </a:r>
          </a:p>
        </p:txBody>
      </p:sp>
      <p:sp>
        <p:nvSpPr>
          <p:cNvPr id="10" name="TextBox 9"/>
          <p:cNvSpPr txBox="1"/>
          <p:nvPr/>
        </p:nvSpPr>
        <p:spPr>
          <a:xfrm>
            <a:off x="2468880" y="2441448"/>
            <a:ext cx="9171432" cy="64008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sorteada com chance proporcional aos 3 pesos e mantida por 5 sub-ticks; fora do alcance dos dois, avançar é imposto</a:t>
            </a:r>
          </a:p>
        </p:txBody>
      </p:sp>
      <p:sp>
        <p:nvSpPr>
          <p:cNvPr id="11" name="TextBox 10"/>
          <p:cNvSpPr txBox="1"/>
          <p:nvPr/>
        </p:nvSpPr>
        <p:spPr>
          <a:xfrm>
            <a:off x="548640" y="3127248"/>
            <a:ext cx="1828800" cy="64008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F6E2E"/>
                </a:solidFill>
                <a:latin typeface="Open Sans"/>
              </a:rPr>
              <a:t>Ataque</a:t>
            </a:r>
          </a:p>
        </p:txBody>
      </p:sp>
      <p:sp>
        <p:nvSpPr>
          <p:cNvPr id="12" name="TextBox 11"/>
          <p:cNvSpPr txBox="1"/>
          <p:nvPr/>
        </p:nvSpPr>
        <p:spPr>
          <a:xfrm>
            <a:off x="2468880" y="3127248"/>
            <a:ext cx="9171432" cy="64008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sai se a recarga terminou, o oponente está ao alcance e a postura não é GUARDA; dano fixo</a:t>
            </a:r>
          </a:p>
        </p:txBody>
      </p:sp>
      <p:sp>
        <p:nvSpPr>
          <p:cNvPr id="13" name="TextBox 12"/>
          <p:cNvSpPr txBox="1"/>
          <p:nvPr/>
        </p:nvSpPr>
        <p:spPr>
          <a:xfrm>
            <a:off x="548640" y="3813048"/>
            <a:ext cx="1828800" cy="64008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F6E2E"/>
                </a:solidFill>
                <a:latin typeface="Open Sans"/>
              </a:rPr>
              <a:t>Guarda</a:t>
            </a:r>
          </a:p>
        </p:txBody>
      </p:sp>
      <p:sp>
        <p:nvSpPr>
          <p:cNvPr id="14" name="TextBox 13"/>
          <p:cNvSpPr txBox="1"/>
          <p:nvPr/>
        </p:nvSpPr>
        <p:spPr>
          <a:xfrm>
            <a:off x="2468880" y="3813048"/>
            <a:ext cx="9171432" cy="64008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dano × 0,6 contra quem defende; o agarrão soma: 0,6 + agarrão (Grappler: 1,5×)</a:t>
            </a:r>
          </a:p>
        </p:txBody>
      </p:sp>
      <p:sp>
        <p:nvSpPr>
          <p:cNvPr id="15" name="TextBox 14"/>
          <p:cNvSpPr txBox="1"/>
          <p:nvPr/>
        </p:nvSpPr>
        <p:spPr>
          <a:xfrm>
            <a:off x="548640" y="4498848"/>
            <a:ext cx="1828800" cy="64008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F6E2E"/>
                </a:solidFill>
                <a:latin typeface="Open Sans"/>
              </a:rPr>
              <a:t>Recarga</a:t>
            </a:r>
          </a:p>
        </p:txBody>
      </p:sp>
      <p:sp>
        <p:nvSpPr>
          <p:cNvPr id="16" name="TextBox 15"/>
          <p:cNvSpPr txBox="1"/>
          <p:nvPr/>
        </p:nvSpPr>
        <p:spPr>
          <a:xfrm>
            <a:off x="2468880" y="4498848"/>
            <a:ext cx="9171432" cy="64008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intervalo e atordoamento convertidos em sub-ticks com resto acumulado: exatos na média</a:t>
            </a:r>
          </a:p>
        </p:txBody>
      </p:sp>
      <p:sp>
        <p:nvSpPr>
          <p:cNvPr id="17" name="TextBox 16"/>
          <p:cNvSpPr txBox="1"/>
          <p:nvPr/>
        </p:nvSpPr>
        <p:spPr>
          <a:xfrm>
            <a:off x="548640" y="5184648"/>
            <a:ext cx="1828800" cy="640080"/>
          </a:xfrm>
          <a:prstGeom prst="rect">
            <a:avLst/>
          </a:prstGeom>
          <a:noFill/>
        </p:spPr>
        <p:txBody>
          <a:bodyPr wrap="square" lIns="0" rIns="0" tIns="0" bIns="0" anchor="t">
            <a:noAutofit/>
          </a:bodyPr>
          <a:lstStyle/>
          <a:p>
            <a:pPr algn="l">
              <a:lnSpc>
                <a:spcPct val="100000"/>
              </a:lnSpc>
              <a:spcBef>
                <a:spcPts val="0"/>
              </a:spcBef>
              <a:spcAft>
                <a:spcPts val="0"/>
              </a:spcAft>
            </a:pPr>
            <a:r>
              <a:rPr sz="1800" b="1" i="0">
                <a:solidFill>
                  <a:srgbClr val="1F6E2E"/>
                </a:solidFill>
                <a:latin typeface="Open Sans"/>
              </a:rPr>
              <a:t>Desfecho</a:t>
            </a:r>
          </a:p>
        </p:txBody>
      </p:sp>
      <p:sp>
        <p:nvSpPr>
          <p:cNvPr id="18" name="TextBox 17"/>
          <p:cNvSpPr txBox="1"/>
          <p:nvPr/>
        </p:nvSpPr>
        <p:spPr>
          <a:xfrm>
            <a:off x="2468880" y="5184648"/>
            <a:ext cx="9171432" cy="640080"/>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nocaute, tempo (maior fração de vida) ou empate, que vale meia vitória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1" i="0">
                <a:solidFill>
                  <a:srgbClr val="FFFFFF"/>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Equilibrar um elenco é caro, manual e nunca termina</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2</a:t>
            </a:r>
          </a:p>
        </p:txBody>
      </p:sp>
      <p:sp>
        <p:nvSpPr>
          <p:cNvPr id="7" name="Rounded Rectangle 6"/>
          <p:cNvSpPr/>
          <p:nvPr/>
        </p:nvSpPr>
        <p:spPr>
          <a:xfrm>
            <a:off x="548640" y="1709928"/>
            <a:ext cx="5120640" cy="3520439"/>
          </a:xfrm>
          <a:prstGeom prst="roundRect">
            <a:avLst>
              <a:gd name="adj" fmla="val 3116"/>
            </a:avLst>
          </a:prstGeom>
          <a:solidFill>
            <a:srgbClr val="F2F4F3"/>
          </a:solidFill>
          <a:ln>
            <a:noFill/>
          </a:ln>
        </p:spPr>
        <p:txBody>
          <a:bodyPr rtlCol="0" anchor="ctr"/>
          <a:lstStyle/>
          <a:p>
            <a:pPr algn="ctr"/>
          </a:p>
        </p:txBody>
      </p:sp>
      <p:sp>
        <p:nvSpPr>
          <p:cNvPr id="8" name="TextBox 7"/>
          <p:cNvSpPr txBox="1"/>
          <p:nvPr/>
        </p:nvSpPr>
        <p:spPr>
          <a:xfrm>
            <a:off x="868680" y="1865376"/>
            <a:ext cx="448056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JOGOS COMPETITIVOS</a:t>
            </a:r>
          </a:p>
        </p:txBody>
      </p:sp>
      <p:sp>
        <p:nvSpPr>
          <p:cNvPr id="9" name="TextBox 8"/>
          <p:cNvSpPr txBox="1"/>
          <p:nvPr/>
        </p:nvSpPr>
        <p:spPr>
          <a:xfrm>
            <a:off x="868680" y="2212848"/>
            <a:ext cx="4480560" cy="640080"/>
          </a:xfrm>
          <a:prstGeom prst="rect">
            <a:avLst/>
          </a:prstGeom>
          <a:noFill/>
        </p:spPr>
        <p:txBody>
          <a:bodyPr wrap="square" lIns="0" rIns="0" tIns="0" bIns="0" anchor="t">
            <a:noAutofit/>
          </a:bodyPr>
          <a:lstStyle/>
          <a:p>
            <a:pPr algn="l">
              <a:lnSpc>
                <a:spcPct val="100000"/>
              </a:lnSpc>
              <a:spcBef>
                <a:spcPts val="0"/>
              </a:spcBef>
              <a:spcAft>
                <a:spcPts val="0"/>
              </a:spcAft>
            </a:pPr>
            <a:r>
              <a:rPr sz="3600" b="1" i="0">
                <a:solidFill>
                  <a:srgbClr val="17201B"/>
                </a:solidFill>
                <a:latin typeface="Open Sans"/>
              </a:rPr>
              <a:t>US$ 188,8 bi</a:t>
            </a:r>
          </a:p>
        </p:txBody>
      </p:sp>
      <p:sp>
        <p:nvSpPr>
          <p:cNvPr id="10" name="TextBox 9"/>
          <p:cNvSpPr txBox="1"/>
          <p:nvPr/>
        </p:nvSpPr>
        <p:spPr>
          <a:xfrm>
            <a:off x="868680" y="2834640"/>
            <a:ext cx="4480560" cy="292608"/>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4A524D"/>
                </a:solidFill>
                <a:latin typeface="Open Sans"/>
              </a:rPr>
              <a:t>receita mundial de jogos em 2025 (Newzoo)</a:t>
            </a:r>
          </a:p>
        </p:txBody>
      </p:sp>
      <p:sp>
        <p:nvSpPr>
          <p:cNvPr id="11" name="TextBox 10"/>
          <p:cNvSpPr txBox="1"/>
          <p:nvPr/>
        </p:nvSpPr>
        <p:spPr>
          <a:xfrm>
            <a:off x="868680" y="3218688"/>
            <a:ext cx="4480560" cy="640080"/>
          </a:xfrm>
          <a:prstGeom prst="rect">
            <a:avLst/>
          </a:prstGeom>
          <a:noFill/>
        </p:spPr>
        <p:txBody>
          <a:bodyPr wrap="square" lIns="0" rIns="0" tIns="0" bIns="0" anchor="t">
            <a:noAutofit/>
          </a:bodyPr>
          <a:lstStyle/>
          <a:p>
            <a:pPr algn="l">
              <a:lnSpc>
                <a:spcPct val="100000"/>
              </a:lnSpc>
              <a:spcBef>
                <a:spcPts val="0"/>
              </a:spcBef>
              <a:spcAft>
                <a:spcPts val="0"/>
              </a:spcAft>
            </a:pPr>
            <a:r>
              <a:rPr sz="3600" b="1" i="0">
                <a:solidFill>
                  <a:srgbClr val="17201B"/>
                </a:solidFill>
                <a:latin typeface="Open Sans"/>
              </a:rPr>
              <a:t>3,58 bi</a:t>
            </a:r>
          </a:p>
        </p:txBody>
      </p:sp>
      <p:sp>
        <p:nvSpPr>
          <p:cNvPr id="12" name="TextBox 11"/>
          <p:cNvSpPr txBox="1"/>
          <p:nvPr/>
        </p:nvSpPr>
        <p:spPr>
          <a:xfrm>
            <a:off x="868680" y="3840480"/>
            <a:ext cx="4480560" cy="292608"/>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4A524D"/>
                </a:solidFill>
                <a:latin typeface="Open Sans"/>
              </a:rPr>
              <a:t>jogadores no mundo</a:t>
            </a:r>
          </a:p>
        </p:txBody>
      </p:sp>
      <p:sp>
        <p:nvSpPr>
          <p:cNvPr id="13" name="TextBox 12"/>
          <p:cNvSpPr txBox="1"/>
          <p:nvPr/>
        </p:nvSpPr>
        <p:spPr>
          <a:xfrm>
            <a:off x="868680" y="4261104"/>
            <a:ext cx="4480560" cy="822960"/>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7201B"/>
                </a:solidFill>
                <a:latin typeface="Open Sans"/>
              </a:rPr>
              <a:t>esports: </a:t>
            </a:r>
            <a:r>
              <a:rPr sz="1500" b="0" i="0">
                <a:solidFill>
                  <a:srgbClr val="17201B"/>
                </a:solidFill>
                <a:latin typeface="Open Sans"/>
              </a:rPr>
              <a:t>competição organizada, mediada por sistemas eletrônicos (Hamari e Sjöblom, 2017)</a:t>
            </a:r>
          </a:p>
        </p:txBody>
      </p:sp>
      <p:sp>
        <p:nvSpPr>
          <p:cNvPr id="14" name="Rounded Rectangle 13"/>
          <p:cNvSpPr/>
          <p:nvPr/>
        </p:nvSpPr>
        <p:spPr>
          <a:xfrm>
            <a:off x="5897880" y="1709928"/>
            <a:ext cx="5742432" cy="3520439"/>
          </a:xfrm>
          <a:prstGeom prst="roundRect">
            <a:avLst>
              <a:gd name="adj" fmla="val 3116"/>
            </a:avLst>
          </a:prstGeom>
          <a:solidFill>
            <a:srgbClr val="F2F4F3"/>
          </a:solidFill>
          <a:ln>
            <a:noFill/>
          </a:ln>
        </p:spPr>
        <p:txBody>
          <a:bodyPr rtlCol="0" anchor="ctr"/>
          <a:lstStyle/>
          <a:p>
            <a:pPr algn="ctr"/>
          </a:p>
        </p:txBody>
      </p:sp>
      <p:sp>
        <p:nvSpPr>
          <p:cNvPr id="15" name="TextBox 14"/>
          <p:cNvSpPr txBox="1"/>
          <p:nvPr/>
        </p:nvSpPr>
        <p:spPr>
          <a:xfrm>
            <a:off x="6217920" y="1865376"/>
            <a:ext cx="512064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O BALANCEAMENTO HOJE</a:t>
            </a:r>
          </a:p>
        </p:txBody>
      </p:sp>
      <p:sp>
        <p:nvSpPr>
          <p:cNvPr id="16" name="Rounded Rectangle 15"/>
          <p:cNvSpPr/>
          <p:nvPr/>
        </p:nvSpPr>
        <p:spPr>
          <a:xfrm>
            <a:off x="6217920" y="2331720"/>
            <a:ext cx="2331720" cy="548640"/>
          </a:xfrm>
          <a:prstGeom prst="roundRect">
            <a:avLst>
              <a:gd name="adj" fmla="val 20000"/>
            </a:avLst>
          </a:prstGeom>
          <a:solidFill>
            <a:srgbClr val="FFFFFF"/>
          </a:solidFill>
          <a:ln>
            <a:noFill/>
          </a:ln>
        </p:spPr>
        <p:txBody>
          <a:bodyPr rtlCol="0" anchor="ctr"/>
          <a:lstStyle/>
          <a:p>
            <a:pPr algn="ctr"/>
          </a:p>
        </p:txBody>
      </p:sp>
      <p:sp>
        <p:nvSpPr>
          <p:cNvPr id="17" name="TextBox 16"/>
          <p:cNvSpPr txBox="1"/>
          <p:nvPr/>
        </p:nvSpPr>
        <p:spPr>
          <a:xfrm>
            <a:off x="6217920" y="2331720"/>
            <a:ext cx="2331720" cy="548640"/>
          </a:xfrm>
          <a:prstGeom prst="rect">
            <a:avLst/>
          </a:prstGeom>
          <a:noFill/>
        </p:spPr>
        <p:txBody>
          <a:bodyPr wrap="square" lIns="0" rIns="0" tIns="0" bIns="0" anchor="ctr">
            <a:noAutofit/>
          </a:bodyPr>
          <a:lstStyle/>
          <a:p>
            <a:pPr algn="ctr">
              <a:lnSpc>
                <a:spcPct val="100000"/>
              </a:lnSpc>
              <a:spcBef>
                <a:spcPts val="0"/>
              </a:spcBef>
              <a:spcAft>
                <a:spcPts val="0"/>
              </a:spcAft>
            </a:pPr>
            <a:r>
              <a:rPr sz="1500" b="0" i="0">
                <a:solidFill>
                  <a:srgbClr val="17201B"/>
                </a:solidFill>
                <a:latin typeface="Open Sans"/>
              </a:rPr>
              <a:t>ajustar números</a:t>
            </a:r>
          </a:p>
        </p:txBody>
      </p:sp>
      <p:sp>
        <p:nvSpPr>
          <p:cNvPr id="18" name="Rounded Rectangle 17"/>
          <p:cNvSpPr/>
          <p:nvPr/>
        </p:nvSpPr>
        <p:spPr>
          <a:xfrm>
            <a:off x="8988552" y="2331720"/>
            <a:ext cx="2331720" cy="548640"/>
          </a:xfrm>
          <a:prstGeom prst="roundRect">
            <a:avLst>
              <a:gd name="adj" fmla="val 20000"/>
            </a:avLst>
          </a:prstGeom>
          <a:solidFill>
            <a:srgbClr val="FFFFFF"/>
          </a:solidFill>
          <a:ln>
            <a:noFill/>
          </a:ln>
        </p:spPr>
        <p:txBody>
          <a:bodyPr rtlCol="0" anchor="ctr"/>
          <a:lstStyle/>
          <a:p>
            <a:pPr algn="ctr"/>
          </a:p>
        </p:txBody>
      </p:sp>
      <p:sp>
        <p:nvSpPr>
          <p:cNvPr id="19" name="TextBox 18"/>
          <p:cNvSpPr txBox="1"/>
          <p:nvPr/>
        </p:nvSpPr>
        <p:spPr>
          <a:xfrm>
            <a:off x="8988552" y="2331720"/>
            <a:ext cx="2331720" cy="548640"/>
          </a:xfrm>
          <a:prstGeom prst="rect">
            <a:avLst/>
          </a:prstGeom>
          <a:noFill/>
        </p:spPr>
        <p:txBody>
          <a:bodyPr wrap="square" lIns="0" rIns="0" tIns="0" bIns="0" anchor="ctr">
            <a:noAutofit/>
          </a:bodyPr>
          <a:lstStyle/>
          <a:p>
            <a:pPr algn="ctr">
              <a:lnSpc>
                <a:spcPct val="100000"/>
              </a:lnSpc>
              <a:spcBef>
                <a:spcPts val="0"/>
              </a:spcBef>
              <a:spcAft>
                <a:spcPts val="0"/>
              </a:spcAft>
            </a:pPr>
            <a:r>
              <a:rPr sz="1500" b="0" i="0">
                <a:solidFill>
                  <a:srgbClr val="17201B"/>
                </a:solidFill>
                <a:latin typeface="Open Sans"/>
              </a:rPr>
              <a:t>testar partidas</a:t>
            </a:r>
          </a:p>
        </p:txBody>
      </p:sp>
      <p:sp>
        <p:nvSpPr>
          <p:cNvPr id="20" name="Rounded Rectangle 19"/>
          <p:cNvSpPr/>
          <p:nvPr/>
        </p:nvSpPr>
        <p:spPr>
          <a:xfrm>
            <a:off x="8988552" y="3246120"/>
            <a:ext cx="2331720" cy="548640"/>
          </a:xfrm>
          <a:prstGeom prst="roundRect">
            <a:avLst>
              <a:gd name="adj" fmla="val 20000"/>
            </a:avLst>
          </a:prstGeom>
          <a:solidFill>
            <a:srgbClr val="FFFFFF"/>
          </a:solidFill>
          <a:ln>
            <a:noFill/>
          </a:ln>
        </p:spPr>
        <p:txBody>
          <a:bodyPr rtlCol="0" anchor="ctr"/>
          <a:lstStyle/>
          <a:p>
            <a:pPr algn="ctr"/>
          </a:p>
        </p:txBody>
      </p:sp>
      <p:sp>
        <p:nvSpPr>
          <p:cNvPr id="21" name="TextBox 20"/>
          <p:cNvSpPr txBox="1"/>
          <p:nvPr/>
        </p:nvSpPr>
        <p:spPr>
          <a:xfrm>
            <a:off x="8988552" y="3246120"/>
            <a:ext cx="2331720" cy="548640"/>
          </a:xfrm>
          <a:prstGeom prst="rect">
            <a:avLst/>
          </a:prstGeom>
          <a:noFill/>
        </p:spPr>
        <p:txBody>
          <a:bodyPr wrap="square" lIns="0" rIns="0" tIns="0" bIns="0" anchor="ctr">
            <a:noAutofit/>
          </a:bodyPr>
          <a:lstStyle/>
          <a:p>
            <a:pPr algn="ctr">
              <a:lnSpc>
                <a:spcPct val="100000"/>
              </a:lnSpc>
              <a:spcBef>
                <a:spcPts val="0"/>
              </a:spcBef>
              <a:spcAft>
                <a:spcPts val="0"/>
              </a:spcAft>
            </a:pPr>
            <a:r>
              <a:rPr sz="1500" b="0" i="0">
                <a:solidFill>
                  <a:srgbClr val="17201B"/>
                </a:solidFill>
                <a:latin typeface="Open Sans"/>
              </a:rPr>
              <a:t>observar quem domina</a:t>
            </a:r>
          </a:p>
        </p:txBody>
      </p:sp>
      <p:sp>
        <p:nvSpPr>
          <p:cNvPr id="22" name="Rounded Rectangle 21"/>
          <p:cNvSpPr/>
          <p:nvPr/>
        </p:nvSpPr>
        <p:spPr>
          <a:xfrm>
            <a:off x="6217920" y="3246120"/>
            <a:ext cx="2331720" cy="548640"/>
          </a:xfrm>
          <a:prstGeom prst="roundRect">
            <a:avLst>
              <a:gd name="adj" fmla="val 20000"/>
            </a:avLst>
          </a:prstGeom>
          <a:solidFill>
            <a:srgbClr val="FFFFFF"/>
          </a:solidFill>
          <a:ln>
            <a:noFill/>
          </a:ln>
        </p:spPr>
        <p:txBody>
          <a:bodyPr rtlCol="0" anchor="ctr"/>
          <a:lstStyle/>
          <a:p>
            <a:pPr algn="ctr"/>
          </a:p>
        </p:txBody>
      </p:sp>
      <p:sp>
        <p:nvSpPr>
          <p:cNvPr id="23" name="TextBox 22"/>
          <p:cNvSpPr txBox="1"/>
          <p:nvPr/>
        </p:nvSpPr>
        <p:spPr>
          <a:xfrm>
            <a:off x="6217920" y="3246120"/>
            <a:ext cx="2331720" cy="548640"/>
          </a:xfrm>
          <a:prstGeom prst="rect">
            <a:avLst/>
          </a:prstGeom>
          <a:noFill/>
        </p:spPr>
        <p:txBody>
          <a:bodyPr wrap="square" lIns="0" rIns="0" tIns="0" bIns="0" anchor="ctr">
            <a:noAutofit/>
          </a:bodyPr>
          <a:lstStyle/>
          <a:p>
            <a:pPr algn="ctr">
              <a:lnSpc>
                <a:spcPct val="100000"/>
              </a:lnSpc>
              <a:spcBef>
                <a:spcPts val="0"/>
              </a:spcBef>
              <a:spcAft>
                <a:spcPts val="0"/>
              </a:spcAft>
            </a:pPr>
            <a:r>
              <a:rPr sz="1500" b="0" i="0">
                <a:solidFill>
                  <a:srgbClr val="17201B"/>
                </a:solidFill>
                <a:latin typeface="Open Sans"/>
              </a:rPr>
              <a:t>corrigir e repetir</a:t>
            </a:r>
          </a:p>
        </p:txBody>
      </p:sp>
      <p:cxnSp>
        <p:nvCxnSpPr>
          <p:cNvPr id="24" name="Connector 23"/>
          <p:cNvCxnSpPr/>
          <p:nvPr/>
        </p:nvCxnSpPr>
        <p:spPr>
          <a:xfrm>
            <a:off x="8595360" y="2606040"/>
            <a:ext cx="347472" cy="0"/>
          </a:xfrm>
          <a:prstGeom prst="line">
            <a:avLst/>
          </a:prstGeom>
          <a:ln w="28575">
            <a:solidFill>
              <a:srgbClr val="6F7772"/>
            </a:solidFill>
            <a:tailEnd type="triangle" w="med" len="med"/>
          </a:ln>
        </p:spPr>
      </p:cxnSp>
      <p:cxnSp>
        <p:nvCxnSpPr>
          <p:cNvPr id="25" name="Connector 24"/>
          <p:cNvCxnSpPr/>
          <p:nvPr/>
        </p:nvCxnSpPr>
        <p:spPr>
          <a:xfrm>
            <a:off x="10154412" y="2926080"/>
            <a:ext cx="0" cy="274320"/>
          </a:xfrm>
          <a:prstGeom prst="line">
            <a:avLst/>
          </a:prstGeom>
          <a:ln w="28575">
            <a:solidFill>
              <a:srgbClr val="6F7772"/>
            </a:solidFill>
            <a:tailEnd type="triangle" w="med" len="med"/>
          </a:ln>
        </p:spPr>
      </p:cxnSp>
      <p:cxnSp>
        <p:nvCxnSpPr>
          <p:cNvPr id="26" name="Connector 25"/>
          <p:cNvCxnSpPr/>
          <p:nvPr/>
        </p:nvCxnSpPr>
        <p:spPr>
          <a:xfrm flipH="1">
            <a:off x="8595360" y="3520440"/>
            <a:ext cx="347472" cy="0"/>
          </a:xfrm>
          <a:prstGeom prst="line">
            <a:avLst/>
          </a:prstGeom>
          <a:ln w="28575">
            <a:solidFill>
              <a:srgbClr val="6F7772"/>
            </a:solidFill>
            <a:tailEnd type="triangle" w="med" len="med"/>
          </a:ln>
        </p:spPr>
      </p:cxnSp>
      <p:cxnSp>
        <p:nvCxnSpPr>
          <p:cNvPr id="27" name="Connector 26"/>
          <p:cNvCxnSpPr/>
          <p:nvPr/>
        </p:nvCxnSpPr>
        <p:spPr>
          <a:xfrm flipV="1">
            <a:off x="7383779" y="2926080"/>
            <a:ext cx="0" cy="274320"/>
          </a:xfrm>
          <a:prstGeom prst="line">
            <a:avLst/>
          </a:prstGeom>
          <a:ln w="28575">
            <a:solidFill>
              <a:srgbClr val="6F7772"/>
            </a:solidFill>
            <a:tailEnd type="triangle" w="med" len="med"/>
          </a:ln>
        </p:spPr>
      </p:cxnSp>
      <p:sp>
        <p:nvSpPr>
          <p:cNvPr id="28" name="TextBox 27"/>
          <p:cNvSpPr txBox="1"/>
          <p:nvPr/>
        </p:nvSpPr>
        <p:spPr>
          <a:xfrm>
            <a:off x="6217920" y="4023360"/>
            <a:ext cx="5102352" cy="1115568"/>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7201B"/>
                </a:solidFill>
                <a:latin typeface="Open Sans"/>
              </a:rPr>
              <a:t>caro e demorado: </a:t>
            </a:r>
            <a:r>
              <a:rPr sz="1500" b="0" i="0">
                <a:solidFill>
                  <a:srgbClr val="17201B"/>
                </a:solidFill>
                <a:latin typeface="Open Sans"/>
              </a:rPr>
              <a:t>depende de jogadores que levem o sistema ao limite</a:t>
            </a:r>
          </a:p>
          <a:p>
            <a:pPr algn="l">
              <a:lnSpc>
                <a:spcPct val="100000"/>
              </a:lnSpc>
              <a:spcBef>
                <a:spcPts val="600"/>
              </a:spcBef>
              <a:spcAft>
                <a:spcPts val="0"/>
              </a:spcAft>
            </a:pPr>
            <a:r>
              <a:rPr sz="1500" b="1" i="0">
                <a:solidFill>
                  <a:srgbClr val="17201B"/>
                </a:solidFill>
                <a:latin typeface="Open Sans"/>
              </a:rPr>
              <a:t>não termina: </a:t>
            </a:r>
            <a:r>
              <a:rPr sz="1500" b="0" i="0">
                <a:solidFill>
                  <a:srgbClr val="17201B"/>
                </a:solidFill>
                <a:latin typeface="Open Sans"/>
              </a:rPr>
              <a:t>continua depois do lançamento, a cada atualização</a:t>
            </a:r>
          </a:p>
        </p:txBody>
      </p:sp>
      <p:sp>
        <p:nvSpPr>
          <p:cNvPr id="29" name="Rounded Rectangle 28"/>
          <p:cNvSpPr/>
          <p:nvPr/>
        </p:nvSpPr>
        <p:spPr>
          <a:xfrm>
            <a:off x="548640" y="5413248"/>
            <a:ext cx="11091672" cy="685800"/>
          </a:xfrm>
          <a:prstGeom prst="roundRect">
            <a:avLst>
              <a:gd name="adj" fmla="val 16000"/>
            </a:avLst>
          </a:prstGeom>
          <a:solidFill>
            <a:srgbClr val="1F6E2E"/>
          </a:solidFill>
          <a:ln>
            <a:noFill/>
          </a:ln>
        </p:spPr>
        <p:txBody>
          <a:bodyPr rtlCol="0" anchor="ctr"/>
          <a:lstStyle/>
          <a:p>
            <a:pPr algn="ctr"/>
          </a:p>
        </p:txBody>
      </p:sp>
      <p:sp>
        <p:nvSpPr>
          <p:cNvPr id="30" name="TextBox 29"/>
          <p:cNvSpPr txBox="1"/>
          <p:nvPr/>
        </p:nvSpPr>
        <p:spPr>
          <a:xfrm>
            <a:off x="868680" y="5413248"/>
            <a:ext cx="10451592" cy="685800"/>
          </a:xfrm>
          <a:prstGeom prst="rect">
            <a:avLst/>
          </a:prstGeom>
          <a:noFill/>
        </p:spPr>
        <p:txBody>
          <a:bodyPr wrap="square" lIns="0" rIns="0" tIns="0" bIns="0" anchor="ctr">
            <a:noAutofit/>
          </a:bodyPr>
          <a:lstStyle/>
          <a:p>
            <a:pPr algn="l">
              <a:lnSpc>
                <a:spcPct val="100000"/>
              </a:lnSpc>
              <a:spcBef>
                <a:spcPts val="0"/>
              </a:spcBef>
              <a:spcAft>
                <a:spcPts val="0"/>
              </a:spcAft>
            </a:pPr>
            <a:r>
              <a:rPr sz="1800" b="0" i="0">
                <a:solidFill>
                  <a:srgbClr val="FFFFFF"/>
                </a:solidFill>
                <a:latin typeface="Open Sans"/>
              </a:rPr>
              <a:t>Há duas décadas, a computação evolutiva busca </a:t>
            </a:r>
            <a:r>
              <a:rPr sz="1800" b="1" i="0">
                <a:solidFill>
                  <a:srgbClr val="FFFFFF"/>
                </a:solidFill>
                <a:latin typeface="Open Sans"/>
              </a:rPr>
              <a:t>automatizar parte desse ciclo</a:t>
            </a:r>
            <a:r>
              <a:rPr sz="1800" b="0" i="0">
                <a:solidFill>
                  <a:srgbClr val="FFFFFF"/>
                </a:solidFill>
                <a:latin typeface="Open Sans"/>
              </a:rPr>
              <a:t>, com a simulação como avaliação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1" i="0">
                <a:solidFill>
                  <a:srgbClr val="FFFFFF"/>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Equilibrar não é igualar todos os confrontos</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5</a:t>
            </a:r>
          </a:p>
        </p:txBody>
      </p:sp>
      <p:sp>
        <p:nvSpPr>
          <p:cNvPr id="7" name="Rounded Rectangle 6"/>
          <p:cNvSpPr/>
          <p:nvPr/>
        </p:nvSpPr>
        <p:spPr>
          <a:xfrm>
            <a:off x="548640" y="1709928"/>
            <a:ext cx="5486400" cy="1188720"/>
          </a:xfrm>
          <a:prstGeom prst="roundRect">
            <a:avLst>
              <a:gd name="adj" fmla="val 9230"/>
            </a:avLst>
          </a:prstGeom>
          <a:solidFill>
            <a:srgbClr val="F2F4F3"/>
          </a:solidFill>
          <a:ln>
            <a:noFill/>
          </a:ln>
        </p:spPr>
        <p:txBody>
          <a:bodyPr rtlCol="0" anchor="ctr"/>
          <a:lstStyle/>
          <a:p>
            <a:pPr algn="ctr"/>
          </a:p>
        </p:txBody>
      </p:sp>
      <p:sp>
        <p:nvSpPr>
          <p:cNvPr id="8" name="TextBox 7"/>
          <p:cNvSpPr txBox="1"/>
          <p:nvPr/>
        </p:nvSpPr>
        <p:spPr>
          <a:xfrm>
            <a:off x="822960" y="1837944"/>
            <a:ext cx="4937760" cy="292608"/>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6F7772"/>
                </a:solidFill>
                <a:latin typeface="Open Sans"/>
              </a:rPr>
              <a:t>SIMETRIA ESTATÍSTICA</a:t>
            </a:r>
          </a:p>
        </p:txBody>
      </p:sp>
      <p:sp>
        <p:nvSpPr>
          <p:cNvPr id="9" name="TextBox 8"/>
          <p:cNvSpPr txBox="1"/>
          <p:nvPr/>
        </p:nvSpPr>
        <p:spPr>
          <a:xfrm>
            <a:off x="822960" y="2167128"/>
            <a:ext cx="4937760" cy="621792"/>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50% em cada confronto: a escolha deixa de importar</a:t>
            </a:r>
          </a:p>
        </p:txBody>
      </p:sp>
      <p:sp>
        <p:nvSpPr>
          <p:cNvPr id="10" name="Rounded Rectangle 9"/>
          <p:cNvSpPr/>
          <p:nvPr/>
        </p:nvSpPr>
        <p:spPr>
          <a:xfrm>
            <a:off x="548640" y="3035808"/>
            <a:ext cx="5486400" cy="1463040"/>
          </a:xfrm>
          <a:prstGeom prst="roundRect">
            <a:avLst>
              <a:gd name="adj" fmla="val 7500"/>
            </a:avLst>
          </a:prstGeom>
          <a:solidFill>
            <a:srgbClr val="E5F3E8"/>
          </a:solidFill>
          <a:ln>
            <a:noFill/>
          </a:ln>
        </p:spPr>
        <p:txBody>
          <a:bodyPr rtlCol="0" anchor="ctr"/>
          <a:lstStyle/>
          <a:p>
            <a:pPr algn="ctr"/>
          </a:p>
        </p:txBody>
      </p:sp>
      <p:sp>
        <p:nvSpPr>
          <p:cNvPr id="11" name="TextBox 10"/>
          <p:cNvSpPr txBox="1"/>
          <p:nvPr/>
        </p:nvSpPr>
        <p:spPr>
          <a:xfrm>
            <a:off x="822960" y="3163824"/>
            <a:ext cx="4937760" cy="292608"/>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VANTAGENS RECÍPROCAS</a:t>
            </a:r>
            <a:r>
              <a:rPr sz="1300" b="0" i="0">
                <a:solidFill>
                  <a:srgbClr val="6F7772"/>
                </a:solidFill>
                <a:latin typeface="Open Sans"/>
              </a:rPr>
              <a:t>  Adams; Elias et al.</a:t>
            </a:r>
          </a:p>
        </p:txBody>
      </p:sp>
      <p:sp>
        <p:nvSpPr>
          <p:cNvPr id="12" name="TextBox 11"/>
          <p:cNvSpPr txBox="1"/>
          <p:nvPr/>
        </p:nvSpPr>
        <p:spPr>
          <a:xfrm>
            <a:off x="822960" y="3493008"/>
            <a:ext cx="4937760" cy="896112"/>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cada opção vence alguns confrontos e perde outros, sem que nenhuma domine</a:t>
            </a:r>
          </a:p>
          <a:p>
            <a:pPr algn="l">
              <a:lnSpc>
                <a:spcPct val="100000"/>
              </a:lnSpc>
              <a:spcBef>
                <a:spcPts val="500"/>
              </a:spcBef>
              <a:spcAft>
                <a:spcPts val="0"/>
              </a:spcAft>
            </a:pPr>
            <a:r>
              <a:rPr sz="1500" b="1" i="0">
                <a:solidFill>
                  <a:srgbClr val="2F9E41"/>
                </a:solidFill>
                <a:latin typeface="Open Sans"/>
              </a:rPr>
              <a:t>na aptidão: nenhum personagem domina o elenco</a:t>
            </a:r>
          </a:p>
        </p:txBody>
      </p:sp>
      <p:sp>
        <p:nvSpPr>
          <p:cNvPr id="13" name="Rounded Rectangle 12"/>
          <p:cNvSpPr/>
          <p:nvPr/>
        </p:nvSpPr>
        <p:spPr>
          <a:xfrm>
            <a:off x="548640" y="4636008"/>
            <a:ext cx="5486400" cy="1463040"/>
          </a:xfrm>
          <a:prstGeom prst="roundRect">
            <a:avLst>
              <a:gd name="adj" fmla="val 7500"/>
            </a:avLst>
          </a:prstGeom>
          <a:solidFill>
            <a:srgbClr val="F2F4F3"/>
          </a:solidFill>
          <a:ln>
            <a:noFill/>
          </a:ln>
        </p:spPr>
        <p:txBody>
          <a:bodyPr rtlCol="0" anchor="ctr"/>
          <a:lstStyle/>
          <a:p>
            <a:pPr algn="ctr"/>
          </a:p>
        </p:txBody>
      </p:sp>
      <p:sp>
        <p:nvSpPr>
          <p:cNvPr id="14" name="TextBox 13"/>
          <p:cNvSpPr txBox="1"/>
          <p:nvPr/>
        </p:nvSpPr>
        <p:spPr>
          <a:xfrm>
            <a:off x="822960" y="4764024"/>
            <a:ext cx="4937760" cy="292608"/>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7201B"/>
                </a:solidFill>
                <a:latin typeface="Open Sans"/>
              </a:rPr>
              <a:t>PEDRA-PAPEL-TESOURA</a:t>
            </a:r>
            <a:r>
              <a:rPr sz="1300" b="0" i="0">
                <a:solidFill>
                  <a:srgbClr val="6F7772"/>
                </a:solidFill>
                <a:latin typeface="Open Sans"/>
              </a:rPr>
              <a:t>  Gingold, 2006</a:t>
            </a:r>
          </a:p>
        </p:txBody>
      </p:sp>
      <p:sp>
        <p:nvSpPr>
          <p:cNvPr id="15" name="TextBox 14"/>
          <p:cNvSpPr txBox="1"/>
          <p:nvPr/>
        </p:nvSpPr>
        <p:spPr>
          <a:xfrm>
            <a:off x="822960" y="5093208"/>
            <a:ext cx="4937760" cy="896112"/>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17201B"/>
                </a:solidFill>
                <a:latin typeface="Open Sans"/>
              </a:rPr>
              <a:t>para nenhuma escolha ser imbatível, as vantagens entre as escolhas precisam formar um ciclo</a:t>
            </a:r>
          </a:p>
        </p:txBody>
      </p:sp>
      <p:sp>
        <p:nvSpPr>
          <p:cNvPr id="16" name="Rounded Rectangle 15"/>
          <p:cNvSpPr/>
          <p:nvPr/>
        </p:nvSpPr>
        <p:spPr>
          <a:xfrm>
            <a:off x="6263640" y="1709928"/>
            <a:ext cx="5376672" cy="4389120"/>
          </a:xfrm>
          <a:prstGeom prst="roundRect">
            <a:avLst>
              <a:gd name="adj" fmla="val 2500"/>
            </a:avLst>
          </a:prstGeom>
          <a:solidFill>
            <a:srgbClr val="F2F4F3"/>
          </a:solidFill>
          <a:ln>
            <a:noFill/>
          </a:ln>
        </p:spPr>
        <p:txBody>
          <a:bodyPr rtlCol="0" anchor="ctr"/>
          <a:lstStyle/>
          <a:p>
            <a:pPr algn="ctr"/>
          </a:p>
        </p:txBody>
      </p:sp>
      <p:sp>
        <p:nvSpPr>
          <p:cNvPr id="17" name="TextBox 16"/>
          <p:cNvSpPr txBox="1"/>
          <p:nvPr/>
        </p:nvSpPr>
        <p:spPr>
          <a:xfrm>
            <a:off x="6537959" y="1847088"/>
            <a:ext cx="484632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O CICLO PROPOSTO</a:t>
            </a:r>
          </a:p>
        </p:txBody>
      </p:sp>
      <p:cxnSp>
        <p:nvCxnSpPr>
          <p:cNvPr id="18" name="Connector 17"/>
          <p:cNvCxnSpPr/>
          <p:nvPr/>
        </p:nvCxnSpPr>
        <p:spPr>
          <a:xfrm>
            <a:off x="9022362" y="3149165"/>
            <a:ext cx="453570" cy="329538"/>
          </a:xfrm>
          <a:prstGeom prst="line">
            <a:avLst/>
          </a:prstGeom>
          <a:ln w="22225">
            <a:solidFill>
              <a:srgbClr val="6F7772"/>
            </a:solidFill>
            <a:tailEnd type="triangle" w="med" len="med"/>
          </a:ln>
        </p:spPr>
      </p:cxnSp>
      <p:cxnSp>
        <p:nvCxnSpPr>
          <p:cNvPr id="19" name="Connector 18"/>
          <p:cNvCxnSpPr/>
          <p:nvPr/>
        </p:nvCxnSpPr>
        <p:spPr>
          <a:xfrm>
            <a:off x="8871486" y="3258783"/>
            <a:ext cx="399074" cy="1228222"/>
          </a:xfrm>
          <a:prstGeom prst="line">
            <a:avLst/>
          </a:prstGeom>
          <a:ln w="22225">
            <a:solidFill>
              <a:srgbClr val="6F7772"/>
            </a:solidFill>
            <a:tailEnd type="triangle" w="med" len="med"/>
          </a:ln>
        </p:spPr>
      </p:cxnSp>
      <p:cxnSp>
        <p:nvCxnSpPr>
          <p:cNvPr id="20" name="Connector 19"/>
          <p:cNvCxnSpPr/>
          <p:nvPr/>
        </p:nvCxnSpPr>
        <p:spPr>
          <a:xfrm flipH="1">
            <a:off x="9468355" y="3953801"/>
            <a:ext cx="173249" cy="533204"/>
          </a:xfrm>
          <a:prstGeom prst="line">
            <a:avLst/>
          </a:prstGeom>
          <a:ln w="22225">
            <a:solidFill>
              <a:srgbClr val="6F7772"/>
            </a:solidFill>
            <a:tailEnd type="triangle" w="med" len="med"/>
          </a:ln>
        </p:spPr>
      </p:cxnSp>
      <p:cxnSp>
        <p:nvCxnSpPr>
          <p:cNvPr id="21" name="Connector 20"/>
          <p:cNvCxnSpPr/>
          <p:nvPr/>
        </p:nvCxnSpPr>
        <p:spPr>
          <a:xfrm flipH="1">
            <a:off x="8445939" y="3844183"/>
            <a:ext cx="1044789" cy="759083"/>
          </a:xfrm>
          <a:prstGeom prst="line">
            <a:avLst/>
          </a:prstGeom>
          <a:ln w="22225">
            <a:solidFill>
              <a:srgbClr val="6F7772"/>
            </a:solidFill>
            <a:tailEnd type="triangle" w="med" len="med"/>
          </a:ln>
        </p:spPr>
      </p:cxnSp>
      <p:cxnSp>
        <p:nvCxnSpPr>
          <p:cNvPr id="22" name="Connector 21"/>
          <p:cNvCxnSpPr/>
          <p:nvPr/>
        </p:nvCxnSpPr>
        <p:spPr>
          <a:xfrm flipH="1">
            <a:off x="8507062" y="4791381"/>
            <a:ext cx="560643" cy="0"/>
          </a:xfrm>
          <a:prstGeom prst="line">
            <a:avLst/>
          </a:prstGeom>
          <a:ln w="22225">
            <a:solidFill>
              <a:srgbClr val="6F7772"/>
            </a:solidFill>
            <a:tailEnd type="triangle" w="med" len="med"/>
          </a:ln>
        </p:spPr>
      </p:cxnSp>
      <p:cxnSp>
        <p:nvCxnSpPr>
          <p:cNvPr id="23" name="Connector 22"/>
          <p:cNvCxnSpPr/>
          <p:nvPr/>
        </p:nvCxnSpPr>
        <p:spPr>
          <a:xfrm flipH="1" flipV="1">
            <a:off x="8080547" y="3854933"/>
            <a:ext cx="1044788" cy="759083"/>
          </a:xfrm>
          <a:prstGeom prst="line">
            <a:avLst/>
          </a:prstGeom>
          <a:ln w="22225">
            <a:solidFill>
              <a:srgbClr val="6F7772"/>
            </a:solidFill>
            <a:tailEnd type="triangle" w="med" len="med"/>
          </a:ln>
        </p:spPr>
      </p:cxnSp>
      <p:cxnSp>
        <p:nvCxnSpPr>
          <p:cNvPr id="24" name="Connector 23"/>
          <p:cNvCxnSpPr/>
          <p:nvPr/>
        </p:nvCxnSpPr>
        <p:spPr>
          <a:xfrm flipH="1" flipV="1">
            <a:off x="7920527" y="3971194"/>
            <a:ext cx="173248" cy="533204"/>
          </a:xfrm>
          <a:prstGeom prst="line">
            <a:avLst/>
          </a:prstGeom>
          <a:ln w="22225">
            <a:solidFill>
              <a:srgbClr val="6F7772"/>
            </a:solidFill>
            <a:tailEnd type="triangle" w="med" len="med"/>
          </a:ln>
        </p:spPr>
      </p:cxnSp>
      <p:cxnSp>
        <p:nvCxnSpPr>
          <p:cNvPr id="25" name="Connector 24"/>
          <p:cNvCxnSpPr/>
          <p:nvPr/>
        </p:nvCxnSpPr>
        <p:spPr>
          <a:xfrm flipV="1">
            <a:off x="8280268" y="3276176"/>
            <a:ext cx="399074" cy="1228222"/>
          </a:xfrm>
          <a:prstGeom prst="line">
            <a:avLst/>
          </a:prstGeom>
          <a:ln w="22225">
            <a:solidFill>
              <a:srgbClr val="6F7772"/>
            </a:solidFill>
            <a:tailEnd type="triangle" w="med" len="med"/>
          </a:ln>
        </p:spPr>
      </p:cxnSp>
      <p:cxnSp>
        <p:nvCxnSpPr>
          <p:cNvPr id="26" name="Connector 25"/>
          <p:cNvCxnSpPr/>
          <p:nvPr/>
        </p:nvCxnSpPr>
        <p:spPr>
          <a:xfrm flipV="1">
            <a:off x="8065751" y="3159914"/>
            <a:ext cx="453571" cy="329538"/>
          </a:xfrm>
          <a:prstGeom prst="line">
            <a:avLst/>
          </a:prstGeom>
          <a:ln w="22225">
            <a:solidFill>
              <a:srgbClr val="6F7772"/>
            </a:solidFill>
            <a:tailEnd type="triangle" w="med" len="med"/>
          </a:ln>
        </p:spPr>
      </p:cxnSp>
      <p:cxnSp>
        <p:nvCxnSpPr>
          <p:cNvPr id="27" name="Connector 26"/>
          <p:cNvCxnSpPr/>
          <p:nvPr/>
        </p:nvCxnSpPr>
        <p:spPr>
          <a:xfrm>
            <a:off x="8123381" y="3666818"/>
            <a:ext cx="1291429" cy="0"/>
          </a:xfrm>
          <a:prstGeom prst="line">
            <a:avLst/>
          </a:prstGeom>
          <a:ln w="22225">
            <a:solidFill>
              <a:srgbClr val="6F7772"/>
            </a:solidFill>
            <a:tailEnd type="triangle" w="med" len="med"/>
          </a:ln>
        </p:spPr>
      </p:cxnSp>
      <p:sp>
        <p:nvSpPr>
          <p:cNvPr id="28" name="Oval 27"/>
          <p:cNvSpPr/>
          <p:nvPr/>
        </p:nvSpPr>
        <p:spPr>
          <a:xfrm>
            <a:off x="8522208" y="2715768"/>
            <a:ext cx="512064" cy="512064"/>
          </a:xfrm>
          <a:prstGeom prst="ellipse">
            <a:avLst/>
          </a:prstGeom>
          <a:solidFill>
            <a:srgbClr val="CD191E"/>
          </a:solidFill>
          <a:ln>
            <a:noFill/>
          </a:ln>
        </p:spPr>
        <p:txBody>
          <a:bodyPr rtlCol="0" anchor="ctr"/>
          <a:lstStyle/>
          <a:p>
            <a:pPr algn="ctr"/>
          </a:p>
        </p:txBody>
      </p:sp>
      <p:sp>
        <p:nvSpPr>
          <p:cNvPr id="29" name="Oval 28"/>
          <p:cNvSpPr/>
          <p:nvPr/>
        </p:nvSpPr>
        <p:spPr>
          <a:xfrm>
            <a:off x="9478818" y="3410786"/>
            <a:ext cx="512064" cy="512064"/>
          </a:xfrm>
          <a:prstGeom prst="ellipse">
            <a:avLst/>
          </a:prstGeom>
          <a:solidFill>
            <a:srgbClr val="D4A017"/>
          </a:solidFill>
          <a:ln>
            <a:noFill/>
          </a:ln>
        </p:spPr>
        <p:txBody>
          <a:bodyPr rtlCol="0" anchor="ctr"/>
          <a:lstStyle/>
          <a:p>
            <a:pPr algn="ctr"/>
          </a:p>
        </p:txBody>
      </p:sp>
      <p:sp>
        <p:nvSpPr>
          <p:cNvPr id="30" name="Oval 29"/>
          <p:cNvSpPr/>
          <p:nvPr/>
        </p:nvSpPr>
        <p:spPr>
          <a:xfrm>
            <a:off x="9113425" y="4535349"/>
            <a:ext cx="512064" cy="512064"/>
          </a:xfrm>
          <a:prstGeom prst="ellipse">
            <a:avLst/>
          </a:prstGeom>
          <a:solidFill>
            <a:srgbClr val="6E4BB8"/>
          </a:solidFill>
          <a:ln>
            <a:noFill/>
          </a:ln>
        </p:spPr>
        <p:txBody>
          <a:bodyPr rtlCol="0" anchor="ctr"/>
          <a:lstStyle/>
          <a:p>
            <a:pPr algn="ctr"/>
          </a:p>
        </p:txBody>
      </p:sp>
      <p:sp>
        <p:nvSpPr>
          <p:cNvPr id="31" name="Oval 30"/>
          <p:cNvSpPr/>
          <p:nvPr/>
        </p:nvSpPr>
        <p:spPr>
          <a:xfrm>
            <a:off x="7930990" y="4535349"/>
            <a:ext cx="512064" cy="512064"/>
          </a:xfrm>
          <a:prstGeom prst="ellipse">
            <a:avLst/>
          </a:prstGeom>
          <a:solidFill>
            <a:srgbClr val="8A5A2B"/>
          </a:solidFill>
          <a:ln>
            <a:noFill/>
          </a:ln>
        </p:spPr>
        <p:txBody>
          <a:bodyPr rtlCol="0" anchor="ctr"/>
          <a:lstStyle/>
          <a:p>
            <a:pPr algn="ctr"/>
          </a:p>
        </p:txBody>
      </p:sp>
      <p:sp>
        <p:nvSpPr>
          <p:cNvPr id="32" name="Oval 31"/>
          <p:cNvSpPr/>
          <p:nvPr/>
        </p:nvSpPr>
        <p:spPr>
          <a:xfrm>
            <a:off x="7565597" y="3410786"/>
            <a:ext cx="512064" cy="512064"/>
          </a:xfrm>
          <a:prstGeom prst="ellipse">
            <a:avLst/>
          </a:prstGeom>
          <a:solidFill>
            <a:srgbClr val="2F9E41"/>
          </a:solidFill>
          <a:ln>
            <a:noFill/>
          </a:ln>
        </p:spPr>
        <p:txBody>
          <a:bodyPr rtlCol="0" anchor="ctr"/>
          <a:lstStyle/>
          <a:p>
            <a:pPr algn="ctr"/>
          </a:p>
        </p:txBody>
      </p:sp>
      <p:sp>
        <p:nvSpPr>
          <p:cNvPr id="33" name="TextBox 32"/>
          <p:cNvSpPr txBox="1"/>
          <p:nvPr/>
        </p:nvSpPr>
        <p:spPr>
          <a:xfrm>
            <a:off x="7886700" y="2221991"/>
            <a:ext cx="1783080" cy="502920"/>
          </a:xfrm>
          <a:prstGeom prst="rect">
            <a:avLst/>
          </a:prstGeom>
          <a:noFill/>
        </p:spPr>
        <p:txBody>
          <a:bodyPr wrap="square" lIns="0" rIns="0" tIns="0" bIns="0" anchor="t">
            <a:noAutofit/>
          </a:bodyPr>
          <a:lstStyle/>
          <a:p>
            <a:pPr algn="ctr">
              <a:lnSpc>
                <a:spcPct val="100000"/>
              </a:lnSpc>
              <a:spcBef>
                <a:spcPts val="0"/>
              </a:spcBef>
              <a:spcAft>
                <a:spcPts val="0"/>
              </a:spcAft>
            </a:pPr>
            <a:r>
              <a:rPr sz="1400" b="1" i="0">
                <a:solidFill>
                  <a:srgbClr val="17201B"/>
                </a:solidFill>
                <a:latin typeface="Open Sans"/>
              </a:rPr>
              <a:t>Rushdown</a:t>
            </a:r>
          </a:p>
          <a:p>
            <a:pPr algn="ctr">
              <a:lnSpc>
                <a:spcPct val="100000"/>
              </a:lnSpc>
              <a:spcBef>
                <a:spcPts val="0"/>
              </a:spcBef>
              <a:spcAft>
                <a:spcPts val="0"/>
              </a:spcAft>
            </a:pPr>
            <a:r>
              <a:rPr sz="1200" b="0" i="0">
                <a:solidFill>
                  <a:srgbClr val="4A524D"/>
                </a:solidFill>
                <a:latin typeface="Open Sans"/>
              </a:rPr>
              <a:t>pressão</a:t>
            </a:r>
          </a:p>
        </p:txBody>
      </p:sp>
      <p:sp>
        <p:nvSpPr>
          <p:cNvPr id="34" name="TextBox 33"/>
          <p:cNvSpPr txBox="1"/>
          <p:nvPr/>
        </p:nvSpPr>
        <p:spPr>
          <a:xfrm>
            <a:off x="10082322" y="3429074"/>
            <a:ext cx="1325880" cy="502920"/>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17201B"/>
                </a:solidFill>
                <a:latin typeface="Open Sans"/>
              </a:rPr>
              <a:t>Combo Master</a:t>
            </a:r>
          </a:p>
          <a:p>
            <a:pPr algn="l">
              <a:lnSpc>
                <a:spcPct val="100000"/>
              </a:lnSpc>
              <a:spcBef>
                <a:spcPts val="0"/>
              </a:spcBef>
              <a:spcAft>
                <a:spcPts val="0"/>
              </a:spcAft>
            </a:pPr>
            <a:r>
              <a:rPr sz="1200" b="0" i="0">
                <a:solidFill>
                  <a:srgbClr val="4A524D"/>
                </a:solidFill>
                <a:latin typeface="Open Sans"/>
              </a:rPr>
              <a:t>atordoamento</a:t>
            </a:r>
          </a:p>
        </p:txBody>
      </p:sp>
      <p:sp>
        <p:nvSpPr>
          <p:cNvPr id="35" name="TextBox 34"/>
          <p:cNvSpPr txBox="1"/>
          <p:nvPr/>
        </p:nvSpPr>
        <p:spPr>
          <a:xfrm>
            <a:off x="9716929" y="4553637"/>
            <a:ext cx="1325880" cy="502920"/>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17201B"/>
                </a:solidFill>
                <a:latin typeface="Open Sans"/>
              </a:rPr>
              <a:t>Zoner</a:t>
            </a:r>
          </a:p>
          <a:p>
            <a:pPr algn="l">
              <a:lnSpc>
                <a:spcPct val="100000"/>
              </a:lnSpc>
              <a:spcBef>
                <a:spcPts val="0"/>
              </a:spcBef>
              <a:spcAft>
                <a:spcPts val="0"/>
              </a:spcAft>
            </a:pPr>
            <a:r>
              <a:rPr sz="1200" b="0" i="0">
                <a:solidFill>
                  <a:srgbClr val="4A524D"/>
                </a:solidFill>
                <a:latin typeface="Open Sans"/>
              </a:rPr>
              <a:t>distância</a:t>
            </a:r>
          </a:p>
        </p:txBody>
      </p:sp>
      <p:sp>
        <p:nvSpPr>
          <p:cNvPr id="36" name="TextBox 35"/>
          <p:cNvSpPr txBox="1"/>
          <p:nvPr/>
        </p:nvSpPr>
        <p:spPr>
          <a:xfrm>
            <a:off x="6513670" y="4553637"/>
            <a:ext cx="1325880" cy="502920"/>
          </a:xfrm>
          <a:prstGeom prst="rect">
            <a:avLst/>
          </a:prstGeom>
          <a:noFill/>
        </p:spPr>
        <p:txBody>
          <a:bodyPr wrap="square" lIns="0" rIns="0" tIns="0" bIns="0" anchor="t">
            <a:noAutofit/>
          </a:bodyPr>
          <a:lstStyle/>
          <a:p>
            <a:pPr algn="r">
              <a:lnSpc>
                <a:spcPct val="100000"/>
              </a:lnSpc>
              <a:spcBef>
                <a:spcPts val="0"/>
              </a:spcBef>
              <a:spcAft>
                <a:spcPts val="0"/>
              </a:spcAft>
            </a:pPr>
            <a:r>
              <a:rPr sz="1400" b="1" i="0">
                <a:solidFill>
                  <a:srgbClr val="17201B"/>
                </a:solidFill>
                <a:latin typeface="Open Sans"/>
              </a:rPr>
              <a:t>Grappler</a:t>
            </a:r>
          </a:p>
          <a:p>
            <a:pPr algn="r">
              <a:lnSpc>
                <a:spcPct val="100000"/>
              </a:lnSpc>
              <a:spcBef>
                <a:spcPts val="0"/>
              </a:spcBef>
              <a:spcAft>
                <a:spcPts val="0"/>
              </a:spcAft>
            </a:pPr>
            <a:r>
              <a:rPr sz="1200" b="0" i="0">
                <a:solidFill>
                  <a:srgbClr val="4A524D"/>
                </a:solidFill>
                <a:latin typeface="Open Sans"/>
              </a:rPr>
              <a:t>agarrão</a:t>
            </a:r>
          </a:p>
        </p:txBody>
      </p:sp>
      <p:sp>
        <p:nvSpPr>
          <p:cNvPr id="37" name="TextBox 36"/>
          <p:cNvSpPr txBox="1"/>
          <p:nvPr/>
        </p:nvSpPr>
        <p:spPr>
          <a:xfrm>
            <a:off x="6148277" y="3429074"/>
            <a:ext cx="1325880" cy="502920"/>
          </a:xfrm>
          <a:prstGeom prst="rect">
            <a:avLst/>
          </a:prstGeom>
          <a:noFill/>
        </p:spPr>
        <p:txBody>
          <a:bodyPr wrap="square" lIns="0" rIns="0" tIns="0" bIns="0" anchor="t">
            <a:noAutofit/>
          </a:bodyPr>
          <a:lstStyle/>
          <a:p>
            <a:pPr algn="r">
              <a:lnSpc>
                <a:spcPct val="100000"/>
              </a:lnSpc>
              <a:spcBef>
                <a:spcPts val="0"/>
              </a:spcBef>
              <a:spcAft>
                <a:spcPts val="0"/>
              </a:spcAft>
            </a:pPr>
            <a:r>
              <a:rPr sz="1400" b="1" i="0">
                <a:solidFill>
                  <a:srgbClr val="17201B"/>
                </a:solidFill>
                <a:latin typeface="Open Sans"/>
              </a:rPr>
              <a:t>Turtle</a:t>
            </a:r>
          </a:p>
          <a:p>
            <a:pPr algn="r">
              <a:lnSpc>
                <a:spcPct val="100000"/>
              </a:lnSpc>
              <a:spcBef>
                <a:spcPts val="0"/>
              </a:spcBef>
              <a:spcAft>
                <a:spcPts val="0"/>
              </a:spcAft>
            </a:pPr>
            <a:r>
              <a:rPr sz="1200" b="0" i="0">
                <a:solidFill>
                  <a:srgbClr val="4A524D"/>
                </a:solidFill>
                <a:latin typeface="Open Sans"/>
              </a:rPr>
              <a:t>defesa</a:t>
            </a:r>
          </a:p>
        </p:txBody>
      </p:sp>
      <p:sp>
        <p:nvSpPr>
          <p:cNvPr id="38" name="TextBox 37"/>
          <p:cNvSpPr txBox="1"/>
          <p:nvPr/>
        </p:nvSpPr>
        <p:spPr>
          <a:xfrm>
            <a:off x="6537959" y="5248656"/>
            <a:ext cx="4828032" cy="822960"/>
          </a:xfrm>
          <a:prstGeom prst="rect">
            <a:avLst/>
          </a:prstGeom>
          <a:noFill/>
        </p:spPr>
        <p:txBody>
          <a:bodyPr wrap="square" lIns="0" rIns="0" tIns="0" bIns="0" anchor="t">
            <a:noAutofit/>
          </a:bodyPr>
          <a:lstStyle/>
          <a:p>
            <a:pPr algn="l">
              <a:lnSpc>
                <a:spcPct val="100000"/>
              </a:lnSpc>
              <a:spcBef>
                <a:spcPts val="0"/>
              </a:spcBef>
              <a:spcAft>
                <a:spcPts val="0"/>
              </a:spcAft>
            </a:pPr>
            <a:r>
              <a:rPr sz="1300" b="0" i="0">
                <a:solidFill>
                  <a:srgbClr val="6F7772"/>
                </a:solidFill>
                <a:latin typeface="Open Sans"/>
              </a:rPr>
              <a:t>A → B: A vence B</a:t>
            </a:r>
          </a:p>
          <a:p>
            <a:pPr algn="l">
              <a:lnSpc>
                <a:spcPct val="100000"/>
              </a:lnSpc>
              <a:spcBef>
                <a:spcPts val="300"/>
              </a:spcBef>
              <a:spcAft>
                <a:spcPts val="0"/>
              </a:spcAft>
            </a:pPr>
            <a:r>
              <a:rPr sz="1500" b="1" i="0">
                <a:solidFill>
                  <a:srgbClr val="17201B"/>
                </a:solidFill>
                <a:latin typeface="Open Sans"/>
              </a:rPr>
              <a:t>hipótese do autor, testada fora da aptidão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1" i="0">
                <a:solidFill>
                  <a:srgbClr val="FFFFFF"/>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Algoritmo genético: a aptidão é o único elo com o problema</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6</a:t>
            </a:r>
          </a:p>
        </p:txBody>
      </p:sp>
      <p:sp>
        <p:nvSpPr>
          <p:cNvPr id="7" name="Rounded Rectangle 6"/>
          <p:cNvSpPr/>
          <p:nvPr/>
        </p:nvSpPr>
        <p:spPr>
          <a:xfrm>
            <a:off x="548640" y="1709928"/>
            <a:ext cx="5897880" cy="4389120"/>
          </a:xfrm>
          <a:prstGeom prst="roundRect">
            <a:avLst>
              <a:gd name="adj" fmla="val 2500"/>
            </a:avLst>
          </a:prstGeom>
          <a:solidFill>
            <a:srgbClr val="F2F4F3"/>
          </a:solidFill>
          <a:ln>
            <a:noFill/>
          </a:ln>
        </p:spPr>
        <p:txBody>
          <a:bodyPr rtlCol="0" anchor="ctr"/>
          <a:lstStyle/>
          <a:p>
            <a:pPr algn="ctr"/>
          </a:p>
        </p:txBody>
      </p:sp>
      <p:sp>
        <p:nvSpPr>
          <p:cNvPr id="8" name="TextBox 7"/>
          <p:cNvSpPr txBox="1"/>
          <p:nvPr/>
        </p:nvSpPr>
        <p:spPr>
          <a:xfrm>
            <a:off x="868680" y="1847088"/>
            <a:ext cx="539496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ALGORITMO GENÉTICO</a:t>
            </a:r>
            <a:r>
              <a:rPr sz="1300" b="0" i="0">
                <a:solidFill>
                  <a:srgbClr val="6F7772"/>
                </a:solidFill>
                <a:latin typeface="Open Sans"/>
              </a:rPr>
              <a:t>  Holland, 1975; Goldberg, 1989</a:t>
            </a:r>
          </a:p>
        </p:txBody>
      </p:sp>
      <p:sp>
        <p:nvSpPr>
          <p:cNvPr id="9" name="Rounded Rectangle 8"/>
          <p:cNvSpPr/>
          <p:nvPr/>
        </p:nvSpPr>
        <p:spPr>
          <a:xfrm>
            <a:off x="1143000" y="2286000"/>
            <a:ext cx="1600200" cy="457200"/>
          </a:xfrm>
          <a:prstGeom prst="roundRect">
            <a:avLst>
              <a:gd name="adj" fmla="val 50000"/>
            </a:avLst>
          </a:prstGeom>
          <a:solidFill>
            <a:srgbClr val="17201B"/>
          </a:solidFill>
          <a:ln>
            <a:noFill/>
          </a:ln>
        </p:spPr>
        <p:txBody>
          <a:bodyPr rtlCol="0" anchor="ctr"/>
          <a:lstStyle/>
          <a:p>
            <a:pPr algn="ctr"/>
          </a:p>
        </p:txBody>
      </p:sp>
      <p:sp>
        <p:nvSpPr>
          <p:cNvPr id="10" name="TextBox 9"/>
          <p:cNvSpPr txBox="1"/>
          <p:nvPr/>
        </p:nvSpPr>
        <p:spPr>
          <a:xfrm>
            <a:off x="1143000" y="2286000"/>
            <a:ext cx="1600200" cy="457200"/>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FFFFFF"/>
                </a:solidFill>
                <a:latin typeface="Open Sans"/>
              </a:rPr>
              <a:t>população</a:t>
            </a:r>
          </a:p>
        </p:txBody>
      </p:sp>
      <p:sp>
        <p:nvSpPr>
          <p:cNvPr id="11" name="TextBox 10"/>
          <p:cNvSpPr txBox="1"/>
          <p:nvPr/>
        </p:nvSpPr>
        <p:spPr>
          <a:xfrm>
            <a:off x="2971800" y="2350008"/>
            <a:ext cx="3291840" cy="78638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7201B"/>
                </a:solidFill>
                <a:latin typeface="Open Sans"/>
              </a:rPr>
              <a:t>cada indivíduo é um cromossomo de genes</a:t>
            </a:r>
          </a:p>
        </p:txBody>
      </p:sp>
      <p:cxnSp>
        <p:nvCxnSpPr>
          <p:cNvPr id="12" name="Connector 11"/>
          <p:cNvCxnSpPr/>
          <p:nvPr/>
        </p:nvCxnSpPr>
        <p:spPr>
          <a:xfrm>
            <a:off x="1943100" y="2779776"/>
            <a:ext cx="0" cy="182880"/>
          </a:xfrm>
          <a:prstGeom prst="line">
            <a:avLst/>
          </a:prstGeom>
          <a:ln w="25400">
            <a:solidFill>
              <a:srgbClr val="6F7772"/>
            </a:solidFill>
            <a:tailEnd type="triangle" w="med" len="med"/>
          </a:ln>
        </p:spPr>
      </p:cxnSp>
      <p:sp>
        <p:nvSpPr>
          <p:cNvPr id="13" name="Rounded Rectangle 12"/>
          <p:cNvSpPr/>
          <p:nvPr/>
        </p:nvSpPr>
        <p:spPr>
          <a:xfrm>
            <a:off x="1143000" y="2999232"/>
            <a:ext cx="1600200" cy="457200"/>
          </a:xfrm>
          <a:prstGeom prst="roundRect">
            <a:avLst>
              <a:gd name="adj" fmla="val 50000"/>
            </a:avLst>
          </a:prstGeom>
          <a:solidFill>
            <a:srgbClr val="17201B"/>
          </a:solidFill>
          <a:ln>
            <a:noFill/>
          </a:ln>
        </p:spPr>
        <p:txBody>
          <a:bodyPr rtlCol="0" anchor="ctr"/>
          <a:lstStyle/>
          <a:p>
            <a:pPr algn="ctr"/>
          </a:p>
        </p:txBody>
      </p:sp>
      <p:sp>
        <p:nvSpPr>
          <p:cNvPr id="14" name="TextBox 13"/>
          <p:cNvSpPr txBox="1"/>
          <p:nvPr/>
        </p:nvSpPr>
        <p:spPr>
          <a:xfrm>
            <a:off x="1143000" y="2999232"/>
            <a:ext cx="1600200" cy="457200"/>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FFFFFF"/>
                </a:solidFill>
                <a:latin typeface="Open Sans"/>
              </a:rPr>
              <a:t>aptidão</a:t>
            </a:r>
          </a:p>
        </p:txBody>
      </p:sp>
      <p:sp>
        <p:nvSpPr>
          <p:cNvPr id="15" name="TextBox 14"/>
          <p:cNvSpPr txBox="1"/>
          <p:nvPr/>
        </p:nvSpPr>
        <p:spPr>
          <a:xfrm>
            <a:off x="2971800" y="3063239"/>
            <a:ext cx="3291840" cy="78638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7201B"/>
                </a:solidFill>
                <a:latin typeface="Open Sans"/>
              </a:rPr>
              <a:t>o único elo com o problema</a:t>
            </a:r>
          </a:p>
        </p:txBody>
      </p:sp>
      <p:cxnSp>
        <p:nvCxnSpPr>
          <p:cNvPr id="16" name="Connector 15"/>
          <p:cNvCxnSpPr/>
          <p:nvPr/>
        </p:nvCxnSpPr>
        <p:spPr>
          <a:xfrm>
            <a:off x="1943100" y="3493008"/>
            <a:ext cx="0" cy="182879"/>
          </a:xfrm>
          <a:prstGeom prst="line">
            <a:avLst/>
          </a:prstGeom>
          <a:ln w="25400">
            <a:solidFill>
              <a:srgbClr val="6F7772"/>
            </a:solidFill>
            <a:tailEnd type="triangle" w="med" len="med"/>
          </a:ln>
        </p:spPr>
      </p:cxnSp>
      <p:sp>
        <p:nvSpPr>
          <p:cNvPr id="17" name="Rounded Rectangle 16"/>
          <p:cNvSpPr/>
          <p:nvPr/>
        </p:nvSpPr>
        <p:spPr>
          <a:xfrm>
            <a:off x="1143000" y="3712463"/>
            <a:ext cx="1600200" cy="457200"/>
          </a:xfrm>
          <a:prstGeom prst="roundRect">
            <a:avLst>
              <a:gd name="adj" fmla="val 50000"/>
            </a:avLst>
          </a:prstGeom>
          <a:solidFill>
            <a:srgbClr val="17201B"/>
          </a:solidFill>
          <a:ln>
            <a:noFill/>
          </a:ln>
        </p:spPr>
        <p:txBody>
          <a:bodyPr rtlCol="0" anchor="ctr"/>
          <a:lstStyle/>
          <a:p>
            <a:pPr algn="ctr"/>
          </a:p>
        </p:txBody>
      </p:sp>
      <p:sp>
        <p:nvSpPr>
          <p:cNvPr id="18" name="TextBox 17"/>
          <p:cNvSpPr txBox="1"/>
          <p:nvPr/>
        </p:nvSpPr>
        <p:spPr>
          <a:xfrm>
            <a:off x="1143000" y="3712463"/>
            <a:ext cx="1600200" cy="457200"/>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FFFFFF"/>
                </a:solidFill>
                <a:latin typeface="Open Sans"/>
              </a:rPr>
              <a:t>seleção</a:t>
            </a:r>
          </a:p>
        </p:txBody>
      </p:sp>
      <p:sp>
        <p:nvSpPr>
          <p:cNvPr id="19" name="TextBox 18"/>
          <p:cNvSpPr txBox="1"/>
          <p:nvPr/>
        </p:nvSpPr>
        <p:spPr>
          <a:xfrm>
            <a:off x="2971800" y="3776472"/>
            <a:ext cx="3291840" cy="78638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7201B"/>
                </a:solidFill>
                <a:latin typeface="Open Sans"/>
              </a:rPr>
              <a:t>torneio: só a ordem das aptidões importa</a:t>
            </a:r>
          </a:p>
        </p:txBody>
      </p:sp>
      <p:cxnSp>
        <p:nvCxnSpPr>
          <p:cNvPr id="20" name="Connector 19"/>
          <p:cNvCxnSpPr/>
          <p:nvPr/>
        </p:nvCxnSpPr>
        <p:spPr>
          <a:xfrm>
            <a:off x="1943100" y="4206240"/>
            <a:ext cx="0" cy="182880"/>
          </a:xfrm>
          <a:prstGeom prst="line">
            <a:avLst/>
          </a:prstGeom>
          <a:ln w="25400">
            <a:solidFill>
              <a:srgbClr val="6F7772"/>
            </a:solidFill>
            <a:tailEnd type="triangle" w="med" len="med"/>
          </a:ln>
        </p:spPr>
      </p:cxnSp>
      <p:sp>
        <p:nvSpPr>
          <p:cNvPr id="21" name="Rounded Rectangle 20"/>
          <p:cNvSpPr/>
          <p:nvPr/>
        </p:nvSpPr>
        <p:spPr>
          <a:xfrm>
            <a:off x="1143000" y="4425696"/>
            <a:ext cx="1600200" cy="457200"/>
          </a:xfrm>
          <a:prstGeom prst="roundRect">
            <a:avLst>
              <a:gd name="adj" fmla="val 50000"/>
            </a:avLst>
          </a:prstGeom>
          <a:solidFill>
            <a:srgbClr val="17201B"/>
          </a:solidFill>
          <a:ln>
            <a:noFill/>
          </a:ln>
        </p:spPr>
        <p:txBody>
          <a:bodyPr rtlCol="0" anchor="ctr"/>
          <a:lstStyle/>
          <a:p>
            <a:pPr algn="ctr"/>
          </a:p>
        </p:txBody>
      </p:sp>
      <p:sp>
        <p:nvSpPr>
          <p:cNvPr id="22" name="TextBox 21"/>
          <p:cNvSpPr txBox="1"/>
          <p:nvPr/>
        </p:nvSpPr>
        <p:spPr>
          <a:xfrm>
            <a:off x="1143000" y="4425696"/>
            <a:ext cx="1600200" cy="457200"/>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FFFFFF"/>
                </a:solidFill>
                <a:latin typeface="Open Sans"/>
              </a:rPr>
              <a:t>variação</a:t>
            </a:r>
          </a:p>
        </p:txBody>
      </p:sp>
      <p:sp>
        <p:nvSpPr>
          <p:cNvPr id="23" name="TextBox 22"/>
          <p:cNvSpPr txBox="1"/>
          <p:nvPr/>
        </p:nvSpPr>
        <p:spPr>
          <a:xfrm>
            <a:off x="2971800" y="4489704"/>
            <a:ext cx="3291840" cy="786384"/>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17201B"/>
                </a:solidFill>
                <a:latin typeface="Open Sans"/>
              </a:rPr>
              <a:t>cruzamento por blocos e mutação gaussiana, cujo passo regula exploração e explotação</a:t>
            </a:r>
          </a:p>
        </p:txBody>
      </p:sp>
      <p:cxnSp>
        <p:nvCxnSpPr>
          <p:cNvPr id="24" name="Connector 23"/>
          <p:cNvCxnSpPr/>
          <p:nvPr/>
        </p:nvCxnSpPr>
        <p:spPr>
          <a:xfrm flipH="1">
            <a:off x="841248" y="4654296"/>
            <a:ext cx="301752" cy="0"/>
          </a:xfrm>
          <a:prstGeom prst="line">
            <a:avLst/>
          </a:prstGeom>
          <a:ln w="25400">
            <a:solidFill>
              <a:srgbClr val="6F7772"/>
            </a:solidFill>
          </a:ln>
        </p:spPr>
      </p:cxnSp>
      <p:cxnSp>
        <p:nvCxnSpPr>
          <p:cNvPr id="25" name="Connector 24"/>
          <p:cNvCxnSpPr/>
          <p:nvPr/>
        </p:nvCxnSpPr>
        <p:spPr>
          <a:xfrm flipV="1">
            <a:off x="841248" y="2514600"/>
            <a:ext cx="0" cy="2139696"/>
          </a:xfrm>
          <a:prstGeom prst="line">
            <a:avLst/>
          </a:prstGeom>
          <a:ln w="25400">
            <a:solidFill>
              <a:srgbClr val="6F7772"/>
            </a:solidFill>
          </a:ln>
        </p:spPr>
      </p:cxnSp>
      <p:cxnSp>
        <p:nvCxnSpPr>
          <p:cNvPr id="26" name="Connector 25"/>
          <p:cNvCxnSpPr/>
          <p:nvPr/>
        </p:nvCxnSpPr>
        <p:spPr>
          <a:xfrm>
            <a:off x="841248" y="2514600"/>
            <a:ext cx="283464" cy="0"/>
          </a:xfrm>
          <a:prstGeom prst="line">
            <a:avLst/>
          </a:prstGeom>
          <a:ln w="25400">
            <a:solidFill>
              <a:srgbClr val="6F7772"/>
            </a:solidFill>
            <a:tailEnd type="triangle" w="med" len="med"/>
          </a:ln>
        </p:spPr>
      </p:cxnSp>
      <p:sp>
        <p:nvSpPr>
          <p:cNvPr id="27" name="TextBox 26"/>
          <p:cNvSpPr txBox="1"/>
          <p:nvPr/>
        </p:nvSpPr>
        <p:spPr>
          <a:xfrm>
            <a:off x="868680" y="5413248"/>
            <a:ext cx="5394960" cy="548640"/>
          </a:xfrm>
          <a:prstGeom prst="rect">
            <a:avLst/>
          </a:prstGeom>
          <a:noFill/>
        </p:spPr>
        <p:txBody>
          <a:bodyPr wrap="square" lIns="0" rIns="0" tIns="0" bIns="0" anchor="t">
            <a:noAutofit/>
          </a:bodyPr>
          <a:lstStyle/>
          <a:p>
            <a:pPr algn="l">
              <a:lnSpc>
                <a:spcPct val="100000"/>
              </a:lnSpc>
              <a:spcBef>
                <a:spcPts val="0"/>
              </a:spcBef>
              <a:spcAft>
                <a:spcPts val="0"/>
              </a:spcAft>
            </a:pPr>
            <a:r>
              <a:rPr sz="1500" b="0" i="0">
                <a:solidFill>
                  <a:srgbClr val="4A524D"/>
                </a:solidFill>
                <a:latin typeface="Open Sans"/>
              </a:rPr>
              <a:t>elitismo: os melhores passam intactos à geração seguinte</a:t>
            </a:r>
          </a:p>
        </p:txBody>
      </p:sp>
      <p:sp>
        <p:nvSpPr>
          <p:cNvPr id="28" name="Rounded Rectangle 27"/>
          <p:cNvSpPr/>
          <p:nvPr/>
        </p:nvSpPr>
        <p:spPr>
          <a:xfrm>
            <a:off x="6675120" y="1709928"/>
            <a:ext cx="4965192" cy="4389120"/>
          </a:xfrm>
          <a:prstGeom prst="roundRect">
            <a:avLst>
              <a:gd name="adj" fmla="val 2500"/>
            </a:avLst>
          </a:prstGeom>
          <a:solidFill>
            <a:srgbClr val="F2F4F3"/>
          </a:solidFill>
          <a:ln>
            <a:noFill/>
          </a:ln>
        </p:spPr>
        <p:txBody>
          <a:bodyPr rtlCol="0" anchor="ctr"/>
          <a:lstStyle/>
          <a:p>
            <a:pPr algn="ctr"/>
          </a:p>
        </p:txBody>
      </p:sp>
      <p:sp>
        <p:nvSpPr>
          <p:cNvPr id="29" name="TextBox 28"/>
          <p:cNvSpPr txBox="1"/>
          <p:nvPr/>
        </p:nvSpPr>
        <p:spPr>
          <a:xfrm>
            <a:off x="6995159" y="1847088"/>
            <a:ext cx="438912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APTIDÃO RUIDOSA</a:t>
            </a:r>
            <a:r>
              <a:rPr sz="1300" b="0" i="0">
                <a:solidFill>
                  <a:srgbClr val="6F7772"/>
                </a:solidFill>
                <a:latin typeface="Open Sans"/>
              </a:rPr>
              <a:t>  Jin e Branke, 2005</a:t>
            </a:r>
          </a:p>
        </p:txBody>
      </p:sp>
      <p:cxnSp>
        <p:nvCxnSpPr>
          <p:cNvPr id="30" name="Connector 29"/>
          <p:cNvCxnSpPr/>
          <p:nvPr/>
        </p:nvCxnSpPr>
        <p:spPr>
          <a:xfrm>
            <a:off x="7498079" y="2606040"/>
            <a:ext cx="0" cy="1645920"/>
          </a:xfrm>
          <a:prstGeom prst="line">
            <a:avLst/>
          </a:prstGeom>
          <a:ln w="25400">
            <a:solidFill>
              <a:srgbClr val="AEB4B0"/>
            </a:solidFill>
          </a:ln>
        </p:spPr>
      </p:cxnSp>
      <p:cxnSp>
        <p:nvCxnSpPr>
          <p:cNvPr id="31" name="Connector 30"/>
          <p:cNvCxnSpPr/>
          <p:nvPr/>
        </p:nvCxnSpPr>
        <p:spPr>
          <a:xfrm>
            <a:off x="7360919" y="3429000"/>
            <a:ext cx="274321" cy="0"/>
          </a:xfrm>
          <a:prstGeom prst="line">
            <a:avLst/>
          </a:prstGeom>
          <a:ln w="31750">
            <a:solidFill>
              <a:srgbClr val="17201B"/>
            </a:solidFill>
          </a:ln>
        </p:spPr>
      </p:cxnSp>
      <p:sp>
        <p:nvSpPr>
          <p:cNvPr id="32" name="Oval 31"/>
          <p:cNvSpPr/>
          <p:nvPr/>
        </p:nvSpPr>
        <p:spPr>
          <a:xfrm>
            <a:off x="7420355" y="3625596"/>
            <a:ext cx="155448" cy="155448"/>
          </a:xfrm>
          <a:prstGeom prst="ellipse">
            <a:avLst/>
          </a:prstGeom>
          <a:solidFill>
            <a:srgbClr val="4A524D"/>
          </a:solidFill>
          <a:ln>
            <a:noFill/>
          </a:ln>
        </p:spPr>
        <p:txBody>
          <a:bodyPr rtlCol="0" anchor="ctr"/>
          <a:lstStyle/>
          <a:p>
            <a:pPr algn="ctr"/>
          </a:p>
        </p:txBody>
      </p:sp>
      <p:cxnSp>
        <p:nvCxnSpPr>
          <p:cNvPr id="33" name="Connector 32"/>
          <p:cNvCxnSpPr/>
          <p:nvPr/>
        </p:nvCxnSpPr>
        <p:spPr>
          <a:xfrm>
            <a:off x="8211311" y="2331720"/>
            <a:ext cx="0" cy="1645920"/>
          </a:xfrm>
          <a:prstGeom prst="line">
            <a:avLst/>
          </a:prstGeom>
          <a:ln w="25400">
            <a:solidFill>
              <a:srgbClr val="AEB4B0"/>
            </a:solidFill>
          </a:ln>
        </p:spPr>
      </p:cxnSp>
      <p:cxnSp>
        <p:nvCxnSpPr>
          <p:cNvPr id="34" name="Connector 33"/>
          <p:cNvCxnSpPr/>
          <p:nvPr/>
        </p:nvCxnSpPr>
        <p:spPr>
          <a:xfrm>
            <a:off x="8074151" y="3154680"/>
            <a:ext cx="274320" cy="0"/>
          </a:xfrm>
          <a:prstGeom prst="line">
            <a:avLst/>
          </a:prstGeom>
          <a:ln w="31750">
            <a:solidFill>
              <a:srgbClr val="17201B"/>
            </a:solidFill>
          </a:ln>
        </p:spPr>
      </p:cxnSp>
      <p:sp>
        <p:nvSpPr>
          <p:cNvPr id="35" name="Oval 34"/>
          <p:cNvSpPr/>
          <p:nvPr/>
        </p:nvSpPr>
        <p:spPr>
          <a:xfrm>
            <a:off x="8133587" y="2894076"/>
            <a:ext cx="155448" cy="155448"/>
          </a:xfrm>
          <a:prstGeom prst="ellipse">
            <a:avLst/>
          </a:prstGeom>
          <a:solidFill>
            <a:srgbClr val="4A524D"/>
          </a:solidFill>
          <a:ln>
            <a:noFill/>
          </a:ln>
        </p:spPr>
        <p:txBody>
          <a:bodyPr rtlCol="0" anchor="ctr"/>
          <a:lstStyle/>
          <a:p>
            <a:pPr algn="ctr"/>
          </a:p>
        </p:txBody>
      </p:sp>
      <p:cxnSp>
        <p:nvCxnSpPr>
          <p:cNvPr id="36" name="Connector 35"/>
          <p:cNvCxnSpPr/>
          <p:nvPr/>
        </p:nvCxnSpPr>
        <p:spPr>
          <a:xfrm>
            <a:off x="8924544" y="2651760"/>
            <a:ext cx="0" cy="1645920"/>
          </a:xfrm>
          <a:prstGeom prst="line">
            <a:avLst/>
          </a:prstGeom>
          <a:ln w="25400">
            <a:solidFill>
              <a:srgbClr val="AEB4B0"/>
            </a:solidFill>
          </a:ln>
        </p:spPr>
      </p:cxnSp>
      <p:cxnSp>
        <p:nvCxnSpPr>
          <p:cNvPr id="37" name="Connector 36"/>
          <p:cNvCxnSpPr/>
          <p:nvPr/>
        </p:nvCxnSpPr>
        <p:spPr>
          <a:xfrm>
            <a:off x="8787384" y="3474720"/>
            <a:ext cx="274320" cy="0"/>
          </a:xfrm>
          <a:prstGeom prst="line">
            <a:avLst/>
          </a:prstGeom>
          <a:ln w="31750">
            <a:solidFill>
              <a:srgbClr val="17201B"/>
            </a:solidFill>
          </a:ln>
        </p:spPr>
      </p:cxnSp>
      <p:sp>
        <p:nvSpPr>
          <p:cNvPr id="38" name="Oval 37"/>
          <p:cNvSpPr/>
          <p:nvPr/>
        </p:nvSpPr>
        <p:spPr>
          <a:xfrm>
            <a:off x="8846819" y="3122676"/>
            <a:ext cx="155448" cy="155448"/>
          </a:xfrm>
          <a:prstGeom prst="ellipse">
            <a:avLst/>
          </a:prstGeom>
          <a:solidFill>
            <a:srgbClr val="4A524D"/>
          </a:solidFill>
          <a:ln>
            <a:noFill/>
          </a:ln>
        </p:spPr>
        <p:txBody>
          <a:bodyPr rtlCol="0" anchor="ctr"/>
          <a:lstStyle/>
          <a:p>
            <a:pPr algn="ctr"/>
          </a:p>
        </p:txBody>
      </p:sp>
      <p:cxnSp>
        <p:nvCxnSpPr>
          <p:cNvPr id="39" name="Connector 38"/>
          <p:cNvCxnSpPr/>
          <p:nvPr/>
        </p:nvCxnSpPr>
        <p:spPr>
          <a:xfrm>
            <a:off x="9637776" y="2514600"/>
            <a:ext cx="0" cy="1645920"/>
          </a:xfrm>
          <a:prstGeom prst="line">
            <a:avLst/>
          </a:prstGeom>
          <a:ln w="25400">
            <a:solidFill>
              <a:srgbClr val="AEB4B0"/>
            </a:solidFill>
          </a:ln>
        </p:spPr>
      </p:cxnSp>
      <p:cxnSp>
        <p:nvCxnSpPr>
          <p:cNvPr id="40" name="Connector 39"/>
          <p:cNvCxnSpPr/>
          <p:nvPr/>
        </p:nvCxnSpPr>
        <p:spPr>
          <a:xfrm>
            <a:off x="9500615" y="3337560"/>
            <a:ext cx="274321" cy="0"/>
          </a:xfrm>
          <a:prstGeom prst="line">
            <a:avLst/>
          </a:prstGeom>
          <a:ln w="31750">
            <a:solidFill>
              <a:srgbClr val="17201B"/>
            </a:solidFill>
          </a:ln>
        </p:spPr>
      </p:cxnSp>
      <p:sp>
        <p:nvSpPr>
          <p:cNvPr id="41" name="Oval 40"/>
          <p:cNvSpPr/>
          <p:nvPr/>
        </p:nvSpPr>
        <p:spPr>
          <a:xfrm>
            <a:off x="9537192" y="2459736"/>
            <a:ext cx="201168" cy="201168"/>
          </a:xfrm>
          <a:prstGeom prst="ellipse">
            <a:avLst/>
          </a:prstGeom>
          <a:solidFill>
            <a:srgbClr val="CD191E"/>
          </a:solidFill>
          <a:ln>
            <a:noFill/>
          </a:ln>
        </p:spPr>
        <p:txBody>
          <a:bodyPr rtlCol="0" anchor="ctr"/>
          <a:lstStyle/>
          <a:p>
            <a:pPr algn="ctr"/>
          </a:p>
        </p:txBody>
      </p:sp>
      <p:cxnSp>
        <p:nvCxnSpPr>
          <p:cNvPr id="42" name="Connector 41"/>
          <p:cNvCxnSpPr/>
          <p:nvPr/>
        </p:nvCxnSpPr>
        <p:spPr>
          <a:xfrm>
            <a:off x="10351008" y="2286000"/>
            <a:ext cx="0" cy="1645920"/>
          </a:xfrm>
          <a:prstGeom prst="line">
            <a:avLst/>
          </a:prstGeom>
          <a:ln w="25400">
            <a:solidFill>
              <a:srgbClr val="AEB4B0"/>
            </a:solidFill>
          </a:ln>
        </p:spPr>
      </p:cxnSp>
      <p:cxnSp>
        <p:nvCxnSpPr>
          <p:cNvPr id="43" name="Connector 42"/>
          <p:cNvCxnSpPr/>
          <p:nvPr/>
        </p:nvCxnSpPr>
        <p:spPr>
          <a:xfrm>
            <a:off x="10213848" y="3108960"/>
            <a:ext cx="274320" cy="0"/>
          </a:xfrm>
          <a:prstGeom prst="line">
            <a:avLst/>
          </a:prstGeom>
          <a:ln w="31750">
            <a:solidFill>
              <a:srgbClr val="17201B"/>
            </a:solidFill>
          </a:ln>
        </p:spPr>
      </p:cxnSp>
      <p:sp>
        <p:nvSpPr>
          <p:cNvPr id="44" name="Oval 43"/>
          <p:cNvSpPr/>
          <p:nvPr/>
        </p:nvSpPr>
        <p:spPr>
          <a:xfrm>
            <a:off x="10273284" y="3168396"/>
            <a:ext cx="155448" cy="155448"/>
          </a:xfrm>
          <a:prstGeom prst="ellipse">
            <a:avLst/>
          </a:prstGeom>
          <a:solidFill>
            <a:srgbClr val="4A524D"/>
          </a:solidFill>
          <a:ln>
            <a:noFill/>
          </a:ln>
        </p:spPr>
        <p:txBody>
          <a:bodyPr rtlCol="0" anchor="ctr"/>
          <a:lstStyle/>
          <a:p>
            <a:pPr algn="ctr"/>
          </a:p>
        </p:txBody>
      </p:sp>
      <p:cxnSp>
        <p:nvCxnSpPr>
          <p:cNvPr id="45" name="Connector 44"/>
          <p:cNvCxnSpPr/>
          <p:nvPr/>
        </p:nvCxnSpPr>
        <p:spPr>
          <a:xfrm>
            <a:off x="11064240" y="2560320"/>
            <a:ext cx="0" cy="1645920"/>
          </a:xfrm>
          <a:prstGeom prst="line">
            <a:avLst/>
          </a:prstGeom>
          <a:ln w="25400">
            <a:solidFill>
              <a:srgbClr val="AEB4B0"/>
            </a:solidFill>
          </a:ln>
        </p:spPr>
      </p:cxnSp>
      <p:cxnSp>
        <p:nvCxnSpPr>
          <p:cNvPr id="46" name="Connector 45"/>
          <p:cNvCxnSpPr/>
          <p:nvPr/>
        </p:nvCxnSpPr>
        <p:spPr>
          <a:xfrm>
            <a:off x="10927080" y="3383280"/>
            <a:ext cx="274320" cy="0"/>
          </a:xfrm>
          <a:prstGeom prst="line">
            <a:avLst/>
          </a:prstGeom>
          <a:ln w="31750">
            <a:solidFill>
              <a:srgbClr val="17201B"/>
            </a:solidFill>
          </a:ln>
        </p:spPr>
      </p:cxnSp>
      <p:sp>
        <p:nvSpPr>
          <p:cNvPr id="47" name="Oval 46"/>
          <p:cNvSpPr/>
          <p:nvPr/>
        </p:nvSpPr>
        <p:spPr>
          <a:xfrm>
            <a:off x="10986515" y="3442716"/>
            <a:ext cx="155448" cy="155448"/>
          </a:xfrm>
          <a:prstGeom prst="ellipse">
            <a:avLst/>
          </a:prstGeom>
          <a:solidFill>
            <a:srgbClr val="4A524D"/>
          </a:solidFill>
          <a:ln>
            <a:noFill/>
          </a:ln>
        </p:spPr>
        <p:txBody>
          <a:bodyPr rtlCol="0" anchor="ctr"/>
          <a:lstStyle/>
          <a:p>
            <a:pPr algn="ctr"/>
          </a:p>
        </p:txBody>
      </p:sp>
      <p:sp>
        <p:nvSpPr>
          <p:cNvPr id="48" name="TextBox 47"/>
          <p:cNvSpPr txBox="1"/>
          <p:nvPr/>
        </p:nvSpPr>
        <p:spPr>
          <a:xfrm>
            <a:off x="8403336" y="2304288"/>
            <a:ext cx="1024128" cy="237744"/>
          </a:xfrm>
          <a:prstGeom prst="rect">
            <a:avLst/>
          </a:prstGeom>
          <a:noFill/>
        </p:spPr>
        <p:txBody>
          <a:bodyPr wrap="square" lIns="0" rIns="0" tIns="0" bIns="0" anchor="t">
            <a:noAutofit/>
          </a:bodyPr>
          <a:lstStyle/>
          <a:p>
            <a:pPr algn="r">
              <a:lnSpc>
                <a:spcPct val="100000"/>
              </a:lnSpc>
              <a:spcBef>
                <a:spcPts val="0"/>
              </a:spcBef>
              <a:spcAft>
                <a:spcPts val="0"/>
              </a:spcAft>
            </a:pPr>
            <a:r>
              <a:rPr sz="1300" b="1" i="0">
                <a:solidFill>
                  <a:srgbClr val="CD191E"/>
                </a:solidFill>
                <a:latin typeface="Open Sans"/>
              </a:rPr>
              <a:t>selecionado</a:t>
            </a:r>
          </a:p>
        </p:txBody>
      </p:sp>
      <p:sp>
        <p:nvSpPr>
          <p:cNvPr id="49" name="TextBox 48"/>
          <p:cNvSpPr txBox="1"/>
          <p:nvPr/>
        </p:nvSpPr>
        <p:spPr>
          <a:xfrm>
            <a:off x="6995159" y="4407408"/>
            <a:ext cx="4389120" cy="237744"/>
          </a:xfrm>
          <a:prstGeom prst="rect">
            <a:avLst/>
          </a:prstGeom>
          <a:noFill/>
        </p:spPr>
        <p:txBody>
          <a:bodyPr wrap="square" lIns="0" rIns="0" tIns="0" bIns="0" anchor="t">
            <a:noAutofit/>
          </a:bodyPr>
          <a:lstStyle/>
          <a:p>
            <a:pPr algn="l">
              <a:lnSpc>
                <a:spcPct val="100000"/>
              </a:lnSpc>
              <a:spcBef>
                <a:spcPts val="0"/>
              </a:spcBef>
              <a:spcAft>
                <a:spcPts val="0"/>
              </a:spcAft>
            </a:pPr>
            <a:r>
              <a:rPr sz="1300" b="0" i="0">
                <a:solidFill>
                  <a:srgbClr val="6F7772"/>
                </a:solidFill>
                <a:latin typeface="Open Sans"/>
              </a:rPr>
              <a:t>traço: valor real · ponto: estimativa · barra: ruído</a:t>
            </a:r>
          </a:p>
        </p:txBody>
      </p:sp>
      <p:sp>
        <p:nvSpPr>
          <p:cNvPr id="50" name="TextBox 49"/>
          <p:cNvSpPr txBox="1"/>
          <p:nvPr/>
        </p:nvSpPr>
        <p:spPr>
          <a:xfrm>
            <a:off x="6995159" y="4736592"/>
            <a:ext cx="4343400" cy="566928"/>
          </a:xfrm>
          <a:prstGeom prst="rect">
            <a:avLst/>
          </a:prstGeom>
          <a:noFill/>
        </p:spPr>
        <p:txBody>
          <a:bodyPr wrap="square" lIns="0" rIns="0" tIns="0" bIns="0" anchor="t">
            <a:noAutofit/>
          </a:bodyPr>
          <a:lstStyle/>
          <a:p>
            <a:pPr algn="l">
              <a:lnSpc>
                <a:spcPct val="100000"/>
              </a:lnSpc>
              <a:spcBef>
                <a:spcPts val="0"/>
              </a:spcBef>
              <a:spcAft>
                <a:spcPts val="0"/>
              </a:spcAft>
            </a:pPr>
            <a:r>
              <a:rPr sz="1600" b="1" i="0">
                <a:solidFill>
                  <a:srgbClr val="17201B"/>
                </a:solidFill>
                <a:latin typeface="Open Sans"/>
              </a:rPr>
              <a:t>o mais bem avaliado é, em parte, o mais sortudo</a:t>
            </a:r>
          </a:p>
        </p:txBody>
      </p:sp>
      <p:sp>
        <p:nvSpPr>
          <p:cNvPr id="51" name="TextBox 50"/>
          <p:cNvSpPr txBox="1"/>
          <p:nvPr/>
        </p:nvSpPr>
        <p:spPr>
          <a:xfrm>
            <a:off x="6995159" y="5376672"/>
            <a:ext cx="4343400" cy="566928"/>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4A524D"/>
                </a:solidFill>
                <a:latin typeface="Open Sans"/>
              </a:rPr>
              <a:t>defesas: números aleatórios comuns (Law, 2015) e reavaliação com sorteios novos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1" i="0">
                <a:solidFill>
                  <a:srgbClr val="FFFFFF"/>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Trabalhos relacionados: nenhum mede se a identidade sobrevive</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8</a:t>
            </a:r>
          </a:p>
        </p:txBody>
      </p:sp>
      <p:sp>
        <p:nvSpPr>
          <p:cNvPr id="7" name="Rounded Rectangle 6"/>
          <p:cNvSpPr/>
          <p:nvPr/>
        </p:nvSpPr>
        <p:spPr>
          <a:xfrm>
            <a:off x="548640" y="1709928"/>
            <a:ext cx="11091672" cy="777240"/>
          </a:xfrm>
          <a:prstGeom prst="roundRect">
            <a:avLst>
              <a:gd name="adj" fmla="val 7058"/>
            </a:avLst>
          </a:prstGeom>
          <a:solidFill>
            <a:srgbClr val="1F6E2E"/>
          </a:solidFill>
          <a:ln>
            <a:noFill/>
          </a:ln>
        </p:spPr>
        <p:txBody>
          <a:bodyPr rtlCol="0" anchor="ctr"/>
          <a:lstStyle/>
          <a:p>
            <a:pPr algn="ctr"/>
          </a:p>
        </p:txBody>
      </p:sp>
      <p:sp>
        <p:nvSpPr>
          <p:cNvPr id="8" name="TextBox 7"/>
          <p:cNvSpPr txBox="1"/>
          <p:nvPr/>
        </p:nvSpPr>
        <p:spPr>
          <a:xfrm>
            <a:off x="676656" y="1709928"/>
            <a:ext cx="1984248" cy="777240"/>
          </a:xfrm>
          <a:prstGeom prst="rect">
            <a:avLst/>
          </a:prstGeom>
          <a:noFill/>
        </p:spPr>
        <p:txBody>
          <a:bodyPr wrap="square" lIns="0" rIns="0" tIns="0" bIns="0" anchor="ctr">
            <a:noAutofit/>
          </a:bodyPr>
          <a:lstStyle/>
          <a:p>
            <a:pPr algn="l">
              <a:lnSpc>
                <a:spcPct val="100000"/>
              </a:lnSpc>
              <a:spcBef>
                <a:spcPts val="0"/>
              </a:spcBef>
              <a:spcAft>
                <a:spcPts val="0"/>
              </a:spcAft>
            </a:pPr>
            <a:r>
              <a:rPr sz="1300" b="1" i="0">
                <a:solidFill>
                  <a:srgbClr val="FFFFFF"/>
                </a:solidFill>
                <a:latin typeface="Open Sans"/>
              </a:rPr>
              <a:t>Trabalho</a:t>
            </a:r>
          </a:p>
        </p:txBody>
      </p:sp>
      <p:sp>
        <p:nvSpPr>
          <p:cNvPr id="9" name="TextBox 8"/>
          <p:cNvSpPr txBox="1"/>
          <p:nvPr/>
        </p:nvSpPr>
        <p:spPr>
          <a:xfrm>
            <a:off x="2916936" y="1709928"/>
            <a:ext cx="1801368" cy="777240"/>
          </a:xfrm>
          <a:prstGeom prst="rect">
            <a:avLst/>
          </a:prstGeom>
          <a:noFill/>
        </p:spPr>
        <p:txBody>
          <a:bodyPr wrap="square" lIns="0" rIns="0" tIns="0" bIns="0" anchor="ctr">
            <a:noAutofit/>
          </a:bodyPr>
          <a:lstStyle/>
          <a:p>
            <a:pPr algn="l">
              <a:lnSpc>
                <a:spcPct val="100000"/>
              </a:lnSpc>
              <a:spcBef>
                <a:spcPts val="0"/>
              </a:spcBef>
              <a:spcAft>
                <a:spcPts val="0"/>
              </a:spcAft>
            </a:pPr>
            <a:r>
              <a:rPr sz="1300" b="1" i="0">
                <a:solidFill>
                  <a:srgbClr val="FFFFFF"/>
                </a:solidFill>
                <a:latin typeface="Open Sans"/>
              </a:rPr>
              <a:t>Domínio</a:t>
            </a:r>
          </a:p>
        </p:txBody>
      </p:sp>
      <p:sp>
        <p:nvSpPr>
          <p:cNvPr id="10" name="TextBox 9"/>
          <p:cNvSpPr txBox="1"/>
          <p:nvPr/>
        </p:nvSpPr>
        <p:spPr>
          <a:xfrm>
            <a:off x="4974336" y="1709928"/>
            <a:ext cx="2304287" cy="777240"/>
          </a:xfrm>
          <a:prstGeom prst="rect">
            <a:avLst/>
          </a:prstGeom>
          <a:noFill/>
        </p:spPr>
        <p:txBody>
          <a:bodyPr wrap="square" lIns="0" rIns="0" tIns="0" bIns="0" anchor="ctr">
            <a:noAutofit/>
          </a:bodyPr>
          <a:lstStyle/>
          <a:p>
            <a:pPr algn="l">
              <a:lnSpc>
                <a:spcPct val="100000"/>
              </a:lnSpc>
              <a:spcBef>
                <a:spcPts val="0"/>
              </a:spcBef>
              <a:spcAft>
                <a:spcPts val="0"/>
              </a:spcAft>
            </a:pPr>
            <a:r>
              <a:rPr sz="1300" b="1" i="0">
                <a:solidFill>
                  <a:srgbClr val="FFFFFF"/>
                </a:solidFill>
                <a:latin typeface="Open Sans"/>
              </a:rPr>
              <a:t>Formulação</a:t>
            </a:r>
          </a:p>
        </p:txBody>
      </p:sp>
      <p:sp>
        <p:nvSpPr>
          <p:cNvPr id="11" name="TextBox 10"/>
          <p:cNvSpPr txBox="1"/>
          <p:nvPr/>
        </p:nvSpPr>
        <p:spPr>
          <a:xfrm>
            <a:off x="7534656" y="1709928"/>
            <a:ext cx="1161288" cy="777240"/>
          </a:xfrm>
          <a:prstGeom prst="rect">
            <a:avLst/>
          </a:prstGeom>
          <a:noFill/>
        </p:spPr>
        <p:txBody>
          <a:bodyPr wrap="square" lIns="0" rIns="0" tIns="0" bIns="0" anchor="ctr">
            <a:noAutofit/>
          </a:bodyPr>
          <a:lstStyle/>
          <a:p>
            <a:pPr algn="ctr">
              <a:lnSpc>
                <a:spcPct val="100000"/>
              </a:lnSpc>
              <a:spcBef>
                <a:spcPts val="0"/>
              </a:spcBef>
              <a:spcAft>
                <a:spcPts val="0"/>
              </a:spcAft>
            </a:pPr>
            <a:r>
              <a:rPr sz="1300" b="1" i="0">
                <a:solidFill>
                  <a:srgbClr val="FFFFFF"/>
                </a:solidFill>
                <a:latin typeface="Open Sans"/>
              </a:rPr>
              <a:t>Luta em tempo real</a:t>
            </a:r>
          </a:p>
        </p:txBody>
      </p:sp>
      <p:sp>
        <p:nvSpPr>
          <p:cNvPr id="12" name="TextBox 11"/>
          <p:cNvSpPr txBox="1"/>
          <p:nvPr/>
        </p:nvSpPr>
        <p:spPr>
          <a:xfrm>
            <a:off x="8951976" y="1709928"/>
            <a:ext cx="1143000" cy="777240"/>
          </a:xfrm>
          <a:prstGeom prst="rect">
            <a:avLst/>
          </a:prstGeom>
          <a:noFill/>
        </p:spPr>
        <p:txBody>
          <a:bodyPr wrap="square" lIns="0" rIns="0" tIns="0" bIns="0" anchor="ctr">
            <a:noAutofit/>
          </a:bodyPr>
          <a:lstStyle/>
          <a:p>
            <a:pPr algn="ctr">
              <a:lnSpc>
                <a:spcPct val="100000"/>
              </a:lnSpc>
              <a:spcBef>
                <a:spcPts val="0"/>
              </a:spcBef>
              <a:spcAft>
                <a:spcPts val="0"/>
              </a:spcAft>
            </a:pPr>
            <a:r>
              <a:rPr sz="1300" b="1" i="0">
                <a:solidFill>
                  <a:srgbClr val="FFFFFF"/>
                </a:solidFill>
                <a:latin typeface="Open Sans"/>
              </a:rPr>
              <a:t>Equilíbrio × identidade</a:t>
            </a:r>
          </a:p>
        </p:txBody>
      </p:sp>
      <p:sp>
        <p:nvSpPr>
          <p:cNvPr id="13" name="TextBox 12"/>
          <p:cNvSpPr txBox="1"/>
          <p:nvPr/>
        </p:nvSpPr>
        <p:spPr>
          <a:xfrm>
            <a:off x="10351008" y="1709928"/>
            <a:ext cx="1161288" cy="777240"/>
          </a:xfrm>
          <a:prstGeom prst="rect">
            <a:avLst/>
          </a:prstGeom>
          <a:noFill/>
        </p:spPr>
        <p:txBody>
          <a:bodyPr wrap="square" lIns="0" rIns="0" tIns="0" bIns="0" anchor="ctr">
            <a:noAutofit/>
          </a:bodyPr>
          <a:lstStyle/>
          <a:p>
            <a:pPr algn="ctr">
              <a:lnSpc>
                <a:spcPct val="100000"/>
              </a:lnSpc>
              <a:spcBef>
                <a:spcPts val="0"/>
              </a:spcBef>
              <a:spcAft>
                <a:spcPts val="0"/>
              </a:spcAft>
            </a:pPr>
            <a:r>
              <a:rPr sz="1300" b="1" i="0">
                <a:solidFill>
                  <a:srgbClr val="FFFFFF"/>
                </a:solidFill>
                <a:latin typeface="Open Sans"/>
              </a:rPr>
              <a:t>Identidade fora da busca</a:t>
            </a:r>
          </a:p>
        </p:txBody>
      </p:sp>
      <p:sp>
        <p:nvSpPr>
          <p:cNvPr id="14" name="Rectangle 13"/>
          <p:cNvSpPr/>
          <p:nvPr/>
        </p:nvSpPr>
        <p:spPr>
          <a:xfrm>
            <a:off x="548640" y="2487168"/>
            <a:ext cx="11091672" cy="603504"/>
          </a:xfrm>
          <a:prstGeom prst="rect">
            <a:avLst/>
          </a:prstGeom>
          <a:solidFill>
            <a:srgbClr val="F2F4F3"/>
          </a:solidFill>
          <a:ln>
            <a:noFill/>
          </a:ln>
        </p:spPr>
        <p:txBody>
          <a:bodyPr rtlCol="0" anchor="ctr"/>
          <a:lstStyle/>
          <a:p>
            <a:pPr algn="ctr"/>
          </a:p>
        </p:txBody>
      </p:sp>
      <p:sp>
        <p:nvSpPr>
          <p:cNvPr id="15" name="TextBox 14"/>
          <p:cNvSpPr txBox="1"/>
          <p:nvPr/>
        </p:nvSpPr>
        <p:spPr>
          <a:xfrm>
            <a:off x="676656" y="2487168"/>
            <a:ext cx="1984248" cy="603504"/>
          </a:xfrm>
          <a:prstGeom prst="rect">
            <a:avLst/>
          </a:prstGeom>
          <a:noFill/>
        </p:spPr>
        <p:txBody>
          <a:bodyPr wrap="square" lIns="0" rIns="0" tIns="0" bIns="0" anchor="ctr">
            <a:noAutofit/>
          </a:bodyPr>
          <a:lstStyle/>
          <a:p>
            <a:pPr algn="l">
              <a:lnSpc>
                <a:spcPct val="100000"/>
              </a:lnSpc>
              <a:spcBef>
                <a:spcPts val="0"/>
              </a:spcBef>
              <a:spcAft>
                <a:spcPts val="0"/>
              </a:spcAft>
            </a:pPr>
            <a:r>
              <a:rPr sz="1400" b="1" i="0">
                <a:solidFill>
                  <a:srgbClr val="17201B"/>
                </a:solidFill>
                <a:latin typeface="Open Sans"/>
              </a:rPr>
              <a:t>Hom e Marks (2007)</a:t>
            </a:r>
          </a:p>
        </p:txBody>
      </p:sp>
      <p:sp>
        <p:nvSpPr>
          <p:cNvPr id="16" name="TextBox 15"/>
          <p:cNvSpPr txBox="1"/>
          <p:nvPr/>
        </p:nvSpPr>
        <p:spPr>
          <a:xfrm>
            <a:off x="2916936" y="2487168"/>
            <a:ext cx="1801368" cy="603504"/>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7201B"/>
                </a:solidFill>
                <a:latin typeface="Open Sans"/>
              </a:rPr>
              <a:t>jogos de tabuleiro</a:t>
            </a:r>
          </a:p>
        </p:txBody>
      </p:sp>
      <p:sp>
        <p:nvSpPr>
          <p:cNvPr id="17" name="TextBox 16"/>
          <p:cNvSpPr txBox="1"/>
          <p:nvPr/>
        </p:nvSpPr>
        <p:spPr>
          <a:xfrm>
            <a:off x="4974336" y="2487168"/>
            <a:ext cx="2304287" cy="603504"/>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7201B"/>
                </a:solidFill>
                <a:latin typeface="Open Sans"/>
              </a:rPr>
              <a:t>AG sobre as regras</a:t>
            </a:r>
          </a:p>
        </p:txBody>
      </p:sp>
      <p:sp>
        <p:nvSpPr>
          <p:cNvPr id="18" name="TextBox 17"/>
          <p:cNvSpPr txBox="1"/>
          <p:nvPr/>
        </p:nvSpPr>
        <p:spPr>
          <a:xfrm>
            <a:off x="7406640" y="2487168"/>
            <a:ext cx="1417320" cy="603504"/>
          </a:xfrm>
          <a:prstGeom prst="rect">
            <a:avLst/>
          </a:prstGeom>
          <a:noFill/>
        </p:spPr>
        <p:txBody>
          <a:bodyPr wrap="square" lIns="0" rIns="0" tIns="0" bIns="0" anchor="ctr">
            <a:noAutofit/>
          </a:bodyPr>
          <a:lstStyle/>
          <a:p>
            <a:pPr algn="ctr">
              <a:lnSpc>
                <a:spcPct val="100000"/>
              </a:lnSpc>
              <a:spcBef>
                <a:spcPts val="0"/>
              </a:spcBef>
              <a:spcAft>
                <a:spcPts val="0"/>
              </a:spcAft>
            </a:pPr>
            <a:r>
              <a:rPr sz="1600" b="0" i="0">
                <a:solidFill>
                  <a:srgbClr val="6F7772"/>
                </a:solidFill>
                <a:latin typeface="Open Sans"/>
              </a:rPr>
              <a:t>—</a:t>
            </a:r>
          </a:p>
        </p:txBody>
      </p:sp>
      <p:sp>
        <p:nvSpPr>
          <p:cNvPr id="19" name="TextBox 18"/>
          <p:cNvSpPr txBox="1"/>
          <p:nvPr/>
        </p:nvSpPr>
        <p:spPr>
          <a:xfrm>
            <a:off x="8823960" y="2487168"/>
            <a:ext cx="1399032" cy="603504"/>
          </a:xfrm>
          <a:prstGeom prst="rect">
            <a:avLst/>
          </a:prstGeom>
          <a:noFill/>
        </p:spPr>
        <p:txBody>
          <a:bodyPr wrap="square" lIns="0" rIns="0" tIns="0" bIns="0" anchor="ctr">
            <a:noAutofit/>
          </a:bodyPr>
          <a:lstStyle/>
          <a:p>
            <a:pPr algn="ctr">
              <a:lnSpc>
                <a:spcPct val="100000"/>
              </a:lnSpc>
              <a:spcBef>
                <a:spcPts val="0"/>
              </a:spcBef>
              <a:spcAft>
                <a:spcPts val="0"/>
              </a:spcAft>
            </a:pPr>
            <a:r>
              <a:rPr sz="1600" b="0" i="0">
                <a:solidFill>
                  <a:srgbClr val="6F7772"/>
                </a:solidFill>
                <a:latin typeface="Open Sans"/>
              </a:rPr>
              <a:t>—</a:t>
            </a:r>
          </a:p>
        </p:txBody>
      </p:sp>
      <p:sp>
        <p:nvSpPr>
          <p:cNvPr id="20" name="TextBox 19"/>
          <p:cNvSpPr txBox="1"/>
          <p:nvPr/>
        </p:nvSpPr>
        <p:spPr>
          <a:xfrm>
            <a:off x="10222992" y="2487168"/>
            <a:ext cx="1417320" cy="603504"/>
          </a:xfrm>
          <a:prstGeom prst="rect">
            <a:avLst/>
          </a:prstGeom>
          <a:noFill/>
        </p:spPr>
        <p:txBody>
          <a:bodyPr wrap="square" lIns="0" rIns="0" tIns="0" bIns="0" anchor="ctr">
            <a:noAutofit/>
          </a:bodyPr>
          <a:lstStyle/>
          <a:p>
            <a:pPr algn="ctr">
              <a:lnSpc>
                <a:spcPct val="100000"/>
              </a:lnSpc>
              <a:spcBef>
                <a:spcPts val="0"/>
              </a:spcBef>
              <a:spcAft>
                <a:spcPts val="0"/>
              </a:spcAft>
            </a:pPr>
            <a:r>
              <a:rPr sz="1600" b="0" i="0">
                <a:solidFill>
                  <a:srgbClr val="6F7772"/>
                </a:solidFill>
                <a:latin typeface="Open Sans"/>
              </a:rPr>
              <a:t>—</a:t>
            </a:r>
          </a:p>
        </p:txBody>
      </p:sp>
      <p:sp>
        <p:nvSpPr>
          <p:cNvPr id="21" name="Rectangle 20"/>
          <p:cNvSpPr/>
          <p:nvPr/>
        </p:nvSpPr>
        <p:spPr>
          <a:xfrm>
            <a:off x="548640" y="3090672"/>
            <a:ext cx="11091672" cy="603504"/>
          </a:xfrm>
          <a:prstGeom prst="rect">
            <a:avLst/>
          </a:prstGeom>
          <a:solidFill>
            <a:srgbClr val="FFFFFF"/>
          </a:solidFill>
          <a:ln>
            <a:noFill/>
          </a:ln>
        </p:spPr>
        <p:txBody>
          <a:bodyPr rtlCol="0" anchor="ctr"/>
          <a:lstStyle/>
          <a:p>
            <a:pPr algn="ctr"/>
          </a:p>
        </p:txBody>
      </p:sp>
      <p:sp>
        <p:nvSpPr>
          <p:cNvPr id="22" name="TextBox 21"/>
          <p:cNvSpPr txBox="1"/>
          <p:nvPr/>
        </p:nvSpPr>
        <p:spPr>
          <a:xfrm>
            <a:off x="676656" y="3090672"/>
            <a:ext cx="1984248" cy="603504"/>
          </a:xfrm>
          <a:prstGeom prst="rect">
            <a:avLst/>
          </a:prstGeom>
          <a:noFill/>
        </p:spPr>
        <p:txBody>
          <a:bodyPr wrap="square" lIns="0" rIns="0" tIns="0" bIns="0" anchor="ctr">
            <a:noAutofit/>
          </a:bodyPr>
          <a:lstStyle/>
          <a:p>
            <a:pPr algn="l">
              <a:lnSpc>
                <a:spcPct val="100000"/>
              </a:lnSpc>
              <a:spcBef>
                <a:spcPts val="0"/>
              </a:spcBef>
              <a:spcAft>
                <a:spcPts val="0"/>
              </a:spcAft>
            </a:pPr>
            <a:r>
              <a:rPr sz="1400" b="1" i="0">
                <a:solidFill>
                  <a:srgbClr val="17201B"/>
                </a:solidFill>
                <a:latin typeface="Open Sans"/>
              </a:rPr>
              <a:t>Browne e Maire (2010)</a:t>
            </a:r>
          </a:p>
        </p:txBody>
      </p:sp>
      <p:sp>
        <p:nvSpPr>
          <p:cNvPr id="23" name="TextBox 22"/>
          <p:cNvSpPr txBox="1"/>
          <p:nvPr/>
        </p:nvSpPr>
        <p:spPr>
          <a:xfrm>
            <a:off x="2916936" y="3090672"/>
            <a:ext cx="1801368" cy="603504"/>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7201B"/>
                </a:solidFill>
                <a:latin typeface="Open Sans"/>
              </a:rPr>
              <a:t>jogos completos</a:t>
            </a:r>
          </a:p>
        </p:txBody>
      </p:sp>
      <p:sp>
        <p:nvSpPr>
          <p:cNvPr id="24" name="TextBox 23"/>
          <p:cNvSpPr txBox="1"/>
          <p:nvPr/>
        </p:nvSpPr>
        <p:spPr>
          <a:xfrm>
            <a:off x="4974336" y="3090672"/>
            <a:ext cx="2304287" cy="603504"/>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7201B"/>
                </a:solidFill>
                <a:latin typeface="Open Sans"/>
              </a:rPr>
              <a:t>evolução da estrutura do jogo</a:t>
            </a:r>
          </a:p>
        </p:txBody>
      </p:sp>
      <p:sp>
        <p:nvSpPr>
          <p:cNvPr id="25" name="TextBox 24"/>
          <p:cNvSpPr txBox="1"/>
          <p:nvPr/>
        </p:nvSpPr>
        <p:spPr>
          <a:xfrm>
            <a:off x="7406640" y="3090672"/>
            <a:ext cx="1417320" cy="603504"/>
          </a:xfrm>
          <a:prstGeom prst="rect">
            <a:avLst/>
          </a:prstGeom>
          <a:noFill/>
        </p:spPr>
        <p:txBody>
          <a:bodyPr wrap="square" lIns="0" rIns="0" tIns="0" bIns="0" anchor="ctr">
            <a:noAutofit/>
          </a:bodyPr>
          <a:lstStyle/>
          <a:p>
            <a:pPr algn="ctr">
              <a:lnSpc>
                <a:spcPct val="100000"/>
              </a:lnSpc>
              <a:spcBef>
                <a:spcPts val="0"/>
              </a:spcBef>
              <a:spcAft>
                <a:spcPts val="0"/>
              </a:spcAft>
            </a:pPr>
            <a:r>
              <a:rPr sz="1600" b="0" i="0">
                <a:solidFill>
                  <a:srgbClr val="6F7772"/>
                </a:solidFill>
                <a:latin typeface="Open Sans"/>
              </a:rPr>
              <a:t>—</a:t>
            </a:r>
          </a:p>
        </p:txBody>
      </p:sp>
      <p:sp>
        <p:nvSpPr>
          <p:cNvPr id="26" name="TextBox 25"/>
          <p:cNvSpPr txBox="1"/>
          <p:nvPr/>
        </p:nvSpPr>
        <p:spPr>
          <a:xfrm>
            <a:off x="8823960" y="3090672"/>
            <a:ext cx="1399032" cy="603504"/>
          </a:xfrm>
          <a:prstGeom prst="rect">
            <a:avLst/>
          </a:prstGeom>
          <a:noFill/>
        </p:spPr>
        <p:txBody>
          <a:bodyPr wrap="square" lIns="0" rIns="0" tIns="0" bIns="0" anchor="ctr">
            <a:noAutofit/>
          </a:bodyPr>
          <a:lstStyle/>
          <a:p>
            <a:pPr algn="ctr">
              <a:lnSpc>
                <a:spcPct val="100000"/>
              </a:lnSpc>
              <a:spcBef>
                <a:spcPts val="0"/>
              </a:spcBef>
              <a:spcAft>
                <a:spcPts val="0"/>
              </a:spcAft>
            </a:pPr>
            <a:r>
              <a:rPr sz="1600" b="0" i="0">
                <a:solidFill>
                  <a:srgbClr val="6F7772"/>
                </a:solidFill>
                <a:latin typeface="Open Sans"/>
              </a:rPr>
              <a:t>—</a:t>
            </a:r>
          </a:p>
        </p:txBody>
      </p:sp>
      <p:sp>
        <p:nvSpPr>
          <p:cNvPr id="27" name="TextBox 26"/>
          <p:cNvSpPr txBox="1"/>
          <p:nvPr/>
        </p:nvSpPr>
        <p:spPr>
          <a:xfrm>
            <a:off x="10222992" y="3090672"/>
            <a:ext cx="1417320" cy="603504"/>
          </a:xfrm>
          <a:prstGeom prst="rect">
            <a:avLst/>
          </a:prstGeom>
          <a:noFill/>
        </p:spPr>
        <p:txBody>
          <a:bodyPr wrap="square" lIns="0" rIns="0" tIns="0" bIns="0" anchor="ctr">
            <a:noAutofit/>
          </a:bodyPr>
          <a:lstStyle/>
          <a:p>
            <a:pPr algn="ctr">
              <a:lnSpc>
                <a:spcPct val="100000"/>
              </a:lnSpc>
              <a:spcBef>
                <a:spcPts val="0"/>
              </a:spcBef>
              <a:spcAft>
                <a:spcPts val="0"/>
              </a:spcAft>
            </a:pPr>
            <a:r>
              <a:rPr sz="1600" b="0" i="0">
                <a:solidFill>
                  <a:srgbClr val="6F7772"/>
                </a:solidFill>
                <a:latin typeface="Open Sans"/>
              </a:rPr>
              <a:t>—</a:t>
            </a:r>
          </a:p>
        </p:txBody>
      </p:sp>
      <p:sp>
        <p:nvSpPr>
          <p:cNvPr id="28" name="Rectangle 27"/>
          <p:cNvSpPr/>
          <p:nvPr/>
        </p:nvSpPr>
        <p:spPr>
          <a:xfrm>
            <a:off x="548640" y="3694176"/>
            <a:ext cx="11091672" cy="603504"/>
          </a:xfrm>
          <a:prstGeom prst="rect">
            <a:avLst/>
          </a:prstGeom>
          <a:solidFill>
            <a:srgbClr val="F2F4F3"/>
          </a:solidFill>
          <a:ln>
            <a:noFill/>
          </a:ln>
        </p:spPr>
        <p:txBody>
          <a:bodyPr rtlCol="0" anchor="ctr"/>
          <a:lstStyle/>
          <a:p>
            <a:pPr algn="ctr"/>
          </a:p>
        </p:txBody>
      </p:sp>
      <p:sp>
        <p:nvSpPr>
          <p:cNvPr id="29" name="TextBox 28"/>
          <p:cNvSpPr txBox="1"/>
          <p:nvPr/>
        </p:nvSpPr>
        <p:spPr>
          <a:xfrm>
            <a:off x="676656" y="3694176"/>
            <a:ext cx="1984248" cy="603504"/>
          </a:xfrm>
          <a:prstGeom prst="rect">
            <a:avLst/>
          </a:prstGeom>
          <a:noFill/>
        </p:spPr>
        <p:txBody>
          <a:bodyPr wrap="square" lIns="0" rIns="0" tIns="0" bIns="0" anchor="ctr">
            <a:noAutofit/>
          </a:bodyPr>
          <a:lstStyle/>
          <a:p>
            <a:pPr algn="l">
              <a:lnSpc>
                <a:spcPct val="100000"/>
              </a:lnSpc>
              <a:spcBef>
                <a:spcPts val="0"/>
              </a:spcBef>
              <a:spcAft>
                <a:spcPts val="0"/>
              </a:spcAft>
            </a:pPr>
            <a:r>
              <a:rPr sz="1400" b="1" i="0">
                <a:solidFill>
                  <a:srgbClr val="17201B"/>
                </a:solidFill>
                <a:latin typeface="Open Sans"/>
              </a:rPr>
              <a:t>Chen et al. (2014)</a:t>
            </a:r>
          </a:p>
        </p:txBody>
      </p:sp>
      <p:sp>
        <p:nvSpPr>
          <p:cNvPr id="30" name="TextBox 29"/>
          <p:cNvSpPr txBox="1"/>
          <p:nvPr/>
        </p:nvSpPr>
        <p:spPr>
          <a:xfrm>
            <a:off x="2916936" y="3694176"/>
            <a:ext cx="1801368" cy="603504"/>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7201B"/>
                </a:solidFill>
                <a:latin typeface="Open Sans"/>
              </a:rPr>
              <a:t>MMORPG, combate por turnos</a:t>
            </a:r>
          </a:p>
        </p:txBody>
      </p:sp>
      <p:sp>
        <p:nvSpPr>
          <p:cNvPr id="31" name="TextBox 30"/>
          <p:cNvSpPr txBox="1"/>
          <p:nvPr/>
        </p:nvSpPr>
        <p:spPr>
          <a:xfrm>
            <a:off x="4974336" y="3694176"/>
            <a:ext cx="2304287" cy="603504"/>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7201B"/>
                </a:solidFill>
                <a:latin typeface="Open Sans"/>
              </a:rPr>
              <a:t>coevolução cooperativa</a:t>
            </a:r>
          </a:p>
        </p:txBody>
      </p:sp>
      <p:sp>
        <p:nvSpPr>
          <p:cNvPr id="32" name="TextBox 31"/>
          <p:cNvSpPr txBox="1"/>
          <p:nvPr/>
        </p:nvSpPr>
        <p:spPr>
          <a:xfrm>
            <a:off x="7406640" y="3694176"/>
            <a:ext cx="1417320" cy="603504"/>
          </a:xfrm>
          <a:prstGeom prst="rect">
            <a:avLst/>
          </a:prstGeom>
          <a:noFill/>
        </p:spPr>
        <p:txBody>
          <a:bodyPr wrap="square" lIns="0" rIns="0" tIns="0" bIns="0" anchor="ctr">
            <a:noAutofit/>
          </a:bodyPr>
          <a:lstStyle/>
          <a:p>
            <a:pPr algn="ctr">
              <a:lnSpc>
                <a:spcPct val="100000"/>
              </a:lnSpc>
              <a:spcBef>
                <a:spcPts val="0"/>
              </a:spcBef>
              <a:spcAft>
                <a:spcPts val="0"/>
              </a:spcAft>
            </a:pPr>
            <a:r>
              <a:rPr sz="1600" b="0" i="0">
                <a:solidFill>
                  <a:srgbClr val="6F7772"/>
                </a:solidFill>
                <a:latin typeface="Open Sans"/>
              </a:rPr>
              <a:t>—</a:t>
            </a:r>
          </a:p>
        </p:txBody>
      </p:sp>
      <p:sp>
        <p:nvSpPr>
          <p:cNvPr id="33" name="TextBox 32"/>
          <p:cNvSpPr txBox="1"/>
          <p:nvPr/>
        </p:nvSpPr>
        <p:spPr>
          <a:xfrm>
            <a:off x="8823960" y="3694176"/>
            <a:ext cx="1399032" cy="603504"/>
          </a:xfrm>
          <a:prstGeom prst="rect">
            <a:avLst/>
          </a:prstGeom>
          <a:noFill/>
        </p:spPr>
        <p:txBody>
          <a:bodyPr wrap="square" lIns="0" rIns="0" tIns="0" bIns="0" anchor="ctr">
            <a:noAutofit/>
          </a:bodyPr>
          <a:lstStyle/>
          <a:p>
            <a:pPr algn="ctr">
              <a:lnSpc>
                <a:spcPct val="100000"/>
              </a:lnSpc>
              <a:spcBef>
                <a:spcPts val="0"/>
              </a:spcBef>
              <a:spcAft>
                <a:spcPts val="0"/>
              </a:spcAft>
            </a:pPr>
            <a:r>
              <a:rPr sz="1600" b="0" i="0">
                <a:solidFill>
                  <a:srgbClr val="6F7772"/>
                </a:solidFill>
                <a:latin typeface="Open Sans"/>
              </a:rPr>
              <a:t>—</a:t>
            </a:r>
          </a:p>
        </p:txBody>
      </p:sp>
      <p:sp>
        <p:nvSpPr>
          <p:cNvPr id="34" name="TextBox 33"/>
          <p:cNvSpPr txBox="1"/>
          <p:nvPr/>
        </p:nvSpPr>
        <p:spPr>
          <a:xfrm>
            <a:off x="10222992" y="3694176"/>
            <a:ext cx="1417320" cy="603504"/>
          </a:xfrm>
          <a:prstGeom prst="rect">
            <a:avLst/>
          </a:prstGeom>
          <a:noFill/>
        </p:spPr>
        <p:txBody>
          <a:bodyPr wrap="square" lIns="0" rIns="0" tIns="0" bIns="0" anchor="ctr">
            <a:noAutofit/>
          </a:bodyPr>
          <a:lstStyle/>
          <a:p>
            <a:pPr algn="ctr">
              <a:lnSpc>
                <a:spcPct val="100000"/>
              </a:lnSpc>
              <a:spcBef>
                <a:spcPts val="0"/>
              </a:spcBef>
              <a:spcAft>
                <a:spcPts val="0"/>
              </a:spcAft>
            </a:pPr>
            <a:r>
              <a:rPr sz="1600" b="0" i="0">
                <a:solidFill>
                  <a:srgbClr val="6F7772"/>
                </a:solidFill>
                <a:latin typeface="Open Sans"/>
              </a:rPr>
              <a:t>—</a:t>
            </a:r>
          </a:p>
        </p:txBody>
      </p:sp>
      <p:sp>
        <p:nvSpPr>
          <p:cNvPr id="35" name="Rectangle 34"/>
          <p:cNvSpPr/>
          <p:nvPr/>
        </p:nvSpPr>
        <p:spPr>
          <a:xfrm>
            <a:off x="548640" y="4297680"/>
            <a:ext cx="11091672" cy="603504"/>
          </a:xfrm>
          <a:prstGeom prst="rect">
            <a:avLst/>
          </a:prstGeom>
          <a:solidFill>
            <a:srgbClr val="FFFFFF"/>
          </a:solidFill>
          <a:ln>
            <a:noFill/>
          </a:ln>
        </p:spPr>
        <p:txBody>
          <a:bodyPr rtlCol="0" anchor="ctr"/>
          <a:lstStyle/>
          <a:p>
            <a:pPr algn="ctr"/>
          </a:p>
        </p:txBody>
      </p:sp>
      <p:sp>
        <p:nvSpPr>
          <p:cNvPr id="36" name="TextBox 35"/>
          <p:cNvSpPr txBox="1"/>
          <p:nvPr/>
        </p:nvSpPr>
        <p:spPr>
          <a:xfrm>
            <a:off x="676656" y="4297680"/>
            <a:ext cx="1984248" cy="603504"/>
          </a:xfrm>
          <a:prstGeom prst="rect">
            <a:avLst/>
          </a:prstGeom>
          <a:noFill/>
        </p:spPr>
        <p:txBody>
          <a:bodyPr wrap="square" lIns="0" rIns="0" tIns="0" bIns="0" anchor="ctr">
            <a:noAutofit/>
          </a:bodyPr>
          <a:lstStyle/>
          <a:p>
            <a:pPr algn="l">
              <a:lnSpc>
                <a:spcPct val="100000"/>
              </a:lnSpc>
              <a:spcBef>
                <a:spcPts val="0"/>
              </a:spcBef>
              <a:spcAft>
                <a:spcPts val="0"/>
              </a:spcAft>
            </a:pPr>
            <a:r>
              <a:rPr sz="1400" b="1" i="0">
                <a:solidFill>
                  <a:srgbClr val="17201B"/>
                </a:solidFill>
                <a:latin typeface="Open Sans"/>
              </a:rPr>
              <a:t>Volz et al. (2016)</a:t>
            </a:r>
          </a:p>
        </p:txBody>
      </p:sp>
      <p:sp>
        <p:nvSpPr>
          <p:cNvPr id="37" name="TextBox 36"/>
          <p:cNvSpPr txBox="1"/>
          <p:nvPr/>
        </p:nvSpPr>
        <p:spPr>
          <a:xfrm>
            <a:off x="2916936" y="4297680"/>
            <a:ext cx="1801368" cy="603504"/>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7201B"/>
                </a:solidFill>
                <a:latin typeface="Open Sans"/>
              </a:rPr>
              <a:t>jogo de cartas</a:t>
            </a:r>
          </a:p>
        </p:txBody>
      </p:sp>
      <p:sp>
        <p:nvSpPr>
          <p:cNvPr id="38" name="TextBox 37"/>
          <p:cNvSpPr txBox="1"/>
          <p:nvPr/>
        </p:nvSpPr>
        <p:spPr>
          <a:xfrm>
            <a:off x="4974336" y="4297680"/>
            <a:ext cx="2304287" cy="603504"/>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7201B"/>
                </a:solidFill>
                <a:latin typeface="Open Sans"/>
              </a:rPr>
              <a:t>multiobjetivo: justiça e interesse</a:t>
            </a:r>
          </a:p>
        </p:txBody>
      </p:sp>
      <p:sp>
        <p:nvSpPr>
          <p:cNvPr id="39" name="TextBox 38"/>
          <p:cNvSpPr txBox="1"/>
          <p:nvPr/>
        </p:nvSpPr>
        <p:spPr>
          <a:xfrm>
            <a:off x="7406640" y="4297680"/>
            <a:ext cx="1417320" cy="603504"/>
          </a:xfrm>
          <a:prstGeom prst="rect">
            <a:avLst/>
          </a:prstGeom>
          <a:noFill/>
        </p:spPr>
        <p:txBody>
          <a:bodyPr wrap="square" lIns="0" rIns="0" tIns="0" bIns="0" anchor="ctr">
            <a:noAutofit/>
          </a:bodyPr>
          <a:lstStyle/>
          <a:p>
            <a:pPr algn="ctr">
              <a:lnSpc>
                <a:spcPct val="100000"/>
              </a:lnSpc>
              <a:spcBef>
                <a:spcPts val="0"/>
              </a:spcBef>
              <a:spcAft>
                <a:spcPts val="0"/>
              </a:spcAft>
            </a:pPr>
            <a:r>
              <a:rPr sz="1600" b="0" i="0">
                <a:solidFill>
                  <a:srgbClr val="6F7772"/>
                </a:solidFill>
                <a:latin typeface="Open Sans"/>
              </a:rPr>
              <a:t>—</a:t>
            </a:r>
          </a:p>
        </p:txBody>
      </p:sp>
      <p:sp>
        <p:nvSpPr>
          <p:cNvPr id="40" name="TextBox 39"/>
          <p:cNvSpPr txBox="1"/>
          <p:nvPr/>
        </p:nvSpPr>
        <p:spPr>
          <a:xfrm>
            <a:off x="8823960" y="4297680"/>
            <a:ext cx="1399032" cy="603504"/>
          </a:xfrm>
          <a:prstGeom prst="rect">
            <a:avLst/>
          </a:prstGeom>
          <a:noFill/>
        </p:spPr>
        <p:txBody>
          <a:bodyPr wrap="square" lIns="0" rIns="0" tIns="0" bIns="0" anchor="ctr">
            <a:noAutofit/>
          </a:bodyPr>
          <a:lstStyle/>
          <a:p>
            <a:pPr algn="ctr">
              <a:lnSpc>
                <a:spcPct val="100000"/>
              </a:lnSpc>
              <a:spcBef>
                <a:spcPts val="0"/>
              </a:spcBef>
              <a:spcAft>
                <a:spcPts val="0"/>
              </a:spcAft>
            </a:pPr>
            <a:r>
              <a:rPr sz="1600" b="0" i="0">
                <a:solidFill>
                  <a:srgbClr val="6F7772"/>
                </a:solidFill>
                <a:latin typeface="Open Sans"/>
              </a:rPr>
              <a:t>—</a:t>
            </a:r>
          </a:p>
        </p:txBody>
      </p:sp>
      <p:sp>
        <p:nvSpPr>
          <p:cNvPr id="41" name="TextBox 40"/>
          <p:cNvSpPr txBox="1"/>
          <p:nvPr/>
        </p:nvSpPr>
        <p:spPr>
          <a:xfrm>
            <a:off x="10222992" y="4297680"/>
            <a:ext cx="1417320" cy="603504"/>
          </a:xfrm>
          <a:prstGeom prst="rect">
            <a:avLst/>
          </a:prstGeom>
          <a:noFill/>
        </p:spPr>
        <p:txBody>
          <a:bodyPr wrap="square" lIns="0" rIns="0" tIns="0" bIns="0" anchor="ctr">
            <a:noAutofit/>
          </a:bodyPr>
          <a:lstStyle/>
          <a:p>
            <a:pPr algn="ctr">
              <a:lnSpc>
                <a:spcPct val="100000"/>
              </a:lnSpc>
              <a:spcBef>
                <a:spcPts val="0"/>
              </a:spcBef>
              <a:spcAft>
                <a:spcPts val="0"/>
              </a:spcAft>
            </a:pPr>
            <a:r>
              <a:rPr sz="1600" b="0" i="0">
                <a:solidFill>
                  <a:srgbClr val="6F7772"/>
                </a:solidFill>
                <a:latin typeface="Open Sans"/>
              </a:rPr>
              <a:t>—</a:t>
            </a:r>
          </a:p>
        </p:txBody>
      </p:sp>
      <p:sp>
        <p:nvSpPr>
          <p:cNvPr id="42" name="Rectangle 41"/>
          <p:cNvSpPr/>
          <p:nvPr/>
        </p:nvSpPr>
        <p:spPr>
          <a:xfrm>
            <a:off x="548640" y="4901184"/>
            <a:ext cx="11091672" cy="640080"/>
          </a:xfrm>
          <a:prstGeom prst="rect">
            <a:avLst/>
          </a:prstGeom>
          <a:solidFill>
            <a:srgbClr val="E5F3E8"/>
          </a:solidFill>
          <a:ln>
            <a:noFill/>
          </a:ln>
        </p:spPr>
        <p:txBody>
          <a:bodyPr rtlCol="0" anchor="ctr"/>
          <a:lstStyle/>
          <a:p>
            <a:pPr algn="ctr"/>
          </a:p>
        </p:txBody>
      </p:sp>
      <p:sp>
        <p:nvSpPr>
          <p:cNvPr id="43" name="TextBox 42"/>
          <p:cNvSpPr txBox="1"/>
          <p:nvPr/>
        </p:nvSpPr>
        <p:spPr>
          <a:xfrm>
            <a:off x="676656" y="4901184"/>
            <a:ext cx="1984248" cy="640080"/>
          </a:xfrm>
          <a:prstGeom prst="rect">
            <a:avLst/>
          </a:prstGeom>
          <a:noFill/>
        </p:spPr>
        <p:txBody>
          <a:bodyPr wrap="square" lIns="0" rIns="0" tIns="0" bIns="0" anchor="ctr">
            <a:noAutofit/>
          </a:bodyPr>
          <a:lstStyle/>
          <a:p>
            <a:pPr algn="l">
              <a:lnSpc>
                <a:spcPct val="100000"/>
              </a:lnSpc>
              <a:spcBef>
                <a:spcPts val="0"/>
              </a:spcBef>
              <a:spcAft>
                <a:spcPts val="0"/>
              </a:spcAft>
            </a:pPr>
            <a:r>
              <a:rPr sz="1400" b="1" i="0">
                <a:solidFill>
                  <a:srgbClr val="2F9E41"/>
                </a:solidFill>
                <a:latin typeface="Open Sans"/>
              </a:rPr>
              <a:t>Este trabalho</a:t>
            </a:r>
          </a:p>
        </p:txBody>
      </p:sp>
      <p:sp>
        <p:nvSpPr>
          <p:cNvPr id="44" name="TextBox 43"/>
          <p:cNvSpPr txBox="1"/>
          <p:nvPr/>
        </p:nvSpPr>
        <p:spPr>
          <a:xfrm>
            <a:off x="2916936" y="4901184"/>
            <a:ext cx="1801368" cy="640080"/>
          </a:xfrm>
          <a:prstGeom prst="rect">
            <a:avLst/>
          </a:prstGeom>
          <a:noFill/>
        </p:spPr>
        <p:txBody>
          <a:bodyPr wrap="square" lIns="0" rIns="0" tIns="0" bIns="0" anchor="ctr">
            <a:noAutofit/>
          </a:bodyPr>
          <a:lstStyle/>
          <a:p>
            <a:pPr algn="l">
              <a:lnSpc>
                <a:spcPct val="100000"/>
              </a:lnSpc>
              <a:spcBef>
                <a:spcPts val="0"/>
              </a:spcBef>
              <a:spcAft>
                <a:spcPts val="0"/>
              </a:spcAft>
            </a:pPr>
            <a:r>
              <a:rPr sz="1400" b="1" i="0">
                <a:solidFill>
                  <a:srgbClr val="17201B"/>
                </a:solidFill>
                <a:latin typeface="Open Sans"/>
              </a:rPr>
              <a:t>jogo de luta em tempo real</a:t>
            </a:r>
          </a:p>
        </p:txBody>
      </p:sp>
      <p:sp>
        <p:nvSpPr>
          <p:cNvPr id="45" name="TextBox 44"/>
          <p:cNvSpPr txBox="1"/>
          <p:nvPr/>
        </p:nvSpPr>
        <p:spPr>
          <a:xfrm>
            <a:off x="4974336" y="4901184"/>
            <a:ext cx="2304287" cy="640080"/>
          </a:xfrm>
          <a:prstGeom prst="rect">
            <a:avLst/>
          </a:prstGeom>
          <a:noFill/>
        </p:spPr>
        <p:txBody>
          <a:bodyPr wrap="square" lIns="0" rIns="0" tIns="0" bIns="0" anchor="ctr">
            <a:noAutofit/>
          </a:bodyPr>
          <a:lstStyle/>
          <a:p>
            <a:pPr algn="l">
              <a:lnSpc>
                <a:spcPct val="100000"/>
              </a:lnSpc>
              <a:spcBef>
                <a:spcPts val="0"/>
              </a:spcBef>
              <a:spcAft>
                <a:spcPts val="0"/>
              </a:spcAft>
            </a:pPr>
            <a:r>
              <a:rPr sz="1400" b="1" i="0">
                <a:solidFill>
                  <a:srgbClr val="17201B"/>
                </a:solidFill>
                <a:latin typeface="Open Sans"/>
              </a:rPr>
              <a:t>AG escalar, NSGA-II e híbrido</a:t>
            </a:r>
          </a:p>
        </p:txBody>
      </p:sp>
      <p:sp>
        <p:nvSpPr>
          <p:cNvPr id="46" name="TextBox 45"/>
          <p:cNvSpPr txBox="1"/>
          <p:nvPr/>
        </p:nvSpPr>
        <p:spPr>
          <a:xfrm>
            <a:off x="7406640" y="4901184"/>
            <a:ext cx="1417320" cy="640080"/>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2F9E41"/>
                </a:solidFill>
                <a:latin typeface="Open Sans"/>
              </a:rPr>
              <a:t>sim</a:t>
            </a:r>
          </a:p>
        </p:txBody>
      </p:sp>
      <p:sp>
        <p:nvSpPr>
          <p:cNvPr id="47" name="TextBox 46"/>
          <p:cNvSpPr txBox="1"/>
          <p:nvPr/>
        </p:nvSpPr>
        <p:spPr>
          <a:xfrm>
            <a:off x="8823960" y="4901184"/>
            <a:ext cx="1399032" cy="640080"/>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2F9E41"/>
                </a:solidFill>
                <a:latin typeface="Open Sans"/>
              </a:rPr>
              <a:t>sim</a:t>
            </a:r>
          </a:p>
        </p:txBody>
      </p:sp>
      <p:sp>
        <p:nvSpPr>
          <p:cNvPr id="48" name="TextBox 47"/>
          <p:cNvSpPr txBox="1"/>
          <p:nvPr/>
        </p:nvSpPr>
        <p:spPr>
          <a:xfrm>
            <a:off x="10222992" y="4901184"/>
            <a:ext cx="1417320" cy="640080"/>
          </a:xfrm>
          <a:prstGeom prst="rect">
            <a:avLst/>
          </a:prstGeom>
          <a:noFill/>
        </p:spPr>
        <p:txBody>
          <a:bodyPr wrap="square" lIns="0" rIns="0" tIns="0" bIns="0" anchor="ctr">
            <a:noAutofit/>
          </a:bodyPr>
          <a:lstStyle/>
          <a:p>
            <a:pPr algn="ctr">
              <a:lnSpc>
                <a:spcPct val="100000"/>
              </a:lnSpc>
              <a:spcBef>
                <a:spcPts val="0"/>
              </a:spcBef>
              <a:spcAft>
                <a:spcPts val="0"/>
              </a:spcAft>
            </a:pPr>
            <a:r>
              <a:rPr sz="1500" b="1" i="0">
                <a:solidFill>
                  <a:srgbClr val="2F9E41"/>
                </a:solidFill>
                <a:latin typeface="Open Sans"/>
              </a:rPr>
              <a:t>sim</a:t>
            </a:r>
          </a:p>
        </p:txBody>
      </p:sp>
      <p:sp>
        <p:nvSpPr>
          <p:cNvPr id="49" name="TextBox 48"/>
          <p:cNvSpPr txBox="1"/>
          <p:nvPr/>
        </p:nvSpPr>
        <p:spPr>
          <a:xfrm>
            <a:off x="548640" y="5669280"/>
            <a:ext cx="11091672" cy="475488"/>
          </a:xfrm>
          <a:prstGeom prst="rect">
            <a:avLst/>
          </a:prstGeom>
          <a:noFill/>
        </p:spPr>
        <p:txBody>
          <a:bodyPr wrap="square" lIns="0" rIns="0" tIns="0" bIns="0" anchor="t">
            <a:noAutofit/>
          </a:bodyPr>
          <a:lstStyle/>
          <a:p>
            <a:pPr algn="l">
              <a:lnSpc>
                <a:spcPct val="100000"/>
              </a:lnSpc>
              <a:spcBef>
                <a:spcPts val="0"/>
              </a:spcBef>
              <a:spcAft>
                <a:spcPts val="0"/>
              </a:spcAft>
            </a:pPr>
            <a:r>
              <a:rPr sz="1300" b="0" i="0">
                <a:solidFill>
                  <a:srgbClr val="6F7772"/>
                </a:solidFill>
                <a:latin typeface="Open Sans"/>
              </a:rPr>
              <a:t>O campo: geração de conteúdo baseada em busca (Togelius et al., 2011). De Browne e Maire vem o princípio de avaliar o artefato fora da aptidão, usado na validação externa.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1" i="0">
                <a:solidFill>
                  <a:srgbClr val="FFFFFF"/>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Protocolo: cinco braços, mesmo orçamento, mesmas sementes</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12</a:t>
            </a:r>
          </a:p>
        </p:txBody>
      </p:sp>
      <p:sp>
        <p:nvSpPr>
          <p:cNvPr id="7" name="Rounded Rectangle 6"/>
          <p:cNvSpPr/>
          <p:nvPr/>
        </p:nvSpPr>
        <p:spPr>
          <a:xfrm>
            <a:off x="548640" y="1709928"/>
            <a:ext cx="5486400" cy="786384"/>
          </a:xfrm>
          <a:prstGeom prst="roundRect">
            <a:avLst>
              <a:gd name="adj" fmla="val 13953"/>
            </a:avLst>
          </a:prstGeom>
          <a:solidFill>
            <a:srgbClr val="E7F0FB"/>
          </a:solidFill>
          <a:ln>
            <a:noFill/>
          </a:ln>
        </p:spPr>
        <p:txBody>
          <a:bodyPr rtlCol="0" anchor="ctr"/>
          <a:lstStyle/>
          <a:p>
            <a:pPr algn="ctr"/>
          </a:p>
        </p:txBody>
      </p:sp>
      <p:sp>
        <p:nvSpPr>
          <p:cNvPr id="8" name="TextBox 7"/>
          <p:cNvSpPr txBox="1"/>
          <p:nvPr/>
        </p:nvSpPr>
        <p:spPr>
          <a:xfrm>
            <a:off x="749808" y="1709928"/>
            <a:ext cx="1783080" cy="786384"/>
          </a:xfrm>
          <a:prstGeom prst="rect">
            <a:avLst/>
          </a:prstGeom>
          <a:noFill/>
        </p:spPr>
        <p:txBody>
          <a:bodyPr wrap="square" lIns="0" rIns="0" tIns="0" bIns="0" anchor="ctr">
            <a:noAutofit/>
          </a:bodyPr>
          <a:lstStyle/>
          <a:p>
            <a:pPr algn="l">
              <a:lnSpc>
                <a:spcPct val="100000"/>
              </a:lnSpc>
              <a:spcBef>
                <a:spcPts val="0"/>
              </a:spcBef>
              <a:spcAft>
                <a:spcPts val="0"/>
              </a:spcAft>
            </a:pPr>
            <a:r>
              <a:rPr sz="1600" b="1" i="0">
                <a:solidFill>
                  <a:srgbClr val="2A78D6"/>
                </a:solidFill>
                <a:latin typeface="Open Sans"/>
              </a:rPr>
              <a:t>AG escalar</a:t>
            </a:r>
          </a:p>
        </p:txBody>
      </p:sp>
      <p:sp>
        <p:nvSpPr>
          <p:cNvPr id="9" name="TextBox 8"/>
          <p:cNvSpPr txBox="1"/>
          <p:nvPr/>
        </p:nvSpPr>
        <p:spPr>
          <a:xfrm>
            <a:off x="2651760" y="1709928"/>
            <a:ext cx="3200400" cy="786384"/>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7201B"/>
                </a:solidFill>
                <a:latin typeface="Open Sans"/>
              </a:rPr>
              <a:t>soma dos dois termos; canônico na geração 0</a:t>
            </a:r>
          </a:p>
        </p:txBody>
      </p:sp>
      <p:sp>
        <p:nvSpPr>
          <p:cNvPr id="10" name="Rounded Rectangle 9"/>
          <p:cNvSpPr/>
          <p:nvPr/>
        </p:nvSpPr>
        <p:spPr>
          <a:xfrm>
            <a:off x="548640" y="2606040"/>
            <a:ext cx="5486400" cy="786384"/>
          </a:xfrm>
          <a:prstGeom prst="roundRect">
            <a:avLst>
              <a:gd name="adj" fmla="val 13953"/>
            </a:avLst>
          </a:prstGeom>
          <a:solidFill>
            <a:srgbClr val="FDEEE7"/>
          </a:solidFill>
          <a:ln>
            <a:noFill/>
          </a:ln>
        </p:spPr>
        <p:txBody>
          <a:bodyPr rtlCol="0" anchor="ctr"/>
          <a:lstStyle/>
          <a:p>
            <a:pPr algn="ctr"/>
          </a:p>
        </p:txBody>
      </p:sp>
      <p:sp>
        <p:nvSpPr>
          <p:cNvPr id="11" name="TextBox 10"/>
          <p:cNvSpPr txBox="1"/>
          <p:nvPr/>
        </p:nvSpPr>
        <p:spPr>
          <a:xfrm>
            <a:off x="749808" y="2606040"/>
            <a:ext cx="1783080" cy="786384"/>
          </a:xfrm>
          <a:prstGeom prst="rect">
            <a:avLst/>
          </a:prstGeom>
          <a:noFill/>
        </p:spPr>
        <p:txBody>
          <a:bodyPr wrap="square" lIns="0" rIns="0" tIns="0" bIns="0" anchor="ctr">
            <a:noAutofit/>
          </a:bodyPr>
          <a:lstStyle/>
          <a:p>
            <a:pPr algn="l">
              <a:lnSpc>
                <a:spcPct val="100000"/>
              </a:lnSpc>
              <a:spcBef>
                <a:spcPts val="0"/>
              </a:spcBef>
              <a:spcAft>
                <a:spcPts val="0"/>
              </a:spcAft>
            </a:pPr>
            <a:r>
              <a:rPr sz="1600" b="1" i="0">
                <a:solidFill>
                  <a:srgbClr val="EB6834"/>
                </a:solidFill>
                <a:latin typeface="Open Sans"/>
              </a:rPr>
              <a:t>NSGA-II</a:t>
            </a:r>
          </a:p>
        </p:txBody>
      </p:sp>
      <p:sp>
        <p:nvSpPr>
          <p:cNvPr id="12" name="TextBox 11"/>
          <p:cNvSpPr txBox="1"/>
          <p:nvPr/>
        </p:nvSpPr>
        <p:spPr>
          <a:xfrm>
            <a:off x="2651760" y="2606040"/>
            <a:ext cx="3200400" cy="786384"/>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7201B"/>
                </a:solidFill>
                <a:latin typeface="Open Sans"/>
              </a:rPr>
              <a:t>população sorteada; comparado pelo ponto que minimiza a mesma soma</a:t>
            </a:r>
          </a:p>
        </p:txBody>
      </p:sp>
      <p:sp>
        <p:nvSpPr>
          <p:cNvPr id="13" name="Rounded Rectangle 12"/>
          <p:cNvSpPr/>
          <p:nvPr/>
        </p:nvSpPr>
        <p:spPr>
          <a:xfrm>
            <a:off x="548640" y="3502152"/>
            <a:ext cx="5486400" cy="786384"/>
          </a:xfrm>
          <a:prstGeom prst="roundRect">
            <a:avLst>
              <a:gd name="adj" fmla="val 13953"/>
            </a:avLst>
          </a:prstGeom>
          <a:solidFill>
            <a:srgbClr val="ECECEA"/>
          </a:solidFill>
          <a:ln>
            <a:noFill/>
          </a:ln>
        </p:spPr>
        <p:txBody>
          <a:bodyPr rtlCol="0" anchor="ctr"/>
          <a:lstStyle/>
          <a:p>
            <a:pPr algn="ctr"/>
          </a:p>
        </p:txBody>
      </p:sp>
      <p:sp>
        <p:nvSpPr>
          <p:cNvPr id="14" name="TextBox 13"/>
          <p:cNvSpPr txBox="1"/>
          <p:nvPr/>
        </p:nvSpPr>
        <p:spPr>
          <a:xfrm>
            <a:off x="749808" y="3502152"/>
            <a:ext cx="1783080" cy="786384"/>
          </a:xfrm>
          <a:prstGeom prst="rect">
            <a:avLst/>
          </a:prstGeom>
          <a:noFill/>
        </p:spPr>
        <p:txBody>
          <a:bodyPr wrap="square" lIns="0" rIns="0" tIns="0" bIns="0" anchor="ctr">
            <a:noAutofit/>
          </a:bodyPr>
          <a:lstStyle/>
          <a:p>
            <a:pPr algn="l">
              <a:lnSpc>
                <a:spcPct val="100000"/>
              </a:lnSpc>
              <a:spcBef>
                <a:spcPts val="0"/>
              </a:spcBef>
              <a:spcAft>
                <a:spcPts val="0"/>
              </a:spcAft>
            </a:pPr>
            <a:r>
              <a:rPr sz="1600" b="1" i="0">
                <a:solidFill>
                  <a:srgbClr val="52514E"/>
                </a:solidFill>
                <a:latin typeface="Open Sans"/>
              </a:rPr>
              <a:t>Controle λ = 0</a:t>
            </a:r>
          </a:p>
        </p:txBody>
      </p:sp>
      <p:sp>
        <p:nvSpPr>
          <p:cNvPr id="15" name="TextBox 14"/>
          <p:cNvSpPr txBox="1"/>
          <p:nvPr/>
        </p:nvSpPr>
        <p:spPr>
          <a:xfrm>
            <a:off x="2651760" y="3502152"/>
            <a:ext cx="3200400" cy="786384"/>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7201B"/>
                </a:solidFill>
                <a:latin typeface="Open Sans"/>
              </a:rPr>
              <a:t>AG escalar sem o termo de identidade: o contrafactual da QP2</a:t>
            </a:r>
          </a:p>
        </p:txBody>
      </p:sp>
      <p:sp>
        <p:nvSpPr>
          <p:cNvPr id="16" name="Rounded Rectangle 15"/>
          <p:cNvSpPr/>
          <p:nvPr/>
        </p:nvSpPr>
        <p:spPr>
          <a:xfrm>
            <a:off x="548640" y="4398264"/>
            <a:ext cx="5486400" cy="786384"/>
          </a:xfrm>
          <a:prstGeom prst="roundRect">
            <a:avLst>
              <a:gd name="adj" fmla="val 13953"/>
            </a:avLst>
          </a:prstGeom>
          <a:solidFill>
            <a:srgbClr val="ECECEA"/>
          </a:solidFill>
          <a:ln>
            <a:noFill/>
          </a:ln>
        </p:spPr>
        <p:txBody>
          <a:bodyPr rtlCol="0" anchor="ctr"/>
          <a:lstStyle/>
          <a:p>
            <a:pPr algn="ctr"/>
          </a:p>
        </p:txBody>
      </p:sp>
      <p:sp>
        <p:nvSpPr>
          <p:cNvPr id="17" name="TextBox 16"/>
          <p:cNvSpPr txBox="1"/>
          <p:nvPr/>
        </p:nvSpPr>
        <p:spPr>
          <a:xfrm>
            <a:off x="749808" y="4398264"/>
            <a:ext cx="1783080" cy="786384"/>
          </a:xfrm>
          <a:prstGeom prst="rect">
            <a:avLst/>
          </a:prstGeom>
          <a:noFill/>
        </p:spPr>
        <p:txBody>
          <a:bodyPr wrap="square" lIns="0" rIns="0" tIns="0" bIns="0" anchor="ctr">
            <a:noAutofit/>
          </a:bodyPr>
          <a:lstStyle/>
          <a:p>
            <a:pPr algn="l">
              <a:lnSpc>
                <a:spcPct val="100000"/>
              </a:lnSpc>
              <a:spcBef>
                <a:spcPts val="0"/>
              </a:spcBef>
              <a:spcAft>
                <a:spcPts val="0"/>
              </a:spcAft>
            </a:pPr>
            <a:r>
              <a:rPr sz="1600" b="1" i="0">
                <a:solidFill>
                  <a:srgbClr val="52514E"/>
                </a:solidFill>
                <a:latin typeface="Open Sans"/>
              </a:rPr>
              <a:t>Controle sem semente</a:t>
            </a:r>
          </a:p>
        </p:txBody>
      </p:sp>
      <p:sp>
        <p:nvSpPr>
          <p:cNvPr id="18" name="TextBox 17"/>
          <p:cNvSpPr txBox="1"/>
          <p:nvPr/>
        </p:nvSpPr>
        <p:spPr>
          <a:xfrm>
            <a:off x="2651760" y="4398264"/>
            <a:ext cx="3200400" cy="786384"/>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7201B"/>
                </a:solidFill>
                <a:latin typeface="Open Sans"/>
              </a:rPr>
              <a:t>AG escalar sem o canônico: geração 0 sorteada</a:t>
            </a:r>
          </a:p>
        </p:txBody>
      </p:sp>
      <p:sp>
        <p:nvSpPr>
          <p:cNvPr id="19" name="Rounded Rectangle 18"/>
          <p:cNvSpPr/>
          <p:nvPr/>
        </p:nvSpPr>
        <p:spPr>
          <a:xfrm>
            <a:off x="548640" y="5294376"/>
            <a:ext cx="5486400" cy="786384"/>
          </a:xfrm>
          <a:prstGeom prst="roundRect">
            <a:avLst>
              <a:gd name="adj" fmla="val 13953"/>
            </a:avLst>
          </a:prstGeom>
          <a:solidFill>
            <a:srgbClr val="E3F6EF"/>
          </a:solidFill>
          <a:ln>
            <a:noFill/>
          </a:ln>
        </p:spPr>
        <p:txBody>
          <a:bodyPr rtlCol="0" anchor="ctr"/>
          <a:lstStyle/>
          <a:p>
            <a:pPr algn="ctr"/>
          </a:p>
        </p:txBody>
      </p:sp>
      <p:sp>
        <p:nvSpPr>
          <p:cNvPr id="20" name="TextBox 19"/>
          <p:cNvSpPr txBox="1"/>
          <p:nvPr/>
        </p:nvSpPr>
        <p:spPr>
          <a:xfrm>
            <a:off x="749808" y="5294376"/>
            <a:ext cx="1783080" cy="786384"/>
          </a:xfrm>
          <a:prstGeom prst="rect">
            <a:avLst/>
          </a:prstGeom>
          <a:noFill/>
        </p:spPr>
        <p:txBody>
          <a:bodyPr wrap="square" lIns="0" rIns="0" tIns="0" bIns="0" anchor="ctr">
            <a:noAutofit/>
          </a:bodyPr>
          <a:lstStyle/>
          <a:p>
            <a:pPr algn="l">
              <a:lnSpc>
                <a:spcPct val="100000"/>
              </a:lnSpc>
              <a:spcBef>
                <a:spcPts val="0"/>
              </a:spcBef>
              <a:spcAft>
                <a:spcPts val="0"/>
              </a:spcAft>
            </a:pPr>
            <a:r>
              <a:rPr sz="1600" b="1" i="0">
                <a:solidFill>
                  <a:srgbClr val="128A5F"/>
                </a:solidFill>
                <a:latin typeface="Open Sans"/>
              </a:rPr>
              <a:t>Híbrido</a:t>
            </a:r>
          </a:p>
        </p:txBody>
      </p:sp>
      <p:sp>
        <p:nvSpPr>
          <p:cNvPr id="21" name="TextBox 20"/>
          <p:cNvSpPr txBox="1"/>
          <p:nvPr/>
        </p:nvSpPr>
        <p:spPr>
          <a:xfrm>
            <a:off x="2651760" y="5294376"/>
            <a:ext cx="3200400" cy="786384"/>
          </a:xfrm>
          <a:prstGeom prst="rect">
            <a:avLst/>
          </a:prstGeom>
          <a:noFill/>
        </p:spPr>
        <p:txBody>
          <a:bodyPr wrap="square" lIns="0" rIns="0" tIns="0" bIns="0" anchor="ctr">
            <a:noAutofit/>
          </a:bodyPr>
          <a:lstStyle/>
          <a:p>
            <a:pPr algn="l">
              <a:lnSpc>
                <a:spcPct val="100000"/>
              </a:lnSpc>
              <a:spcBef>
                <a:spcPts val="0"/>
              </a:spcBef>
              <a:spcAft>
                <a:spcPts val="0"/>
              </a:spcAft>
            </a:pPr>
            <a:r>
              <a:rPr sz="1400" b="0" i="0">
                <a:solidFill>
                  <a:srgbClr val="17201B"/>
                </a:solidFill>
                <a:latin typeface="Open Sans"/>
              </a:rPr>
              <a:t>75 gerações de NSGA-II, depois 75 de AG escalar</a:t>
            </a:r>
          </a:p>
        </p:txBody>
      </p:sp>
      <p:sp>
        <p:nvSpPr>
          <p:cNvPr id="22" name="Rounded Rectangle 21"/>
          <p:cNvSpPr/>
          <p:nvPr/>
        </p:nvSpPr>
        <p:spPr>
          <a:xfrm>
            <a:off x="6263640" y="1709928"/>
            <a:ext cx="5376672" cy="4389120"/>
          </a:xfrm>
          <a:prstGeom prst="roundRect">
            <a:avLst>
              <a:gd name="adj" fmla="val 2500"/>
            </a:avLst>
          </a:prstGeom>
          <a:solidFill>
            <a:srgbClr val="F2F4F3"/>
          </a:solidFill>
          <a:ln>
            <a:noFill/>
          </a:ln>
        </p:spPr>
        <p:txBody>
          <a:bodyPr rtlCol="0" anchor="ctr"/>
          <a:lstStyle/>
          <a:p>
            <a:pPr algn="ctr"/>
          </a:p>
        </p:txBody>
      </p:sp>
      <p:sp>
        <p:nvSpPr>
          <p:cNvPr id="23" name="TextBox 22"/>
          <p:cNvSpPr txBox="1"/>
          <p:nvPr/>
        </p:nvSpPr>
        <p:spPr>
          <a:xfrm>
            <a:off x="6537960" y="1847088"/>
            <a:ext cx="4846320" cy="310896"/>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2F9E41"/>
                </a:solidFill>
                <a:latin typeface="Open Sans"/>
              </a:rPr>
              <a:t>PROTOCOLO</a:t>
            </a:r>
          </a:p>
        </p:txBody>
      </p:sp>
      <p:sp>
        <p:nvSpPr>
          <p:cNvPr id="24" name="TextBox 23"/>
          <p:cNvSpPr txBox="1"/>
          <p:nvPr/>
        </p:nvSpPr>
        <p:spPr>
          <a:xfrm>
            <a:off x="6537960" y="2267712"/>
            <a:ext cx="1874519" cy="50292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20</a:t>
            </a:r>
          </a:p>
        </p:txBody>
      </p:sp>
      <p:sp>
        <p:nvSpPr>
          <p:cNvPr id="25" name="TextBox 24"/>
          <p:cNvSpPr txBox="1"/>
          <p:nvPr/>
        </p:nvSpPr>
        <p:spPr>
          <a:xfrm>
            <a:off x="8321040" y="2286000"/>
            <a:ext cx="3108960" cy="530352"/>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4A524D"/>
                </a:solidFill>
                <a:latin typeface="Open Sans"/>
              </a:rPr>
              <a:t>execuções por braço, mesmas sementes: desenho pareado</a:t>
            </a:r>
          </a:p>
        </p:txBody>
      </p:sp>
      <p:sp>
        <p:nvSpPr>
          <p:cNvPr id="26" name="TextBox 25"/>
          <p:cNvSpPr txBox="1"/>
          <p:nvPr/>
        </p:nvSpPr>
        <p:spPr>
          <a:xfrm>
            <a:off x="6537960" y="2980944"/>
            <a:ext cx="1874519" cy="50292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300 × 150</a:t>
            </a:r>
          </a:p>
        </p:txBody>
      </p:sp>
      <p:sp>
        <p:nvSpPr>
          <p:cNvPr id="27" name="TextBox 26"/>
          <p:cNvSpPr txBox="1"/>
          <p:nvPr/>
        </p:nvSpPr>
        <p:spPr>
          <a:xfrm>
            <a:off x="8321040" y="2999232"/>
            <a:ext cx="3108960" cy="530352"/>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4A524D"/>
                </a:solidFill>
                <a:latin typeface="Open Sans"/>
              </a:rPr>
              <a:t>elencos × gerações, em todos os braços</a:t>
            </a:r>
          </a:p>
        </p:txBody>
      </p:sp>
      <p:sp>
        <p:nvSpPr>
          <p:cNvPr id="28" name="TextBox 27"/>
          <p:cNvSpPr txBox="1"/>
          <p:nvPr/>
        </p:nvSpPr>
        <p:spPr>
          <a:xfrm>
            <a:off x="6537960" y="3694176"/>
            <a:ext cx="1874519" cy="50292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1.000</a:t>
            </a:r>
          </a:p>
        </p:txBody>
      </p:sp>
      <p:sp>
        <p:nvSpPr>
          <p:cNvPr id="29" name="TextBox 28"/>
          <p:cNvSpPr txBox="1"/>
          <p:nvPr/>
        </p:nvSpPr>
        <p:spPr>
          <a:xfrm>
            <a:off x="8321040" y="3712463"/>
            <a:ext cx="3108960" cy="530352"/>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4A524D"/>
                </a:solidFill>
                <a:latin typeface="Open Sans"/>
              </a:rPr>
              <a:t>lutas por par na reavaliação, com sorteios inéditos</a:t>
            </a:r>
          </a:p>
        </p:txBody>
      </p:sp>
      <p:sp>
        <p:nvSpPr>
          <p:cNvPr id="30" name="TextBox 29"/>
          <p:cNvSpPr txBox="1"/>
          <p:nvPr/>
        </p:nvSpPr>
        <p:spPr>
          <a:xfrm>
            <a:off x="6537960" y="4407408"/>
            <a:ext cx="1874519" cy="502920"/>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35</a:t>
            </a:r>
          </a:p>
        </p:txBody>
      </p:sp>
      <p:sp>
        <p:nvSpPr>
          <p:cNvPr id="31" name="TextBox 30"/>
          <p:cNvSpPr txBox="1"/>
          <p:nvPr/>
        </p:nvSpPr>
        <p:spPr>
          <a:xfrm>
            <a:off x="8321040" y="4425696"/>
            <a:ext cx="3108960" cy="530352"/>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4A524D"/>
                </a:solidFill>
                <a:latin typeface="Open Sans"/>
              </a:rPr>
              <a:t>modelos nulos: o piso de cada métrica</a:t>
            </a:r>
          </a:p>
        </p:txBody>
      </p:sp>
      <p:sp>
        <p:nvSpPr>
          <p:cNvPr id="32" name="TextBox 31"/>
          <p:cNvSpPr txBox="1"/>
          <p:nvPr/>
        </p:nvSpPr>
        <p:spPr>
          <a:xfrm>
            <a:off x="6537960" y="5175504"/>
            <a:ext cx="4892040" cy="777240"/>
          </a:xfrm>
          <a:prstGeom prst="rect">
            <a:avLst/>
          </a:prstGeom>
          <a:noFill/>
        </p:spPr>
        <p:txBody>
          <a:bodyPr wrap="square" lIns="0" rIns="0" tIns="0" bIns="0" anchor="t">
            <a:noAutofit/>
          </a:bodyPr>
          <a:lstStyle/>
          <a:p>
            <a:pPr algn="l">
              <a:lnSpc>
                <a:spcPct val="100000"/>
              </a:lnSpc>
              <a:spcBef>
                <a:spcPts val="0"/>
              </a:spcBef>
              <a:spcAft>
                <a:spcPts val="0"/>
              </a:spcAft>
            </a:pPr>
            <a:r>
              <a:rPr sz="1700" b="1" i="0">
                <a:solidFill>
                  <a:srgbClr val="17201B"/>
                </a:solidFill>
                <a:latin typeface="Open Sans"/>
              </a:rPr>
              <a:t>Wilcoxon pareado · Â₁₂ · Holm</a:t>
            </a:r>
          </a:p>
          <a:p>
            <a:pPr algn="l">
              <a:lnSpc>
                <a:spcPct val="100000"/>
              </a:lnSpc>
              <a:spcBef>
                <a:spcPts val="400"/>
              </a:spcBef>
              <a:spcAft>
                <a:spcPts val="0"/>
              </a:spcAft>
            </a:pPr>
            <a:r>
              <a:rPr sz="1400" b="0" i="0">
                <a:solidFill>
                  <a:srgbClr val="4A524D"/>
                </a:solidFill>
                <a:latin typeface="Open Sans"/>
              </a:rPr>
              <a:t>família fixa de 7 métricas, definida antes da bateria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1" i="0">
                <a:solidFill>
                  <a:srgbClr val="FFFFFF"/>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0" i="0">
                <a:solidFill>
                  <a:srgbClr val="BFE5C7"/>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Implementação: combate compilado e cada número rastreável</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13</a:t>
            </a:r>
          </a:p>
        </p:txBody>
      </p:sp>
      <p:sp>
        <p:nvSpPr>
          <p:cNvPr id="7" name="Rounded Rectangle 6"/>
          <p:cNvSpPr/>
          <p:nvPr/>
        </p:nvSpPr>
        <p:spPr>
          <a:xfrm>
            <a:off x="548640" y="1709928"/>
            <a:ext cx="3544824" cy="1325880"/>
          </a:xfrm>
          <a:prstGeom prst="roundRect">
            <a:avLst>
              <a:gd name="adj" fmla="val 8275"/>
            </a:avLst>
          </a:prstGeom>
          <a:solidFill>
            <a:srgbClr val="F2F4F3"/>
          </a:solidFill>
          <a:ln>
            <a:noFill/>
          </a:ln>
        </p:spPr>
        <p:txBody>
          <a:bodyPr rtlCol="0" anchor="ctr"/>
          <a:lstStyle/>
          <a:p>
            <a:pPr algn="ctr"/>
          </a:p>
        </p:txBody>
      </p:sp>
      <p:sp>
        <p:nvSpPr>
          <p:cNvPr id="8" name="TextBox 7"/>
          <p:cNvSpPr txBox="1"/>
          <p:nvPr/>
        </p:nvSpPr>
        <p:spPr>
          <a:xfrm>
            <a:off x="822959" y="1801368"/>
            <a:ext cx="2996184" cy="640080"/>
          </a:xfrm>
          <a:prstGeom prst="rect">
            <a:avLst/>
          </a:prstGeom>
          <a:noFill/>
        </p:spPr>
        <p:txBody>
          <a:bodyPr wrap="square" lIns="0" rIns="0" tIns="0" bIns="0" anchor="t">
            <a:noAutofit/>
          </a:bodyPr>
          <a:lstStyle/>
          <a:p>
            <a:pPr algn="l">
              <a:lnSpc>
                <a:spcPct val="100000"/>
              </a:lnSpc>
              <a:spcBef>
                <a:spcPts val="0"/>
              </a:spcBef>
              <a:spcAft>
                <a:spcPts val="0"/>
              </a:spcAft>
            </a:pPr>
            <a:r>
              <a:rPr sz="3600" b="1" i="0">
                <a:solidFill>
                  <a:srgbClr val="17201B"/>
                </a:solidFill>
                <a:latin typeface="Open Sans"/>
              </a:rPr>
              <a:t>~150×</a:t>
            </a:r>
          </a:p>
        </p:txBody>
      </p:sp>
      <p:sp>
        <p:nvSpPr>
          <p:cNvPr id="9" name="TextBox 8"/>
          <p:cNvSpPr txBox="1"/>
          <p:nvPr/>
        </p:nvSpPr>
        <p:spPr>
          <a:xfrm>
            <a:off x="822959" y="2450592"/>
            <a:ext cx="2996184" cy="512064"/>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4A524D"/>
                </a:solidFill>
                <a:latin typeface="Open Sans"/>
              </a:rPr>
              <a:t>combate compilado com Numba, contra Python puro</a:t>
            </a:r>
          </a:p>
        </p:txBody>
      </p:sp>
      <p:sp>
        <p:nvSpPr>
          <p:cNvPr id="10" name="Rounded Rectangle 9"/>
          <p:cNvSpPr/>
          <p:nvPr/>
        </p:nvSpPr>
        <p:spPr>
          <a:xfrm>
            <a:off x="4322064" y="1709928"/>
            <a:ext cx="3544824" cy="1325880"/>
          </a:xfrm>
          <a:prstGeom prst="roundRect">
            <a:avLst>
              <a:gd name="adj" fmla="val 8275"/>
            </a:avLst>
          </a:prstGeom>
          <a:solidFill>
            <a:srgbClr val="F2F4F3"/>
          </a:solidFill>
          <a:ln>
            <a:noFill/>
          </a:ln>
        </p:spPr>
        <p:txBody>
          <a:bodyPr rtlCol="0" anchor="ctr"/>
          <a:lstStyle/>
          <a:p>
            <a:pPr algn="ctr"/>
          </a:p>
        </p:txBody>
      </p:sp>
      <p:sp>
        <p:nvSpPr>
          <p:cNvPr id="11" name="TextBox 10"/>
          <p:cNvSpPr txBox="1"/>
          <p:nvPr/>
        </p:nvSpPr>
        <p:spPr>
          <a:xfrm>
            <a:off x="4596384" y="1801368"/>
            <a:ext cx="2996184" cy="640080"/>
          </a:xfrm>
          <a:prstGeom prst="rect">
            <a:avLst/>
          </a:prstGeom>
          <a:noFill/>
        </p:spPr>
        <p:txBody>
          <a:bodyPr wrap="square" lIns="0" rIns="0" tIns="0" bIns="0" anchor="t">
            <a:noAutofit/>
          </a:bodyPr>
          <a:lstStyle/>
          <a:p>
            <a:pPr algn="l">
              <a:lnSpc>
                <a:spcPct val="100000"/>
              </a:lnSpc>
              <a:spcBef>
                <a:spcPts val="0"/>
              </a:spcBef>
              <a:spcAft>
                <a:spcPts val="0"/>
              </a:spcAft>
            </a:pPr>
            <a:r>
              <a:rPr sz="3600" b="1" i="0">
                <a:solidFill>
                  <a:srgbClr val="17201B"/>
                </a:solidFill>
                <a:latin typeface="Open Sans"/>
              </a:rPr>
              <a:t>68 mi</a:t>
            </a:r>
          </a:p>
        </p:txBody>
      </p:sp>
      <p:sp>
        <p:nvSpPr>
          <p:cNvPr id="12" name="TextBox 11"/>
          <p:cNvSpPr txBox="1"/>
          <p:nvPr/>
        </p:nvSpPr>
        <p:spPr>
          <a:xfrm>
            <a:off x="4596384" y="2450592"/>
            <a:ext cx="2996184" cy="512064"/>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4A524D"/>
                </a:solidFill>
                <a:latin typeface="Open Sans"/>
              </a:rPr>
              <a:t>lutas por execução do AG escalar</a:t>
            </a:r>
          </a:p>
        </p:txBody>
      </p:sp>
      <p:sp>
        <p:nvSpPr>
          <p:cNvPr id="13" name="Rounded Rectangle 12"/>
          <p:cNvSpPr/>
          <p:nvPr/>
        </p:nvSpPr>
        <p:spPr>
          <a:xfrm>
            <a:off x="8095488" y="1709928"/>
            <a:ext cx="3544824" cy="1325880"/>
          </a:xfrm>
          <a:prstGeom prst="roundRect">
            <a:avLst>
              <a:gd name="adj" fmla="val 8275"/>
            </a:avLst>
          </a:prstGeom>
          <a:solidFill>
            <a:srgbClr val="F2F4F3"/>
          </a:solidFill>
          <a:ln>
            <a:noFill/>
          </a:ln>
        </p:spPr>
        <p:txBody>
          <a:bodyPr rtlCol="0" anchor="ctr"/>
          <a:lstStyle/>
          <a:p>
            <a:pPr algn="ctr"/>
          </a:p>
        </p:txBody>
      </p:sp>
      <p:sp>
        <p:nvSpPr>
          <p:cNvPr id="14" name="TextBox 13"/>
          <p:cNvSpPr txBox="1"/>
          <p:nvPr/>
        </p:nvSpPr>
        <p:spPr>
          <a:xfrm>
            <a:off x="8369808" y="1801368"/>
            <a:ext cx="2996184" cy="640080"/>
          </a:xfrm>
          <a:prstGeom prst="rect">
            <a:avLst/>
          </a:prstGeom>
          <a:noFill/>
        </p:spPr>
        <p:txBody>
          <a:bodyPr wrap="square" lIns="0" rIns="0" tIns="0" bIns="0" anchor="t">
            <a:noAutofit/>
          </a:bodyPr>
          <a:lstStyle/>
          <a:p>
            <a:pPr algn="l">
              <a:lnSpc>
                <a:spcPct val="100000"/>
              </a:lnSpc>
              <a:spcBef>
                <a:spcPts val="0"/>
              </a:spcBef>
              <a:spcAft>
                <a:spcPts val="0"/>
              </a:spcAft>
            </a:pPr>
            <a:r>
              <a:rPr sz="3600" b="1" i="0">
                <a:solidFill>
                  <a:srgbClr val="17201B"/>
                </a:solidFill>
                <a:latin typeface="Open Sans"/>
              </a:rPr>
              <a:t>135 mi</a:t>
            </a:r>
          </a:p>
        </p:txBody>
      </p:sp>
      <p:sp>
        <p:nvSpPr>
          <p:cNvPr id="15" name="TextBox 14"/>
          <p:cNvSpPr txBox="1"/>
          <p:nvPr/>
        </p:nvSpPr>
        <p:spPr>
          <a:xfrm>
            <a:off x="8369808" y="2450592"/>
            <a:ext cx="2996184" cy="512064"/>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4A524D"/>
                </a:solidFill>
                <a:latin typeface="Open Sans"/>
              </a:rPr>
              <a:t>lutas por execução do NSGA-II</a:t>
            </a:r>
          </a:p>
        </p:txBody>
      </p:sp>
      <p:sp>
        <p:nvSpPr>
          <p:cNvPr id="16" name="TextBox 15"/>
          <p:cNvSpPr txBox="1"/>
          <p:nvPr/>
        </p:nvSpPr>
        <p:spPr>
          <a:xfrm>
            <a:off x="548640" y="3218688"/>
            <a:ext cx="11091672" cy="274320"/>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2F9E41"/>
                </a:solidFill>
                <a:latin typeface="Open Sans"/>
              </a:rPr>
              <a:t>ORGANIZAÇÃO DO CÓDIGO</a:t>
            </a:r>
          </a:p>
        </p:txBody>
      </p:sp>
      <p:sp>
        <p:nvSpPr>
          <p:cNvPr id="17" name="Rounded Rectangle 16"/>
          <p:cNvSpPr/>
          <p:nvPr/>
        </p:nvSpPr>
        <p:spPr>
          <a:xfrm>
            <a:off x="548640" y="3547872"/>
            <a:ext cx="2498598" cy="1005840"/>
          </a:xfrm>
          <a:prstGeom prst="roundRect">
            <a:avLst>
              <a:gd name="adj" fmla="val 10909"/>
            </a:avLst>
          </a:prstGeom>
          <a:solidFill>
            <a:srgbClr val="F2F4F3"/>
          </a:solidFill>
          <a:ln>
            <a:noFill/>
          </a:ln>
        </p:spPr>
        <p:txBody>
          <a:bodyPr rtlCol="0" anchor="ctr"/>
          <a:lstStyle/>
          <a:p>
            <a:pPr algn="ctr"/>
          </a:p>
        </p:txBody>
      </p:sp>
      <p:sp>
        <p:nvSpPr>
          <p:cNvPr id="18" name="TextBox 17"/>
          <p:cNvSpPr txBox="1"/>
          <p:nvPr/>
        </p:nvSpPr>
        <p:spPr>
          <a:xfrm>
            <a:off x="731520" y="3630168"/>
            <a:ext cx="2132838" cy="274320"/>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7201B"/>
                </a:solidFill>
                <a:latin typeface="Open Sans"/>
              </a:rPr>
              <a:t>src/engine</a:t>
            </a:r>
          </a:p>
        </p:txBody>
      </p:sp>
      <p:sp>
        <p:nvSpPr>
          <p:cNvPr id="19" name="TextBox 18"/>
          <p:cNvSpPr txBox="1"/>
          <p:nvPr/>
        </p:nvSpPr>
        <p:spPr>
          <a:xfrm>
            <a:off x="731520" y="3941063"/>
            <a:ext cx="2132838" cy="548640"/>
          </a:xfrm>
          <a:prstGeom prst="rect">
            <a:avLst/>
          </a:prstGeom>
          <a:noFill/>
        </p:spPr>
        <p:txBody>
          <a:bodyPr wrap="square" lIns="0" rIns="0" tIns="0" bIns="0" anchor="t">
            <a:noAutofit/>
          </a:bodyPr>
          <a:lstStyle/>
          <a:p>
            <a:pPr algn="l">
              <a:lnSpc>
                <a:spcPct val="100000"/>
              </a:lnSpc>
              <a:spcBef>
                <a:spcPts val="0"/>
              </a:spcBef>
              <a:spcAft>
                <a:spcPts val="0"/>
              </a:spcAft>
            </a:pPr>
            <a:r>
              <a:rPr sz="1300" b="0" i="0">
                <a:solidFill>
                  <a:srgbClr val="4A524D"/>
                </a:solidFill>
                <a:latin typeface="Open Sans"/>
              </a:rPr>
              <a:t>combate, aptidão e os três algoritmos</a:t>
            </a:r>
          </a:p>
        </p:txBody>
      </p:sp>
      <p:cxnSp>
        <p:nvCxnSpPr>
          <p:cNvPr id="20" name="Connector 19"/>
          <p:cNvCxnSpPr/>
          <p:nvPr/>
        </p:nvCxnSpPr>
        <p:spPr>
          <a:xfrm>
            <a:off x="3092958" y="4050791"/>
            <a:ext cx="274320" cy="0"/>
          </a:xfrm>
          <a:prstGeom prst="line">
            <a:avLst/>
          </a:prstGeom>
          <a:ln w="28575">
            <a:solidFill>
              <a:srgbClr val="6F7772"/>
            </a:solidFill>
            <a:tailEnd type="triangle" w="med" len="med"/>
          </a:ln>
        </p:spPr>
      </p:cxnSp>
      <p:sp>
        <p:nvSpPr>
          <p:cNvPr id="21" name="Rounded Rectangle 20"/>
          <p:cNvSpPr/>
          <p:nvPr/>
        </p:nvSpPr>
        <p:spPr>
          <a:xfrm>
            <a:off x="3412998" y="3547872"/>
            <a:ext cx="2498598" cy="1005840"/>
          </a:xfrm>
          <a:prstGeom prst="roundRect">
            <a:avLst>
              <a:gd name="adj" fmla="val 10909"/>
            </a:avLst>
          </a:prstGeom>
          <a:solidFill>
            <a:srgbClr val="F2F4F3"/>
          </a:solidFill>
          <a:ln>
            <a:noFill/>
          </a:ln>
        </p:spPr>
        <p:txBody>
          <a:bodyPr rtlCol="0" anchor="ctr"/>
          <a:lstStyle/>
          <a:p>
            <a:pPr algn="ctr"/>
          </a:p>
        </p:txBody>
      </p:sp>
      <p:sp>
        <p:nvSpPr>
          <p:cNvPr id="22" name="TextBox 21"/>
          <p:cNvSpPr txBox="1"/>
          <p:nvPr/>
        </p:nvSpPr>
        <p:spPr>
          <a:xfrm>
            <a:off x="3595878" y="3630168"/>
            <a:ext cx="2132838" cy="274320"/>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7201B"/>
                </a:solidFill>
                <a:latin typeface="Open Sans"/>
              </a:rPr>
              <a:t>src/experiments</a:t>
            </a:r>
          </a:p>
        </p:txBody>
      </p:sp>
      <p:sp>
        <p:nvSpPr>
          <p:cNvPr id="23" name="TextBox 22"/>
          <p:cNvSpPr txBox="1"/>
          <p:nvPr/>
        </p:nvSpPr>
        <p:spPr>
          <a:xfrm>
            <a:off x="3595878" y="3941063"/>
            <a:ext cx="2132838" cy="548640"/>
          </a:xfrm>
          <a:prstGeom prst="rect">
            <a:avLst/>
          </a:prstGeom>
          <a:noFill/>
        </p:spPr>
        <p:txBody>
          <a:bodyPr wrap="square" lIns="0" rIns="0" tIns="0" bIns="0" anchor="t">
            <a:noAutofit/>
          </a:bodyPr>
          <a:lstStyle/>
          <a:p>
            <a:pPr algn="l">
              <a:lnSpc>
                <a:spcPct val="100000"/>
              </a:lnSpc>
              <a:spcBef>
                <a:spcPts val="0"/>
              </a:spcBef>
              <a:spcAft>
                <a:spcPts val="0"/>
              </a:spcAft>
            </a:pPr>
            <a:r>
              <a:rPr sz="1300" b="0" i="0">
                <a:solidFill>
                  <a:srgbClr val="4A524D"/>
                </a:solidFill>
                <a:latin typeface="Open Sans"/>
              </a:rPr>
              <a:t>o protocolo, que grava os artefatos</a:t>
            </a:r>
          </a:p>
        </p:txBody>
      </p:sp>
      <p:cxnSp>
        <p:nvCxnSpPr>
          <p:cNvPr id="24" name="Connector 23"/>
          <p:cNvCxnSpPr/>
          <p:nvPr/>
        </p:nvCxnSpPr>
        <p:spPr>
          <a:xfrm>
            <a:off x="5957316" y="4050791"/>
            <a:ext cx="274320" cy="0"/>
          </a:xfrm>
          <a:prstGeom prst="line">
            <a:avLst/>
          </a:prstGeom>
          <a:ln w="28575">
            <a:solidFill>
              <a:srgbClr val="6F7772"/>
            </a:solidFill>
            <a:tailEnd type="triangle" w="med" len="med"/>
          </a:ln>
        </p:spPr>
      </p:cxnSp>
      <p:sp>
        <p:nvSpPr>
          <p:cNvPr id="25" name="Rounded Rectangle 24"/>
          <p:cNvSpPr/>
          <p:nvPr/>
        </p:nvSpPr>
        <p:spPr>
          <a:xfrm>
            <a:off x="6277355" y="3547872"/>
            <a:ext cx="2498598" cy="1005840"/>
          </a:xfrm>
          <a:prstGeom prst="roundRect">
            <a:avLst>
              <a:gd name="adj" fmla="val 10909"/>
            </a:avLst>
          </a:prstGeom>
          <a:solidFill>
            <a:srgbClr val="F2F4F3"/>
          </a:solidFill>
          <a:ln>
            <a:noFill/>
          </a:ln>
        </p:spPr>
        <p:txBody>
          <a:bodyPr rtlCol="0" anchor="ctr"/>
          <a:lstStyle/>
          <a:p>
            <a:pPr algn="ctr"/>
          </a:p>
        </p:txBody>
      </p:sp>
      <p:sp>
        <p:nvSpPr>
          <p:cNvPr id="26" name="TextBox 25"/>
          <p:cNvSpPr txBox="1"/>
          <p:nvPr/>
        </p:nvSpPr>
        <p:spPr>
          <a:xfrm>
            <a:off x="6460236" y="3630168"/>
            <a:ext cx="2132838" cy="274320"/>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7201B"/>
                </a:solidFill>
                <a:latin typeface="Open Sans"/>
              </a:rPr>
              <a:t>results/</a:t>
            </a:r>
          </a:p>
        </p:txBody>
      </p:sp>
      <p:sp>
        <p:nvSpPr>
          <p:cNvPr id="27" name="TextBox 26"/>
          <p:cNvSpPr txBox="1"/>
          <p:nvPr/>
        </p:nvSpPr>
        <p:spPr>
          <a:xfrm>
            <a:off x="6460236" y="3941063"/>
            <a:ext cx="2132838" cy="548640"/>
          </a:xfrm>
          <a:prstGeom prst="rect">
            <a:avLst/>
          </a:prstGeom>
          <a:noFill/>
        </p:spPr>
        <p:txBody>
          <a:bodyPr wrap="square" lIns="0" rIns="0" tIns="0" bIns="0" anchor="t">
            <a:noAutofit/>
          </a:bodyPr>
          <a:lstStyle/>
          <a:p>
            <a:pPr algn="l">
              <a:lnSpc>
                <a:spcPct val="100000"/>
              </a:lnSpc>
              <a:spcBef>
                <a:spcPts val="0"/>
              </a:spcBef>
              <a:spcAft>
                <a:spcPts val="0"/>
              </a:spcAft>
            </a:pPr>
            <a:r>
              <a:rPr sz="1300" b="0" i="0">
                <a:solidFill>
                  <a:srgbClr val="4A524D"/>
                </a:solidFill>
                <a:latin typeface="Open Sans"/>
              </a:rPr>
              <a:t>artefatos JSON, cada um com carimbo</a:t>
            </a:r>
          </a:p>
        </p:txBody>
      </p:sp>
      <p:cxnSp>
        <p:nvCxnSpPr>
          <p:cNvPr id="28" name="Connector 27"/>
          <p:cNvCxnSpPr/>
          <p:nvPr/>
        </p:nvCxnSpPr>
        <p:spPr>
          <a:xfrm>
            <a:off x="8821674" y="4050791"/>
            <a:ext cx="274320" cy="0"/>
          </a:xfrm>
          <a:prstGeom prst="line">
            <a:avLst/>
          </a:prstGeom>
          <a:ln w="28575">
            <a:solidFill>
              <a:srgbClr val="6F7772"/>
            </a:solidFill>
            <a:tailEnd type="triangle" w="med" len="med"/>
          </a:ln>
        </p:spPr>
      </p:cxnSp>
      <p:sp>
        <p:nvSpPr>
          <p:cNvPr id="29" name="Rounded Rectangle 28"/>
          <p:cNvSpPr/>
          <p:nvPr/>
        </p:nvSpPr>
        <p:spPr>
          <a:xfrm>
            <a:off x="9141713" y="3547872"/>
            <a:ext cx="2498598" cy="1005840"/>
          </a:xfrm>
          <a:prstGeom prst="roundRect">
            <a:avLst>
              <a:gd name="adj" fmla="val 10909"/>
            </a:avLst>
          </a:prstGeom>
          <a:solidFill>
            <a:srgbClr val="F2F4F3"/>
          </a:solidFill>
          <a:ln>
            <a:noFill/>
          </a:ln>
        </p:spPr>
        <p:txBody>
          <a:bodyPr rtlCol="0" anchor="ctr"/>
          <a:lstStyle/>
          <a:p>
            <a:pPr algn="ctr"/>
          </a:p>
        </p:txBody>
      </p:sp>
      <p:sp>
        <p:nvSpPr>
          <p:cNvPr id="30" name="TextBox 29"/>
          <p:cNvSpPr txBox="1"/>
          <p:nvPr/>
        </p:nvSpPr>
        <p:spPr>
          <a:xfrm>
            <a:off x="9324593" y="3630168"/>
            <a:ext cx="2132838" cy="274320"/>
          </a:xfrm>
          <a:prstGeom prst="rect">
            <a:avLst/>
          </a:prstGeom>
          <a:noFill/>
        </p:spPr>
        <p:txBody>
          <a:bodyPr wrap="square" lIns="0" rIns="0" tIns="0" bIns="0" anchor="t">
            <a:noAutofit/>
          </a:bodyPr>
          <a:lstStyle/>
          <a:p>
            <a:pPr algn="l">
              <a:lnSpc>
                <a:spcPct val="100000"/>
              </a:lnSpc>
              <a:spcBef>
                <a:spcPts val="0"/>
              </a:spcBef>
              <a:spcAft>
                <a:spcPts val="0"/>
              </a:spcAft>
            </a:pPr>
            <a:r>
              <a:rPr sz="1500" b="1" i="0">
                <a:solidFill>
                  <a:srgbClr val="17201B"/>
                </a:solidFill>
                <a:latin typeface="Open Sans"/>
              </a:rPr>
              <a:t>src/visualization</a:t>
            </a:r>
          </a:p>
        </p:txBody>
      </p:sp>
      <p:sp>
        <p:nvSpPr>
          <p:cNvPr id="31" name="TextBox 30"/>
          <p:cNvSpPr txBox="1"/>
          <p:nvPr/>
        </p:nvSpPr>
        <p:spPr>
          <a:xfrm>
            <a:off x="9324593" y="3941063"/>
            <a:ext cx="2132838" cy="548640"/>
          </a:xfrm>
          <a:prstGeom prst="rect">
            <a:avLst/>
          </a:prstGeom>
          <a:noFill/>
        </p:spPr>
        <p:txBody>
          <a:bodyPr wrap="square" lIns="0" rIns="0" tIns="0" bIns="0" anchor="t">
            <a:noAutofit/>
          </a:bodyPr>
          <a:lstStyle/>
          <a:p>
            <a:pPr algn="l">
              <a:lnSpc>
                <a:spcPct val="100000"/>
              </a:lnSpc>
              <a:spcBef>
                <a:spcPts val="0"/>
              </a:spcBef>
              <a:spcAft>
                <a:spcPts val="0"/>
              </a:spcAft>
            </a:pPr>
            <a:r>
              <a:rPr sz="1300" b="0" i="0">
                <a:solidFill>
                  <a:srgbClr val="4A524D"/>
                </a:solidFill>
                <a:latin typeface="Open Sans"/>
              </a:rPr>
              <a:t>figuras lidas dos artefatos</a:t>
            </a:r>
          </a:p>
        </p:txBody>
      </p:sp>
      <p:sp>
        <p:nvSpPr>
          <p:cNvPr id="32" name="Rounded Rectangle 31"/>
          <p:cNvSpPr/>
          <p:nvPr/>
        </p:nvSpPr>
        <p:spPr>
          <a:xfrm>
            <a:off x="548640" y="4754880"/>
            <a:ext cx="11091672" cy="1344168"/>
          </a:xfrm>
          <a:prstGeom prst="roundRect">
            <a:avLst>
              <a:gd name="adj" fmla="val 8163"/>
            </a:avLst>
          </a:prstGeom>
          <a:solidFill>
            <a:srgbClr val="F2F4F3"/>
          </a:solidFill>
          <a:ln>
            <a:noFill/>
          </a:ln>
        </p:spPr>
        <p:txBody>
          <a:bodyPr rtlCol="0" anchor="ctr"/>
          <a:lstStyle/>
          <a:p>
            <a:pPr algn="ctr"/>
          </a:p>
        </p:txBody>
      </p:sp>
      <p:sp>
        <p:nvSpPr>
          <p:cNvPr id="33" name="TextBox 32"/>
          <p:cNvSpPr txBox="1"/>
          <p:nvPr/>
        </p:nvSpPr>
        <p:spPr>
          <a:xfrm>
            <a:off x="822960" y="4846320"/>
            <a:ext cx="10515600" cy="274320"/>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2F9E41"/>
                </a:solidFill>
                <a:latin typeface="Open Sans"/>
              </a:rPr>
              <a:t>REPRODUTIBILIDADE</a:t>
            </a:r>
          </a:p>
        </p:txBody>
      </p:sp>
      <p:sp>
        <p:nvSpPr>
          <p:cNvPr id="34" name="TextBox 33"/>
          <p:cNvSpPr txBox="1"/>
          <p:nvPr/>
        </p:nvSpPr>
        <p:spPr>
          <a:xfrm>
            <a:off x="822960" y="5175504"/>
            <a:ext cx="5074920" cy="868680"/>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17201B"/>
                </a:solidFill>
                <a:latin typeface="Open Sans"/>
              </a:rPr>
              <a:t>uma semente </a:t>
            </a:r>
            <a:r>
              <a:rPr sz="1400" b="0" i="0">
                <a:solidFill>
                  <a:srgbClr val="17201B"/>
                </a:solidFill>
                <a:latin typeface="Open Sans"/>
              </a:rPr>
              <a:t>fixa população, operadores e sorteios; cada luta é semeada pela posição, e o resultado não depende do número de processos</a:t>
            </a:r>
          </a:p>
        </p:txBody>
      </p:sp>
      <p:sp>
        <p:nvSpPr>
          <p:cNvPr id="35" name="TextBox 34"/>
          <p:cNvSpPr txBox="1"/>
          <p:nvPr/>
        </p:nvSpPr>
        <p:spPr>
          <a:xfrm>
            <a:off x="6263640" y="5175504"/>
            <a:ext cx="5120640" cy="868680"/>
          </a:xfrm>
          <a:prstGeom prst="rect">
            <a:avLst/>
          </a:prstGeom>
          <a:noFill/>
        </p:spPr>
        <p:txBody>
          <a:bodyPr wrap="square" lIns="0" rIns="0" tIns="0" bIns="0" anchor="t">
            <a:noAutofit/>
          </a:bodyPr>
          <a:lstStyle/>
          <a:p>
            <a:pPr algn="l">
              <a:lnSpc>
                <a:spcPct val="100000"/>
              </a:lnSpc>
              <a:spcBef>
                <a:spcPts val="0"/>
              </a:spcBef>
              <a:spcAft>
                <a:spcPts val="0"/>
              </a:spcAft>
            </a:pPr>
            <a:r>
              <a:rPr sz="1400" b="1" i="0">
                <a:solidFill>
                  <a:srgbClr val="17201B"/>
                </a:solidFill>
                <a:latin typeface="Open Sans"/>
              </a:rPr>
              <a:t>cada artefato </a:t>
            </a:r>
            <a:r>
              <a:rPr sz="1400" b="0" i="0">
                <a:solidFill>
                  <a:srgbClr val="17201B"/>
                </a:solidFill>
                <a:latin typeface="Open Sans"/>
              </a:rPr>
              <a:t>registra configuração, perfis canônicos e resumos do código: aviso ao carregar um desatualizado, recusa ao gravar a partir dele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abeçalho"/>
          <p:cNvSpPr/>
          <p:nvPr/>
        </p:nvSpPr>
        <p:spPr>
          <a:xfrm>
            <a:off x="0" y="0"/>
            <a:ext cx="12191695" cy="566928"/>
          </a:xfrm>
          <a:prstGeom prst="rect">
            <a:avLst/>
          </a:prstGeom>
          <a:solidFill>
            <a:srgbClr val="2F9E41"/>
          </a:solidFill>
          <a:ln>
            <a:noFill/>
          </a:ln>
        </p:spPr>
        <p:txBody>
          <a:bodyPr rtlCol="0" anchor="ctr"/>
          <a:lstStyle/>
          <a:p>
            <a:pPr algn="ctr"/>
          </a:p>
        </p:txBody>
      </p:sp>
      <p:pic>
        <p:nvPicPr>
          <p:cNvPr id="3" name="Marca Ifes" descr="logo_branco.png"/>
          <p:cNvPicPr>
            <a:picLocks noChangeAspect="1"/>
          </p:cNvPicPr>
          <p:nvPr/>
        </p:nvPicPr>
        <p:blipFill>
          <a:blip r:embed="rId2"/>
          <a:stretch>
            <a:fillRect/>
          </a:stretch>
        </p:blipFill>
        <p:spPr>
          <a:xfrm>
            <a:off x="411480" y="118872"/>
            <a:ext cx="1371600" cy="329184"/>
          </a:xfrm>
          <a:prstGeom prst="rect">
            <a:avLst/>
          </a:prstGeom>
        </p:spPr>
      </p:pic>
      <p:sp>
        <p:nvSpPr>
          <p:cNvPr id="4" name="Andamento"/>
          <p:cNvSpPr txBox="1"/>
          <p:nvPr/>
        </p:nvSpPr>
        <p:spPr>
          <a:xfrm>
            <a:off x="5947537" y="0"/>
            <a:ext cx="5784215" cy="566928"/>
          </a:xfrm>
          <a:prstGeom prst="rect">
            <a:avLst/>
          </a:prstGeom>
          <a:noFill/>
        </p:spPr>
        <p:txBody>
          <a:bodyPr wrap="square" lIns="0" rIns="0" tIns="0" bIns="0" anchor="ctr">
            <a:noAutofit/>
          </a:bodyPr>
          <a:lstStyle/>
          <a:p>
            <a:pPr algn="r">
              <a:lnSpc>
                <a:spcPct val="100000"/>
              </a:lnSpc>
              <a:spcBef>
                <a:spcPts val="0"/>
              </a:spcBef>
              <a:spcAft>
                <a:spcPts val="0"/>
              </a:spcAft>
            </a:pPr>
            <a:r>
              <a:rPr sz="1400" b="0" i="0">
                <a:solidFill>
                  <a:srgbClr val="BFE5C7"/>
                </a:solidFill>
                <a:latin typeface="Open Sans"/>
              </a:rPr>
              <a:t>Introdução</a:t>
            </a:r>
            <a:r>
              <a:rPr sz="1400" b="0" i="0">
                <a:solidFill>
                  <a:srgbClr val="BFE5C7"/>
                </a:solidFill>
                <a:latin typeface="Open Sans"/>
              </a:rPr>
              <a:t>     </a:t>
            </a:r>
            <a:r>
              <a:rPr sz="1400" b="0" i="0">
                <a:solidFill>
                  <a:srgbClr val="BFE5C7"/>
                </a:solidFill>
                <a:latin typeface="Open Sans"/>
              </a:rPr>
              <a:t>Referencial</a:t>
            </a:r>
            <a:r>
              <a:rPr sz="1400" b="0" i="0">
                <a:solidFill>
                  <a:srgbClr val="BFE5C7"/>
                </a:solidFill>
                <a:latin typeface="Open Sans"/>
              </a:rPr>
              <a:t>     </a:t>
            </a:r>
            <a:r>
              <a:rPr sz="1400" b="0" i="0">
                <a:solidFill>
                  <a:srgbClr val="BFE5C7"/>
                </a:solidFill>
                <a:latin typeface="Open Sans"/>
              </a:rPr>
              <a:t>Metodologia</a:t>
            </a:r>
            <a:r>
              <a:rPr sz="1400" b="0" i="0">
                <a:solidFill>
                  <a:srgbClr val="BFE5C7"/>
                </a:solidFill>
                <a:latin typeface="Open Sans"/>
              </a:rPr>
              <a:t>     </a:t>
            </a:r>
            <a:r>
              <a:rPr sz="1400" b="0" i="0">
                <a:solidFill>
                  <a:srgbClr val="BFE5C7"/>
                </a:solidFill>
                <a:latin typeface="Open Sans"/>
              </a:rPr>
              <a:t>Resultados</a:t>
            </a:r>
            <a:r>
              <a:rPr sz="1400" b="0" i="0">
                <a:solidFill>
                  <a:srgbClr val="BFE5C7"/>
                </a:solidFill>
                <a:latin typeface="Open Sans"/>
              </a:rPr>
              <a:t>     </a:t>
            </a:r>
            <a:r>
              <a:rPr sz="1400" b="1" i="0">
                <a:solidFill>
                  <a:srgbClr val="FFFFFF"/>
                </a:solidFill>
                <a:latin typeface="Open Sans"/>
              </a:rPr>
              <a:t>Conclusão</a:t>
            </a:r>
          </a:p>
        </p:txBody>
      </p:sp>
      <p:sp>
        <p:nvSpPr>
          <p:cNvPr id="5" name="Título"/>
          <p:cNvSpPr txBox="1"/>
          <p:nvPr/>
        </p:nvSpPr>
        <p:spPr>
          <a:xfrm>
            <a:off x="548640" y="804672"/>
            <a:ext cx="11091672" cy="512064"/>
          </a:xfrm>
          <a:prstGeom prst="rect">
            <a:avLst/>
          </a:prstGeom>
          <a:noFill/>
        </p:spPr>
        <p:txBody>
          <a:bodyPr wrap="square" lIns="0" rIns="0" tIns="0" bIns="0" anchor="t">
            <a:noAutofit/>
          </a:bodyPr>
          <a:lstStyle/>
          <a:p>
            <a:pPr algn="l">
              <a:lnSpc>
                <a:spcPct val="100000"/>
              </a:lnSpc>
              <a:spcBef>
                <a:spcPts val="0"/>
              </a:spcBef>
              <a:spcAft>
                <a:spcPts val="0"/>
              </a:spcAft>
            </a:pPr>
            <a:r>
              <a:rPr sz="2600" b="1" i="0">
                <a:solidFill>
                  <a:srgbClr val="17201B"/>
                </a:solidFill>
                <a:latin typeface="Open Sans"/>
              </a:rPr>
              <a:t>Cinco contribuições, da formulação à medição</a:t>
            </a:r>
          </a:p>
        </p:txBody>
      </p:sp>
      <p:sp>
        <p:nvSpPr>
          <p:cNvPr id="6" name="Número"/>
          <p:cNvSpPr txBox="1"/>
          <p:nvPr/>
        </p:nvSpPr>
        <p:spPr>
          <a:xfrm>
            <a:off x="11091672" y="6446520"/>
            <a:ext cx="548640" cy="274320"/>
          </a:xfrm>
          <a:prstGeom prst="rect">
            <a:avLst/>
          </a:prstGeom>
          <a:noFill/>
        </p:spPr>
        <p:txBody>
          <a:bodyPr wrap="square" lIns="0" rIns="0" tIns="0" bIns="0" anchor="t">
            <a:noAutofit/>
          </a:bodyPr>
          <a:lstStyle/>
          <a:p>
            <a:pPr algn="r">
              <a:lnSpc>
                <a:spcPct val="100000"/>
              </a:lnSpc>
              <a:spcBef>
                <a:spcPts val="0"/>
              </a:spcBef>
              <a:spcAft>
                <a:spcPts val="0"/>
              </a:spcAft>
            </a:pPr>
            <a:r>
              <a:rPr sz="1200" b="0" i="0">
                <a:solidFill>
                  <a:srgbClr val="6F7772"/>
                </a:solidFill>
                <a:latin typeface="Open Sans"/>
              </a:rPr>
              <a:t>22</a:t>
            </a:r>
          </a:p>
        </p:txBody>
      </p:sp>
      <p:sp>
        <p:nvSpPr>
          <p:cNvPr id="7" name="Rounded Rectangle 6"/>
          <p:cNvSpPr/>
          <p:nvPr/>
        </p:nvSpPr>
        <p:spPr>
          <a:xfrm>
            <a:off x="548640" y="1709928"/>
            <a:ext cx="11091672" cy="777240"/>
          </a:xfrm>
          <a:prstGeom prst="roundRect">
            <a:avLst>
              <a:gd name="adj" fmla="val 14117"/>
            </a:avLst>
          </a:prstGeom>
          <a:solidFill>
            <a:srgbClr val="F2F4F3"/>
          </a:solidFill>
          <a:ln>
            <a:noFill/>
          </a:ln>
        </p:spPr>
        <p:txBody>
          <a:bodyPr rtlCol="0" anchor="ctr"/>
          <a:lstStyle/>
          <a:p>
            <a:pPr algn="ctr"/>
          </a:p>
        </p:txBody>
      </p:sp>
      <p:sp>
        <p:nvSpPr>
          <p:cNvPr id="8" name="Oval 7"/>
          <p:cNvSpPr/>
          <p:nvPr/>
        </p:nvSpPr>
        <p:spPr>
          <a:xfrm>
            <a:off x="749808" y="1860804"/>
            <a:ext cx="475488" cy="475488"/>
          </a:xfrm>
          <a:prstGeom prst="ellipse">
            <a:avLst/>
          </a:prstGeom>
          <a:solidFill>
            <a:srgbClr val="2F9E41"/>
          </a:solidFill>
          <a:ln>
            <a:noFill/>
          </a:ln>
        </p:spPr>
        <p:txBody>
          <a:bodyPr rtlCol="0" anchor="ctr"/>
          <a:lstStyle/>
          <a:p>
            <a:pPr algn="ctr"/>
          </a:p>
        </p:txBody>
      </p:sp>
      <p:sp>
        <p:nvSpPr>
          <p:cNvPr id="9" name="TextBox 8"/>
          <p:cNvSpPr txBox="1"/>
          <p:nvPr/>
        </p:nvSpPr>
        <p:spPr>
          <a:xfrm>
            <a:off x="749808" y="1915667"/>
            <a:ext cx="475488" cy="365760"/>
          </a:xfrm>
          <a:prstGeom prst="rect">
            <a:avLst/>
          </a:prstGeom>
          <a:noFill/>
        </p:spPr>
        <p:txBody>
          <a:bodyPr wrap="square" lIns="0" rIns="0" tIns="0" bIns="0" anchor="ctr">
            <a:noAutofit/>
          </a:bodyPr>
          <a:lstStyle/>
          <a:p>
            <a:pPr algn="ctr">
              <a:lnSpc>
                <a:spcPct val="100000"/>
              </a:lnSpc>
              <a:spcBef>
                <a:spcPts val="0"/>
              </a:spcBef>
              <a:spcAft>
                <a:spcPts val="0"/>
              </a:spcAft>
            </a:pPr>
            <a:r>
              <a:rPr sz="1800" b="1" i="0">
                <a:solidFill>
                  <a:srgbClr val="FFFFFF"/>
                </a:solidFill>
                <a:latin typeface="Open Sans"/>
              </a:rPr>
              <a:t>1</a:t>
            </a:r>
          </a:p>
        </p:txBody>
      </p:sp>
      <p:sp>
        <p:nvSpPr>
          <p:cNvPr id="10" name="TextBox 9"/>
          <p:cNvSpPr txBox="1"/>
          <p:nvPr/>
        </p:nvSpPr>
        <p:spPr>
          <a:xfrm>
            <a:off x="1463040" y="1709928"/>
            <a:ext cx="3703320" cy="777240"/>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17201B"/>
                </a:solidFill>
                <a:latin typeface="Open Sans"/>
              </a:rPr>
              <a:t>Formulação não circular</a:t>
            </a:r>
          </a:p>
        </p:txBody>
      </p:sp>
      <p:sp>
        <p:nvSpPr>
          <p:cNvPr id="11" name="TextBox 10"/>
          <p:cNvSpPr txBox="1"/>
          <p:nvPr/>
        </p:nvSpPr>
        <p:spPr>
          <a:xfrm>
            <a:off x="5257800" y="1709928"/>
            <a:ext cx="6172200" cy="777240"/>
          </a:xfrm>
          <a:prstGeom prst="rect">
            <a:avLst/>
          </a:prstGeom>
          <a:noFill/>
        </p:spPr>
        <p:txBody>
          <a:bodyPr wrap="square" lIns="0" rIns="0" tIns="0" bIns="0" anchor="ctr">
            <a:noAutofit/>
          </a:bodyPr>
          <a:lstStyle/>
          <a:p>
            <a:pPr algn="l">
              <a:lnSpc>
                <a:spcPct val="100000"/>
              </a:lnSpc>
              <a:spcBef>
                <a:spcPts val="0"/>
              </a:spcBef>
              <a:spcAft>
                <a:spcPts val="0"/>
              </a:spcAft>
            </a:pPr>
            <a:r>
              <a:rPr sz="1500" b="0" i="0">
                <a:solidFill>
                  <a:srgbClr val="4A524D"/>
                </a:solidFill>
                <a:latin typeface="Open Sans"/>
              </a:rPr>
              <a:t>a aptidão contém a premissa, o que cada arquétipo é, e nunca a resposta, quem vence quem</a:t>
            </a:r>
          </a:p>
        </p:txBody>
      </p:sp>
      <p:sp>
        <p:nvSpPr>
          <p:cNvPr id="12" name="Rounded Rectangle 11"/>
          <p:cNvSpPr/>
          <p:nvPr/>
        </p:nvSpPr>
        <p:spPr>
          <a:xfrm>
            <a:off x="548640" y="2596896"/>
            <a:ext cx="11091672" cy="777240"/>
          </a:xfrm>
          <a:prstGeom prst="roundRect">
            <a:avLst>
              <a:gd name="adj" fmla="val 14117"/>
            </a:avLst>
          </a:prstGeom>
          <a:solidFill>
            <a:srgbClr val="F2F4F3"/>
          </a:solidFill>
          <a:ln>
            <a:noFill/>
          </a:ln>
        </p:spPr>
        <p:txBody>
          <a:bodyPr rtlCol="0" anchor="ctr"/>
          <a:lstStyle/>
          <a:p>
            <a:pPr algn="ctr"/>
          </a:p>
        </p:txBody>
      </p:sp>
      <p:sp>
        <p:nvSpPr>
          <p:cNvPr id="13" name="Oval 12"/>
          <p:cNvSpPr/>
          <p:nvPr/>
        </p:nvSpPr>
        <p:spPr>
          <a:xfrm>
            <a:off x="749808" y="2747772"/>
            <a:ext cx="475488" cy="475488"/>
          </a:xfrm>
          <a:prstGeom prst="ellipse">
            <a:avLst/>
          </a:prstGeom>
          <a:solidFill>
            <a:srgbClr val="2F9E41"/>
          </a:solidFill>
          <a:ln>
            <a:noFill/>
          </a:ln>
        </p:spPr>
        <p:txBody>
          <a:bodyPr rtlCol="0" anchor="ctr"/>
          <a:lstStyle/>
          <a:p>
            <a:pPr algn="ctr"/>
          </a:p>
        </p:txBody>
      </p:sp>
      <p:sp>
        <p:nvSpPr>
          <p:cNvPr id="14" name="TextBox 13"/>
          <p:cNvSpPr txBox="1"/>
          <p:nvPr/>
        </p:nvSpPr>
        <p:spPr>
          <a:xfrm>
            <a:off x="749808" y="2802635"/>
            <a:ext cx="475488" cy="365760"/>
          </a:xfrm>
          <a:prstGeom prst="rect">
            <a:avLst/>
          </a:prstGeom>
          <a:noFill/>
        </p:spPr>
        <p:txBody>
          <a:bodyPr wrap="square" lIns="0" rIns="0" tIns="0" bIns="0" anchor="ctr">
            <a:noAutofit/>
          </a:bodyPr>
          <a:lstStyle/>
          <a:p>
            <a:pPr algn="ctr">
              <a:lnSpc>
                <a:spcPct val="100000"/>
              </a:lnSpc>
              <a:spcBef>
                <a:spcPts val="0"/>
              </a:spcBef>
              <a:spcAft>
                <a:spcPts val="0"/>
              </a:spcAft>
            </a:pPr>
            <a:r>
              <a:rPr sz="1800" b="1" i="0">
                <a:solidFill>
                  <a:srgbClr val="FFFFFF"/>
                </a:solidFill>
                <a:latin typeface="Open Sans"/>
              </a:rPr>
              <a:t>2</a:t>
            </a:r>
          </a:p>
        </p:txBody>
      </p:sp>
      <p:sp>
        <p:nvSpPr>
          <p:cNvPr id="15" name="TextBox 14"/>
          <p:cNvSpPr txBox="1"/>
          <p:nvPr/>
        </p:nvSpPr>
        <p:spPr>
          <a:xfrm>
            <a:off x="1463040" y="2596896"/>
            <a:ext cx="3703320" cy="777240"/>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17201B"/>
                </a:solidFill>
                <a:latin typeface="Open Sans"/>
              </a:rPr>
              <a:t>Evidência controlada</a:t>
            </a:r>
          </a:p>
        </p:txBody>
      </p:sp>
      <p:sp>
        <p:nvSpPr>
          <p:cNvPr id="16" name="TextBox 15"/>
          <p:cNvSpPr txBox="1"/>
          <p:nvPr/>
        </p:nvSpPr>
        <p:spPr>
          <a:xfrm>
            <a:off x="5257800" y="2596896"/>
            <a:ext cx="6172200" cy="777240"/>
          </a:xfrm>
          <a:prstGeom prst="rect">
            <a:avLst/>
          </a:prstGeom>
          <a:noFill/>
        </p:spPr>
        <p:txBody>
          <a:bodyPr wrap="square" lIns="0" rIns="0" tIns="0" bIns="0" anchor="ctr">
            <a:noAutofit/>
          </a:bodyPr>
          <a:lstStyle/>
          <a:p>
            <a:pPr algn="l">
              <a:lnSpc>
                <a:spcPct val="100000"/>
              </a:lnSpc>
              <a:spcBef>
                <a:spcPts val="0"/>
              </a:spcBef>
              <a:spcAft>
                <a:spcPts val="0"/>
              </a:spcAft>
            </a:pPr>
            <a:r>
              <a:rPr sz="1500" b="0" i="0">
                <a:solidFill>
                  <a:srgbClr val="4A524D"/>
                </a:solidFill>
                <a:latin typeface="Open Sans"/>
              </a:rPr>
              <a:t>sem o termo de identidade, a identidade cai ao nível do acaso, sem ganho de equilíbrio</a:t>
            </a:r>
          </a:p>
        </p:txBody>
      </p:sp>
      <p:sp>
        <p:nvSpPr>
          <p:cNvPr id="17" name="Rounded Rectangle 16"/>
          <p:cNvSpPr/>
          <p:nvPr/>
        </p:nvSpPr>
        <p:spPr>
          <a:xfrm>
            <a:off x="548640" y="3483864"/>
            <a:ext cx="11091672" cy="777240"/>
          </a:xfrm>
          <a:prstGeom prst="roundRect">
            <a:avLst>
              <a:gd name="adj" fmla="val 14117"/>
            </a:avLst>
          </a:prstGeom>
          <a:solidFill>
            <a:srgbClr val="F2F4F3"/>
          </a:solidFill>
          <a:ln>
            <a:noFill/>
          </a:ln>
        </p:spPr>
        <p:txBody>
          <a:bodyPr rtlCol="0" anchor="ctr"/>
          <a:lstStyle/>
          <a:p>
            <a:pPr algn="ctr"/>
          </a:p>
        </p:txBody>
      </p:sp>
      <p:sp>
        <p:nvSpPr>
          <p:cNvPr id="18" name="Oval 17"/>
          <p:cNvSpPr/>
          <p:nvPr/>
        </p:nvSpPr>
        <p:spPr>
          <a:xfrm>
            <a:off x="749808" y="3634740"/>
            <a:ext cx="475488" cy="475488"/>
          </a:xfrm>
          <a:prstGeom prst="ellipse">
            <a:avLst/>
          </a:prstGeom>
          <a:solidFill>
            <a:srgbClr val="2F9E41"/>
          </a:solidFill>
          <a:ln>
            <a:noFill/>
          </a:ln>
        </p:spPr>
        <p:txBody>
          <a:bodyPr rtlCol="0" anchor="ctr"/>
          <a:lstStyle/>
          <a:p>
            <a:pPr algn="ctr"/>
          </a:p>
        </p:txBody>
      </p:sp>
      <p:sp>
        <p:nvSpPr>
          <p:cNvPr id="19" name="TextBox 18"/>
          <p:cNvSpPr txBox="1"/>
          <p:nvPr/>
        </p:nvSpPr>
        <p:spPr>
          <a:xfrm>
            <a:off x="749808" y="3689604"/>
            <a:ext cx="475488" cy="365760"/>
          </a:xfrm>
          <a:prstGeom prst="rect">
            <a:avLst/>
          </a:prstGeom>
          <a:noFill/>
        </p:spPr>
        <p:txBody>
          <a:bodyPr wrap="square" lIns="0" rIns="0" tIns="0" bIns="0" anchor="ctr">
            <a:noAutofit/>
          </a:bodyPr>
          <a:lstStyle/>
          <a:p>
            <a:pPr algn="ctr">
              <a:lnSpc>
                <a:spcPct val="100000"/>
              </a:lnSpc>
              <a:spcBef>
                <a:spcPts val="0"/>
              </a:spcBef>
              <a:spcAft>
                <a:spcPts val="0"/>
              </a:spcAft>
            </a:pPr>
            <a:r>
              <a:rPr sz="1800" b="1" i="0">
                <a:solidFill>
                  <a:srgbClr val="FFFFFF"/>
                </a:solidFill>
                <a:latin typeface="Open Sans"/>
              </a:rPr>
              <a:t>3</a:t>
            </a:r>
          </a:p>
        </p:txBody>
      </p:sp>
      <p:sp>
        <p:nvSpPr>
          <p:cNvPr id="20" name="TextBox 19"/>
          <p:cNvSpPr txBox="1"/>
          <p:nvPr/>
        </p:nvSpPr>
        <p:spPr>
          <a:xfrm>
            <a:off x="1463040" y="3483864"/>
            <a:ext cx="3703320" cy="777240"/>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17201B"/>
                </a:solidFill>
                <a:latin typeface="Open Sans"/>
              </a:rPr>
              <a:t>Falha da seleção escalar</a:t>
            </a:r>
          </a:p>
        </p:txBody>
      </p:sp>
      <p:sp>
        <p:nvSpPr>
          <p:cNvPr id="21" name="TextBox 20"/>
          <p:cNvSpPr txBox="1"/>
          <p:nvPr/>
        </p:nvSpPr>
        <p:spPr>
          <a:xfrm>
            <a:off x="5257800" y="3483864"/>
            <a:ext cx="6172200" cy="777240"/>
          </a:xfrm>
          <a:prstGeom prst="rect">
            <a:avLst/>
          </a:prstGeom>
          <a:noFill/>
        </p:spPr>
        <p:txBody>
          <a:bodyPr wrap="square" lIns="0" rIns="0" tIns="0" bIns="0" anchor="ctr">
            <a:noAutofit/>
          </a:bodyPr>
          <a:lstStyle/>
          <a:p>
            <a:pPr algn="l">
              <a:lnSpc>
                <a:spcPct val="100000"/>
              </a:lnSpc>
              <a:spcBef>
                <a:spcPts val="0"/>
              </a:spcBef>
              <a:spcAft>
                <a:spcPts val="0"/>
              </a:spcAft>
            </a:pPr>
            <a:r>
              <a:rPr sz="1500" b="0" i="0">
                <a:solidFill>
                  <a:srgbClr val="4A524D"/>
                </a:solidFill>
                <a:latin typeface="Open Sans"/>
              </a:rPr>
              <a:t>sob ruído, a soma termina longe do próprio ótimo; o híbrido recupera identidade no mesmo orçamento</a:t>
            </a:r>
          </a:p>
        </p:txBody>
      </p:sp>
      <p:sp>
        <p:nvSpPr>
          <p:cNvPr id="22" name="Rounded Rectangle 21"/>
          <p:cNvSpPr/>
          <p:nvPr/>
        </p:nvSpPr>
        <p:spPr>
          <a:xfrm>
            <a:off x="548640" y="4370832"/>
            <a:ext cx="11091672" cy="777240"/>
          </a:xfrm>
          <a:prstGeom prst="roundRect">
            <a:avLst>
              <a:gd name="adj" fmla="val 14117"/>
            </a:avLst>
          </a:prstGeom>
          <a:solidFill>
            <a:srgbClr val="F2F4F3"/>
          </a:solidFill>
          <a:ln>
            <a:noFill/>
          </a:ln>
        </p:spPr>
        <p:txBody>
          <a:bodyPr rtlCol="0" anchor="ctr"/>
          <a:lstStyle/>
          <a:p>
            <a:pPr algn="ctr"/>
          </a:p>
        </p:txBody>
      </p:sp>
      <p:sp>
        <p:nvSpPr>
          <p:cNvPr id="23" name="Oval 22"/>
          <p:cNvSpPr/>
          <p:nvPr/>
        </p:nvSpPr>
        <p:spPr>
          <a:xfrm>
            <a:off x="749808" y="4521708"/>
            <a:ext cx="475488" cy="475488"/>
          </a:xfrm>
          <a:prstGeom prst="ellipse">
            <a:avLst/>
          </a:prstGeom>
          <a:solidFill>
            <a:srgbClr val="2F9E41"/>
          </a:solidFill>
          <a:ln>
            <a:noFill/>
          </a:ln>
        </p:spPr>
        <p:txBody>
          <a:bodyPr rtlCol="0" anchor="ctr"/>
          <a:lstStyle/>
          <a:p>
            <a:pPr algn="ctr"/>
          </a:p>
        </p:txBody>
      </p:sp>
      <p:sp>
        <p:nvSpPr>
          <p:cNvPr id="24" name="TextBox 23"/>
          <p:cNvSpPr txBox="1"/>
          <p:nvPr/>
        </p:nvSpPr>
        <p:spPr>
          <a:xfrm>
            <a:off x="749808" y="4576572"/>
            <a:ext cx="475488" cy="365760"/>
          </a:xfrm>
          <a:prstGeom prst="rect">
            <a:avLst/>
          </a:prstGeom>
          <a:noFill/>
        </p:spPr>
        <p:txBody>
          <a:bodyPr wrap="square" lIns="0" rIns="0" tIns="0" bIns="0" anchor="ctr">
            <a:noAutofit/>
          </a:bodyPr>
          <a:lstStyle/>
          <a:p>
            <a:pPr algn="ctr">
              <a:lnSpc>
                <a:spcPct val="100000"/>
              </a:lnSpc>
              <a:spcBef>
                <a:spcPts val="0"/>
              </a:spcBef>
              <a:spcAft>
                <a:spcPts val="0"/>
              </a:spcAft>
            </a:pPr>
            <a:r>
              <a:rPr sz="1800" b="1" i="0">
                <a:solidFill>
                  <a:srgbClr val="FFFFFF"/>
                </a:solidFill>
                <a:latin typeface="Open Sans"/>
              </a:rPr>
              <a:t>4</a:t>
            </a:r>
          </a:p>
        </p:txBody>
      </p:sp>
      <p:sp>
        <p:nvSpPr>
          <p:cNvPr id="25" name="TextBox 24"/>
          <p:cNvSpPr txBox="1"/>
          <p:nvPr/>
        </p:nvSpPr>
        <p:spPr>
          <a:xfrm>
            <a:off x="1463040" y="4370832"/>
            <a:ext cx="3703320" cy="777240"/>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17201B"/>
                </a:solidFill>
                <a:latin typeface="Open Sans"/>
              </a:rPr>
              <a:t>Perda localizada na política</a:t>
            </a:r>
          </a:p>
        </p:txBody>
      </p:sp>
      <p:sp>
        <p:nvSpPr>
          <p:cNvPr id="26" name="TextBox 25"/>
          <p:cNvSpPr txBox="1"/>
          <p:nvPr/>
        </p:nvSpPr>
        <p:spPr>
          <a:xfrm>
            <a:off x="5257800" y="4370832"/>
            <a:ext cx="6172200" cy="777240"/>
          </a:xfrm>
          <a:prstGeom prst="rect">
            <a:avLst/>
          </a:prstGeom>
          <a:noFill/>
        </p:spPr>
        <p:txBody>
          <a:bodyPr wrap="square" lIns="0" rIns="0" tIns="0" bIns="0" anchor="ctr">
            <a:noAutofit/>
          </a:bodyPr>
          <a:lstStyle/>
          <a:p>
            <a:pPr algn="l">
              <a:lnSpc>
                <a:spcPct val="100000"/>
              </a:lnSpc>
              <a:spcBef>
                <a:spcPts val="0"/>
              </a:spcBef>
              <a:spcAft>
                <a:spcPts val="0"/>
              </a:spcAft>
            </a:pPr>
            <a:r>
              <a:rPr sz="1500" b="0" i="0">
                <a:solidFill>
                  <a:srgbClr val="4A524D"/>
                </a:solidFill>
                <a:latin typeface="Open Sans"/>
              </a:rPr>
              <a:t>o passo de mutação, e não a relevância do gene, decide o que a busca enxerga</a:t>
            </a:r>
          </a:p>
        </p:txBody>
      </p:sp>
      <p:sp>
        <p:nvSpPr>
          <p:cNvPr id="27" name="Rounded Rectangle 26"/>
          <p:cNvSpPr/>
          <p:nvPr/>
        </p:nvSpPr>
        <p:spPr>
          <a:xfrm>
            <a:off x="548640" y="5257800"/>
            <a:ext cx="11091672" cy="777240"/>
          </a:xfrm>
          <a:prstGeom prst="roundRect">
            <a:avLst>
              <a:gd name="adj" fmla="val 14117"/>
            </a:avLst>
          </a:prstGeom>
          <a:solidFill>
            <a:srgbClr val="F2F4F3"/>
          </a:solidFill>
          <a:ln>
            <a:noFill/>
          </a:ln>
        </p:spPr>
        <p:txBody>
          <a:bodyPr rtlCol="0" anchor="ctr"/>
          <a:lstStyle/>
          <a:p>
            <a:pPr algn="ctr"/>
          </a:p>
        </p:txBody>
      </p:sp>
      <p:sp>
        <p:nvSpPr>
          <p:cNvPr id="28" name="Oval 27"/>
          <p:cNvSpPr/>
          <p:nvPr/>
        </p:nvSpPr>
        <p:spPr>
          <a:xfrm>
            <a:off x="749808" y="5408676"/>
            <a:ext cx="475488" cy="475488"/>
          </a:xfrm>
          <a:prstGeom prst="ellipse">
            <a:avLst/>
          </a:prstGeom>
          <a:solidFill>
            <a:srgbClr val="2F9E41"/>
          </a:solidFill>
          <a:ln>
            <a:noFill/>
          </a:ln>
        </p:spPr>
        <p:txBody>
          <a:bodyPr rtlCol="0" anchor="ctr"/>
          <a:lstStyle/>
          <a:p>
            <a:pPr algn="ctr"/>
          </a:p>
        </p:txBody>
      </p:sp>
      <p:sp>
        <p:nvSpPr>
          <p:cNvPr id="29" name="TextBox 28"/>
          <p:cNvSpPr txBox="1"/>
          <p:nvPr/>
        </p:nvSpPr>
        <p:spPr>
          <a:xfrm>
            <a:off x="749808" y="5463540"/>
            <a:ext cx="475488" cy="365760"/>
          </a:xfrm>
          <a:prstGeom prst="rect">
            <a:avLst/>
          </a:prstGeom>
          <a:noFill/>
        </p:spPr>
        <p:txBody>
          <a:bodyPr wrap="square" lIns="0" rIns="0" tIns="0" bIns="0" anchor="ctr">
            <a:noAutofit/>
          </a:bodyPr>
          <a:lstStyle/>
          <a:p>
            <a:pPr algn="ctr">
              <a:lnSpc>
                <a:spcPct val="100000"/>
              </a:lnSpc>
              <a:spcBef>
                <a:spcPts val="0"/>
              </a:spcBef>
              <a:spcAft>
                <a:spcPts val="0"/>
              </a:spcAft>
            </a:pPr>
            <a:r>
              <a:rPr sz="1800" b="1" i="0">
                <a:solidFill>
                  <a:srgbClr val="FFFFFF"/>
                </a:solidFill>
                <a:latin typeface="Open Sans"/>
              </a:rPr>
              <a:t>5</a:t>
            </a:r>
          </a:p>
        </p:txBody>
      </p:sp>
      <p:sp>
        <p:nvSpPr>
          <p:cNvPr id="30" name="TextBox 29"/>
          <p:cNvSpPr txBox="1"/>
          <p:nvPr/>
        </p:nvSpPr>
        <p:spPr>
          <a:xfrm>
            <a:off x="1463040" y="5257800"/>
            <a:ext cx="3703320" cy="777240"/>
          </a:xfrm>
          <a:prstGeom prst="rect">
            <a:avLst/>
          </a:prstGeom>
          <a:noFill/>
        </p:spPr>
        <p:txBody>
          <a:bodyPr wrap="square" lIns="0" rIns="0" tIns="0" bIns="0" anchor="ctr">
            <a:noAutofit/>
          </a:bodyPr>
          <a:lstStyle/>
          <a:p>
            <a:pPr algn="l">
              <a:lnSpc>
                <a:spcPct val="100000"/>
              </a:lnSpc>
              <a:spcBef>
                <a:spcPts val="0"/>
              </a:spcBef>
              <a:spcAft>
                <a:spcPts val="0"/>
              </a:spcAft>
            </a:pPr>
            <a:r>
              <a:rPr sz="1700" b="1" i="0">
                <a:solidFill>
                  <a:srgbClr val="17201B"/>
                </a:solidFill>
                <a:latin typeface="Open Sans"/>
              </a:rPr>
              <a:t>Lições de método</a:t>
            </a:r>
          </a:p>
        </p:txBody>
      </p:sp>
      <p:sp>
        <p:nvSpPr>
          <p:cNvPr id="31" name="TextBox 30"/>
          <p:cNvSpPr txBox="1"/>
          <p:nvPr/>
        </p:nvSpPr>
        <p:spPr>
          <a:xfrm>
            <a:off x="5257800" y="5257800"/>
            <a:ext cx="6172200" cy="777240"/>
          </a:xfrm>
          <a:prstGeom prst="rect">
            <a:avLst/>
          </a:prstGeom>
          <a:noFill/>
        </p:spPr>
        <p:txBody>
          <a:bodyPr wrap="square" lIns="0" rIns="0" tIns="0" bIns="0" anchor="ctr">
            <a:noAutofit/>
          </a:bodyPr>
          <a:lstStyle/>
          <a:p>
            <a:pPr algn="l">
              <a:lnSpc>
                <a:spcPct val="100000"/>
              </a:lnSpc>
              <a:spcBef>
                <a:spcPts val="0"/>
              </a:spcBef>
              <a:spcAft>
                <a:spcPts val="0"/>
              </a:spcAft>
            </a:pPr>
            <a:r>
              <a:rPr sz="1500" b="0" i="0">
                <a:solidFill>
                  <a:srgbClr val="4A524D"/>
                </a:solidFill>
                <a:latin typeface="Open Sans"/>
              </a:rPr>
              <a:t>piso medido para cada métrica, resolução à altura da margem, cada número rastreável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Balanceamento de arquétipos em jogos de luta</dc:title>
  <dc:subject/>
  <dc:creator>Matheus Gimenes de Souza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